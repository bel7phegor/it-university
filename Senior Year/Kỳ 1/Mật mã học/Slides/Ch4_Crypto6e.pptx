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4"/>
  </p:notesMasterIdLst>
  <p:sldIdLst>
    <p:sldId id="321" r:id="rId2"/>
    <p:sldId id="293" r:id="rId3"/>
    <p:sldId id="318" r:id="rId4"/>
    <p:sldId id="295" r:id="rId5"/>
    <p:sldId id="296" r:id="rId6"/>
    <p:sldId id="297" r:id="rId7"/>
    <p:sldId id="298" r:id="rId8"/>
    <p:sldId id="299" r:id="rId9"/>
    <p:sldId id="322" r:id="rId10"/>
    <p:sldId id="324" r:id="rId11"/>
    <p:sldId id="300" r:id="rId12"/>
    <p:sldId id="301" r:id="rId13"/>
    <p:sldId id="302" r:id="rId14"/>
    <p:sldId id="303" r:id="rId15"/>
    <p:sldId id="323" r:id="rId16"/>
    <p:sldId id="304" r:id="rId17"/>
    <p:sldId id="319" r:id="rId18"/>
    <p:sldId id="305" r:id="rId19"/>
    <p:sldId id="306" r:id="rId20"/>
    <p:sldId id="325" r:id="rId21"/>
    <p:sldId id="326" r:id="rId22"/>
    <p:sldId id="327" r:id="rId23"/>
    <p:sldId id="307" r:id="rId24"/>
    <p:sldId id="308" r:id="rId25"/>
    <p:sldId id="309" r:id="rId26"/>
    <p:sldId id="310" r:id="rId27"/>
    <p:sldId id="311" r:id="rId28"/>
    <p:sldId id="312" r:id="rId29"/>
    <p:sldId id="314" r:id="rId30"/>
    <p:sldId id="315" r:id="rId31"/>
    <p:sldId id="320" r:id="rId32"/>
    <p:sldId id="316" r:id="rId33"/>
  </p:sldIdLst>
  <p:sldSz cx="9144000" cy="6858000" type="screen4x3"/>
  <p:notesSz cx="6934200" cy="9220200"/>
  <p:embeddedFontLst>
    <p:embeddedFont>
      <p:font typeface="Arial Narrow" panose="020B0606020202030204" pitchFamily="34" charset="0"/>
      <p:regular r:id="rId35"/>
      <p:bold r:id="rId36"/>
      <p:italic r:id="rId37"/>
      <p:boldItalic r:id="rId38"/>
    </p:embeddedFont>
    <p:embeddedFont>
      <p:font typeface="Linux Biolinum" panose="02000503000000000000" pitchFamily="2" charset="0"/>
      <p:regular r:id="rId39"/>
      <p:bold r:id="rId40"/>
      <p:italic r:id="rId41"/>
    </p:embeddedFont>
    <p:embeddedFont>
      <p:font typeface="Candara" panose="020E0502030303020204" pitchFamily="34" charset="0"/>
      <p:regular r:id="rId42"/>
      <p:bold r:id="rId43"/>
      <p:italic r:id="rId44"/>
      <p:boldItalic r:id="rId45"/>
    </p:embeddedFont>
    <p:embeddedFont>
      <p:font typeface="ＭＳ Ｐゴシック" panose="020B0600070205080204" pitchFamily="34" charset="-128"/>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2D200454-40CA-4A62-9FC3-DE9A4176ACB9}">
      <p15:notes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904">
          <p15:clr>
            <a:srgbClr val="000000"/>
          </p15:clr>
        </p15:guide>
        <p15:guide id="2" pos="2184">
          <p15:clr>
            <a:srgbClr val="000000"/>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2" roundtripDataSignature="AMtx7mj8aHOaK9xCjiHgeScp4wvwkDtqN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F13B622-F94D-4771-907F-4AB950E6943A}">
  <a:tblStyle styleId="{3F13B622-F94D-4771-907F-4AB950E6943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508" y="-99"/>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8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7.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82"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8" Type="http://schemas.openxmlformats.org/officeDocument/2006/relationships/slide" Target="slides/slide7.xml"/><Relationship Id="rId8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4820" cy="461010"/>
          </a:xfrm>
          <a:prstGeom prst="rect">
            <a:avLst/>
          </a:prstGeom>
          <a:noFill/>
          <a:ln>
            <a:noFill/>
          </a:ln>
        </p:spPr>
        <p:txBody>
          <a:bodyPr spcFirstLastPara="1" wrap="square" lIns="92300" tIns="46150" rIns="92300" bIns="4615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27775" y="0"/>
            <a:ext cx="3004820" cy="461010"/>
          </a:xfrm>
          <a:prstGeom prst="rect">
            <a:avLst/>
          </a:prstGeom>
          <a:noFill/>
          <a:ln>
            <a:noFill/>
          </a:ln>
        </p:spPr>
        <p:txBody>
          <a:bodyPr spcFirstLastPara="1" wrap="square" lIns="92300" tIns="46150" rIns="92300" bIns="4615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57590"/>
            <a:ext cx="3004820" cy="461010"/>
          </a:xfrm>
          <a:prstGeom prst="rect">
            <a:avLst/>
          </a:prstGeom>
          <a:noFill/>
          <a:ln>
            <a:noFill/>
          </a:ln>
        </p:spPr>
        <p:txBody>
          <a:bodyPr spcFirstLastPara="1" wrap="square" lIns="92300" tIns="46150" rIns="92300" bIns="4615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726441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F8213168-CBB8-004E-B161-E3C8E26BC09B}" type="slidenum">
              <a:rPr lang="en-AU">
                <a:latin typeface="Arial" pitchFamily="-84" charset="0"/>
              </a:rPr>
              <a:pPr/>
              <a:t>1</a:t>
            </a:fld>
            <a:endParaRPr lang="en-AU">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smtClean="0">
                <a:latin typeface="Arial" pitchFamily="-84" charset="0"/>
                <a:ea typeface="ＭＳ Ｐゴシック" pitchFamily="-84" charset="-128"/>
                <a:cs typeface="ＭＳ Ｐゴシック" pitchFamily="-84" charset="-128"/>
              </a:rPr>
              <a:t>, Chapter 4 – “Basic Concepts in Number Theory and Finite Fields”.</a:t>
            </a:r>
            <a:endParaRPr lang="en-AU" smtClean="0">
              <a:latin typeface="Times New Roman" pitchFamily="-84" charset="0"/>
              <a:ea typeface="ＭＳ Ｐゴシック" pitchFamily="-84" charset="-128"/>
              <a:cs typeface="ＭＳ Ｐゴシック" pitchFamily="-84" charset="-128"/>
            </a:endParaRPr>
          </a:p>
          <a:p>
            <a:pPr eaLnBrk="1" hangingPunct="1"/>
            <a:endParaRPr lang="en-US"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38: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0" name="Google Shape;500;p38: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The objective of this chapter is to illustrate the principles of modern symmetric</a:t>
            </a:r>
            <a:endParaRPr/>
          </a:p>
          <a:p>
            <a:pPr marL="0" lvl="0" indent="0" algn="l" rtl="0">
              <a:spcBef>
                <a:spcPts val="360"/>
              </a:spcBef>
              <a:spcAft>
                <a:spcPts val="0"/>
              </a:spcAft>
              <a:buNone/>
            </a:pPr>
            <a:r>
              <a:rPr lang="en-US"/>
              <a:t>ciphers. For this purpose, we focus on the most widely used symmetric cipher: the</a:t>
            </a:r>
            <a:endParaRPr/>
          </a:p>
          <a:p>
            <a:pPr marL="0" lvl="0" indent="0" algn="l" rtl="0">
              <a:spcBef>
                <a:spcPts val="360"/>
              </a:spcBef>
              <a:spcAft>
                <a:spcPts val="0"/>
              </a:spcAft>
              <a:buNone/>
            </a:pPr>
            <a:r>
              <a:rPr lang="en-US"/>
              <a:t>Data Encryption Standard (DES). Although numerous symmetric ciphers have been</a:t>
            </a:r>
            <a:endParaRPr/>
          </a:p>
          <a:p>
            <a:pPr marL="0" lvl="0" indent="0" algn="l" rtl="0">
              <a:spcBef>
                <a:spcPts val="360"/>
              </a:spcBef>
              <a:spcAft>
                <a:spcPts val="0"/>
              </a:spcAft>
              <a:buNone/>
            </a:pPr>
            <a:r>
              <a:rPr lang="en-US"/>
              <a:t>developed since the introduction of DES, and although it is destined to be replaced</a:t>
            </a:r>
            <a:endParaRPr/>
          </a:p>
          <a:p>
            <a:pPr marL="0" lvl="0" indent="0" algn="l" rtl="0">
              <a:spcBef>
                <a:spcPts val="360"/>
              </a:spcBef>
              <a:spcAft>
                <a:spcPts val="0"/>
              </a:spcAft>
              <a:buNone/>
            </a:pPr>
            <a:r>
              <a:rPr lang="en-US"/>
              <a:t>by the Advanced Encryption Standard (AES), DES remains the most important</a:t>
            </a:r>
            <a:endParaRPr/>
          </a:p>
          <a:p>
            <a:pPr marL="0" lvl="0" indent="0" algn="l" rtl="0">
              <a:spcBef>
                <a:spcPts val="360"/>
              </a:spcBef>
              <a:spcAft>
                <a:spcPts val="0"/>
              </a:spcAft>
              <a:buNone/>
            </a:pPr>
            <a:r>
              <a:rPr lang="en-US"/>
              <a:t>such algorithm. Furthermore, a detailed study of DES provides an understanding of</a:t>
            </a:r>
            <a:endParaRPr/>
          </a:p>
          <a:p>
            <a:pPr marL="0" lvl="0" indent="0" algn="l" rtl="0">
              <a:spcBef>
                <a:spcPts val="360"/>
              </a:spcBef>
              <a:spcAft>
                <a:spcPts val="0"/>
              </a:spcAft>
              <a:buNone/>
            </a:pPr>
            <a:r>
              <a:rPr lang="en-US"/>
              <a:t>the principles used in other symmetric ciphers.</a:t>
            </a:r>
            <a:endParaRPr/>
          </a:p>
          <a:p>
            <a:pPr marL="0" lvl="0" indent="0" algn="l" rtl="0">
              <a:spcBef>
                <a:spcPts val="360"/>
              </a:spcBef>
              <a:spcAft>
                <a:spcPts val="0"/>
              </a:spcAft>
              <a:buNone/>
            </a:pPr>
            <a:endParaRPr/>
          </a:p>
          <a:p>
            <a:pPr marL="0" lvl="0" indent="0" algn="l" rtl="0">
              <a:spcBef>
                <a:spcPts val="360"/>
              </a:spcBef>
              <a:spcAft>
                <a:spcPts val="0"/>
              </a:spcAft>
              <a:buNone/>
            </a:pPr>
            <a:r>
              <a:rPr lang="en-US"/>
              <a:t>This chapter begins with a discussion of the general principles of symmetric block</a:t>
            </a:r>
            <a:endParaRPr/>
          </a:p>
          <a:p>
            <a:pPr marL="0" lvl="0" indent="0" algn="l" rtl="0">
              <a:spcBef>
                <a:spcPts val="360"/>
              </a:spcBef>
              <a:spcAft>
                <a:spcPts val="0"/>
              </a:spcAft>
              <a:buNone/>
            </a:pPr>
            <a:r>
              <a:rPr lang="en-US"/>
              <a:t>ciphers, which are the type of symmetric ciphers studied in this book (with the exception</a:t>
            </a:r>
            <a:endParaRPr/>
          </a:p>
          <a:p>
            <a:pPr marL="0" lvl="0" indent="0" algn="l" rtl="0">
              <a:spcBef>
                <a:spcPts val="360"/>
              </a:spcBef>
              <a:spcAft>
                <a:spcPts val="0"/>
              </a:spcAft>
              <a:buNone/>
            </a:pPr>
            <a:r>
              <a:rPr lang="en-US"/>
              <a:t>of the stream cipher RC4 in Chapter 7). Next, we cover full DES. Following this look</a:t>
            </a:r>
            <a:endParaRPr/>
          </a:p>
          <a:p>
            <a:pPr marL="0" lvl="0" indent="0" algn="l" rtl="0">
              <a:spcBef>
                <a:spcPts val="360"/>
              </a:spcBef>
              <a:spcAft>
                <a:spcPts val="0"/>
              </a:spcAft>
              <a:buNone/>
            </a:pPr>
            <a:r>
              <a:rPr lang="en-US"/>
              <a:t>at a specific algorithm, we return to a more general discussion of block cipher design.</a:t>
            </a:r>
            <a:endParaRPr/>
          </a:p>
          <a:p>
            <a:pPr marL="0" lvl="0" indent="0" algn="l" rtl="0">
              <a:spcBef>
                <a:spcPts val="360"/>
              </a:spcBef>
              <a:spcAft>
                <a:spcPts val="0"/>
              </a:spcAft>
              <a:buNone/>
            </a:pPr>
            <a:endParaRPr/>
          </a:p>
          <a:p>
            <a:pPr marL="0" lvl="0" indent="0" algn="l" rtl="0">
              <a:spcBef>
                <a:spcPts val="360"/>
              </a:spcBef>
              <a:spcAft>
                <a:spcPts val="0"/>
              </a:spcAft>
              <a:buNone/>
            </a:pPr>
            <a:r>
              <a:rPr lang="en-US"/>
              <a:t>Compared to public-key ciphers, such as RSA, the structure of DES and most</a:t>
            </a:r>
            <a:endParaRPr/>
          </a:p>
          <a:p>
            <a:pPr marL="0" lvl="0" indent="0" algn="l" rtl="0">
              <a:spcBef>
                <a:spcPts val="360"/>
              </a:spcBef>
              <a:spcAft>
                <a:spcPts val="0"/>
              </a:spcAft>
              <a:buNone/>
            </a:pPr>
            <a:r>
              <a:rPr lang="en-US"/>
              <a:t>symmetric ciphers is very complex and cannot be explained as easily as RSA and similar</a:t>
            </a:r>
            <a:endParaRPr/>
          </a:p>
          <a:p>
            <a:pPr marL="0" lvl="0" indent="0" algn="l" rtl="0">
              <a:spcBef>
                <a:spcPts val="360"/>
              </a:spcBef>
              <a:spcAft>
                <a:spcPts val="0"/>
              </a:spcAft>
              <a:buNone/>
            </a:pPr>
            <a:r>
              <a:rPr lang="en-US"/>
              <a:t>algorithms. Accordingly, the reader may wish to begin with a simplified version of</a:t>
            </a:r>
            <a:endParaRPr/>
          </a:p>
          <a:p>
            <a:pPr marL="0" lvl="0" indent="0" algn="l" rtl="0">
              <a:spcBef>
                <a:spcPts val="360"/>
              </a:spcBef>
              <a:spcAft>
                <a:spcPts val="0"/>
              </a:spcAft>
              <a:buNone/>
            </a:pPr>
            <a:r>
              <a:rPr lang="en-US"/>
              <a:t>DES, which is described in Appendix G. This version allows the reader to perform</a:t>
            </a:r>
            <a:endParaRPr/>
          </a:p>
          <a:p>
            <a:pPr marL="0" lvl="0" indent="0" algn="l" rtl="0">
              <a:spcBef>
                <a:spcPts val="360"/>
              </a:spcBef>
              <a:spcAft>
                <a:spcPts val="0"/>
              </a:spcAft>
              <a:buNone/>
            </a:pPr>
            <a:r>
              <a:rPr lang="en-US"/>
              <a:t>encryption and decryption by hand and gain a good understanding of the working of</a:t>
            </a:r>
            <a:endParaRPr/>
          </a:p>
          <a:p>
            <a:pPr marL="0" lvl="0" indent="0" algn="l" rtl="0">
              <a:spcBef>
                <a:spcPts val="360"/>
              </a:spcBef>
              <a:spcAft>
                <a:spcPts val="0"/>
              </a:spcAft>
              <a:buNone/>
            </a:pPr>
            <a:r>
              <a:rPr lang="en-US"/>
              <a:t>the algorithm details. Classroom experience indicates that a study of this simplified</a:t>
            </a:r>
            <a:endParaRPr/>
          </a:p>
          <a:p>
            <a:pPr marL="0" lvl="0" indent="0" algn="l" rtl="0">
              <a:spcBef>
                <a:spcPts val="360"/>
              </a:spcBef>
              <a:spcAft>
                <a:spcPts val="0"/>
              </a:spcAft>
              <a:buNone/>
            </a:pPr>
            <a:r>
              <a:rPr lang="en-US"/>
              <a:t>version enhances understanding of DES.</a:t>
            </a:r>
            <a:endParaRPr>
              <a:latin typeface="Arial"/>
              <a:ea typeface="Arial"/>
              <a:cs typeface="Arial"/>
              <a:sym typeface="Arial"/>
            </a:endParaRPr>
          </a:p>
        </p:txBody>
      </p:sp>
      <p:sp>
        <p:nvSpPr>
          <p:cNvPr id="501" name="Google Shape;501;p38: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2</a:t>
            </a:fld>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40: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4</a:t>
            </a:fld>
            <a:endParaRPr>
              <a:latin typeface="Arial"/>
              <a:ea typeface="Arial"/>
              <a:cs typeface="Arial"/>
              <a:sym typeface="Arial"/>
            </a:endParaRPr>
          </a:p>
        </p:txBody>
      </p:sp>
      <p:sp>
        <p:nvSpPr>
          <p:cNvPr id="514" name="Google Shape;514;p40: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5" name="Google Shape;515;p40: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 A stream cipher  is one that encrypts a digital data stream one bit or one byte at</a:t>
            </a:r>
            <a:endParaRPr/>
          </a:p>
          <a:p>
            <a:pPr marL="0" lvl="0" indent="0" algn="l" rtl="0">
              <a:spcBef>
                <a:spcPts val="360"/>
              </a:spcBef>
              <a:spcAft>
                <a:spcPts val="0"/>
              </a:spcAft>
              <a:buNone/>
            </a:pPr>
            <a:r>
              <a:rPr lang="en-US"/>
              <a:t>a time. Examples of classical stream ciphers are the autokeyed Vigenère cipher</a:t>
            </a:r>
            <a:endParaRPr/>
          </a:p>
          <a:p>
            <a:pPr marL="0" lvl="0" indent="0" algn="l" rtl="0">
              <a:spcBef>
                <a:spcPts val="360"/>
              </a:spcBef>
              <a:spcAft>
                <a:spcPts val="0"/>
              </a:spcAft>
              <a:buNone/>
            </a:pPr>
            <a:r>
              <a:rPr lang="en-US"/>
              <a:t>and the Vernam cipher. In the ideal case, a one-time pad version of the Vernam</a:t>
            </a:r>
            <a:endParaRPr/>
          </a:p>
          <a:p>
            <a:pPr marL="0" lvl="0" indent="0" algn="l" rtl="0">
              <a:spcBef>
                <a:spcPts val="360"/>
              </a:spcBef>
              <a:spcAft>
                <a:spcPts val="0"/>
              </a:spcAft>
              <a:buNone/>
            </a:pPr>
            <a:r>
              <a:rPr lang="en-US"/>
              <a:t>cipher would be used (Figure 2.7), in which the keystream (ki ) is as long as the</a:t>
            </a:r>
            <a:endParaRPr/>
          </a:p>
          <a:p>
            <a:pPr marL="0" lvl="0" indent="0" algn="l" rtl="0">
              <a:spcBef>
                <a:spcPts val="360"/>
              </a:spcBef>
              <a:spcAft>
                <a:spcPts val="0"/>
              </a:spcAft>
              <a:buNone/>
            </a:pPr>
            <a:r>
              <a:rPr lang="en-US"/>
              <a:t>plaintext bit stream (pi ). If the cryptographic keystream is random, then this cipher</a:t>
            </a:r>
            <a:endParaRPr/>
          </a:p>
          <a:p>
            <a:pPr marL="0" lvl="0" indent="0" algn="l" rtl="0">
              <a:spcBef>
                <a:spcPts val="360"/>
              </a:spcBef>
              <a:spcAft>
                <a:spcPts val="0"/>
              </a:spcAft>
              <a:buNone/>
            </a:pPr>
            <a:r>
              <a:rPr lang="en-US"/>
              <a:t>is unbreakable by any means other than acquiring the keystream. However, the</a:t>
            </a:r>
            <a:endParaRPr/>
          </a:p>
          <a:p>
            <a:pPr marL="0" lvl="0" indent="0" algn="l" rtl="0">
              <a:spcBef>
                <a:spcPts val="360"/>
              </a:spcBef>
              <a:spcAft>
                <a:spcPts val="0"/>
              </a:spcAft>
              <a:buNone/>
            </a:pPr>
            <a:r>
              <a:rPr lang="en-US"/>
              <a:t>keystream must be provided to both users in advance via some independent and</a:t>
            </a:r>
            <a:endParaRPr/>
          </a:p>
          <a:p>
            <a:pPr marL="0" lvl="0" indent="0" algn="l" rtl="0">
              <a:spcBef>
                <a:spcPts val="360"/>
              </a:spcBef>
              <a:spcAft>
                <a:spcPts val="0"/>
              </a:spcAft>
              <a:buNone/>
            </a:pPr>
            <a:r>
              <a:rPr lang="en-US"/>
              <a:t>secure channel. This introduces insurmountable logistical problems if the intended</a:t>
            </a:r>
            <a:endParaRPr/>
          </a:p>
          <a:p>
            <a:pPr marL="0" lvl="0" indent="0" algn="l" rtl="0">
              <a:spcBef>
                <a:spcPts val="360"/>
              </a:spcBef>
              <a:spcAft>
                <a:spcPts val="0"/>
              </a:spcAft>
              <a:buNone/>
            </a:pPr>
            <a:r>
              <a:rPr lang="en-US"/>
              <a:t>data traffic is very large.</a:t>
            </a:r>
            <a:endParaRPr/>
          </a:p>
          <a:p>
            <a:pPr marL="0" lvl="0" indent="0" algn="l" rtl="0">
              <a:spcBef>
                <a:spcPts val="360"/>
              </a:spcBef>
              <a:spcAft>
                <a:spcPts val="0"/>
              </a:spcAft>
              <a:buNone/>
            </a:pPr>
            <a:endParaRPr/>
          </a:p>
          <a:p>
            <a:pPr marL="0" lvl="0" indent="0" algn="l" rtl="0">
              <a:spcBef>
                <a:spcPts val="360"/>
              </a:spcBef>
              <a:spcAft>
                <a:spcPts val="0"/>
              </a:spcAft>
              <a:buNone/>
            </a:pPr>
            <a:r>
              <a:rPr lang="en-US"/>
              <a:t>Accordingly, for practical reasons, the bit-stream generator must be</a:t>
            </a:r>
            <a:endParaRPr/>
          </a:p>
          <a:p>
            <a:pPr marL="0" lvl="0" indent="0" algn="l" rtl="0">
              <a:spcBef>
                <a:spcPts val="360"/>
              </a:spcBef>
              <a:spcAft>
                <a:spcPts val="0"/>
              </a:spcAft>
              <a:buNone/>
            </a:pPr>
            <a:r>
              <a:rPr lang="en-US"/>
              <a:t>implemented as an algorithmic procedure, so that the cryptographic bit stream</a:t>
            </a:r>
            <a:endParaRPr/>
          </a:p>
          <a:p>
            <a:pPr marL="0" lvl="0" indent="0" algn="l" rtl="0">
              <a:spcBef>
                <a:spcPts val="360"/>
              </a:spcBef>
              <a:spcAft>
                <a:spcPts val="0"/>
              </a:spcAft>
              <a:buNone/>
            </a:pPr>
            <a:r>
              <a:rPr lang="en-US"/>
              <a:t>can be produced by both users. In this approach (Figure 3.1a), the bit-stream</a:t>
            </a:r>
            <a:endParaRPr/>
          </a:p>
          <a:p>
            <a:pPr marL="0" lvl="0" indent="0" algn="l" rtl="0">
              <a:spcBef>
                <a:spcPts val="360"/>
              </a:spcBef>
              <a:spcAft>
                <a:spcPts val="0"/>
              </a:spcAft>
              <a:buNone/>
            </a:pPr>
            <a:r>
              <a:rPr lang="en-US"/>
              <a:t>generator is a key-controlled algorithm and must produce a bit stream that is</a:t>
            </a:r>
            <a:endParaRPr/>
          </a:p>
          <a:p>
            <a:pPr marL="0" lvl="0" indent="0" algn="l" rtl="0">
              <a:spcBef>
                <a:spcPts val="360"/>
              </a:spcBef>
              <a:spcAft>
                <a:spcPts val="0"/>
              </a:spcAft>
              <a:buNone/>
            </a:pPr>
            <a:r>
              <a:rPr lang="en-US"/>
              <a:t>cryptographically strong. That is, it must be computationally impractical to</a:t>
            </a:r>
            <a:endParaRPr/>
          </a:p>
          <a:p>
            <a:pPr marL="0" lvl="0" indent="0" algn="l" rtl="0">
              <a:spcBef>
                <a:spcPts val="360"/>
              </a:spcBef>
              <a:spcAft>
                <a:spcPts val="0"/>
              </a:spcAft>
              <a:buNone/>
            </a:pPr>
            <a:r>
              <a:rPr lang="en-US"/>
              <a:t>predict future portions of the bit stream based on previous portions of the bit</a:t>
            </a:r>
            <a:endParaRPr/>
          </a:p>
          <a:p>
            <a:pPr marL="0" lvl="0" indent="0" algn="l" rtl="0">
              <a:spcBef>
                <a:spcPts val="360"/>
              </a:spcBef>
              <a:spcAft>
                <a:spcPts val="0"/>
              </a:spcAft>
              <a:buNone/>
            </a:pPr>
            <a:r>
              <a:rPr lang="en-US"/>
              <a:t>stream. The two users need only share the generating key, and each can produce</a:t>
            </a:r>
            <a:endParaRPr/>
          </a:p>
          <a:p>
            <a:pPr marL="0" lvl="0" indent="0" algn="l" rtl="0">
              <a:spcBef>
                <a:spcPts val="360"/>
              </a:spcBef>
              <a:spcAft>
                <a:spcPts val="0"/>
              </a:spcAft>
              <a:buNone/>
            </a:pPr>
            <a:r>
              <a:rPr lang="en-US"/>
              <a:t>the keystream.</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41: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5</a:t>
            </a:fld>
            <a:endParaRPr>
              <a:latin typeface="Arial"/>
              <a:ea typeface="Arial"/>
              <a:cs typeface="Arial"/>
              <a:sym typeface="Arial"/>
            </a:endParaRPr>
          </a:p>
        </p:txBody>
      </p:sp>
      <p:sp>
        <p:nvSpPr>
          <p:cNvPr id="535" name="Google Shape;535;p41: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6" name="Google Shape;536;p41: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 A block cipher  is one in which a block of plaintext is treated as a whole</a:t>
            </a:r>
            <a:endParaRPr/>
          </a:p>
          <a:p>
            <a:pPr marL="0" lvl="0" indent="0" algn="l" rtl="0">
              <a:spcBef>
                <a:spcPts val="360"/>
              </a:spcBef>
              <a:spcAft>
                <a:spcPts val="0"/>
              </a:spcAft>
              <a:buNone/>
            </a:pPr>
            <a:r>
              <a:rPr lang="en-US"/>
              <a:t>and used to produce a ciphertext block of equal length. Typically, a block size of</a:t>
            </a:r>
            <a:endParaRPr/>
          </a:p>
          <a:p>
            <a:pPr marL="0" lvl="0" indent="0" algn="l" rtl="0">
              <a:spcBef>
                <a:spcPts val="360"/>
              </a:spcBef>
              <a:spcAft>
                <a:spcPts val="0"/>
              </a:spcAft>
              <a:buNone/>
            </a:pPr>
            <a:r>
              <a:rPr lang="en-US"/>
              <a:t>64 or 128 bits is used. As with a stream cipher, the two users share a symmetric</a:t>
            </a:r>
            <a:endParaRPr/>
          </a:p>
          <a:p>
            <a:pPr marL="0" lvl="0" indent="0" algn="l" rtl="0">
              <a:spcBef>
                <a:spcPts val="360"/>
              </a:spcBef>
              <a:spcAft>
                <a:spcPts val="0"/>
              </a:spcAft>
              <a:buNone/>
            </a:pPr>
            <a:r>
              <a:rPr lang="en-US"/>
              <a:t>encryption key (Figure 3.1b). Using some of the modes of operation explained</a:t>
            </a:r>
            <a:endParaRPr/>
          </a:p>
          <a:p>
            <a:pPr marL="0" lvl="0" indent="0" algn="l" rtl="0">
              <a:spcBef>
                <a:spcPts val="360"/>
              </a:spcBef>
              <a:spcAft>
                <a:spcPts val="0"/>
              </a:spcAft>
              <a:buNone/>
            </a:pPr>
            <a:r>
              <a:rPr lang="en-US"/>
              <a:t>in Chapter 6, a block cipher can be used to achieve the same effect as a stream</a:t>
            </a:r>
            <a:endParaRPr/>
          </a:p>
          <a:p>
            <a:pPr marL="0" lvl="0" indent="0" algn="l" rtl="0">
              <a:spcBef>
                <a:spcPts val="360"/>
              </a:spcBef>
              <a:spcAft>
                <a:spcPts val="0"/>
              </a:spcAft>
              <a:buNone/>
            </a:pPr>
            <a:r>
              <a:rPr lang="en-US"/>
              <a:t>cipher.</a:t>
            </a:r>
            <a:endParaRPr/>
          </a:p>
          <a:p>
            <a:pPr marL="0" lvl="0" indent="0" algn="l" rtl="0">
              <a:spcBef>
                <a:spcPts val="360"/>
              </a:spcBef>
              <a:spcAft>
                <a:spcPts val="0"/>
              </a:spcAft>
              <a:buNone/>
            </a:pPr>
            <a:endParaRPr/>
          </a:p>
          <a:p>
            <a:pPr marL="0" lvl="0" indent="0" algn="l" rtl="0">
              <a:spcBef>
                <a:spcPts val="360"/>
              </a:spcBef>
              <a:spcAft>
                <a:spcPts val="0"/>
              </a:spcAft>
              <a:buNone/>
            </a:pPr>
            <a:r>
              <a:rPr lang="en-US"/>
              <a:t>Far more effort has gone into analyzing block ciphers. In general, they seem</a:t>
            </a:r>
            <a:endParaRPr/>
          </a:p>
          <a:p>
            <a:pPr marL="0" lvl="0" indent="0" algn="l" rtl="0">
              <a:spcBef>
                <a:spcPts val="360"/>
              </a:spcBef>
              <a:spcAft>
                <a:spcPts val="0"/>
              </a:spcAft>
              <a:buNone/>
            </a:pPr>
            <a:r>
              <a:rPr lang="en-US"/>
              <a:t>applicable to a broader range of applications than stream ciphers. The vast majority</a:t>
            </a:r>
            <a:endParaRPr/>
          </a:p>
          <a:p>
            <a:pPr marL="0" lvl="0" indent="0" algn="l" rtl="0">
              <a:spcBef>
                <a:spcPts val="360"/>
              </a:spcBef>
              <a:spcAft>
                <a:spcPts val="0"/>
              </a:spcAft>
              <a:buNone/>
            </a:pPr>
            <a:r>
              <a:rPr lang="en-US"/>
              <a:t>of network-based symmetric cryptographic applications make use of block</a:t>
            </a:r>
            <a:endParaRPr/>
          </a:p>
          <a:p>
            <a:pPr marL="0" lvl="0" indent="0" algn="l" rtl="0">
              <a:spcBef>
                <a:spcPts val="360"/>
              </a:spcBef>
              <a:spcAft>
                <a:spcPts val="0"/>
              </a:spcAft>
              <a:buNone/>
            </a:pPr>
            <a:r>
              <a:rPr lang="en-US"/>
              <a:t>ciphers. Accordingly, the concern in this chapter, and in our discussions throughout</a:t>
            </a:r>
            <a:endParaRPr/>
          </a:p>
          <a:p>
            <a:pPr marL="0" lvl="0" indent="0" algn="l" rtl="0">
              <a:spcBef>
                <a:spcPts val="360"/>
              </a:spcBef>
              <a:spcAft>
                <a:spcPts val="0"/>
              </a:spcAft>
              <a:buNone/>
            </a:pPr>
            <a:r>
              <a:rPr lang="en-US"/>
              <a:t>the book of symmetric encryption, will primarily focus on block ciphers.</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42: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1" name="Google Shape;551;p42: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latin typeface="Arial"/>
                <a:ea typeface="Arial"/>
                <a:cs typeface="Arial"/>
                <a:sym typeface="Arial"/>
              </a:rPr>
              <a:t>Examples of stream and block ciphers.</a:t>
            </a:r>
            <a:endParaRPr>
              <a:latin typeface="Arial"/>
              <a:ea typeface="Arial"/>
              <a:cs typeface="Arial"/>
              <a:sym typeface="Arial"/>
            </a:endParaRPr>
          </a:p>
        </p:txBody>
      </p:sp>
      <p:sp>
        <p:nvSpPr>
          <p:cNvPr id="552" name="Google Shape;552;p42: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6</a:t>
            </a:fld>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43: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7</a:t>
            </a:fld>
            <a:endParaRPr>
              <a:latin typeface="Arial"/>
              <a:ea typeface="Arial"/>
              <a:cs typeface="Arial"/>
              <a:sym typeface="Arial"/>
            </a:endParaRPr>
          </a:p>
        </p:txBody>
      </p:sp>
      <p:sp>
        <p:nvSpPr>
          <p:cNvPr id="558" name="Google Shape;558;p43: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59" name="Google Shape;559;p43: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 A block cipher operates on a plaintext block of n  bits to produce a ciphertext</a:t>
            </a:r>
            <a:endParaRPr/>
          </a:p>
          <a:p>
            <a:pPr marL="0" lvl="0" indent="0" algn="l" rtl="0">
              <a:spcBef>
                <a:spcPts val="360"/>
              </a:spcBef>
              <a:spcAft>
                <a:spcPts val="0"/>
              </a:spcAft>
              <a:buNone/>
            </a:pPr>
            <a:r>
              <a:rPr lang="en-US"/>
              <a:t>block of n  bits. There are 2</a:t>
            </a:r>
            <a:r>
              <a:rPr lang="en-US" baseline="30000"/>
              <a:t>n</a:t>
            </a:r>
            <a:r>
              <a:rPr lang="en-US"/>
              <a:t>  possible different plaintext blocks and, for the</a:t>
            </a:r>
            <a:endParaRPr/>
          </a:p>
          <a:p>
            <a:pPr marL="0" lvl="0" indent="0" algn="l" rtl="0">
              <a:spcBef>
                <a:spcPts val="360"/>
              </a:spcBef>
              <a:spcAft>
                <a:spcPts val="0"/>
              </a:spcAft>
              <a:buNone/>
            </a:pPr>
            <a:r>
              <a:rPr lang="en-US"/>
              <a:t>encryption to be reversible (i.e., for decryption to be possible), each must produce</a:t>
            </a:r>
            <a:endParaRPr/>
          </a:p>
          <a:p>
            <a:pPr marL="0" lvl="0" indent="0" algn="l" rtl="0">
              <a:spcBef>
                <a:spcPts val="360"/>
              </a:spcBef>
              <a:spcAft>
                <a:spcPts val="0"/>
              </a:spcAft>
              <a:buNone/>
            </a:pPr>
            <a:r>
              <a:rPr lang="en-US"/>
              <a:t>a unique ciphertext block. Such a transformation is called reversible, or  nonsingular.</a:t>
            </a:r>
            <a:endParaRPr/>
          </a:p>
          <a:p>
            <a:pPr marL="0" lvl="0" indent="0" algn="l" rtl="0">
              <a:spcBef>
                <a:spcPts val="360"/>
              </a:spcBef>
              <a:spcAft>
                <a:spcPts val="0"/>
              </a:spcAft>
              <a:buNone/>
            </a:pPr>
            <a:endParaRPr/>
          </a:p>
          <a:p>
            <a:pPr marL="0" lvl="0" indent="0" algn="l" rtl="0">
              <a:spcBef>
                <a:spcPts val="360"/>
              </a:spcBef>
              <a:spcAft>
                <a:spcPts val="0"/>
              </a:spcAft>
              <a:buNone/>
            </a:pPr>
            <a:r>
              <a:rPr lang="en-US"/>
              <a:t> Figure 3.2 illustrates the logic of a general substitution cipher for n =  4.</a:t>
            </a:r>
            <a:endParaRPr/>
          </a:p>
          <a:p>
            <a:pPr marL="0" lvl="0" indent="0" algn="l" rtl="0">
              <a:spcBef>
                <a:spcPts val="360"/>
              </a:spcBef>
              <a:spcAft>
                <a:spcPts val="0"/>
              </a:spcAft>
              <a:buNone/>
            </a:pPr>
            <a:r>
              <a:rPr lang="en-US"/>
              <a:t>A 4-bit input produces one of 16 possible input states, which is mapped by the substitution</a:t>
            </a:r>
            <a:endParaRPr/>
          </a:p>
          <a:p>
            <a:pPr marL="0" lvl="0" indent="0" algn="l" rtl="0">
              <a:spcBef>
                <a:spcPts val="360"/>
              </a:spcBef>
              <a:spcAft>
                <a:spcPts val="0"/>
              </a:spcAft>
              <a:buNone/>
            </a:pPr>
            <a:r>
              <a:rPr lang="en-US"/>
              <a:t>cipher into a unique one of 16 possible output states, each of which is represented</a:t>
            </a:r>
            <a:endParaRPr/>
          </a:p>
          <a:p>
            <a:pPr marL="0" lvl="0" indent="0" algn="l" rtl="0">
              <a:spcBef>
                <a:spcPts val="360"/>
              </a:spcBef>
              <a:spcAft>
                <a:spcPts val="0"/>
              </a:spcAft>
              <a:buNone/>
            </a:pPr>
            <a:r>
              <a:rPr lang="en-US"/>
              <a:t>by 4 ciphertext bits.</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44: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64" name="Google Shape;564;p44: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rmAutofit/>
          </a:bodyPr>
          <a:lstStyle/>
          <a:p>
            <a:pPr marL="0" lvl="0" indent="0" algn="l" rtl="0">
              <a:spcBef>
                <a:spcPts val="0"/>
              </a:spcBef>
              <a:spcAft>
                <a:spcPts val="0"/>
              </a:spcAft>
              <a:buNone/>
            </a:pPr>
            <a:r>
              <a:rPr lang="en-US"/>
              <a:t> The encryption and decryption mappings can be defined</a:t>
            </a:r>
            <a:endParaRPr/>
          </a:p>
          <a:p>
            <a:pPr marL="0" lvl="0" indent="0" algn="l" rtl="0">
              <a:spcBef>
                <a:spcPts val="360"/>
              </a:spcBef>
              <a:spcAft>
                <a:spcPts val="0"/>
              </a:spcAft>
              <a:buNone/>
            </a:pPr>
            <a:r>
              <a:rPr lang="en-US"/>
              <a:t>by a tabulation, as shown in Table 3.1. This is the most general form of block cipher</a:t>
            </a:r>
            <a:endParaRPr/>
          </a:p>
          <a:p>
            <a:pPr marL="0" lvl="0" indent="0" algn="l" rtl="0">
              <a:spcBef>
                <a:spcPts val="360"/>
              </a:spcBef>
              <a:spcAft>
                <a:spcPts val="0"/>
              </a:spcAft>
              <a:buNone/>
            </a:pPr>
            <a:r>
              <a:rPr lang="en-US"/>
              <a:t>and can be used to define any reversible mapping between plaintext and ciphertext.</a:t>
            </a:r>
            <a:endParaRPr/>
          </a:p>
          <a:p>
            <a:pPr marL="0" lvl="0" indent="0" algn="l" rtl="0">
              <a:spcBef>
                <a:spcPts val="360"/>
              </a:spcBef>
              <a:spcAft>
                <a:spcPts val="0"/>
              </a:spcAft>
              <a:buNone/>
            </a:pPr>
            <a:r>
              <a:rPr lang="en-US"/>
              <a:t> Feistel refers to this as the ideal block cipher , because it allows for the maximum</a:t>
            </a:r>
            <a:endParaRPr/>
          </a:p>
          <a:p>
            <a:pPr marL="0" lvl="0" indent="0" algn="l" rtl="0">
              <a:spcBef>
                <a:spcPts val="360"/>
              </a:spcBef>
              <a:spcAft>
                <a:spcPts val="0"/>
              </a:spcAft>
              <a:buNone/>
            </a:pPr>
            <a:r>
              <a:rPr lang="en-US"/>
              <a:t>number of possible encryption mappings from the plaintext block [FEIS75].</a:t>
            </a:r>
            <a:endParaRPr/>
          </a:p>
        </p:txBody>
      </p:sp>
      <p:sp>
        <p:nvSpPr>
          <p:cNvPr id="565" name="Google Shape;565;p44: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45: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11</a:t>
            </a:fld>
            <a:endParaRPr>
              <a:latin typeface="Arial"/>
              <a:ea typeface="Arial"/>
              <a:cs typeface="Arial"/>
              <a:sym typeface="Arial"/>
            </a:endParaRPr>
          </a:p>
        </p:txBody>
      </p:sp>
      <p:sp>
        <p:nvSpPr>
          <p:cNvPr id="571" name="Google Shape;571;p45: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2" name="Google Shape;572;p45: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Feistel proposed [FEIS73] that we can approximate the ideal block cipher by utilizing</a:t>
            </a:r>
            <a:endParaRPr/>
          </a:p>
          <a:p>
            <a:pPr marL="0" lvl="0" indent="0" algn="l" rtl="0">
              <a:spcBef>
                <a:spcPts val="360"/>
              </a:spcBef>
              <a:spcAft>
                <a:spcPts val="0"/>
              </a:spcAft>
              <a:buNone/>
            </a:pPr>
            <a:r>
              <a:rPr lang="en-US"/>
              <a:t>the concept of a product cipher, which is the execution of two or more simple ciphers</a:t>
            </a:r>
            <a:endParaRPr/>
          </a:p>
          <a:p>
            <a:pPr marL="0" lvl="0" indent="0" algn="l" rtl="0">
              <a:spcBef>
                <a:spcPts val="360"/>
              </a:spcBef>
              <a:spcAft>
                <a:spcPts val="0"/>
              </a:spcAft>
              <a:buNone/>
            </a:pPr>
            <a:r>
              <a:rPr lang="en-US"/>
              <a:t>in sequence in such a way that the final result or product is cryptographically stronger</a:t>
            </a:r>
            <a:endParaRPr/>
          </a:p>
          <a:p>
            <a:pPr marL="0" lvl="0" indent="0" algn="l" rtl="0">
              <a:spcBef>
                <a:spcPts val="360"/>
              </a:spcBef>
              <a:spcAft>
                <a:spcPts val="0"/>
              </a:spcAft>
              <a:buNone/>
            </a:pPr>
            <a:r>
              <a:rPr lang="en-US"/>
              <a:t> than any of the component ciphers. The essence of the approach is to develop a block</a:t>
            </a:r>
            <a:endParaRPr/>
          </a:p>
          <a:p>
            <a:pPr marL="0" lvl="0" indent="0" algn="l" rtl="0">
              <a:spcBef>
                <a:spcPts val="360"/>
              </a:spcBef>
              <a:spcAft>
                <a:spcPts val="0"/>
              </a:spcAft>
              <a:buNone/>
            </a:pPr>
            <a:r>
              <a:rPr lang="en-US"/>
              <a:t>cipher with a key length of k  bits and a block length of n  bits, allowing a total of 2</a:t>
            </a:r>
            <a:r>
              <a:rPr lang="en-US" baseline="30000"/>
              <a:t>k</a:t>
            </a:r>
            <a:endParaRPr/>
          </a:p>
          <a:p>
            <a:pPr marL="0" lvl="0" indent="0" algn="l" rtl="0">
              <a:spcBef>
                <a:spcPts val="360"/>
              </a:spcBef>
              <a:spcAft>
                <a:spcPts val="0"/>
              </a:spcAft>
              <a:buNone/>
            </a:pPr>
            <a:r>
              <a:rPr lang="en-US"/>
              <a:t> possible transformations, rather than the 2</a:t>
            </a:r>
            <a:r>
              <a:rPr lang="en-US" baseline="30000"/>
              <a:t>n</a:t>
            </a:r>
            <a:r>
              <a:rPr lang="en-US"/>
              <a:t> ! transformations available with the ideal</a:t>
            </a:r>
            <a:endParaRPr/>
          </a:p>
          <a:p>
            <a:pPr marL="0" lvl="0" indent="0" algn="l" rtl="0">
              <a:spcBef>
                <a:spcPts val="360"/>
              </a:spcBef>
              <a:spcAft>
                <a:spcPts val="0"/>
              </a:spcAft>
              <a:buNone/>
            </a:pPr>
            <a:r>
              <a:rPr lang="en-US"/>
              <a:t>block cipher.</a:t>
            </a:r>
            <a:endParaRPr/>
          </a:p>
          <a:p>
            <a:pPr marL="0" lvl="0" indent="0" algn="l" rtl="0">
              <a:spcBef>
                <a:spcPts val="360"/>
              </a:spcBef>
              <a:spcAft>
                <a:spcPts val="0"/>
              </a:spcAft>
              <a:buNone/>
            </a:pPr>
            <a:endParaRPr/>
          </a:p>
          <a:p>
            <a:pPr marL="0" lvl="0" indent="0" algn="l" rtl="0">
              <a:spcBef>
                <a:spcPts val="360"/>
              </a:spcBef>
              <a:spcAft>
                <a:spcPts val="0"/>
              </a:spcAft>
              <a:buNone/>
            </a:pPr>
            <a:r>
              <a:rPr lang="en-US"/>
              <a:t>In particular, Feistel proposed the use of a cipher that alternates substitutions</a:t>
            </a:r>
            <a:endParaRPr/>
          </a:p>
          <a:p>
            <a:pPr marL="0" lvl="0" indent="0" algn="l" rtl="0">
              <a:spcBef>
                <a:spcPts val="360"/>
              </a:spcBef>
              <a:spcAft>
                <a:spcPts val="0"/>
              </a:spcAft>
              <a:buNone/>
            </a:pPr>
            <a:r>
              <a:rPr lang="en-US"/>
              <a:t>and permutations, where these terms are defined as follows:</a:t>
            </a:r>
            <a:endParaRPr/>
          </a:p>
          <a:p>
            <a:pPr marL="0" lvl="0" indent="0" algn="l" rtl="0">
              <a:spcBef>
                <a:spcPts val="360"/>
              </a:spcBef>
              <a:spcAft>
                <a:spcPts val="0"/>
              </a:spcAft>
              <a:buNone/>
            </a:pPr>
            <a:endParaRPr/>
          </a:p>
          <a:p>
            <a:pPr marL="0" lvl="0" indent="0" algn="l" rtl="0">
              <a:spcBef>
                <a:spcPts val="360"/>
              </a:spcBef>
              <a:spcAft>
                <a:spcPts val="0"/>
              </a:spcAft>
              <a:buNone/>
            </a:pPr>
            <a:r>
              <a:rPr lang="en-US"/>
              <a:t>• Substitution:  Each plaintext element or group of elements is uniquely replaced</a:t>
            </a:r>
            <a:endParaRPr/>
          </a:p>
          <a:p>
            <a:pPr marL="0" lvl="0" indent="0" algn="l" rtl="0">
              <a:spcBef>
                <a:spcPts val="360"/>
              </a:spcBef>
              <a:spcAft>
                <a:spcPts val="0"/>
              </a:spcAft>
              <a:buNone/>
            </a:pPr>
            <a:r>
              <a:rPr lang="en-US"/>
              <a:t>by a corresponding ciphertext element or group of elements.</a:t>
            </a:r>
            <a:endParaRPr/>
          </a:p>
          <a:p>
            <a:pPr marL="0" lvl="0" indent="0" algn="l" rtl="0">
              <a:spcBef>
                <a:spcPts val="360"/>
              </a:spcBef>
              <a:spcAft>
                <a:spcPts val="0"/>
              </a:spcAft>
              <a:buNone/>
            </a:pPr>
            <a:endParaRPr/>
          </a:p>
          <a:p>
            <a:pPr marL="0" lvl="0" indent="0" algn="l" rtl="0">
              <a:spcBef>
                <a:spcPts val="360"/>
              </a:spcBef>
              <a:spcAft>
                <a:spcPts val="0"/>
              </a:spcAft>
              <a:buNone/>
            </a:pPr>
            <a:r>
              <a:rPr lang="en-US"/>
              <a:t>• Permutation:  A sequence of plaintext elements is replaced by a permutation</a:t>
            </a:r>
            <a:endParaRPr/>
          </a:p>
          <a:p>
            <a:pPr marL="0" lvl="0" indent="0" algn="l" rtl="0">
              <a:spcBef>
                <a:spcPts val="360"/>
              </a:spcBef>
              <a:spcAft>
                <a:spcPts val="0"/>
              </a:spcAft>
              <a:buNone/>
            </a:pPr>
            <a:r>
              <a:rPr lang="en-US"/>
              <a:t>of that sequence. That is, no elements are added or deleted or replaced in the</a:t>
            </a:r>
            <a:endParaRPr/>
          </a:p>
          <a:p>
            <a:pPr marL="0" lvl="0" indent="0" algn="l" rtl="0">
              <a:spcBef>
                <a:spcPts val="360"/>
              </a:spcBef>
              <a:spcAft>
                <a:spcPts val="0"/>
              </a:spcAft>
              <a:buNone/>
            </a:pPr>
            <a:r>
              <a:rPr lang="en-US"/>
              <a:t>sequence, rather the order in which the elements appear in the sequence is</a:t>
            </a:r>
            <a:endParaRPr/>
          </a:p>
          <a:p>
            <a:pPr marL="0" lvl="0" indent="0" algn="l" rtl="0">
              <a:spcBef>
                <a:spcPts val="360"/>
              </a:spcBef>
              <a:spcAft>
                <a:spcPts val="0"/>
              </a:spcAft>
              <a:buNone/>
            </a:pPr>
            <a:r>
              <a:rPr lang="en-US"/>
              <a:t>changed.</a:t>
            </a:r>
            <a:endParaRPr/>
          </a:p>
          <a:p>
            <a:pPr marL="0" lvl="0" indent="0" algn="l" rtl="0">
              <a:spcBef>
                <a:spcPts val="360"/>
              </a:spcBef>
              <a:spcAft>
                <a:spcPts val="0"/>
              </a:spcAft>
              <a:buNone/>
            </a:pPr>
            <a:endParaRPr/>
          </a:p>
          <a:p>
            <a:pPr marL="0" lvl="0" indent="0" algn="l" rtl="0">
              <a:spcBef>
                <a:spcPts val="360"/>
              </a:spcBef>
              <a:spcAft>
                <a:spcPts val="0"/>
              </a:spcAft>
              <a:buNone/>
            </a:pPr>
            <a:r>
              <a:rPr lang="en-US"/>
              <a:t>In fact, Feistel’s is a practical application of a proposal by Claude Shannon</a:t>
            </a:r>
            <a:endParaRPr/>
          </a:p>
          <a:p>
            <a:pPr marL="0" lvl="0" indent="0" algn="l" rtl="0">
              <a:spcBef>
                <a:spcPts val="360"/>
              </a:spcBef>
              <a:spcAft>
                <a:spcPts val="0"/>
              </a:spcAft>
              <a:buNone/>
            </a:pPr>
            <a:r>
              <a:rPr lang="en-US"/>
              <a:t>to develop a product cipher that alternates confusion  and diffusion  functions</a:t>
            </a:r>
            <a:endParaRPr/>
          </a:p>
          <a:p>
            <a:pPr marL="0" lvl="0" indent="0" algn="l" rtl="0">
              <a:spcBef>
                <a:spcPts val="360"/>
              </a:spcBef>
              <a:spcAft>
                <a:spcPts val="0"/>
              </a:spcAft>
              <a:buNone/>
            </a:pPr>
            <a:r>
              <a:rPr lang="en-US"/>
              <a:t>[SHAN49].  We look next at these concepts of diffusion and confusion and then</a:t>
            </a:r>
            <a:endParaRPr/>
          </a:p>
          <a:p>
            <a:pPr marL="0" lvl="0" indent="0" algn="l" rtl="0">
              <a:spcBef>
                <a:spcPts val="360"/>
              </a:spcBef>
              <a:spcAft>
                <a:spcPts val="0"/>
              </a:spcAft>
              <a:buNone/>
            </a:pPr>
            <a:r>
              <a:rPr lang="en-US"/>
              <a:t>present the Feistel cipher. But first, it is worth commenting on this remarkable fact:</a:t>
            </a:r>
            <a:endParaRPr/>
          </a:p>
          <a:p>
            <a:pPr marL="0" lvl="0" indent="0" algn="l" rtl="0">
              <a:spcBef>
                <a:spcPts val="360"/>
              </a:spcBef>
              <a:spcAft>
                <a:spcPts val="0"/>
              </a:spcAft>
              <a:buNone/>
            </a:pPr>
            <a:r>
              <a:rPr lang="en-US"/>
              <a:t>The Feistel cipher structure, which dates back over a quarter century and which, in</a:t>
            </a:r>
            <a:endParaRPr/>
          </a:p>
          <a:p>
            <a:pPr marL="0" lvl="0" indent="0" algn="l" rtl="0">
              <a:spcBef>
                <a:spcPts val="360"/>
              </a:spcBef>
              <a:spcAft>
                <a:spcPts val="0"/>
              </a:spcAft>
              <a:buNone/>
            </a:pPr>
            <a:r>
              <a:rPr lang="en-US"/>
              <a:t>turn, is based on Shannon’s proposal of 1945, is the structure used by many significant</a:t>
            </a:r>
            <a:endParaRPr/>
          </a:p>
          <a:p>
            <a:pPr marL="0" lvl="0" indent="0" algn="l" rtl="0">
              <a:spcBef>
                <a:spcPts val="360"/>
              </a:spcBef>
              <a:spcAft>
                <a:spcPts val="0"/>
              </a:spcAft>
              <a:buNone/>
            </a:pPr>
            <a:r>
              <a:rPr lang="en-US"/>
              <a:t>symmetric block ciphers currently in use.</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46: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12</a:t>
            </a:fld>
            <a:endParaRPr>
              <a:latin typeface="Arial"/>
              <a:ea typeface="Arial"/>
              <a:cs typeface="Arial"/>
              <a:sym typeface="Arial"/>
            </a:endParaRPr>
          </a:p>
        </p:txBody>
      </p:sp>
      <p:sp>
        <p:nvSpPr>
          <p:cNvPr id="587" name="Google Shape;587;p46: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8" name="Google Shape;588;p46: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 The terms diffusion  and confusion  were introduced by</a:t>
            </a:r>
            <a:endParaRPr/>
          </a:p>
          <a:p>
            <a:pPr marL="0" lvl="0" indent="0" algn="l" rtl="0">
              <a:spcBef>
                <a:spcPts val="360"/>
              </a:spcBef>
              <a:spcAft>
                <a:spcPts val="0"/>
              </a:spcAft>
              <a:buNone/>
            </a:pPr>
            <a:r>
              <a:rPr lang="en-US"/>
              <a:t>Claude Shannon to capture the two basic building blocks for any cryptographic</a:t>
            </a:r>
            <a:endParaRPr/>
          </a:p>
          <a:p>
            <a:pPr marL="0" lvl="0" indent="0" algn="l" rtl="0">
              <a:spcBef>
                <a:spcPts val="360"/>
              </a:spcBef>
              <a:spcAft>
                <a:spcPts val="0"/>
              </a:spcAft>
              <a:buNone/>
            </a:pPr>
            <a:r>
              <a:rPr lang="en-US"/>
              <a:t>system [SHAN49]. Shannon’s concern was to thwart cryptanalysis based on statistical</a:t>
            </a:r>
            <a:endParaRPr/>
          </a:p>
          <a:p>
            <a:pPr marL="0" lvl="0" indent="0" algn="l" rtl="0">
              <a:spcBef>
                <a:spcPts val="360"/>
              </a:spcBef>
              <a:spcAft>
                <a:spcPts val="0"/>
              </a:spcAft>
              <a:buNone/>
            </a:pPr>
            <a:r>
              <a:rPr lang="en-US"/>
              <a:t>analysis. The reasoning is as follows. Assume the attacker has some knowledge</a:t>
            </a:r>
            <a:endParaRPr/>
          </a:p>
          <a:p>
            <a:pPr marL="0" lvl="0" indent="0" algn="l" rtl="0">
              <a:spcBef>
                <a:spcPts val="360"/>
              </a:spcBef>
              <a:spcAft>
                <a:spcPts val="0"/>
              </a:spcAft>
              <a:buNone/>
            </a:pPr>
            <a:r>
              <a:rPr lang="en-US"/>
              <a:t>of the statistical characteristics of the plaintext. For example, in a human-readable</a:t>
            </a:r>
            <a:endParaRPr/>
          </a:p>
          <a:p>
            <a:pPr marL="0" lvl="0" indent="0" algn="l" rtl="0">
              <a:spcBef>
                <a:spcPts val="360"/>
              </a:spcBef>
              <a:spcAft>
                <a:spcPts val="0"/>
              </a:spcAft>
              <a:buNone/>
            </a:pPr>
            <a:r>
              <a:rPr lang="en-US"/>
              <a:t>message in some language, the frequency distribution of the various letters may be</a:t>
            </a:r>
            <a:endParaRPr/>
          </a:p>
          <a:p>
            <a:pPr marL="0" lvl="0" indent="0" algn="l" rtl="0">
              <a:spcBef>
                <a:spcPts val="360"/>
              </a:spcBef>
              <a:spcAft>
                <a:spcPts val="0"/>
              </a:spcAft>
              <a:buNone/>
            </a:pPr>
            <a:r>
              <a:rPr lang="en-US"/>
              <a:t>known. Or there may be words or phrases likely to appear in the message (probable</a:t>
            </a:r>
            <a:endParaRPr/>
          </a:p>
          <a:p>
            <a:pPr marL="0" lvl="0" indent="0" algn="l" rtl="0">
              <a:spcBef>
                <a:spcPts val="360"/>
              </a:spcBef>
              <a:spcAft>
                <a:spcPts val="0"/>
              </a:spcAft>
              <a:buNone/>
            </a:pPr>
            <a:r>
              <a:rPr lang="en-US"/>
              <a:t>words). If these statistics are in any way reflected in the ciphertext, the cryptanalyst</a:t>
            </a:r>
            <a:endParaRPr/>
          </a:p>
          <a:p>
            <a:pPr marL="0" lvl="0" indent="0" algn="l" rtl="0">
              <a:spcBef>
                <a:spcPts val="360"/>
              </a:spcBef>
              <a:spcAft>
                <a:spcPts val="0"/>
              </a:spcAft>
              <a:buNone/>
            </a:pPr>
            <a:r>
              <a:rPr lang="en-US"/>
              <a:t>may be able to deduce the encryption key, part of the key, or at least a set of keys</a:t>
            </a:r>
            <a:endParaRPr/>
          </a:p>
          <a:p>
            <a:pPr marL="0" lvl="0" indent="0" algn="l" rtl="0">
              <a:spcBef>
                <a:spcPts val="360"/>
              </a:spcBef>
              <a:spcAft>
                <a:spcPts val="0"/>
              </a:spcAft>
              <a:buNone/>
            </a:pPr>
            <a:r>
              <a:rPr lang="en-US"/>
              <a:t>likely to contain the exact key. In what Shannon refers to as a strongly ideal cipher,</a:t>
            </a:r>
            <a:endParaRPr/>
          </a:p>
          <a:p>
            <a:pPr marL="0" lvl="0" indent="0" algn="l" rtl="0">
              <a:spcBef>
                <a:spcPts val="360"/>
              </a:spcBef>
              <a:spcAft>
                <a:spcPts val="0"/>
              </a:spcAft>
              <a:buNone/>
            </a:pPr>
            <a:r>
              <a:rPr lang="en-US"/>
              <a:t>all statistics of the ciphertext are independent of the particular key used. The arbitrary</a:t>
            </a:r>
            <a:endParaRPr/>
          </a:p>
          <a:p>
            <a:pPr marL="0" lvl="0" indent="0" algn="l" rtl="0">
              <a:spcBef>
                <a:spcPts val="360"/>
              </a:spcBef>
              <a:spcAft>
                <a:spcPts val="0"/>
              </a:spcAft>
              <a:buNone/>
            </a:pPr>
            <a:r>
              <a:rPr lang="en-US"/>
              <a:t>substitution cipher that we discussed previously (Figure 3.2) is such a cipher,</a:t>
            </a:r>
            <a:endParaRPr/>
          </a:p>
          <a:p>
            <a:pPr marL="0" lvl="0" indent="0" algn="l" rtl="0">
              <a:spcBef>
                <a:spcPts val="360"/>
              </a:spcBef>
              <a:spcAft>
                <a:spcPts val="0"/>
              </a:spcAft>
              <a:buNone/>
            </a:pPr>
            <a:r>
              <a:rPr lang="en-US"/>
              <a:t>but as we have seen, it is impractical.</a:t>
            </a:r>
            <a:endParaRPr/>
          </a:p>
          <a:p>
            <a:pPr marL="0" lvl="0" indent="0" algn="l" rtl="0">
              <a:spcBef>
                <a:spcPts val="360"/>
              </a:spcBef>
              <a:spcAft>
                <a:spcPts val="0"/>
              </a:spcAft>
              <a:buNone/>
            </a:pPr>
            <a:endParaRPr/>
          </a:p>
          <a:p>
            <a:pPr marL="0" lvl="0" indent="0" algn="l" rtl="0">
              <a:spcBef>
                <a:spcPts val="360"/>
              </a:spcBef>
              <a:spcAft>
                <a:spcPts val="0"/>
              </a:spcAft>
              <a:buNone/>
            </a:pPr>
            <a:r>
              <a:rPr lang="en-US"/>
              <a:t> Other than recourse to ideal systems, Shannon suggests two methods for</a:t>
            </a:r>
            <a:endParaRPr/>
          </a:p>
          <a:p>
            <a:pPr marL="0" lvl="0" indent="0" algn="l" rtl="0">
              <a:spcBef>
                <a:spcPts val="360"/>
              </a:spcBef>
              <a:spcAft>
                <a:spcPts val="0"/>
              </a:spcAft>
              <a:buNone/>
            </a:pPr>
            <a:r>
              <a:rPr lang="en-US"/>
              <a:t>frustrating statistical cryptanalysis: diffusion and confusion. In diffusion , the</a:t>
            </a:r>
            <a:endParaRPr/>
          </a:p>
          <a:p>
            <a:pPr marL="0" lvl="0" indent="0" algn="l" rtl="0">
              <a:spcBef>
                <a:spcPts val="360"/>
              </a:spcBef>
              <a:spcAft>
                <a:spcPts val="0"/>
              </a:spcAft>
              <a:buNone/>
            </a:pPr>
            <a:r>
              <a:rPr lang="en-US"/>
              <a:t>statistical structure of the plaintext is dissipated into long-range statistics of the</a:t>
            </a:r>
            <a:endParaRPr/>
          </a:p>
          <a:p>
            <a:pPr marL="0" lvl="0" indent="0" algn="l" rtl="0">
              <a:spcBef>
                <a:spcPts val="360"/>
              </a:spcBef>
              <a:spcAft>
                <a:spcPts val="0"/>
              </a:spcAft>
              <a:buNone/>
            </a:pPr>
            <a:r>
              <a:rPr lang="en-US"/>
              <a:t>ciphertext. This is achieved by having each plaintext digit affect the value of many</a:t>
            </a:r>
            <a:endParaRPr/>
          </a:p>
          <a:p>
            <a:pPr marL="0" lvl="0" indent="0" algn="l" rtl="0">
              <a:spcBef>
                <a:spcPts val="360"/>
              </a:spcBef>
              <a:spcAft>
                <a:spcPts val="0"/>
              </a:spcAft>
              <a:buNone/>
            </a:pPr>
            <a:r>
              <a:rPr lang="en-US"/>
              <a:t> ciphertext digits; generally, this is equivalent to having each ciphertext digit be</a:t>
            </a:r>
            <a:endParaRPr/>
          </a:p>
          <a:p>
            <a:pPr marL="0" lvl="0" indent="0" algn="l" rtl="0">
              <a:spcBef>
                <a:spcPts val="360"/>
              </a:spcBef>
              <a:spcAft>
                <a:spcPts val="0"/>
              </a:spcAft>
              <a:buNone/>
            </a:pPr>
            <a:r>
              <a:rPr lang="en-US"/>
              <a:t>affected by many plaintext digits.</a:t>
            </a:r>
            <a:endParaRPr/>
          </a:p>
          <a:p>
            <a:pPr marL="0" lvl="0" indent="0" algn="l" rtl="0">
              <a:spcBef>
                <a:spcPts val="360"/>
              </a:spcBef>
              <a:spcAft>
                <a:spcPts val="0"/>
              </a:spcAft>
              <a:buNone/>
            </a:pPr>
            <a:endParaRPr/>
          </a:p>
          <a:p>
            <a:pPr marL="0" lvl="0" indent="0" algn="l" rtl="0">
              <a:spcBef>
                <a:spcPts val="360"/>
              </a:spcBef>
              <a:spcAft>
                <a:spcPts val="0"/>
              </a:spcAft>
              <a:buNone/>
            </a:pPr>
            <a:r>
              <a:rPr lang="en-US"/>
              <a:t> Every block cipher involves a transformation of a block of plaintext into a</a:t>
            </a:r>
            <a:endParaRPr/>
          </a:p>
          <a:p>
            <a:pPr marL="0" lvl="0" indent="0" algn="l" rtl="0">
              <a:spcBef>
                <a:spcPts val="360"/>
              </a:spcBef>
              <a:spcAft>
                <a:spcPts val="0"/>
              </a:spcAft>
              <a:buNone/>
            </a:pPr>
            <a:r>
              <a:rPr lang="en-US"/>
              <a:t>block of ciphertext, where the transformation depends on the key. The mechanism</a:t>
            </a:r>
            <a:endParaRPr/>
          </a:p>
          <a:p>
            <a:pPr marL="0" lvl="0" indent="0" algn="l" rtl="0">
              <a:spcBef>
                <a:spcPts val="360"/>
              </a:spcBef>
              <a:spcAft>
                <a:spcPts val="0"/>
              </a:spcAft>
              <a:buNone/>
            </a:pPr>
            <a:r>
              <a:rPr lang="en-US"/>
              <a:t>of diffusion seeks to make the statistical relationship between the plaintext and</a:t>
            </a:r>
            <a:endParaRPr/>
          </a:p>
          <a:p>
            <a:pPr marL="0" lvl="0" indent="0" algn="l" rtl="0">
              <a:spcBef>
                <a:spcPts val="360"/>
              </a:spcBef>
              <a:spcAft>
                <a:spcPts val="0"/>
              </a:spcAft>
              <a:buNone/>
            </a:pPr>
            <a:r>
              <a:rPr lang="en-US"/>
              <a:t>ciphertext as complex as possible in order to thwart attempts to deduce the key. On</a:t>
            </a:r>
            <a:endParaRPr/>
          </a:p>
          <a:p>
            <a:pPr marL="0" lvl="0" indent="0" algn="l" rtl="0">
              <a:spcBef>
                <a:spcPts val="360"/>
              </a:spcBef>
              <a:spcAft>
                <a:spcPts val="0"/>
              </a:spcAft>
              <a:buNone/>
            </a:pPr>
            <a:r>
              <a:rPr lang="en-US"/>
              <a:t>the other hand, confusion  seeks to make the relationship between the statistics of</a:t>
            </a:r>
            <a:endParaRPr/>
          </a:p>
          <a:p>
            <a:pPr marL="0" lvl="0" indent="0" algn="l" rtl="0">
              <a:spcBef>
                <a:spcPts val="360"/>
              </a:spcBef>
              <a:spcAft>
                <a:spcPts val="0"/>
              </a:spcAft>
              <a:buNone/>
            </a:pPr>
            <a:r>
              <a:rPr lang="en-US"/>
              <a:t>the ciphertext and the value of the encryption key as complex as possible, again to</a:t>
            </a:r>
            <a:endParaRPr/>
          </a:p>
          <a:p>
            <a:pPr marL="0" lvl="0" indent="0" algn="l" rtl="0">
              <a:spcBef>
                <a:spcPts val="360"/>
              </a:spcBef>
              <a:spcAft>
                <a:spcPts val="0"/>
              </a:spcAft>
              <a:buNone/>
            </a:pPr>
            <a:r>
              <a:rPr lang="en-US"/>
              <a:t>thwart attempts to discover the key. Thus, even if the attacker can get some handle</a:t>
            </a:r>
            <a:endParaRPr/>
          </a:p>
          <a:p>
            <a:pPr marL="0" lvl="0" indent="0" algn="l" rtl="0">
              <a:spcBef>
                <a:spcPts val="360"/>
              </a:spcBef>
              <a:spcAft>
                <a:spcPts val="0"/>
              </a:spcAft>
              <a:buNone/>
            </a:pPr>
            <a:r>
              <a:rPr lang="en-US"/>
              <a:t>on the statistics of the ciphertext, the way in which the key was used to produce that</a:t>
            </a:r>
            <a:endParaRPr/>
          </a:p>
          <a:p>
            <a:pPr marL="0" lvl="0" indent="0" algn="l" rtl="0">
              <a:spcBef>
                <a:spcPts val="360"/>
              </a:spcBef>
              <a:spcAft>
                <a:spcPts val="0"/>
              </a:spcAft>
              <a:buNone/>
            </a:pPr>
            <a:r>
              <a:rPr lang="en-US"/>
              <a:t>ciphertext is so complex as to make it difficult to deduce the key. This is achieved by</a:t>
            </a:r>
            <a:endParaRPr/>
          </a:p>
          <a:p>
            <a:pPr marL="0" lvl="0" indent="0" algn="l" rtl="0">
              <a:spcBef>
                <a:spcPts val="360"/>
              </a:spcBef>
              <a:spcAft>
                <a:spcPts val="0"/>
              </a:spcAft>
              <a:buNone/>
            </a:pPr>
            <a:r>
              <a:rPr lang="en-US"/>
              <a:t>the use of a complex substitution algorithm. In contrast, a simple linear substitution</a:t>
            </a:r>
            <a:endParaRPr/>
          </a:p>
          <a:p>
            <a:pPr marL="0" lvl="0" indent="0" algn="l" rtl="0">
              <a:spcBef>
                <a:spcPts val="360"/>
              </a:spcBef>
              <a:spcAft>
                <a:spcPts val="0"/>
              </a:spcAft>
              <a:buNone/>
            </a:pPr>
            <a:r>
              <a:rPr lang="en-US"/>
              <a:t>function would add little confusion.</a:t>
            </a:r>
            <a:endParaRPr/>
          </a:p>
          <a:p>
            <a:pPr marL="0" lvl="0" indent="0" algn="l" rtl="0">
              <a:spcBef>
                <a:spcPts val="360"/>
              </a:spcBef>
              <a:spcAft>
                <a:spcPts val="0"/>
              </a:spcAft>
              <a:buNone/>
            </a:pPr>
            <a:endParaRPr/>
          </a:p>
          <a:p>
            <a:pPr marL="0" lvl="0" indent="0" algn="l" rtl="0">
              <a:spcBef>
                <a:spcPts val="360"/>
              </a:spcBef>
              <a:spcAft>
                <a:spcPts val="0"/>
              </a:spcAft>
              <a:buNone/>
            </a:pPr>
            <a:r>
              <a:rPr lang="en-US"/>
              <a:t>As [ROBS95b] points out, so successful are diffusion and confusion in capturing</a:t>
            </a:r>
            <a:endParaRPr/>
          </a:p>
          <a:p>
            <a:pPr marL="0" lvl="0" indent="0" algn="l" rtl="0">
              <a:spcBef>
                <a:spcPts val="360"/>
              </a:spcBef>
              <a:spcAft>
                <a:spcPts val="0"/>
              </a:spcAft>
              <a:buNone/>
            </a:pPr>
            <a:r>
              <a:rPr lang="en-US"/>
              <a:t>the essence of the desired attributes of a block cipher that they have become the</a:t>
            </a:r>
            <a:endParaRPr/>
          </a:p>
          <a:p>
            <a:pPr marL="0" lvl="0" indent="0" algn="l" rtl="0">
              <a:spcBef>
                <a:spcPts val="360"/>
              </a:spcBef>
              <a:spcAft>
                <a:spcPts val="0"/>
              </a:spcAft>
              <a:buNone/>
            </a:pPr>
            <a:r>
              <a:rPr lang="en-US"/>
              <a:t>cornerstone of modern block cipher design.</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7: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13</a:t>
            </a:fld>
            <a:endParaRPr>
              <a:latin typeface="Arial"/>
              <a:ea typeface="Arial"/>
              <a:cs typeface="Arial"/>
              <a:sym typeface="Arial"/>
            </a:endParaRPr>
          </a:p>
        </p:txBody>
      </p:sp>
      <p:sp>
        <p:nvSpPr>
          <p:cNvPr id="603" name="Google Shape;603;p47: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4" name="Google Shape;604;p47: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dirty="0"/>
              <a:t>The left-hand side of Figure 3.3 depicts the structure</a:t>
            </a:r>
            <a:endParaRPr dirty="0"/>
          </a:p>
          <a:p>
            <a:pPr marL="0" lvl="0" indent="0" algn="l" rtl="0">
              <a:spcBef>
                <a:spcPts val="360"/>
              </a:spcBef>
              <a:spcAft>
                <a:spcPts val="0"/>
              </a:spcAft>
              <a:buNone/>
            </a:pPr>
            <a:r>
              <a:rPr lang="en-US" dirty="0"/>
              <a:t>proposed by </a:t>
            </a:r>
            <a:r>
              <a:rPr lang="en-US" dirty="0" err="1"/>
              <a:t>Feistel</a:t>
            </a:r>
            <a:r>
              <a:rPr lang="en-US" dirty="0"/>
              <a:t>. The inputs to the encryption algorithm are a plaintext block of</a:t>
            </a:r>
            <a:endParaRPr dirty="0"/>
          </a:p>
          <a:p>
            <a:pPr marL="0" lvl="0" indent="0" algn="l" rtl="0">
              <a:spcBef>
                <a:spcPts val="360"/>
              </a:spcBef>
              <a:spcAft>
                <a:spcPts val="0"/>
              </a:spcAft>
              <a:buNone/>
            </a:pPr>
            <a:r>
              <a:rPr lang="en-US" dirty="0"/>
              <a:t>length 2w  bits and a key K . The plaintext block is divided into two halves, L</a:t>
            </a:r>
            <a:r>
              <a:rPr lang="en-US" baseline="-25000" dirty="0"/>
              <a:t>0</a:t>
            </a:r>
            <a:r>
              <a:rPr lang="en-US" dirty="0"/>
              <a:t>  and R</a:t>
            </a:r>
            <a:r>
              <a:rPr lang="en-US" baseline="-25000" dirty="0"/>
              <a:t>0</a:t>
            </a:r>
            <a:r>
              <a:rPr lang="en-US" dirty="0"/>
              <a:t> .</a:t>
            </a:r>
            <a:endParaRPr dirty="0"/>
          </a:p>
          <a:p>
            <a:pPr marL="0" lvl="0" indent="0" algn="l" rtl="0">
              <a:spcBef>
                <a:spcPts val="360"/>
              </a:spcBef>
              <a:spcAft>
                <a:spcPts val="0"/>
              </a:spcAft>
              <a:buNone/>
            </a:pPr>
            <a:r>
              <a:rPr lang="en-US" dirty="0"/>
              <a:t>The two halves of the data pass through n  rounds of processing and then combine to</a:t>
            </a:r>
            <a:endParaRPr dirty="0"/>
          </a:p>
          <a:p>
            <a:pPr marL="0" lvl="0" indent="0" algn="l" rtl="0">
              <a:spcBef>
                <a:spcPts val="360"/>
              </a:spcBef>
              <a:spcAft>
                <a:spcPts val="0"/>
              </a:spcAft>
              <a:buNone/>
            </a:pPr>
            <a:r>
              <a:rPr lang="en-US" dirty="0"/>
              <a:t>produce the </a:t>
            </a:r>
            <a:r>
              <a:rPr lang="en-US" dirty="0" err="1"/>
              <a:t>ciphertext</a:t>
            </a:r>
            <a:r>
              <a:rPr lang="en-US" dirty="0"/>
              <a:t> block. Each round </a:t>
            </a:r>
            <a:r>
              <a:rPr lang="en-US" dirty="0" err="1"/>
              <a:t>i</a:t>
            </a:r>
            <a:r>
              <a:rPr lang="en-US" dirty="0"/>
              <a:t>  has as inputs L</a:t>
            </a:r>
            <a:r>
              <a:rPr lang="en-US" baseline="-25000" dirty="0"/>
              <a:t>i-1  </a:t>
            </a:r>
            <a:r>
              <a:rPr lang="en-US" dirty="0"/>
              <a:t>and R</a:t>
            </a:r>
            <a:r>
              <a:rPr lang="en-US" baseline="-25000" dirty="0"/>
              <a:t>i-1  </a:t>
            </a:r>
            <a:r>
              <a:rPr lang="en-US" dirty="0"/>
              <a:t>derived from</a:t>
            </a:r>
            <a:endParaRPr dirty="0"/>
          </a:p>
          <a:p>
            <a:pPr marL="0" lvl="0" indent="0" algn="l" rtl="0">
              <a:spcBef>
                <a:spcPts val="360"/>
              </a:spcBef>
              <a:spcAft>
                <a:spcPts val="0"/>
              </a:spcAft>
              <a:buNone/>
            </a:pPr>
            <a:r>
              <a:rPr lang="en-US" dirty="0"/>
              <a:t>the previous round, as well as a </a:t>
            </a:r>
            <a:r>
              <a:rPr lang="en-US" dirty="0" err="1"/>
              <a:t>subkey</a:t>
            </a:r>
            <a:r>
              <a:rPr lang="en-US" dirty="0"/>
              <a:t> K</a:t>
            </a:r>
            <a:r>
              <a:rPr lang="en-US" baseline="-25000" dirty="0"/>
              <a:t>i</a:t>
            </a:r>
            <a:r>
              <a:rPr lang="en-US" dirty="0"/>
              <a:t>  derived from the overall K . In general,</a:t>
            </a:r>
            <a:endParaRPr dirty="0"/>
          </a:p>
          <a:p>
            <a:pPr marL="0" lvl="0" indent="0" algn="l" rtl="0">
              <a:spcBef>
                <a:spcPts val="360"/>
              </a:spcBef>
              <a:spcAft>
                <a:spcPts val="0"/>
              </a:spcAft>
              <a:buNone/>
            </a:pPr>
            <a:r>
              <a:rPr lang="en-US" dirty="0"/>
              <a:t>the </a:t>
            </a:r>
            <a:r>
              <a:rPr lang="en-US" dirty="0" err="1"/>
              <a:t>subkeys</a:t>
            </a:r>
            <a:r>
              <a:rPr lang="en-US" dirty="0"/>
              <a:t> K</a:t>
            </a:r>
            <a:r>
              <a:rPr lang="en-US" baseline="-25000" dirty="0"/>
              <a:t>i</a:t>
            </a:r>
            <a:r>
              <a:rPr lang="en-US" dirty="0"/>
              <a:t>  are different from K  and from each other. In Figure 3.3, 16 rounds</a:t>
            </a:r>
            <a:endParaRPr dirty="0"/>
          </a:p>
          <a:p>
            <a:pPr marL="0" lvl="0" indent="0" algn="l" rtl="0">
              <a:spcBef>
                <a:spcPts val="360"/>
              </a:spcBef>
              <a:spcAft>
                <a:spcPts val="0"/>
              </a:spcAft>
              <a:buNone/>
            </a:pPr>
            <a:r>
              <a:rPr lang="en-US" dirty="0"/>
              <a:t>are used, although any number of rounds could be implemented.</a:t>
            </a:r>
            <a:endParaRPr dirty="0"/>
          </a:p>
          <a:p>
            <a:pPr marL="0" lvl="0" indent="0" algn="l" rtl="0">
              <a:spcBef>
                <a:spcPts val="360"/>
              </a:spcBef>
              <a:spcAft>
                <a:spcPts val="0"/>
              </a:spcAft>
              <a:buNone/>
            </a:pPr>
            <a:endParaRPr dirty="0"/>
          </a:p>
          <a:p>
            <a:pPr marL="0" lvl="0" indent="0" algn="l" rtl="0">
              <a:spcBef>
                <a:spcPts val="360"/>
              </a:spcBef>
              <a:spcAft>
                <a:spcPts val="0"/>
              </a:spcAft>
              <a:buNone/>
            </a:pPr>
            <a:r>
              <a:rPr lang="en-US" dirty="0"/>
              <a:t>All rounds have the same structure. A substitution  is performed on the left half</a:t>
            </a:r>
            <a:endParaRPr dirty="0"/>
          </a:p>
          <a:p>
            <a:pPr marL="0" lvl="0" indent="0" algn="l" rtl="0">
              <a:spcBef>
                <a:spcPts val="360"/>
              </a:spcBef>
              <a:spcAft>
                <a:spcPts val="0"/>
              </a:spcAft>
              <a:buNone/>
            </a:pPr>
            <a:r>
              <a:rPr lang="en-US" dirty="0"/>
              <a:t>of the data. This is done by applying a round function  F to the right half of the data</a:t>
            </a:r>
            <a:endParaRPr dirty="0"/>
          </a:p>
          <a:p>
            <a:pPr marL="0" lvl="0" indent="0" algn="l" rtl="0">
              <a:spcBef>
                <a:spcPts val="360"/>
              </a:spcBef>
              <a:spcAft>
                <a:spcPts val="0"/>
              </a:spcAft>
              <a:buNone/>
            </a:pPr>
            <a:r>
              <a:rPr lang="en-US" dirty="0"/>
              <a:t>and then taking the exclusive-OR of the output of that function and the left half of the</a:t>
            </a:r>
            <a:endParaRPr dirty="0"/>
          </a:p>
          <a:p>
            <a:pPr marL="0" lvl="0" indent="0" algn="l" rtl="0">
              <a:spcBef>
                <a:spcPts val="360"/>
              </a:spcBef>
              <a:spcAft>
                <a:spcPts val="0"/>
              </a:spcAft>
              <a:buNone/>
            </a:pPr>
            <a:r>
              <a:rPr lang="en-US" dirty="0"/>
              <a:t>data. The round function has the same general structure for each round but is parameterized</a:t>
            </a:r>
            <a:endParaRPr dirty="0"/>
          </a:p>
          <a:p>
            <a:pPr marL="0" lvl="0" indent="0" algn="l" rtl="0">
              <a:spcBef>
                <a:spcPts val="360"/>
              </a:spcBef>
              <a:spcAft>
                <a:spcPts val="0"/>
              </a:spcAft>
              <a:buNone/>
            </a:pPr>
            <a:r>
              <a:rPr lang="en-US" dirty="0"/>
              <a:t>by the round </a:t>
            </a:r>
            <a:r>
              <a:rPr lang="en-US" dirty="0" err="1"/>
              <a:t>subkey</a:t>
            </a:r>
            <a:r>
              <a:rPr lang="en-US" dirty="0"/>
              <a:t> K</a:t>
            </a:r>
            <a:r>
              <a:rPr lang="en-US" baseline="-25000" dirty="0"/>
              <a:t>i</a:t>
            </a:r>
            <a:r>
              <a:rPr lang="en-US" dirty="0"/>
              <a:t> . Another way to express this is to say that F is a function</a:t>
            </a:r>
            <a:endParaRPr dirty="0"/>
          </a:p>
          <a:p>
            <a:pPr marL="0" lvl="0" indent="0" algn="l" rtl="0">
              <a:spcBef>
                <a:spcPts val="360"/>
              </a:spcBef>
              <a:spcAft>
                <a:spcPts val="0"/>
              </a:spcAft>
              <a:buNone/>
            </a:pPr>
            <a:r>
              <a:rPr lang="en-US" dirty="0"/>
              <a:t>of right-half block of w  bits and a </a:t>
            </a:r>
            <a:r>
              <a:rPr lang="en-US" dirty="0" err="1"/>
              <a:t>subkey</a:t>
            </a:r>
            <a:r>
              <a:rPr lang="en-US" dirty="0"/>
              <a:t> of y  bits, which produces an output value</a:t>
            </a:r>
            <a:endParaRPr dirty="0"/>
          </a:p>
          <a:p>
            <a:pPr marL="0" lvl="0" indent="0" algn="l" rtl="0">
              <a:spcBef>
                <a:spcPts val="360"/>
              </a:spcBef>
              <a:spcAft>
                <a:spcPts val="0"/>
              </a:spcAft>
              <a:buNone/>
            </a:pPr>
            <a:r>
              <a:rPr lang="en-US" dirty="0"/>
              <a:t> of length w bits: F (</a:t>
            </a:r>
            <a:r>
              <a:rPr lang="en-US" dirty="0" err="1"/>
              <a:t>RE</a:t>
            </a:r>
            <a:r>
              <a:rPr lang="en-US" baseline="-25000" dirty="0" err="1"/>
              <a:t>i</a:t>
            </a:r>
            <a:r>
              <a:rPr lang="en-US" baseline="-25000" dirty="0"/>
              <a:t> </a:t>
            </a:r>
            <a:r>
              <a:rPr lang="en-US" dirty="0"/>
              <a:t>, K</a:t>
            </a:r>
            <a:r>
              <a:rPr lang="en-US" baseline="-25000" dirty="0"/>
              <a:t>i+1 </a:t>
            </a:r>
            <a:r>
              <a:rPr lang="en-US" dirty="0"/>
              <a:t>). Following this substitution, a permutation  is performed</a:t>
            </a:r>
            <a:endParaRPr dirty="0"/>
          </a:p>
          <a:p>
            <a:pPr marL="0" lvl="0" indent="0" algn="l" rtl="0">
              <a:spcBef>
                <a:spcPts val="360"/>
              </a:spcBef>
              <a:spcAft>
                <a:spcPts val="0"/>
              </a:spcAft>
              <a:buNone/>
            </a:pPr>
            <a:r>
              <a:rPr lang="en-US" dirty="0"/>
              <a:t>that consists of the interchange of the two halves of the data.  This structure is a particular</a:t>
            </a:r>
            <a:endParaRPr dirty="0"/>
          </a:p>
          <a:p>
            <a:pPr marL="0" lvl="0" indent="0" algn="l" rtl="0">
              <a:spcBef>
                <a:spcPts val="360"/>
              </a:spcBef>
              <a:spcAft>
                <a:spcPts val="0"/>
              </a:spcAft>
              <a:buNone/>
            </a:pPr>
            <a:r>
              <a:rPr lang="en-US" dirty="0"/>
              <a:t>form of the substitution-permutation network (SPN) proposed by Shannon.</a:t>
            </a:r>
            <a:endParaRPr b="0" dirty="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48: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14</a:t>
            </a:fld>
            <a:endParaRPr>
              <a:latin typeface="Arial"/>
              <a:ea typeface="Arial"/>
              <a:cs typeface="Arial"/>
              <a:sym typeface="Arial"/>
            </a:endParaRPr>
          </a:p>
        </p:txBody>
      </p:sp>
      <p:sp>
        <p:nvSpPr>
          <p:cNvPr id="610" name="Google Shape;610;p48: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1" name="Google Shape;611;p48: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The exact realization of a Feistel network depends on the choice of the following</a:t>
            </a:r>
            <a:endParaRPr/>
          </a:p>
          <a:p>
            <a:pPr marL="0" lvl="0" indent="0" algn="l" rtl="0">
              <a:spcBef>
                <a:spcPts val="360"/>
              </a:spcBef>
              <a:spcAft>
                <a:spcPts val="0"/>
              </a:spcAft>
              <a:buNone/>
            </a:pPr>
            <a:r>
              <a:rPr lang="en-US"/>
              <a:t>parameters and design features:</a:t>
            </a:r>
            <a:endParaRPr/>
          </a:p>
          <a:p>
            <a:pPr marL="0" lvl="0" indent="0" algn="l" rtl="0">
              <a:spcBef>
                <a:spcPts val="360"/>
              </a:spcBef>
              <a:spcAft>
                <a:spcPts val="0"/>
              </a:spcAft>
              <a:buNone/>
            </a:pPr>
            <a:endParaRPr/>
          </a:p>
          <a:p>
            <a:pPr marL="0" lvl="0" indent="0" algn="l" rtl="0">
              <a:spcBef>
                <a:spcPts val="360"/>
              </a:spcBef>
              <a:spcAft>
                <a:spcPts val="0"/>
              </a:spcAft>
              <a:buNone/>
            </a:pPr>
            <a:r>
              <a:rPr lang="en-US"/>
              <a:t>• Block size:  Larger block sizes mean greater security (all other things being</a:t>
            </a:r>
            <a:endParaRPr/>
          </a:p>
          <a:p>
            <a:pPr marL="0" lvl="0" indent="0" algn="l" rtl="0">
              <a:spcBef>
                <a:spcPts val="360"/>
              </a:spcBef>
              <a:spcAft>
                <a:spcPts val="0"/>
              </a:spcAft>
              <a:buNone/>
            </a:pPr>
            <a:r>
              <a:rPr lang="en-US"/>
              <a:t>equal) but reduced encryption/decryption speed for a given algorithm. The</a:t>
            </a:r>
            <a:endParaRPr/>
          </a:p>
          <a:p>
            <a:pPr marL="0" lvl="0" indent="0" algn="l" rtl="0">
              <a:spcBef>
                <a:spcPts val="360"/>
              </a:spcBef>
              <a:spcAft>
                <a:spcPts val="0"/>
              </a:spcAft>
              <a:buNone/>
            </a:pPr>
            <a:r>
              <a:rPr lang="en-US"/>
              <a:t>greater security is achieved by greater diffusion. Traditionally, a block size of</a:t>
            </a:r>
            <a:endParaRPr/>
          </a:p>
          <a:p>
            <a:pPr marL="0" lvl="0" indent="0" algn="l" rtl="0">
              <a:spcBef>
                <a:spcPts val="360"/>
              </a:spcBef>
              <a:spcAft>
                <a:spcPts val="0"/>
              </a:spcAft>
              <a:buNone/>
            </a:pPr>
            <a:r>
              <a:rPr lang="en-US"/>
              <a:t>64 bits has been considered a reasonable tradeoff and was nearly universal in</a:t>
            </a:r>
            <a:endParaRPr/>
          </a:p>
          <a:p>
            <a:pPr marL="0" lvl="0" indent="0" algn="l" rtl="0">
              <a:spcBef>
                <a:spcPts val="360"/>
              </a:spcBef>
              <a:spcAft>
                <a:spcPts val="0"/>
              </a:spcAft>
              <a:buNone/>
            </a:pPr>
            <a:r>
              <a:rPr lang="en-US"/>
              <a:t>block cipher design. However, the new AES uses a 128-bit block size.</a:t>
            </a:r>
            <a:endParaRPr/>
          </a:p>
          <a:p>
            <a:pPr marL="0" lvl="0" indent="0" algn="l" rtl="0">
              <a:spcBef>
                <a:spcPts val="360"/>
              </a:spcBef>
              <a:spcAft>
                <a:spcPts val="0"/>
              </a:spcAft>
              <a:buNone/>
            </a:pPr>
            <a:endParaRPr/>
          </a:p>
          <a:p>
            <a:pPr marL="0" lvl="0" indent="0" algn="l" rtl="0">
              <a:spcBef>
                <a:spcPts val="360"/>
              </a:spcBef>
              <a:spcAft>
                <a:spcPts val="0"/>
              </a:spcAft>
              <a:buNone/>
            </a:pPr>
            <a:r>
              <a:rPr lang="en-US"/>
              <a:t>• Key size:  Larger key size means greater security but may decrease encryption/</a:t>
            </a:r>
            <a:endParaRPr/>
          </a:p>
          <a:p>
            <a:pPr marL="0" lvl="0" indent="0" algn="l" rtl="0">
              <a:spcBef>
                <a:spcPts val="360"/>
              </a:spcBef>
              <a:spcAft>
                <a:spcPts val="0"/>
              </a:spcAft>
              <a:buNone/>
            </a:pPr>
            <a:r>
              <a:rPr lang="en-US"/>
              <a:t>decryption speed. The greater security is achieved by greater resistance to</a:t>
            </a:r>
            <a:endParaRPr/>
          </a:p>
          <a:p>
            <a:pPr marL="0" lvl="0" indent="0" algn="l" rtl="0">
              <a:spcBef>
                <a:spcPts val="360"/>
              </a:spcBef>
              <a:spcAft>
                <a:spcPts val="0"/>
              </a:spcAft>
              <a:buNone/>
            </a:pPr>
            <a:r>
              <a:rPr lang="en-US"/>
              <a:t>brute-force attacks and greater confusion. Key sizes of 64 bits or less are now</a:t>
            </a:r>
            <a:endParaRPr/>
          </a:p>
          <a:p>
            <a:pPr marL="0" lvl="0" indent="0" algn="l" rtl="0">
              <a:spcBef>
                <a:spcPts val="360"/>
              </a:spcBef>
              <a:spcAft>
                <a:spcPts val="0"/>
              </a:spcAft>
              <a:buNone/>
            </a:pPr>
            <a:r>
              <a:rPr lang="en-US"/>
              <a:t>widely considered to be inadequate, and 128 bits has become a common size.</a:t>
            </a:r>
            <a:endParaRPr/>
          </a:p>
          <a:p>
            <a:pPr marL="0" lvl="0" indent="0" algn="l" rtl="0">
              <a:spcBef>
                <a:spcPts val="360"/>
              </a:spcBef>
              <a:spcAft>
                <a:spcPts val="0"/>
              </a:spcAft>
              <a:buNone/>
            </a:pPr>
            <a:endParaRPr/>
          </a:p>
          <a:p>
            <a:pPr marL="0" lvl="0" indent="0" algn="l" rtl="0">
              <a:spcBef>
                <a:spcPts val="360"/>
              </a:spcBef>
              <a:spcAft>
                <a:spcPts val="0"/>
              </a:spcAft>
              <a:buNone/>
            </a:pPr>
            <a:r>
              <a:rPr lang="en-US"/>
              <a:t>• Number of rounds:  The essence of the Feistel cipher is that a single round</a:t>
            </a:r>
            <a:endParaRPr/>
          </a:p>
          <a:p>
            <a:pPr marL="0" lvl="0" indent="0" algn="l" rtl="0">
              <a:spcBef>
                <a:spcPts val="360"/>
              </a:spcBef>
              <a:spcAft>
                <a:spcPts val="0"/>
              </a:spcAft>
              <a:buNone/>
            </a:pPr>
            <a:r>
              <a:rPr lang="en-US"/>
              <a:t>offers inadequate security but that multiple rounds offer increasing security.</a:t>
            </a:r>
            <a:endParaRPr/>
          </a:p>
          <a:p>
            <a:pPr marL="0" lvl="0" indent="0" algn="l" rtl="0">
              <a:spcBef>
                <a:spcPts val="360"/>
              </a:spcBef>
              <a:spcAft>
                <a:spcPts val="0"/>
              </a:spcAft>
              <a:buNone/>
            </a:pPr>
            <a:r>
              <a:rPr lang="en-US"/>
              <a:t>A typical size is 16 rounds.</a:t>
            </a:r>
            <a:endParaRPr/>
          </a:p>
          <a:p>
            <a:pPr marL="0" lvl="0" indent="0" algn="l" rtl="0">
              <a:spcBef>
                <a:spcPts val="360"/>
              </a:spcBef>
              <a:spcAft>
                <a:spcPts val="0"/>
              </a:spcAft>
              <a:buNone/>
            </a:pPr>
            <a:endParaRPr/>
          </a:p>
          <a:p>
            <a:pPr marL="0" lvl="0" indent="0" algn="l" rtl="0">
              <a:spcBef>
                <a:spcPts val="360"/>
              </a:spcBef>
              <a:spcAft>
                <a:spcPts val="0"/>
              </a:spcAft>
              <a:buNone/>
            </a:pPr>
            <a:r>
              <a:rPr lang="en-US"/>
              <a:t>• Subkey generation algorithm:  Greater complexity in this algorithm should</a:t>
            </a:r>
            <a:endParaRPr/>
          </a:p>
          <a:p>
            <a:pPr marL="0" lvl="0" indent="0" algn="l" rtl="0">
              <a:spcBef>
                <a:spcPts val="360"/>
              </a:spcBef>
              <a:spcAft>
                <a:spcPts val="0"/>
              </a:spcAft>
              <a:buNone/>
            </a:pPr>
            <a:r>
              <a:rPr lang="en-US"/>
              <a:t>lead to greater difficulty of cryptanalysis.</a:t>
            </a:r>
            <a:endParaRPr/>
          </a:p>
          <a:p>
            <a:pPr marL="0" lvl="0" indent="0" algn="l" rtl="0">
              <a:spcBef>
                <a:spcPts val="360"/>
              </a:spcBef>
              <a:spcAft>
                <a:spcPts val="0"/>
              </a:spcAft>
              <a:buNone/>
            </a:pPr>
            <a:endParaRPr/>
          </a:p>
          <a:p>
            <a:pPr marL="0" lvl="0" indent="0" algn="l" rtl="0">
              <a:spcBef>
                <a:spcPts val="360"/>
              </a:spcBef>
              <a:spcAft>
                <a:spcPts val="0"/>
              </a:spcAft>
              <a:buNone/>
            </a:pPr>
            <a:r>
              <a:rPr lang="en-US"/>
              <a:t>• Round function F:  Again, greater complexity generally means greater resistance</a:t>
            </a:r>
            <a:endParaRPr/>
          </a:p>
          <a:p>
            <a:pPr marL="0" lvl="0" indent="0" algn="l" rtl="0">
              <a:spcBef>
                <a:spcPts val="360"/>
              </a:spcBef>
              <a:spcAft>
                <a:spcPts val="0"/>
              </a:spcAft>
              <a:buNone/>
            </a:pPr>
            <a:r>
              <a:rPr lang="en-US"/>
              <a:t>to cryptanalysis.</a:t>
            </a:r>
            <a:endParaRPr/>
          </a:p>
          <a:p>
            <a:pPr marL="0" lvl="0" indent="0" algn="l" rtl="0">
              <a:spcBef>
                <a:spcPts val="360"/>
              </a:spcBef>
              <a:spcAft>
                <a:spcPts val="0"/>
              </a:spcAft>
              <a:buNone/>
            </a:pPr>
            <a:endParaRPr/>
          </a:p>
          <a:p>
            <a:pPr marL="0" lvl="0" indent="0" algn="l" rtl="0">
              <a:spcBef>
                <a:spcPts val="360"/>
              </a:spcBef>
              <a:spcAft>
                <a:spcPts val="0"/>
              </a:spcAft>
              <a:buNone/>
            </a:pPr>
            <a:r>
              <a:rPr lang="en-US"/>
              <a:t>There are two other considerations in the design of a Feistel cipher:</a:t>
            </a:r>
            <a:endParaRPr/>
          </a:p>
          <a:p>
            <a:pPr marL="0" lvl="0" indent="0" algn="l" rtl="0">
              <a:spcBef>
                <a:spcPts val="360"/>
              </a:spcBef>
              <a:spcAft>
                <a:spcPts val="0"/>
              </a:spcAft>
              <a:buNone/>
            </a:pPr>
            <a:endParaRPr/>
          </a:p>
          <a:p>
            <a:pPr marL="0" lvl="0" indent="0" algn="l" rtl="0">
              <a:spcBef>
                <a:spcPts val="360"/>
              </a:spcBef>
              <a:spcAft>
                <a:spcPts val="0"/>
              </a:spcAft>
              <a:buNone/>
            </a:pPr>
            <a:r>
              <a:rPr lang="en-US"/>
              <a:t>• Fast software encryption/decryption:  In many cases, encryption is embedded in</a:t>
            </a:r>
            <a:endParaRPr/>
          </a:p>
          <a:p>
            <a:pPr marL="0" lvl="0" indent="0" algn="l" rtl="0">
              <a:spcBef>
                <a:spcPts val="360"/>
              </a:spcBef>
              <a:spcAft>
                <a:spcPts val="0"/>
              </a:spcAft>
              <a:buNone/>
            </a:pPr>
            <a:r>
              <a:rPr lang="en-US"/>
              <a:t>applications or utility functions in such a way as to preclude a hardware implementation.</a:t>
            </a:r>
            <a:endParaRPr/>
          </a:p>
          <a:p>
            <a:pPr marL="0" lvl="0" indent="0" algn="l" rtl="0">
              <a:spcBef>
                <a:spcPts val="360"/>
              </a:spcBef>
              <a:spcAft>
                <a:spcPts val="0"/>
              </a:spcAft>
              <a:buNone/>
            </a:pPr>
            <a:r>
              <a:rPr lang="en-US"/>
              <a:t>Accordingly, the speed of execution of the algorithm becomes a</a:t>
            </a:r>
            <a:endParaRPr/>
          </a:p>
          <a:p>
            <a:pPr marL="0" lvl="0" indent="0" algn="l" rtl="0">
              <a:spcBef>
                <a:spcPts val="360"/>
              </a:spcBef>
              <a:spcAft>
                <a:spcPts val="0"/>
              </a:spcAft>
              <a:buNone/>
            </a:pPr>
            <a:r>
              <a:rPr lang="en-US"/>
              <a:t>concern.</a:t>
            </a:r>
            <a:endParaRPr/>
          </a:p>
          <a:p>
            <a:pPr marL="0" lvl="0" indent="0" algn="l" rtl="0">
              <a:spcBef>
                <a:spcPts val="360"/>
              </a:spcBef>
              <a:spcAft>
                <a:spcPts val="0"/>
              </a:spcAft>
              <a:buNone/>
            </a:pPr>
            <a:endParaRPr/>
          </a:p>
          <a:p>
            <a:pPr marL="0" lvl="0" indent="0" algn="l" rtl="0">
              <a:spcBef>
                <a:spcPts val="360"/>
              </a:spcBef>
              <a:spcAft>
                <a:spcPts val="0"/>
              </a:spcAft>
              <a:buNone/>
            </a:pPr>
            <a:r>
              <a:rPr lang="en-US"/>
              <a:t>• Ease of analysis:  Although we would like to make our algorithm as difficult as</a:t>
            </a:r>
            <a:endParaRPr/>
          </a:p>
          <a:p>
            <a:pPr marL="0" lvl="0" indent="0" algn="l" rtl="0">
              <a:spcBef>
                <a:spcPts val="360"/>
              </a:spcBef>
              <a:spcAft>
                <a:spcPts val="0"/>
              </a:spcAft>
              <a:buNone/>
            </a:pPr>
            <a:r>
              <a:rPr lang="en-US"/>
              <a:t>possible to cryptanalyze, there is great benefit in making the algorithm easy to</a:t>
            </a:r>
            <a:endParaRPr/>
          </a:p>
          <a:p>
            <a:pPr marL="0" lvl="0" indent="0" algn="l" rtl="0">
              <a:spcBef>
                <a:spcPts val="360"/>
              </a:spcBef>
              <a:spcAft>
                <a:spcPts val="0"/>
              </a:spcAft>
              <a:buNone/>
            </a:pPr>
            <a:r>
              <a:rPr lang="en-US"/>
              <a:t>analyze. That is, if the algorithm can be concisely and clearly explained, it is</a:t>
            </a:r>
            <a:endParaRPr/>
          </a:p>
          <a:p>
            <a:pPr marL="0" lvl="0" indent="0" algn="l" rtl="0">
              <a:spcBef>
                <a:spcPts val="360"/>
              </a:spcBef>
              <a:spcAft>
                <a:spcPts val="0"/>
              </a:spcAft>
              <a:buNone/>
            </a:pPr>
            <a:r>
              <a:rPr lang="en-US"/>
              <a:t>easier to analyze that algorithm for cryptanalytic vulnerabilities and therefore</a:t>
            </a:r>
            <a:endParaRPr/>
          </a:p>
          <a:p>
            <a:pPr marL="0" lvl="0" indent="0" algn="l" rtl="0">
              <a:spcBef>
                <a:spcPts val="360"/>
              </a:spcBef>
              <a:spcAft>
                <a:spcPts val="0"/>
              </a:spcAft>
              <a:buNone/>
            </a:pPr>
            <a:r>
              <a:rPr lang="en-US"/>
              <a:t>develop a higher level of assurance as to its strength. DES, for example, does</a:t>
            </a:r>
            <a:endParaRPr/>
          </a:p>
          <a:p>
            <a:pPr marL="0" lvl="0" indent="0" algn="l" rtl="0">
              <a:spcBef>
                <a:spcPts val="360"/>
              </a:spcBef>
              <a:spcAft>
                <a:spcPts val="0"/>
              </a:spcAft>
              <a:buNone/>
            </a:pPr>
            <a:r>
              <a:rPr lang="en-US"/>
              <a:t>not have an easily analyzed functionality.</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49: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18" name="Google Shape;618;p49: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rmAutofit/>
          </a:bodyPr>
          <a:lstStyle/>
          <a:p>
            <a:pPr marL="0" lvl="0" indent="0" algn="l" rtl="0">
              <a:spcBef>
                <a:spcPts val="0"/>
              </a:spcBef>
              <a:spcAft>
                <a:spcPts val="0"/>
              </a:spcAft>
              <a:buNone/>
            </a:pPr>
            <a:r>
              <a:rPr lang="en-US"/>
              <a:t>The process of decryption with a Feistel cipher</a:t>
            </a:r>
            <a:endParaRPr/>
          </a:p>
          <a:p>
            <a:pPr marL="0" lvl="0" indent="0" algn="l" rtl="0">
              <a:spcBef>
                <a:spcPts val="360"/>
              </a:spcBef>
              <a:spcAft>
                <a:spcPts val="0"/>
              </a:spcAft>
              <a:buNone/>
            </a:pPr>
            <a:r>
              <a:rPr lang="en-US"/>
              <a:t>is essentially the same as the encryption process. The rule is as follows: Use the</a:t>
            </a:r>
            <a:endParaRPr/>
          </a:p>
          <a:p>
            <a:pPr marL="0" lvl="0" indent="0" algn="l" rtl="0">
              <a:spcBef>
                <a:spcPts val="360"/>
              </a:spcBef>
              <a:spcAft>
                <a:spcPts val="0"/>
              </a:spcAft>
              <a:buNone/>
            </a:pPr>
            <a:r>
              <a:rPr lang="en-US"/>
              <a:t>ciphertext as input to the algorithm, but use the subkeys K</a:t>
            </a:r>
            <a:r>
              <a:rPr lang="en-US" baseline="-25000"/>
              <a:t>i</a:t>
            </a:r>
            <a:r>
              <a:rPr lang="en-US"/>
              <a:t>  in reverse order. That</a:t>
            </a:r>
            <a:endParaRPr/>
          </a:p>
          <a:p>
            <a:pPr marL="0" lvl="0" indent="0" algn="l" rtl="0">
              <a:spcBef>
                <a:spcPts val="360"/>
              </a:spcBef>
              <a:spcAft>
                <a:spcPts val="0"/>
              </a:spcAft>
              <a:buNone/>
            </a:pPr>
            <a:r>
              <a:rPr lang="en-US"/>
              <a:t>is, use K</a:t>
            </a:r>
            <a:r>
              <a:rPr lang="en-US" baseline="-25000"/>
              <a:t>n</a:t>
            </a:r>
            <a:r>
              <a:rPr lang="en-US"/>
              <a:t>  in the first round, K</a:t>
            </a:r>
            <a:r>
              <a:rPr lang="en-US" baseline="-25000"/>
              <a:t>n-1  </a:t>
            </a:r>
            <a:r>
              <a:rPr lang="en-US"/>
              <a:t>in the second round, and so on, until K</a:t>
            </a:r>
            <a:r>
              <a:rPr lang="en-US" baseline="-25000"/>
              <a:t>1</a:t>
            </a:r>
            <a:r>
              <a:rPr lang="en-US"/>
              <a:t>  is used in</a:t>
            </a:r>
            <a:endParaRPr/>
          </a:p>
          <a:p>
            <a:pPr marL="0" lvl="0" indent="0" algn="l" rtl="0">
              <a:spcBef>
                <a:spcPts val="360"/>
              </a:spcBef>
              <a:spcAft>
                <a:spcPts val="0"/>
              </a:spcAft>
              <a:buNone/>
            </a:pPr>
            <a:r>
              <a:rPr lang="en-US"/>
              <a:t>the last round. This is a nice feature, because it means we need not implement two</a:t>
            </a:r>
            <a:endParaRPr/>
          </a:p>
          <a:p>
            <a:pPr marL="0" lvl="0" indent="0" algn="l" rtl="0">
              <a:spcBef>
                <a:spcPts val="360"/>
              </a:spcBef>
              <a:spcAft>
                <a:spcPts val="0"/>
              </a:spcAft>
              <a:buNone/>
            </a:pPr>
            <a:r>
              <a:rPr lang="en-US"/>
              <a:t>different algorithms; one for encryption and one for decryption.</a:t>
            </a:r>
            <a:endParaRPr b="0"/>
          </a:p>
        </p:txBody>
      </p:sp>
      <p:sp>
        <p:nvSpPr>
          <p:cNvPr id="619" name="Google Shape;619;p49: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50: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18</a:t>
            </a:fld>
            <a:endParaRPr>
              <a:latin typeface="Arial"/>
              <a:ea typeface="Arial"/>
              <a:cs typeface="Arial"/>
              <a:sym typeface="Arial"/>
            </a:endParaRPr>
          </a:p>
        </p:txBody>
      </p:sp>
      <p:sp>
        <p:nvSpPr>
          <p:cNvPr id="625" name="Google Shape;625;p50: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6" name="Google Shape;626;p50: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 Until the introduction of the Advanced Encryption Standard (AES) in 2001, the</a:t>
            </a:r>
            <a:endParaRPr/>
          </a:p>
          <a:p>
            <a:pPr marL="0" lvl="0" indent="0" algn="l" rtl="0">
              <a:spcBef>
                <a:spcPts val="360"/>
              </a:spcBef>
              <a:spcAft>
                <a:spcPts val="0"/>
              </a:spcAft>
              <a:buNone/>
            </a:pPr>
            <a:r>
              <a:rPr lang="en-US"/>
              <a:t>Data Encryption Standard (DES) was the most widely used encryption scheme.</a:t>
            </a:r>
            <a:endParaRPr/>
          </a:p>
          <a:p>
            <a:pPr marL="0" lvl="0" indent="0" algn="l" rtl="0">
              <a:spcBef>
                <a:spcPts val="360"/>
              </a:spcBef>
              <a:spcAft>
                <a:spcPts val="0"/>
              </a:spcAft>
              <a:buNone/>
            </a:pPr>
            <a:r>
              <a:rPr lang="en-US"/>
              <a:t>DES was issued in 1977 by the National Bureau of Standards, now the National</a:t>
            </a:r>
            <a:endParaRPr/>
          </a:p>
          <a:p>
            <a:pPr marL="0" lvl="0" indent="0" algn="l" rtl="0">
              <a:spcBef>
                <a:spcPts val="360"/>
              </a:spcBef>
              <a:spcAft>
                <a:spcPts val="0"/>
              </a:spcAft>
              <a:buNone/>
            </a:pPr>
            <a:r>
              <a:rPr lang="en-US"/>
              <a:t>Institute of Standards and Technology (NIST), as Federal Information Processing</a:t>
            </a:r>
            <a:endParaRPr/>
          </a:p>
          <a:p>
            <a:pPr marL="0" lvl="0" indent="0" algn="l" rtl="0">
              <a:spcBef>
                <a:spcPts val="360"/>
              </a:spcBef>
              <a:spcAft>
                <a:spcPts val="0"/>
              </a:spcAft>
              <a:buNone/>
            </a:pPr>
            <a:r>
              <a:rPr lang="en-US"/>
              <a:t>Standard 46 (FIPS PUB 46). The algorithm itself is referred to as the Data</a:t>
            </a:r>
            <a:endParaRPr/>
          </a:p>
          <a:p>
            <a:pPr marL="0" lvl="0" indent="0" algn="l" rtl="0">
              <a:spcBef>
                <a:spcPts val="360"/>
              </a:spcBef>
              <a:spcAft>
                <a:spcPts val="0"/>
              </a:spcAft>
              <a:buNone/>
            </a:pPr>
            <a:r>
              <a:rPr lang="en-US"/>
              <a:t>Encryption Algorithm (DEA).  For DEA, data are encrypted in 64-bit blocks using</a:t>
            </a:r>
            <a:endParaRPr/>
          </a:p>
          <a:p>
            <a:pPr marL="0" lvl="0" indent="0" algn="l" rtl="0">
              <a:spcBef>
                <a:spcPts val="360"/>
              </a:spcBef>
              <a:spcAft>
                <a:spcPts val="0"/>
              </a:spcAft>
              <a:buNone/>
            </a:pPr>
            <a:r>
              <a:rPr lang="en-US"/>
              <a:t>a 56-bit key. The algorithm transforms 64-bit input in a series of steps into a 64-bit</a:t>
            </a:r>
            <a:endParaRPr/>
          </a:p>
          <a:p>
            <a:pPr marL="0" lvl="0" indent="0" algn="l" rtl="0">
              <a:spcBef>
                <a:spcPts val="360"/>
              </a:spcBef>
              <a:spcAft>
                <a:spcPts val="0"/>
              </a:spcAft>
              <a:buNone/>
            </a:pPr>
            <a:r>
              <a:rPr lang="en-US"/>
              <a:t>output. The same steps, with the same key, are used to reverse the encryption.</a:t>
            </a:r>
            <a:endParaRPr/>
          </a:p>
          <a:p>
            <a:pPr marL="0" lvl="0" indent="0" algn="l" rtl="0">
              <a:spcBef>
                <a:spcPts val="360"/>
              </a:spcBef>
              <a:spcAft>
                <a:spcPts val="0"/>
              </a:spcAft>
              <a:buNone/>
            </a:pPr>
            <a:endParaRPr/>
          </a:p>
          <a:p>
            <a:pPr marL="0" lvl="0" indent="0" algn="l" rtl="0">
              <a:spcBef>
                <a:spcPts val="360"/>
              </a:spcBef>
              <a:spcAft>
                <a:spcPts val="0"/>
              </a:spcAft>
              <a:buNone/>
            </a:pPr>
            <a:r>
              <a:rPr lang="en-US"/>
              <a:t>Over the years, DES became the dominant symmetric encryption algorithm,</a:t>
            </a:r>
            <a:endParaRPr/>
          </a:p>
          <a:p>
            <a:pPr marL="0" lvl="0" indent="0" algn="l" rtl="0">
              <a:spcBef>
                <a:spcPts val="360"/>
              </a:spcBef>
              <a:spcAft>
                <a:spcPts val="0"/>
              </a:spcAft>
              <a:buNone/>
            </a:pPr>
            <a:r>
              <a:rPr lang="en-US"/>
              <a:t>especially in financial applications. In 1994, NIST reaffirmed DES for federal use</a:t>
            </a:r>
            <a:endParaRPr/>
          </a:p>
          <a:p>
            <a:pPr marL="0" lvl="0" indent="0" algn="l" rtl="0">
              <a:spcBef>
                <a:spcPts val="360"/>
              </a:spcBef>
              <a:spcAft>
                <a:spcPts val="0"/>
              </a:spcAft>
              <a:buNone/>
            </a:pPr>
            <a:r>
              <a:rPr lang="en-US"/>
              <a:t>for another five years; NIST recommended the use of DES for applications other</a:t>
            </a:r>
            <a:endParaRPr/>
          </a:p>
          <a:p>
            <a:pPr marL="0" lvl="0" indent="0" algn="l" rtl="0">
              <a:spcBef>
                <a:spcPts val="360"/>
              </a:spcBef>
              <a:spcAft>
                <a:spcPts val="0"/>
              </a:spcAft>
              <a:buNone/>
            </a:pPr>
            <a:r>
              <a:rPr lang="en-US"/>
              <a:t> than the protection of classified information. In 1999, NIST issued a new version</a:t>
            </a:r>
            <a:endParaRPr/>
          </a:p>
          <a:p>
            <a:pPr marL="0" lvl="0" indent="0" algn="l" rtl="0">
              <a:spcBef>
                <a:spcPts val="360"/>
              </a:spcBef>
              <a:spcAft>
                <a:spcPts val="0"/>
              </a:spcAft>
              <a:buNone/>
            </a:pPr>
            <a:r>
              <a:rPr lang="en-US"/>
              <a:t>of its standard (FIPS PUB 46-3) that indicated that DES should be used only for</a:t>
            </a:r>
            <a:endParaRPr/>
          </a:p>
          <a:p>
            <a:pPr marL="0" lvl="0" indent="0" algn="l" rtl="0">
              <a:spcBef>
                <a:spcPts val="360"/>
              </a:spcBef>
              <a:spcAft>
                <a:spcPts val="0"/>
              </a:spcAft>
              <a:buNone/>
            </a:pPr>
            <a:r>
              <a:rPr lang="en-US"/>
              <a:t>legacy systems and that triple DES (which in essence involves repeating the DES</a:t>
            </a:r>
            <a:endParaRPr/>
          </a:p>
          <a:p>
            <a:pPr marL="0" lvl="0" indent="0" algn="l" rtl="0">
              <a:spcBef>
                <a:spcPts val="360"/>
              </a:spcBef>
              <a:spcAft>
                <a:spcPts val="0"/>
              </a:spcAft>
              <a:buNone/>
            </a:pPr>
            <a:r>
              <a:rPr lang="en-US"/>
              <a:t>algorithm three times on the plaintext using two or three different keys to produce</a:t>
            </a:r>
            <a:endParaRPr/>
          </a:p>
          <a:p>
            <a:pPr marL="0" lvl="0" indent="0" algn="l" rtl="0">
              <a:spcBef>
                <a:spcPts val="360"/>
              </a:spcBef>
              <a:spcAft>
                <a:spcPts val="0"/>
              </a:spcAft>
              <a:buNone/>
            </a:pPr>
            <a:r>
              <a:rPr lang="en-US"/>
              <a:t>the ciphertext) be used. We study triple DES in Chapter 6. Because the underlying</a:t>
            </a:r>
            <a:endParaRPr/>
          </a:p>
          <a:p>
            <a:pPr marL="0" lvl="0" indent="0" algn="l" rtl="0">
              <a:spcBef>
                <a:spcPts val="360"/>
              </a:spcBef>
              <a:spcAft>
                <a:spcPts val="0"/>
              </a:spcAft>
              <a:buNone/>
            </a:pPr>
            <a:r>
              <a:rPr lang="en-US"/>
              <a:t>encryption and decryption algorithms are the same for DES and triple DES, it</a:t>
            </a:r>
            <a:endParaRPr/>
          </a:p>
          <a:p>
            <a:pPr marL="0" lvl="0" indent="0" algn="l" rtl="0">
              <a:spcBef>
                <a:spcPts val="360"/>
              </a:spcBef>
              <a:spcAft>
                <a:spcPts val="0"/>
              </a:spcAft>
              <a:buNone/>
            </a:pPr>
            <a:r>
              <a:rPr lang="en-US"/>
              <a:t>remains important to understand the DES cipher. This section provides an overview.</a:t>
            </a:r>
            <a:endParaRPr/>
          </a:p>
          <a:p>
            <a:pPr marL="0" lvl="0" indent="0" algn="l" rtl="0">
              <a:spcBef>
                <a:spcPts val="360"/>
              </a:spcBef>
              <a:spcAft>
                <a:spcPts val="0"/>
              </a:spcAft>
              <a:buNone/>
            </a:pPr>
            <a:r>
              <a:rPr lang="en-US"/>
              <a:t>For the interested reader, Appendix S provides further detail.</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51: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19</a:t>
            </a:fld>
            <a:endParaRPr>
              <a:latin typeface="Arial"/>
              <a:ea typeface="Arial"/>
              <a:cs typeface="Arial"/>
              <a:sym typeface="Arial"/>
            </a:endParaRPr>
          </a:p>
        </p:txBody>
      </p:sp>
      <p:sp>
        <p:nvSpPr>
          <p:cNvPr id="632" name="Google Shape;632;p51: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3" name="Google Shape;633;p51: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The overall scheme for DES encryption is illustrated in Figure 3.5. As with any encryption</a:t>
            </a:r>
            <a:endParaRPr/>
          </a:p>
          <a:p>
            <a:pPr marL="0" lvl="0" indent="0" algn="l" rtl="0">
              <a:spcBef>
                <a:spcPts val="360"/>
              </a:spcBef>
              <a:spcAft>
                <a:spcPts val="0"/>
              </a:spcAft>
              <a:buNone/>
            </a:pPr>
            <a:r>
              <a:rPr lang="en-US"/>
              <a:t>scheme, there are two inputs to the encryption function: the plaintext to be</a:t>
            </a:r>
            <a:endParaRPr/>
          </a:p>
          <a:p>
            <a:pPr marL="0" lvl="0" indent="0" algn="l" rtl="0">
              <a:spcBef>
                <a:spcPts val="360"/>
              </a:spcBef>
              <a:spcAft>
                <a:spcPts val="0"/>
              </a:spcAft>
              <a:buNone/>
            </a:pPr>
            <a:r>
              <a:rPr lang="en-US"/>
              <a:t> encrypted and the key. In this case, the plaintext must be 64 bits in length and the</a:t>
            </a:r>
            <a:endParaRPr/>
          </a:p>
          <a:p>
            <a:pPr marL="0" lvl="0" indent="0" algn="l" rtl="0">
              <a:spcBef>
                <a:spcPts val="360"/>
              </a:spcBef>
              <a:spcAft>
                <a:spcPts val="0"/>
              </a:spcAft>
              <a:buNone/>
            </a:pPr>
            <a:r>
              <a:rPr lang="en-US"/>
              <a:t>key is 56 bits in length.</a:t>
            </a:r>
            <a:endParaRPr/>
          </a:p>
          <a:p>
            <a:pPr marL="0" lvl="0" indent="0" algn="l" rtl="0">
              <a:spcBef>
                <a:spcPts val="360"/>
              </a:spcBef>
              <a:spcAft>
                <a:spcPts val="0"/>
              </a:spcAft>
              <a:buNone/>
            </a:pPr>
            <a:endParaRPr/>
          </a:p>
          <a:p>
            <a:pPr marL="0" lvl="0" indent="0" algn="l" rtl="0">
              <a:spcBef>
                <a:spcPts val="360"/>
              </a:spcBef>
              <a:spcAft>
                <a:spcPts val="0"/>
              </a:spcAft>
              <a:buNone/>
            </a:pPr>
            <a:r>
              <a:rPr lang="en-US"/>
              <a:t>Looking at the left-hand side of the figure, we can see that the processing</a:t>
            </a:r>
            <a:endParaRPr/>
          </a:p>
          <a:p>
            <a:pPr marL="0" lvl="0" indent="0" algn="l" rtl="0">
              <a:spcBef>
                <a:spcPts val="360"/>
              </a:spcBef>
              <a:spcAft>
                <a:spcPts val="0"/>
              </a:spcAft>
              <a:buNone/>
            </a:pPr>
            <a:r>
              <a:rPr lang="en-US"/>
              <a:t>of the plaintext proceeds in three phases. First, the 64-bit plaintext passes through</a:t>
            </a:r>
            <a:endParaRPr/>
          </a:p>
          <a:p>
            <a:pPr marL="0" lvl="0" indent="0" algn="l" rtl="0">
              <a:spcBef>
                <a:spcPts val="360"/>
              </a:spcBef>
              <a:spcAft>
                <a:spcPts val="0"/>
              </a:spcAft>
              <a:buNone/>
            </a:pPr>
            <a:r>
              <a:rPr lang="en-US"/>
              <a:t>an initial permutation (IP) that rearranges the bits to produce the permuted input .</a:t>
            </a:r>
            <a:endParaRPr/>
          </a:p>
          <a:p>
            <a:pPr marL="0" lvl="0" indent="0" algn="l" rtl="0">
              <a:spcBef>
                <a:spcPts val="360"/>
              </a:spcBef>
              <a:spcAft>
                <a:spcPts val="0"/>
              </a:spcAft>
              <a:buNone/>
            </a:pPr>
            <a:r>
              <a:rPr lang="en-US"/>
              <a:t>This is followed by a phase consisting of sixteen rounds of the same function, which</a:t>
            </a:r>
            <a:endParaRPr/>
          </a:p>
          <a:p>
            <a:pPr marL="0" lvl="0" indent="0" algn="l" rtl="0">
              <a:spcBef>
                <a:spcPts val="360"/>
              </a:spcBef>
              <a:spcAft>
                <a:spcPts val="0"/>
              </a:spcAft>
              <a:buNone/>
            </a:pPr>
            <a:r>
              <a:rPr lang="en-US"/>
              <a:t>involves both permutation and substitution functions. The output of the last (sixteenth)</a:t>
            </a:r>
            <a:endParaRPr/>
          </a:p>
          <a:p>
            <a:pPr marL="0" lvl="0" indent="0" algn="l" rtl="0">
              <a:spcBef>
                <a:spcPts val="360"/>
              </a:spcBef>
              <a:spcAft>
                <a:spcPts val="0"/>
              </a:spcAft>
              <a:buNone/>
            </a:pPr>
            <a:r>
              <a:rPr lang="en-US"/>
              <a:t>round consists of 64 bits that are a function of the input plaintext and the</a:t>
            </a:r>
            <a:endParaRPr/>
          </a:p>
          <a:p>
            <a:pPr marL="0" lvl="0" indent="0" algn="l" rtl="0">
              <a:spcBef>
                <a:spcPts val="360"/>
              </a:spcBef>
              <a:spcAft>
                <a:spcPts val="0"/>
              </a:spcAft>
              <a:buNone/>
            </a:pPr>
            <a:r>
              <a:rPr lang="en-US"/>
              <a:t>key. The left and right halves of the output are swapped to produce the preoutput .</a:t>
            </a:r>
            <a:endParaRPr/>
          </a:p>
          <a:p>
            <a:pPr marL="0" lvl="0" indent="0" algn="l" rtl="0">
              <a:spcBef>
                <a:spcPts val="360"/>
              </a:spcBef>
              <a:spcAft>
                <a:spcPts val="0"/>
              </a:spcAft>
              <a:buNone/>
            </a:pPr>
            <a:r>
              <a:rPr lang="en-US"/>
              <a:t>Finally, the preoutput is passed through a permutation [IP</a:t>
            </a:r>
            <a:r>
              <a:rPr lang="en-US" baseline="30000"/>
              <a:t> -1 </a:t>
            </a:r>
            <a:r>
              <a:rPr lang="en-US"/>
              <a:t>] that is the inverse of</a:t>
            </a:r>
            <a:endParaRPr/>
          </a:p>
          <a:p>
            <a:pPr marL="0" lvl="0" indent="0" algn="l" rtl="0">
              <a:spcBef>
                <a:spcPts val="360"/>
              </a:spcBef>
              <a:spcAft>
                <a:spcPts val="0"/>
              </a:spcAft>
              <a:buNone/>
            </a:pPr>
            <a:r>
              <a:rPr lang="en-US"/>
              <a:t>the initial permutation function, to produce the 64-bit ciphertext. With the exception</a:t>
            </a:r>
            <a:endParaRPr/>
          </a:p>
          <a:p>
            <a:pPr marL="0" lvl="0" indent="0" algn="l" rtl="0">
              <a:spcBef>
                <a:spcPts val="360"/>
              </a:spcBef>
              <a:spcAft>
                <a:spcPts val="0"/>
              </a:spcAft>
              <a:buNone/>
            </a:pPr>
            <a:r>
              <a:rPr lang="en-US"/>
              <a:t>of the initial and final permutations, DES has the exact structure of a Feistel</a:t>
            </a:r>
            <a:endParaRPr/>
          </a:p>
          <a:p>
            <a:pPr marL="0" lvl="0" indent="0" algn="l" rtl="0">
              <a:spcBef>
                <a:spcPts val="360"/>
              </a:spcBef>
              <a:spcAft>
                <a:spcPts val="0"/>
              </a:spcAft>
              <a:buNone/>
            </a:pPr>
            <a:r>
              <a:rPr lang="en-US"/>
              <a:t>cipher, as shown in Figure 3.3.</a:t>
            </a:r>
            <a:endParaRPr/>
          </a:p>
          <a:p>
            <a:pPr marL="0" lvl="0" indent="0" algn="l" rtl="0">
              <a:spcBef>
                <a:spcPts val="360"/>
              </a:spcBef>
              <a:spcAft>
                <a:spcPts val="0"/>
              </a:spcAft>
              <a:buNone/>
            </a:pPr>
            <a:endParaRPr/>
          </a:p>
          <a:p>
            <a:pPr marL="0" lvl="0" indent="0" algn="l" rtl="0">
              <a:spcBef>
                <a:spcPts val="360"/>
              </a:spcBef>
              <a:spcAft>
                <a:spcPts val="0"/>
              </a:spcAft>
              <a:buNone/>
            </a:pPr>
            <a:r>
              <a:rPr lang="en-US"/>
              <a:t>The right-hand portion of Figure 3.5 shows the way in which the 56-bit key is</a:t>
            </a:r>
            <a:endParaRPr/>
          </a:p>
          <a:p>
            <a:pPr marL="0" lvl="0" indent="0" algn="l" rtl="0">
              <a:spcBef>
                <a:spcPts val="360"/>
              </a:spcBef>
              <a:spcAft>
                <a:spcPts val="0"/>
              </a:spcAft>
              <a:buNone/>
            </a:pPr>
            <a:r>
              <a:rPr lang="en-US"/>
              <a:t>used. Initially, the key is passed through a permutation function. Then, for each of</a:t>
            </a:r>
            <a:endParaRPr/>
          </a:p>
          <a:p>
            <a:pPr marL="0" lvl="0" indent="0" algn="l" rtl="0">
              <a:spcBef>
                <a:spcPts val="360"/>
              </a:spcBef>
              <a:spcAft>
                <a:spcPts val="0"/>
              </a:spcAft>
              <a:buNone/>
            </a:pPr>
            <a:r>
              <a:rPr lang="en-US"/>
              <a:t>the sixteen rounds, a subkey  (K</a:t>
            </a:r>
            <a:r>
              <a:rPr lang="en-US" baseline="-25000"/>
              <a:t>i </a:t>
            </a:r>
            <a:r>
              <a:rPr lang="en-US"/>
              <a:t>) is produced by the combination of a left circular</a:t>
            </a:r>
            <a:endParaRPr/>
          </a:p>
          <a:p>
            <a:pPr marL="0" lvl="0" indent="0" algn="l" rtl="0">
              <a:spcBef>
                <a:spcPts val="360"/>
              </a:spcBef>
              <a:spcAft>
                <a:spcPts val="0"/>
              </a:spcAft>
              <a:buNone/>
            </a:pPr>
            <a:r>
              <a:rPr lang="en-US"/>
              <a:t>shift and a permutation. The permutation function is the same for each round, but a</a:t>
            </a:r>
            <a:endParaRPr/>
          </a:p>
          <a:p>
            <a:pPr marL="0" lvl="0" indent="0" algn="l" rtl="0">
              <a:spcBef>
                <a:spcPts val="360"/>
              </a:spcBef>
              <a:spcAft>
                <a:spcPts val="0"/>
              </a:spcAft>
              <a:buNone/>
            </a:pPr>
            <a:r>
              <a:rPr lang="en-US"/>
              <a:t>different subkey is produced because of the repeated shifts of the key bits.</a:t>
            </a:r>
            <a:endParaRPr/>
          </a:p>
          <a:p>
            <a:pPr marL="0" lvl="0" indent="0" algn="l" rtl="0">
              <a:spcBef>
                <a:spcPts val="360"/>
              </a:spcBef>
              <a:spcAft>
                <a:spcPts val="0"/>
              </a:spcAft>
              <a:buNone/>
            </a:pPr>
            <a:endParaRPr/>
          </a:p>
          <a:p>
            <a:pPr marL="0" lvl="0" indent="0" algn="l" rtl="0">
              <a:spcBef>
                <a:spcPts val="360"/>
              </a:spcBef>
              <a:spcAft>
                <a:spcPts val="0"/>
              </a:spcAft>
              <a:buNone/>
            </a:pPr>
            <a:r>
              <a:rPr lang="en-US"/>
              <a:t> As with any Feistel cipher, decryption uses the same algorithm as encryption,</a:t>
            </a:r>
            <a:endParaRPr/>
          </a:p>
          <a:p>
            <a:pPr marL="0" lvl="0" indent="0" algn="l" rtl="0">
              <a:spcBef>
                <a:spcPts val="360"/>
              </a:spcBef>
              <a:spcAft>
                <a:spcPts val="0"/>
              </a:spcAft>
              <a:buNone/>
            </a:pPr>
            <a:r>
              <a:rPr lang="en-US"/>
              <a:t>except that the application of the subkeys is reversed. Additionally, the initial and</a:t>
            </a:r>
            <a:endParaRPr/>
          </a:p>
          <a:p>
            <a:pPr marL="0" lvl="0" indent="0" algn="l" rtl="0">
              <a:spcBef>
                <a:spcPts val="360"/>
              </a:spcBef>
              <a:spcAft>
                <a:spcPts val="0"/>
              </a:spcAft>
              <a:buNone/>
            </a:pPr>
            <a:r>
              <a:rPr lang="en-US"/>
              <a:t>final permutations are reversed.</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52: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40" name="Google Shape;640;p52: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rmAutofit/>
          </a:bodyPr>
          <a:lstStyle/>
          <a:p>
            <a:pPr marL="0" lvl="0" indent="0" algn="l" rtl="0">
              <a:spcBef>
                <a:spcPts val="0"/>
              </a:spcBef>
              <a:spcAft>
                <a:spcPts val="0"/>
              </a:spcAft>
              <a:buNone/>
            </a:pPr>
            <a:r>
              <a:rPr lang="en-US" sz="1110"/>
              <a:t>We now work through an example and consider some of its implications. Although</a:t>
            </a:r>
            <a:endParaRPr/>
          </a:p>
          <a:p>
            <a:pPr marL="0" lvl="0" indent="0" algn="l" rtl="0">
              <a:spcBef>
                <a:spcPts val="333"/>
              </a:spcBef>
              <a:spcAft>
                <a:spcPts val="0"/>
              </a:spcAft>
              <a:buNone/>
            </a:pPr>
            <a:r>
              <a:rPr lang="en-US" sz="1110"/>
              <a:t>you are not expected to duplicate the example by hand, you will find it informative</a:t>
            </a:r>
            <a:endParaRPr/>
          </a:p>
          <a:p>
            <a:pPr marL="0" lvl="0" indent="0" algn="l" rtl="0">
              <a:spcBef>
                <a:spcPts val="333"/>
              </a:spcBef>
              <a:spcAft>
                <a:spcPts val="0"/>
              </a:spcAft>
              <a:buNone/>
            </a:pPr>
            <a:r>
              <a:rPr lang="en-US" sz="1110"/>
              <a:t>to study the hex patterns that occur from one step to the next.</a:t>
            </a:r>
            <a:endParaRPr/>
          </a:p>
          <a:p>
            <a:pPr marL="0" lvl="0" indent="0" algn="l" rtl="0">
              <a:spcBef>
                <a:spcPts val="333"/>
              </a:spcBef>
              <a:spcAft>
                <a:spcPts val="0"/>
              </a:spcAft>
              <a:buNone/>
            </a:pPr>
            <a:endParaRPr sz="1110"/>
          </a:p>
          <a:p>
            <a:pPr marL="0" lvl="0" indent="0" algn="l" rtl="0">
              <a:spcBef>
                <a:spcPts val="333"/>
              </a:spcBef>
              <a:spcAft>
                <a:spcPts val="0"/>
              </a:spcAft>
              <a:buNone/>
            </a:pPr>
            <a:r>
              <a:rPr lang="en-US" sz="1110"/>
              <a:t>For this example, the plaintext is a hexadecimal palindrome. The plaintext,</a:t>
            </a:r>
            <a:endParaRPr/>
          </a:p>
          <a:p>
            <a:pPr marL="0" lvl="0" indent="0" algn="l" rtl="0">
              <a:spcBef>
                <a:spcPts val="333"/>
              </a:spcBef>
              <a:spcAft>
                <a:spcPts val="0"/>
              </a:spcAft>
              <a:buNone/>
            </a:pPr>
            <a:r>
              <a:rPr lang="en-US" sz="1110"/>
              <a:t>key, and resulting ciphertext are as follows:</a:t>
            </a:r>
            <a:endParaRPr/>
          </a:p>
          <a:p>
            <a:pPr marL="0" lvl="0" indent="0" algn="l" rtl="0">
              <a:spcBef>
                <a:spcPts val="333"/>
              </a:spcBef>
              <a:spcAft>
                <a:spcPts val="0"/>
              </a:spcAft>
              <a:buNone/>
            </a:pPr>
            <a:endParaRPr sz="1110"/>
          </a:p>
          <a:p>
            <a:pPr marL="0" lvl="0" indent="0" algn="l" rtl="0">
              <a:spcBef>
                <a:spcPts val="333"/>
              </a:spcBef>
              <a:spcAft>
                <a:spcPts val="0"/>
              </a:spcAft>
              <a:buNone/>
            </a:pPr>
            <a:r>
              <a:rPr lang="en-US" sz="1110"/>
              <a:t>Plaintext: 02468aceeca86420</a:t>
            </a:r>
            <a:endParaRPr/>
          </a:p>
          <a:p>
            <a:pPr marL="0" lvl="0" indent="0" algn="l" rtl="0">
              <a:spcBef>
                <a:spcPts val="333"/>
              </a:spcBef>
              <a:spcAft>
                <a:spcPts val="0"/>
              </a:spcAft>
              <a:buNone/>
            </a:pPr>
            <a:endParaRPr sz="1110"/>
          </a:p>
          <a:p>
            <a:pPr marL="0" lvl="0" indent="0" algn="l" rtl="0">
              <a:spcBef>
                <a:spcPts val="333"/>
              </a:spcBef>
              <a:spcAft>
                <a:spcPts val="0"/>
              </a:spcAft>
              <a:buNone/>
            </a:pPr>
            <a:r>
              <a:rPr lang="en-US" sz="1110"/>
              <a:t>Key: 0f1571c947d9e859</a:t>
            </a:r>
            <a:endParaRPr/>
          </a:p>
          <a:p>
            <a:pPr marL="0" lvl="0" indent="0" algn="l" rtl="0">
              <a:spcBef>
                <a:spcPts val="333"/>
              </a:spcBef>
              <a:spcAft>
                <a:spcPts val="0"/>
              </a:spcAft>
              <a:buNone/>
            </a:pPr>
            <a:endParaRPr sz="1110"/>
          </a:p>
          <a:p>
            <a:pPr marL="0" lvl="0" indent="0" algn="l" rtl="0">
              <a:spcBef>
                <a:spcPts val="333"/>
              </a:spcBef>
              <a:spcAft>
                <a:spcPts val="0"/>
              </a:spcAft>
              <a:buNone/>
            </a:pPr>
            <a:r>
              <a:rPr lang="en-US" sz="1110"/>
              <a:t>Ciphertext: da02ce3a89ecac3b</a:t>
            </a:r>
            <a:endParaRPr/>
          </a:p>
          <a:p>
            <a:pPr marL="0" lvl="0" indent="0" algn="l" rtl="0">
              <a:spcBef>
                <a:spcPts val="333"/>
              </a:spcBef>
              <a:spcAft>
                <a:spcPts val="0"/>
              </a:spcAft>
              <a:buNone/>
            </a:pPr>
            <a:endParaRPr sz="1110"/>
          </a:p>
          <a:p>
            <a:pPr marL="0" lvl="0" indent="0" algn="l" rtl="0">
              <a:spcBef>
                <a:spcPts val="333"/>
              </a:spcBef>
              <a:spcAft>
                <a:spcPts val="0"/>
              </a:spcAft>
              <a:buNone/>
            </a:pPr>
            <a:r>
              <a:rPr lang="en-US" sz="1110"/>
              <a:t> Table 3.2 shows the progression of the algorithm. The first row shows the 32-bit</a:t>
            </a:r>
            <a:endParaRPr/>
          </a:p>
          <a:p>
            <a:pPr marL="0" lvl="0" indent="0" algn="l" rtl="0">
              <a:spcBef>
                <a:spcPts val="333"/>
              </a:spcBef>
              <a:spcAft>
                <a:spcPts val="0"/>
              </a:spcAft>
              <a:buNone/>
            </a:pPr>
            <a:r>
              <a:rPr lang="en-US" sz="1110"/>
              <a:t>values of the left and right halves of data after the initial permutation. The next 16</a:t>
            </a:r>
            <a:endParaRPr/>
          </a:p>
          <a:p>
            <a:pPr marL="0" lvl="0" indent="0" algn="l" rtl="0">
              <a:spcBef>
                <a:spcPts val="333"/>
              </a:spcBef>
              <a:spcAft>
                <a:spcPts val="0"/>
              </a:spcAft>
              <a:buNone/>
            </a:pPr>
            <a:r>
              <a:rPr lang="en-US" sz="1110"/>
              <a:t>rows show the results after each round. Also shown is the value of the 48-bit subkey</a:t>
            </a:r>
            <a:endParaRPr/>
          </a:p>
          <a:p>
            <a:pPr marL="0" lvl="0" indent="0" algn="l" rtl="0">
              <a:spcBef>
                <a:spcPts val="333"/>
              </a:spcBef>
              <a:spcAft>
                <a:spcPts val="0"/>
              </a:spcAft>
              <a:buNone/>
            </a:pPr>
            <a:r>
              <a:rPr lang="en-US" sz="1110"/>
              <a:t> generated for each round. Note that L</a:t>
            </a:r>
            <a:r>
              <a:rPr lang="en-US" sz="1110" baseline="-25000"/>
              <a:t>i</a:t>
            </a:r>
            <a:r>
              <a:rPr lang="en-US" sz="1110"/>
              <a:t> = R</a:t>
            </a:r>
            <a:r>
              <a:rPr lang="en-US" sz="1110" baseline="-25000"/>
              <a:t>i-1 </a:t>
            </a:r>
            <a:r>
              <a:rPr lang="en-US" sz="1110"/>
              <a:t>. The final row shows the left- and</a:t>
            </a:r>
            <a:endParaRPr/>
          </a:p>
          <a:p>
            <a:pPr marL="0" lvl="0" indent="0" algn="l" rtl="0">
              <a:spcBef>
                <a:spcPts val="333"/>
              </a:spcBef>
              <a:spcAft>
                <a:spcPts val="0"/>
              </a:spcAft>
              <a:buNone/>
            </a:pPr>
            <a:r>
              <a:rPr lang="en-US" sz="1110"/>
              <a:t>right-hand values after the inverse initial permutation. These two values combined</a:t>
            </a:r>
            <a:endParaRPr/>
          </a:p>
          <a:p>
            <a:pPr marL="0" lvl="0" indent="0" algn="l" rtl="0">
              <a:spcBef>
                <a:spcPts val="333"/>
              </a:spcBef>
              <a:spcAft>
                <a:spcPts val="0"/>
              </a:spcAft>
              <a:buNone/>
            </a:pPr>
            <a:r>
              <a:rPr lang="en-US" sz="1110"/>
              <a:t>form the ciphertext.</a:t>
            </a:r>
            <a:endParaRPr sz="1110" b="0"/>
          </a:p>
        </p:txBody>
      </p:sp>
      <p:sp>
        <p:nvSpPr>
          <p:cNvPr id="641" name="Google Shape;641;p52: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53: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49" name="Google Shape;649;p53: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rmAutofit/>
          </a:bodyPr>
          <a:lstStyle/>
          <a:p>
            <a:pPr marL="0" lvl="0" indent="0" algn="l" rtl="0">
              <a:spcBef>
                <a:spcPts val="0"/>
              </a:spcBef>
              <a:spcAft>
                <a:spcPts val="0"/>
              </a:spcAft>
              <a:buNone/>
            </a:pPr>
            <a:r>
              <a:rPr lang="en-US" sz="1110"/>
              <a:t> A desirable property of any encryption algorithm is that a small change in either</a:t>
            </a:r>
            <a:endParaRPr/>
          </a:p>
          <a:p>
            <a:pPr marL="0" lvl="0" indent="0" algn="l" rtl="0">
              <a:spcBef>
                <a:spcPts val="333"/>
              </a:spcBef>
              <a:spcAft>
                <a:spcPts val="0"/>
              </a:spcAft>
              <a:buNone/>
            </a:pPr>
            <a:r>
              <a:rPr lang="en-US" sz="1110"/>
              <a:t>the plaintext or the key should produce a significant change in the ciphertext. In</a:t>
            </a:r>
            <a:endParaRPr/>
          </a:p>
          <a:p>
            <a:pPr marL="0" lvl="0" indent="0" algn="l" rtl="0">
              <a:spcBef>
                <a:spcPts val="333"/>
              </a:spcBef>
              <a:spcAft>
                <a:spcPts val="0"/>
              </a:spcAft>
              <a:buNone/>
            </a:pPr>
            <a:r>
              <a:rPr lang="en-US" sz="1110"/>
              <a:t>particular, a change in one bit of the plaintext or one bit of the key should produce</a:t>
            </a:r>
            <a:endParaRPr/>
          </a:p>
          <a:p>
            <a:pPr marL="0" lvl="0" indent="0" algn="l" rtl="0">
              <a:spcBef>
                <a:spcPts val="333"/>
              </a:spcBef>
              <a:spcAft>
                <a:spcPts val="0"/>
              </a:spcAft>
              <a:buNone/>
            </a:pPr>
            <a:r>
              <a:rPr lang="en-US" sz="1110"/>
              <a:t>a change in many bits of the ciphertext. This is referred to as the avalanche effect. If</a:t>
            </a:r>
            <a:endParaRPr/>
          </a:p>
          <a:p>
            <a:pPr marL="0" lvl="0" indent="0" algn="l" rtl="0">
              <a:spcBef>
                <a:spcPts val="333"/>
              </a:spcBef>
              <a:spcAft>
                <a:spcPts val="0"/>
              </a:spcAft>
              <a:buNone/>
            </a:pPr>
            <a:r>
              <a:rPr lang="en-US" sz="1110"/>
              <a:t>the change were small, this might provide a way to reduce the size of the plaintext</a:t>
            </a:r>
            <a:endParaRPr/>
          </a:p>
          <a:p>
            <a:pPr marL="0" lvl="0" indent="0" algn="l" rtl="0">
              <a:spcBef>
                <a:spcPts val="333"/>
              </a:spcBef>
              <a:spcAft>
                <a:spcPts val="0"/>
              </a:spcAft>
              <a:buNone/>
            </a:pPr>
            <a:r>
              <a:rPr lang="en-US" sz="1110"/>
              <a:t>or key space to be searched.</a:t>
            </a:r>
            <a:endParaRPr/>
          </a:p>
          <a:p>
            <a:pPr marL="0" lvl="0" indent="0" algn="l" rtl="0">
              <a:spcBef>
                <a:spcPts val="333"/>
              </a:spcBef>
              <a:spcAft>
                <a:spcPts val="0"/>
              </a:spcAft>
              <a:buNone/>
            </a:pPr>
            <a:endParaRPr sz="1110"/>
          </a:p>
          <a:p>
            <a:pPr marL="0" lvl="0" indent="0" algn="l" rtl="0">
              <a:spcBef>
                <a:spcPts val="333"/>
              </a:spcBef>
              <a:spcAft>
                <a:spcPts val="0"/>
              </a:spcAft>
              <a:buNone/>
            </a:pPr>
            <a:r>
              <a:rPr lang="en-US" sz="1110"/>
              <a:t>Using the example from Table 3.2, Table 3.3 shows the result when the fourth</a:t>
            </a:r>
            <a:endParaRPr/>
          </a:p>
          <a:p>
            <a:pPr marL="0" lvl="0" indent="0" algn="l" rtl="0">
              <a:spcBef>
                <a:spcPts val="333"/>
              </a:spcBef>
              <a:spcAft>
                <a:spcPts val="0"/>
              </a:spcAft>
              <a:buNone/>
            </a:pPr>
            <a:r>
              <a:rPr lang="en-US" sz="1110"/>
              <a:t>bit of the plaintext is changed, so that the plaintext is 12468aceeca86420 . The</a:t>
            </a:r>
            <a:endParaRPr/>
          </a:p>
          <a:p>
            <a:pPr marL="0" lvl="0" indent="0" algn="l" rtl="0">
              <a:spcBef>
                <a:spcPts val="333"/>
              </a:spcBef>
              <a:spcAft>
                <a:spcPts val="0"/>
              </a:spcAft>
              <a:buNone/>
            </a:pPr>
            <a:r>
              <a:rPr lang="en-US" sz="1110"/>
              <a:t>second column of the table shows the intermediate 64-bit values at the end of each</a:t>
            </a:r>
            <a:endParaRPr/>
          </a:p>
          <a:p>
            <a:pPr marL="0" lvl="0" indent="0" algn="l" rtl="0">
              <a:spcBef>
                <a:spcPts val="333"/>
              </a:spcBef>
              <a:spcAft>
                <a:spcPts val="0"/>
              </a:spcAft>
              <a:buNone/>
            </a:pPr>
            <a:r>
              <a:rPr lang="en-US" sz="1110"/>
              <a:t>round for the two plaintexts. The third column shows the number of bits that differ</a:t>
            </a:r>
            <a:endParaRPr/>
          </a:p>
          <a:p>
            <a:pPr marL="0" lvl="0" indent="0" algn="l" rtl="0">
              <a:spcBef>
                <a:spcPts val="333"/>
              </a:spcBef>
              <a:spcAft>
                <a:spcPts val="0"/>
              </a:spcAft>
              <a:buNone/>
            </a:pPr>
            <a:r>
              <a:rPr lang="en-US" sz="1110"/>
              <a:t>between the two intermediate values. The table shows that, after just three rounds,</a:t>
            </a:r>
            <a:endParaRPr/>
          </a:p>
          <a:p>
            <a:pPr marL="0" lvl="0" indent="0" algn="l" rtl="0">
              <a:spcBef>
                <a:spcPts val="333"/>
              </a:spcBef>
              <a:spcAft>
                <a:spcPts val="0"/>
              </a:spcAft>
              <a:buNone/>
            </a:pPr>
            <a:r>
              <a:rPr lang="en-US" sz="1110"/>
              <a:t>18 bits differ between the two blocks. On completion, the two ciphertexts differ in</a:t>
            </a:r>
            <a:endParaRPr/>
          </a:p>
          <a:p>
            <a:pPr marL="0" lvl="0" indent="0" algn="l" rtl="0">
              <a:spcBef>
                <a:spcPts val="333"/>
              </a:spcBef>
              <a:spcAft>
                <a:spcPts val="0"/>
              </a:spcAft>
              <a:buNone/>
            </a:pPr>
            <a:r>
              <a:rPr lang="en-US" sz="1110"/>
              <a:t>32 bit positions.</a:t>
            </a:r>
            <a:endParaRPr sz="1110" b="0"/>
          </a:p>
        </p:txBody>
      </p:sp>
      <p:sp>
        <p:nvSpPr>
          <p:cNvPr id="650" name="Google Shape;650;p53: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54: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56" name="Google Shape;656;p54: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rmAutofit/>
          </a:bodyPr>
          <a:lstStyle/>
          <a:p>
            <a:pPr marL="0" lvl="0" indent="0" algn="l" rtl="0">
              <a:spcBef>
                <a:spcPts val="0"/>
              </a:spcBef>
              <a:spcAft>
                <a:spcPts val="0"/>
              </a:spcAft>
              <a:buNone/>
            </a:pPr>
            <a:r>
              <a:rPr lang="en-US" sz="1110"/>
              <a:t> Table 3.4 shows a similar test using the original plaintext of with two keys that</a:t>
            </a:r>
            <a:endParaRPr/>
          </a:p>
          <a:p>
            <a:pPr marL="0" lvl="0" indent="0" algn="l" rtl="0">
              <a:spcBef>
                <a:spcPts val="333"/>
              </a:spcBef>
              <a:spcAft>
                <a:spcPts val="0"/>
              </a:spcAft>
              <a:buNone/>
            </a:pPr>
            <a:r>
              <a:rPr lang="en-US" sz="1110"/>
              <a:t>differ in only the fourth bit position: the original key, 0f1571c947d9e859 , and</a:t>
            </a:r>
            <a:endParaRPr/>
          </a:p>
          <a:p>
            <a:pPr marL="0" lvl="0" indent="0" algn="l" rtl="0">
              <a:spcBef>
                <a:spcPts val="333"/>
              </a:spcBef>
              <a:spcAft>
                <a:spcPts val="0"/>
              </a:spcAft>
              <a:buNone/>
            </a:pPr>
            <a:r>
              <a:rPr lang="en-US" sz="1110"/>
              <a:t>the altered key, 1f1571c947d9e859 . Again, the results show that about half of</a:t>
            </a:r>
            <a:endParaRPr/>
          </a:p>
          <a:p>
            <a:pPr marL="0" lvl="0" indent="0" algn="l" rtl="0">
              <a:spcBef>
                <a:spcPts val="333"/>
              </a:spcBef>
              <a:spcAft>
                <a:spcPts val="0"/>
              </a:spcAft>
              <a:buNone/>
            </a:pPr>
            <a:r>
              <a:rPr lang="en-US" sz="1110"/>
              <a:t>the bits in the ciphertext differ and that the avalanche effect is pronounced after just</a:t>
            </a:r>
            <a:endParaRPr/>
          </a:p>
          <a:p>
            <a:pPr marL="0" lvl="0" indent="0" algn="l" rtl="0">
              <a:spcBef>
                <a:spcPts val="333"/>
              </a:spcBef>
              <a:spcAft>
                <a:spcPts val="0"/>
              </a:spcAft>
              <a:buNone/>
            </a:pPr>
            <a:r>
              <a:rPr lang="en-US" sz="1110"/>
              <a:t>a few rounds.</a:t>
            </a:r>
            <a:endParaRPr sz="1110" b="0"/>
          </a:p>
        </p:txBody>
      </p:sp>
      <p:sp>
        <p:nvSpPr>
          <p:cNvPr id="657" name="Google Shape;657;p54: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55: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26</a:t>
            </a:fld>
            <a:endParaRPr>
              <a:latin typeface="Arial"/>
              <a:ea typeface="Arial"/>
              <a:cs typeface="Arial"/>
              <a:sym typeface="Arial"/>
            </a:endParaRPr>
          </a:p>
        </p:txBody>
      </p:sp>
      <p:sp>
        <p:nvSpPr>
          <p:cNvPr id="663" name="Google Shape;663;p55: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4" name="Google Shape;664;p55: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Since its adoption as a federal standard, there have been lingering concerns about</a:t>
            </a:r>
            <a:endParaRPr/>
          </a:p>
          <a:p>
            <a:pPr marL="0" lvl="0" indent="0" algn="l" rtl="0">
              <a:spcBef>
                <a:spcPts val="360"/>
              </a:spcBef>
              <a:spcAft>
                <a:spcPts val="0"/>
              </a:spcAft>
              <a:buNone/>
            </a:pPr>
            <a:r>
              <a:rPr lang="en-US"/>
              <a:t>the level of security provided by DES. These concerns, by and large, fall into two</a:t>
            </a:r>
            <a:endParaRPr/>
          </a:p>
          <a:p>
            <a:pPr marL="0" lvl="0" indent="0" algn="l" rtl="0">
              <a:spcBef>
                <a:spcPts val="360"/>
              </a:spcBef>
              <a:spcAft>
                <a:spcPts val="0"/>
              </a:spcAft>
              <a:buNone/>
            </a:pPr>
            <a:r>
              <a:rPr lang="en-US"/>
              <a:t>areas: key size and the nature of the algorithm.</a:t>
            </a:r>
            <a:endParaRPr/>
          </a:p>
          <a:p>
            <a:pPr marL="0" lvl="0" indent="0" algn="l" rtl="0">
              <a:spcBef>
                <a:spcPts val="360"/>
              </a:spcBef>
              <a:spcAft>
                <a:spcPts val="0"/>
              </a:spcAft>
              <a:buNone/>
            </a:pPr>
            <a:endParaRPr/>
          </a:p>
          <a:p>
            <a:pPr marL="0" lvl="0" indent="0" algn="l" rtl="0">
              <a:spcBef>
                <a:spcPts val="360"/>
              </a:spcBef>
              <a:spcAft>
                <a:spcPts val="0"/>
              </a:spcAft>
              <a:buNone/>
            </a:pPr>
            <a:r>
              <a:rPr lang="en-US"/>
              <a:t>With a key length of 56 bits, there are 2</a:t>
            </a:r>
            <a:r>
              <a:rPr lang="en-US" baseline="30000"/>
              <a:t>56</a:t>
            </a:r>
            <a:r>
              <a:rPr lang="en-US"/>
              <a:t>  possible keys, which is approximately</a:t>
            </a:r>
            <a:endParaRPr/>
          </a:p>
          <a:p>
            <a:pPr marL="0" lvl="0" indent="0" algn="l" rtl="0">
              <a:spcBef>
                <a:spcPts val="360"/>
              </a:spcBef>
              <a:spcAft>
                <a:spcPts val="0"/>
              </a:spcAft>
              <a:buNone/>
            </a:pPr>
            <a:r>
              <a:rPr lang="en-US"/>
              <a:t>7.2 *  10</a:t>
            </a:r>
            <a:r>
              <a:rPr lang="en-US" baseline="30000"/>
              <a:t>16</a:t>
            </a:r>
            <a:r>
              <a:rPr lang="en-US"/>
              <a:t>  keys. Thus, on the face of it, a brute-force attack appears impractical.</a:t>
            </a:r>
            <a:endParaRPr/>
          </a:p>
          <a:p>
            <a:pPr marL="0" lvl="0" indent="0" algn="l" rtl="0">
              <a:spcBef>
                <a:spcPts val="360"/>
              </a:spcBef>
              <a:spcAft>
                <a:spcPts val="0"/>
              </a:spcAft>
              <a:buNone/>
            </a:pPr>
            <a:r>
              <a:rPr lang="en-US"/>
              <a:t>Assuming that, on average, half the key space has to be searched, a single machine</a:t>
            </a:r>
            <a:endParaRPr/>
          </a:p>
          <a:p>
            <a:pPr marL="0" lvl="0" indent="0" algn="l" rtl="0">
              <a:spcBef>
                <a:spcPts val="360"/>
              </a:spcBef>
              <a:spcAft>
                <a:spcPts val="0"/>
              </a:spcAft>
              <a:buNone/>
            </a:pPr>
            <a:r>
              <a:rPr lang="en-US"/>
              <a:t>performing one DES encryption per microsecond would take more than a thousand</a:t>
            </a:r>
            <a:endParaRPr/>
          </a:p>
          <a:p>
            <a:pPr marL="0" lvl="0" indent="0" algn="l" rtl="0">
              <a:spcBef>
                <a:spcPts val="360"/>
              </a:spcBef>
              <a:spcAft>
                <a:spcPts val="0"/>
              </a:spcAft>
              <a:buNone/>
            </a:pPr>
            <a:r>
              <a:rPr lang="en-US"/>
              <a:t>years to break the cipher.</a:t>
            </a:r>
            <a:endParaRPr/>
          </a:p>
          <a:p>
            <a:pPr marL="0" lvl="0" indent="0" algn="l" rtl="0">
              <a:spcBef>
                <a:spcPts val="360"/>
              </a:spcBef>
              <a:spcAft>
                <a:spcPts val="0"/>
              </a:spcAft>
              <a:buNone/>
            </a:pPr>
            <a:endParaRPr/>
          </a:p>
          <a:p>
            <a:pPr marL="0" lvl="0" indent="0" algn="l" rtl="0">
              <a:spcBef>
                <a:spcPts val="360"/>
              </a:spcBef>
              <a:spcAft>
                <a:spcPts val="0"/>
              </a:spcAft>
              <a:buNone/>
            </a:pPr>
            <a:r>
              <a:rPr lang="en-US"/>
              <a:t>However, the assumption of one encryption per microsecond is overly conservative.</a:t>
            </a:r>
            <a:endParaRPr/>
          </a:p>
          <a:p>
            <a:pPr marL="0" lvl="0" indent="0" algn="l" rtl="0">
              <a:spcBef>
                <a:spcPts val="360"/>
              </a:spcBef>
              <a:spcAft>
                <a:spcPts val="0"/>
              </a:spcAft>
              <a:buNone/>
            </a:pPr>
            <a:r>
              <a:rPr lang="en-US"/>
              <a:t>As far back as 1977, Diffie and Hellman postulated that the technology</a:t>
            </a:r>
            <a:endParaRPr/>
          </a:p>
          <a:p>
            <a:pPr marL="0" lvl="0" indent="0" algn="l" rtl="0">
              <a:spcBef>
                <a:spcPts val="360"/>
              </a:spcBef>
              <a:spcAft>
                <a:spcPts val="0"/>
              </a:spcAft>
              <a:buNone/>
            </a:pPr>
            <a:r>
              <a:rPr lang="en-US"/>
              <a:t>existed to build a parallel machine with 1 million encryption devices, each of which</a:t>
            </a:r>
            <a:endParaRPr/>
          </a:p>
          <a:p>
            <a:pPr marL="0" lvl="0" indent="0" algn="l" rtl="0">
              <a:spcBef>
                <a:spcPts val="360"/>
              </a:spcBef>
              <a:spcAft>
                <a:spcPts val="0"/>
              </a:spcAft>
              <a:buNone/>
            </a:pPr>
            <a:r>
              <a:rPr lang="en-US"/>
              <a:t>could perform one encryption per microsecond [DIFF77]. This would bring the</a:t>
            </a:r>
            <a:endParaRPr/>
          </a:p>
          <a:p>
            <a:pPr marL="0" lvl="0" indent="0" algn="l" rtl="0">
              <a:spcBef>
                <a:spcPts val="360"/>
              </a:spcBef>
              <a:spcAft>
                <a:spcPts val="0"/>
              </a:spcAft>
              <a:buNone/>
            </a:pPr>
            <a:r>
              <a:rPr lang="en-US"/>
              <a:t>average search time down to about 10 hours. The authors estimated that the cost</a:t>
            </a:r>
            <a:endParaRPr/>
          </a:p>
          <a:p>
            <a:pPr marL="0" lvl="0" indent="0" algn="l" rtl="0">
              <a:spcBef>
                <a:spcPts val="360"/>
              </a:spcBef>
              <a:spcAft>
                <a:spcPts val="0"/>
              </a:spcAft>
              <a:buNone/>
            </a:pPr>
            <a:r>
              <a:rPr lang="en-US"/>
              <a:t>would be about $20 million in 1977 dollars.</a:t>
            </a:r>
            <a:endParaRPr/>
          </a:p>
          <a:p>
            <a:pPr marL="0" lvl="0" indent="0" algn="l" rtl="0">
              <a:spcBef>
                <a:spcPts val="360"/>
              </a:spcBef>
              <a:spcAft>
                <a:spcPts val="0"/>
              </a:spcAft>
              <a:buNone/>
            </a:pPr>
            <a:endParaRPr/>
          </a:p>
          <a:p>
            <a:pPr marL="0" lvl="0" indent="0" algn="l" rtl="0">
              <a:spcBef>
                <a:spcPts val="360"/>
              </a:spcBef>
              <a:spcAft>
                <a:spcPts val="0"/>
              </a:spcAft>
              <a:buNone/>
            </a:pPr>
            <a:r>
              <a:rPr lang="en-US"/>
              <a:t>With current technology, it is not even necessary to use special, purpose-built</a:t>
            </a:r>
            <a:endParaRPr/>
          </a:p>
          <a:p>
            <a:pPr marL="0" lvl="0" indent="0" algn="l" rtl="0">
              <a:spcBef>
                <a:spcPts val="360"/>
              </a:spcBef>
              <a:spcAft>
                <a:spcPts val="0"/>
              </a:spcAft>
              <a:buNone/>
            </a:pPr>
            <a:r>
              <a:rPr lang="en-US"/>
              <a:t>hardware. Rather, the speed of commercial, off-the-shelf processors threaten the</a:t>
            </a:r>
            <a:endParaRPr/>
          </a:p>
          <a:p>
            <a:pPr marL="0" lvl="0" indent="0" algn="l" rtl="0">
              <a:spcBef>
                <a:spcPts val="360"/>
              </a:spcBef>
              <a:spcAft>
                <a:spcPts val="0"/>
              </a:spcAft>
              <a:buNone/>
            </a:pPr>
            <a:r>
              <a:rPr lang="en-US"/>
              <a:t>security of DES. A recent paper from Seagate Technology [SEAG08] suggests that</a:t>
            </a:r>
            <a:endParaRPr/>
          </a:p>
          <a:p>
            <a:pPr marL="0" lvl="0" indent="0" algn="l" rtl="0">
              <a:spcBef>
                <a:spcPts val="360"/>
              </a:spcBef>
              <a:spcAft>
                <a:spcPts val="0"/>
              </a:spcAft>
              <a:buNone/>
            </a:pPr>
            <a:r>
              <a:rPr lang="en-US"/>
              <a:t>a rate of 1 billion (10</a:t>
            </a:r>
            <a:r>
              <a:rPr lang="en-US" baseline="30000"/>
              <a:t>9</a:t>
            </a:r>
            <a:r>
              <a:rPr lang="en-US"/>
              <a:t> ) key combinations per second is reasonable for today’s multicore</a:t>
            </a:r>
            <a:endParaRPr/>
          </a:p>
          <a:p>
            <a:pPr marL="0" lvl="0" indent="0" algn="l" rtl="0">
              <a:spcBef>
                <a:spcPts val="360"/>
              </a:spcBef>
              <a:spcAft>
                <a:spcPts val="0"/>
              </a:spcAft>
              <a:buNone/>
            </a:pPr>
            <a:r>
              <a:rPr lang="en-US"/>
              <a:t>computers. Recent offerings confirm this. Both Intel and AMD now offer</a:t>
            </a:r>
            <a:endParaRPr/>
          </a:p>
          <a:p>
            <a:pPr marL="0" lvl="0" indent="0" algn="l" rtl="0">
              <a:spcBef>
                <a:spcPts val="360"/>
              </a:spcBef>
              <a:spcAft>
                <a:spcPts val="0"/>
              </a:spcAft>
              <a:buNone/>
            </a:pPr>
            <a:r>
              <a:rPr lang="en-US"/>
              <a:t>hardware-based instructions to accelerate the use of AES. Tests run on a contemporary</a:t>
            </a:r>
            <a:endParaRPr/>
          </a:p>
          <a:p>
            <a:pPr marL="0" lvl="0" indent="0" algn="l" rtl="0">
              <a:spcBef>
                <a:spcPts val="360"/>
              </a:spcBef>
              <a:spcAft>
                <a:spcPts val="0"/>
              </a:spcAft>
              <a:buNone/>
            </a:pPr>
            <a:r>
              <a:rPr lang="en-US"/>
              <a:t>multicore Intel machine resulted in an encryption rate of about half a billion</a:t>
            </a:r>
            <a:endParaRPr/>
          </a:p>
          <a:p>
            <a:pPr marL="0" lvl="0" indent="0" algn="l" rtl="0">
              <a:spcBef>
                <a:spcPts val="360"/>
              </a:spcBef>
              <a:spcAft>
                <a:spcPts val="0"/>
              </a:spcAft>
              <a:buNone/>
            </a:pPr>
            <a:r>
              <a:rPr lang="en-US"/>
              <a:t>encryptions per second [BASU12]. Another recent analysis suggests that with</a:t>
            </a:r>
            <a:endParaRPr/>
          </a:p>
          <a:p>
            <a:pPr marL="0" lvl="0" indent="0" algn="l" rtl="0">
              <a:spcBef>
                <a:spcPts val="360"/>
              </a:spcBef>
              <a:spcAft>
                <a:spcPts val="0"/>
              </a:spcAft>
              <a:buNone/>
            </a:pPr>
            <a:r>
              <a:rPr lang="en-US"/>
              <a:t>contemporary supercomputer technology, a rate of 10</a:t>
            </a:r>
            <a:r>
              <a:rPr lang="en-US" baseline="30000"/>
              <a:t>13</a:t>
            </a:r>
            <a:r>
              <a:rPr lang="en-US"/>
              <a:t>  encryptions per second is</a:t>
            </a:r>
            <a:endParaRPr/>
          </a:p>
          <a:p>
            <a:pPr marL="0" lvl="0" indent="0" algn="l" rtl="0">
              <a:spcBef>
                <a:spcPts val="360"/>
              </a:spcBef>
              <a:spcAft>
                <a:spcPts val="0"/>
              </a:spcAft>
              <a:buNone/>
            </a:pPr>
            <a:r>
              <a:rPr lang="en-US"/>
              <a:t>reasonable [AROR12].</a:t>
            </a:r>
            <a:endParaRPr/>
          </a:p>
          <a:p>
            <a:pPr marL="0" lvl="0" indent="0" algn="l" rtl="0">
              <a:spcBef>
                <a:spcPts val="360"/>
              </a:spcBef>
              <a:spcAft>
                <a:spcPts val="0"/>
              </a:spcAft>
              <a:buNone/>
            </a:pPr>
            <a:endParaRPr/>
          </a:p>
          <a:p>
            <a:pPr marL="0" lvl="0" indent="0" algn="l" rtl="0">
              <a:spcBef>
                <a:spcPts val="360"/>
              </a:spcBef>
              <a:spcAft>
                <a:spcPts val="0"/>
              </a:spcAft>
              <a:buNone/>
            </a:pPr>
            <a:r>
              <a:rPr lang="en-US"/>
              <a:t>With these results in mind, Table 3.5 shows how much time is required for</a:t>
            </a:r>
            <a:endParaRPr/>
          </a:p>
          <a:p>
            <a:pPr marL="0" lvl="0" indent="0" algn="l" rtl="0">
              <a:spcBef>
                <a:spcPts val="360"/>
              </a:spcBef>
              <a:spcAft>
                <a:spcPts val="0"/>
              </a:spcAft>
              <a:buNone/>
            </a:pPr>
            <a:r>
              <a:rPr lang="en-US"/>
              <a:t>a brute-force attack for various key sizes. As can be seen, a single PC can break</a:t>
            </a:r>
            <a:endParaRPr/>
          </a:p>
          <a:p>
            <a:pPr marL="0" lvl="0" indent="0" algn="l" rtl="0">
              <a:spcBef>
                <a:spcPts val="360"/>
              </a:spcBef>
              <a:spcAft>
                <a:spcPts val="0"/>
              </a:spcAft>
              <a:buNone/>
            </a:pPr>
            <a:r>
              <a:rPr lang="en-US"/>
              <a:t>DES in about a year; if multiple PCs work in parallel, the time is drastically shortened.</a:t>
            </a:r>
            <a:endParaRPr/>
          </a:p>
          <a:p>
            <a:pPr marL="0" lvl="0" indent="0" algn="l" rtl="0">
              <a:spcBef>
                <a:spcPts val="360"/>
              </a:spcBef>
              <a:spcAft>
                <a:spcPts val="0"/>
              </a:spcAft>
              <a:buNone/>
            </a:pPr>
            <a:r>
              <a:rPr lang="en-US"/>
              <a:t>And today’s supercomputers should be able to find a key in about an hour.</a:t>
            </a:r>
            <a:endParaRPr/>
          </a:p>
          <a:p>
            <a:pPr marL="0" lvl="0" indent="0" algn="l" rtl="0">
              <a:spcBef>
                <a:spcPts val="360"/>
              </a:spcBef>
              <a:spcAft>
                <a:spcPts val="0"/>
              </a:spcAft>
              <a:buNone/>
            </a:pPr>
            <a:r>
              <a:rPr lang="en-US"/>
              <a:t>Key sizes of 128 bits or greater are effectively unbreakable using simply a brute-force</a:t>
            </a:r>
            <a:endParaRPr/>
          </a:p>
          <a:p>
            <a:pPr marL="0" lvl="0" indent="0" algn="l" rtl="0">
              <a:spcBef>
                <a:spcPts val="360"/>
              </a:spcBef>
              <a:spcAft>
                <a:spcPts val="0"/>
              </a:spcAft>
              <a:buNone/>
            </a:pPr>
            <a:r>
              <a:rPr lang="en-US"/>
              <a:t>approach. Even if we managed to speed up the attacking system by a factor</a:t>
            </a:r>
            <a:endParaRPr/>
          </a:p>
          <a:p>
            <a:pPr marL="0" lvl="0" indent="0" algn="l" rtl="0">
              <a:spcBef>
                <a:spcPts val="360"/>
              </a:spcBef>
              <a:spcAft>
                <a:spcPts val="0"/>
              </a:spcAft>
              <a:buNone/>
            </a:pPr>
            <a:r>
              <a:rPr lang="en-US"/>
              <a:t>of 1 trillion (10</a:t>
            </a:r>
            <a:r>
              <a:rPr lang="en-US" baseline="30000"/>
              <a:t>12</a:t>
            </a:r>
            <a:r>
              <a:rPr lang="en-US"/>
              <a:t> ), it would still take over 100,000 years to break a code using a</a:t>
            </a:r>
            <a:endParaRPr/>
          </a:p>
          <a:p>
            <a:pPr marL="0" lvl="0" indent="0" algn="l" rtl="0">
              <a:spcBef>
                <a:spcPts val="360"/>
              </a:spcBef>
              <a:spcAft>
                <a:spcPts val="0"/>
              </a:spcAft>
              <a:buNone/>
            </a:pPr>
            <a:r>
              <a:rPr lang="en-US"/>
              <a:t>128-bit key.</a:t>
            </a:r>
            <a:endParaRPr/>
          </a:p>
          <a:p>
            <a:pPr marL="0" lvl="0" indent="0" algn="l" rtl="0">
              <a:spcBef>
                <a:spcPts val="360"/>
              </a:spcBef>
              <a:spcAft>
                <a:spcPts val="0"/>
              </a:spcAft>
              <a:buNone/>
            </a:pPr>
            <a:endParaRPr/>
          </a:p>
          <a:p>
            <a:pPr marL="0" lvl="0" indent="0" algn="l" rtl="0">
              <a:spcBef>
                <a:spcPts val="360"/>
              </a:spcBef>
              <a:spcAft>
                <a:spcPts val="0"/>
              </a:spcAft>
              <a:buNone/>
            </a:pPr>
            <a:r>
              <a:rPr lang="en-US"/>
              <a:t>Fortunately, there are a number of alternatives to DES, the most important of</a:t>
            </a:r>
            <a:endParaRPr/>
          </a:p>
          <a:p>
            <a:pPr marL="0" lvl="0" indent="0" algn="l" rtl="0">
              <a:spcBef>
                <a:spcPts val="360"/>
              </a:spcBef>
              <a:spcAft>
                <a:spcPts val="0"/>
              </a:spcAft>
              <a:buNone/>
            </a:pPr>
            <a:r>
              <a:rPr lang="en-US"/>
              <a:t>which are AES and triple DES, discussed in Chapters 5 and 6, respectively.</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56: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27</a:t>
            </a:fld>
            <a:endParaRPr>
              <a:latin typeface="Arial"/>
              <a:ea typeface="Arial"/>
              <a:cs typeface="Arial"/>
              <a:sym typeface="Arial"/>
            </a:endParaRPr>
          </a:p>
        </p:txBody>
      </p:sp>
      <p:sp>
        <p:nvSpPr>
          <p:cNvPr id="670" name="Google Shape;670;p56: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56: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 We discuss timing attacks in more detail in Part Two, as they relate to public-key</a:t>
            </a:r>
            <a:endParaRPr/>
          </a:p>
          <a:p>
            <a:pPr marL="0" lvl="0" indent="0" algn="l" rtl="0">
              <a:spcBef>
                <a:spcPts val="360"/>
              </a:spcBef>
              <a:spcAft>
                <a:spcPts val="0"/>
              </a:spcAft>
              <a:buNone/>
            </a:pPr>
            <a:r>
              <a:rPr lang="en-US"/>
              <a:t>algorithms. However, the issue may also be relevant for symmetric ciphers. In essence,</a:t>
            </a:r>
            <a:endParaRPr/>
          </a:p>
          <a:p>
            <a:pPr marL="0" lvl="0" indent="0" algn="l" rtl="0">
              <a:spcBef>
                <a:spcPts val="360"/>
              </a:spcBef>
              <a:spcAft>
                <a:spcPts val="0"/>
              </a:spcAft>
              <a:buNone/>
            </a:pPr>
            <a:r>
              <a:rPr lang="en-US"/>
              <a:t>a timing attack is one in which information about the key or the plaintext is obtained</a:t>
            </a:r>
            <a:endParaRPr/>
          </a:p>
          <a:p>
            <a:pPr marL="0" lvl="0" indent="0" algn="l" rtl="0">
              <a:spcBef>
                <a:spcPts val="360"/>
              </a:spcBef>
              <a:spcAft>
                <a:spcPts val="0"/>
              </a:spcAft>
              <a:buNone/>
            </a:pPr>
            <a:r>
              <a:rPr lang="en-US"/>
              <a:t>by observing how long it takes a given implementation to perform decryptions on</a:t>
            </a:r>
            <a:endParaRPr/>
          </a:p>
          <a:p>
            <a:pPr marL="0" lvl="0" indent="0" algn="l" rtl="0">
              <a:spcBef>
                <a:spcPts val="360"/>
              </a:spcBef>
              <a:spcAft>
                <a:spcPts val="0"/>
              </a:spcAft>
              <a:buNone/>
            </a:pPr>
            <a:r>
              <a:rPr lang="en-US"/>
              <a:t>various ciphertexts. A timing attack exploits the fact that an encryption or decryption</a:t>
            </a:r>
            <a:endParaRPr/>
          </a:p>
          <a:p>
            <a:pPr marL="0" lvl="0" indent="0" algn="l" rtl="0">
              <a:spcBef>
                <a:spcPts val="360"/>
              </a:spcBef>
              <a:spcAft>
                <a:spcPts val="0"/>
              </a:spcAft>
              <a:buNone/>
            </a:pPr>
            <a:r>
              <a:rPr lang="en-US"/>
              <a:t>algorithm often takes slightly different amounts of time on different inputs. [HEVI99]</a:t>
            </a:r>
            <a:endParaRPr/>
          </a:p>
          <a:p>
            <a:pPr marL="0" lvl="0" indent="0" algn="l" rtl="0">
              <a:spcBef>
                <a:spcPts val="360"/>
              </a:spcBef>
              <a:spcAft>
                <a:spcPts val="0"/>
              </a:spcAft>
              <a:buNone/>
            </a:pPr>
            <a:r>
              <a:rPr lang="en-US"/>
              <a:t>reports on an approach that yields the Hamming weight (number of bits equal to one)</a:t>
            </a:r>
            <a:endParaRPr/>
          </a:p>
          <a:p>
            <a:pPr marL="0" lvl="0" indent="0" algn="l" rtl="0">
              <a:spcBef>
                <a:spcPts val="360"/>
              </a:spcBef>
              <a:spcAft>
                <a:spcPts val="0"/>
              </a:spcAft>
              <a:buNone/>
            </a:pPr>
            <a:r>
              <a:rPr lang="en-US"/>
              <a:t>of the secret key. This is a long way from knowing the actual key, but it is an intriguing</a:t>
            </a:r>
            <a:endParaRPr/>
          </a:p>
          <a:p>
            <a:pPr marL="0" lvl="0" indent="0" algn="l" rtl="0">
              <a:spcBef>
                <a:spcPts val="360"/>
              </a:spcBef>
              <a:spcAft>
                <a:spcPts val="0"/>
              </a:spcAft>
              <a:buNone/>
            </a:pPr>
            <a:r>
              <a:rPr lang="en-US"/>
              <a:t>first step. The authors conclude that DES appears to be fairly resistant to a successful</a:t>
            </a:r>
            <a:endParaRPr/>
          </a:p>
          <a:p>
            <a:pPr marL="0" lvl="0" indent="0" algn="l" rtl="0">
              <a:spcBef>
                <a:spcPts val="360"/>
              </a:spcBef>
              <a:spcAft>
                <a:spcPts val="0"/>
              </a:spcAft>
              <a:buNone/>
            </a:pPr>
            <a:r>
              <a:rPr lang="en-US"/>
              <a:t>timing attack but suggest some avenues to explore. Although this is an interesting line</a:t>
            </a:r>
            <a:endParaRPr/>
          </a:p>
          <a:p>
            <a:pPr marL="0" lvl="0" indent="0" algn="l" rtl="0">
              <a:spcBef>
                <a:spcPts val="360"/>
              </a:spcBef>
              <a:spcAft>
                <a:spcPts val="0"/>
              </a:spcAft>
              <a:buNone/>
            </a:pPr>
            <a:r>
              <a:rPr lang="en-US"/>
              <a:t>of attack, it so far appears unlikely that this technique will ever be successful against</a:t>
            </a:r>
            <a:endParaRPr/>
          </a:p>
          <a:p>
            <a:pPr marL="0" lvl="0" indent="0" algn="l" rtl="0">
              <a:spcBef>
                <a:spcPts val="360"/>
              </a:spcBef>
              <a:spcAft>
                <a:spcPts val="0"/>
              </a:spcAft>
              <a:buNone/>
            </a:pPr>
            <a:r>
              <a:rPr lang="en-US"/>
              <a:t>DES or more powerful symmetric ciphers such as triple DES and AES.</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57: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28</a:t>
            </a:fld>
            <a:endParaRPr>
              <a:latin typeface="Arial"/>
              <a:ea typeface="Arial"/>
              <a:cs typeface="Arial"/>
              <a:sym typeface="Arial"/>
            </a:endParaRPr>
          </a:p>
        </p:txBody>
      </p:sp>
      <p:sp>
        <p:nvSpPr>
          <p:cNvPr id="678" name="Google Shape;678;p57: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9" name="Google Shape;679;p57: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The cryptographic strength of a Feistel cipher derives from three aspects of the</a:t>
            </a:r>
            <a:endParaRPr/>
          </a:p>
          <a:p>
            <a:pPr marL="0" lvl="0" indent="0" algn="l" rtl="0">
              <a:spcBef>
                <a:spcPts val="360"/>
              </a:spcBef>
              <a:spcAft>
                <a:spcPts val="0"/>
              </a:spcAft>
              <a:buNone/>
            </a:pPr>
            <a:r>
              <a:rPr lang="en-US"/>
              <a:t>design: the number of rounds, the function F, and the key schedule algorithm. Let</a:t>
            </a:r>
            <a:endParaRPr/>
          </a:p>
          <a:p>
            <a:pPr marL="0" lvl="0" indent="0" algn="l" rtl="0">
              <a:spcBef>
                <a:spcPts val="360"/>
              </a:spcBef>
              <a:spcAft>
                <a:spcPts val="0"/>
              </a:spcAft>
              <a:buNone/>
            </a:pPr>
            <a:r>
              <a:rPr lang="en-US"/>
              <a:t>us look first at the choice of the number of rounds.</a:t>
            </a:r>
            <a:endParaRPr/>
          </a:p>
          <a:p>
            <a:pPr marL="0" lvl="0" indent="0" algn="l" rtl="0">
              <a:spcBef>
                <a:spcPts val="360"/>
              </a:spcBef>
              <a:spcAft>
                <a:spcPts val="0"/>
              </a:spcAft>
              <a:buNone/>
            </a:pPr>
            <a:endParaRPr/>
          </a:p>
          <a:p>
            <a:pPr marL="0" lvl="0" indent="0" algn="l" rtl="0">
              <a:spcBef>
                <a:spcPts val="360"/>
              </a:spcBef>
              <a:spcAft>
                <a:spcPts val="0"/>
              </a:spcAft>
              <a:buNone/>
            </a:pPr>
            <a:r>
              <a:rPr lang="en-US"/>
              <a:t>The greater the number of rounds, the more difficult it is to perform cryptanalysis,</a:t>
            </a:r>
            <a:endParaRPr/>
          </a:p>
          <a:p>
            <a:pPr marL="0" lvl="0" indent="0" algn="l" rtl="0">
              <a:spcBef>
                <a:spcPts val="360"/>
              </a:spcBef>
              <a:spcAft>
                <a:spcPts val="0"/>
              </a:spcAft>
              <a:buNone/>
            </a:pPr>
            <a:r>
              <a:rPr lang="en-US"/>
              <a:t>even for a relatively weak F. In general, the criterion should be that the</a:t>
            </a:r>
            <a:endParaRPr/>
          </a:p>
          <a:p>
            <a:pPr marL="0" lvl="0" indent="0" algn="l" rtl="0">
              <a:spcBef>
                <a:spcPts val="360"/>
              </a:spcBef>
              <a:spcAft>
                <a:spcPts val="0"/>
              </a:spcAft>
              <a:buNone/>
            </a:pPr>
            <a:r>
              <a:rPr lang="en-US"/>
              <a:t>number of rounds is chosen so that known cryptanalytic efforts require greater</a:t>
            </a:r>
            <a:endParaRPr/>
          </a:p>
          <a:p>
            <a:pPr marL="0" lvl="0" indent="0" algn="l" rtl="0">
              <a:spcBef>
                <a:spcPts val="360"/>
              </a:spcBef>
              <a:spcAft>
                <a:spcPts val="0"/>
              </a:spcAft>
              <a:buNone/>
            </a:pPr>
            <a:r>
              <a:rPr lang="en-US"/>
              <a:t>effort than a simple brute-force key search attack. This criterion was certainly used</a:t>
            </a:r>
            <a:endParaRPr/>
          </a:p>
          <a:p>
            <a:pPr marL="0" lvl="0" indent="0" algn="l" rtl="0">
              <a:spcBef>
                <a:spcPts val="360"/>
              </a:spcBef>
              <a:spcAft>
                <a:spcPts val="0"/>
              </a:spcAft>
              <a:buNone/>
            </a:pPr>
            <a:r>
              <a:rPr lang="en-US"/>
              <a:t>in the design of DES. Schneier [SCHN96] observes that for 16-round DES, a differential</a:t>
            </a:r>
            <a:endParaRPr/>
          </a:p>
          <a:p>
            <a:pPr marL="0" lvl="0" indent="0" algn="l" rtl="0">
              <a:spcBef>
                <a:spcPts val="360"/>
              </a:spcBef>
              <a:spcAft>
                <a:spcPts val="0"/>
              </a:spcAft>
              <a:buNone/>
            </a:pPr>
            <a:r>
              <a:rPr lang="en-US"/>
              <a:t>cryptanalysis attack is slightly less efficient than brute force: The differential</a:t>
            </a:r>
            <a:endParaRPr/>
          </a:p>
          <a:p>
            <a:pPr marL="0" lvl="0" indent="0" algn="l" rtl="0">
              <a:spcBef>
                <a:spcPts val="360"/>
              </a:spcBef>
              <a:spcAft>
                <a:spcPts val="0"/>
              </a:spcAft>
              <a:buNone/>
            </a:pPr>
            <a:r>
              <a:rPr lang="en-US"/>
              <a:t>cryptanalysis attack requires 2</a:t>
            </a:r>
            <a:r>
              <a:rPr lang="en-US" baseline="30000"/>
              <a:t>55.1</a:t>
            </a:r>
            <a:r>
              <a:rPr lang="en-US"/>
              <a:t>  operations,  whereas brute force requires 2</a:t>
            </a:r>
            <a:r>
              <a:rPr lang="en-US" baseline="30000"/>
              <a:t>55</a:t>
            </a:r>
            <a:r>
              <a:rPr lang="en-US"/>
              <a:t> . If</a:t>
            </a:r>
            <a:endParaRPr/>
          </a:p>
          <a:p>
            <a:pPr marL="0" lvl="0" indent="0" algn="l" rtl="0">
              <a:spcBef>
                <a:spcPts val="360"/>
              </a:spcBef>
              <a:spcAft>
                <a:spcPts val="0"/>
              </a:spcAft>
              <a:buNone/>
            </a:pPr>
            <a:r>
              <a:rPr lang="en-US"/>
              <a:t>DES had 15 or fewer rounds, differential cryptanalysis would require less effort</a:t>
            </a:r>
            <a:endParaRPr/>
          </a:p>
          <a:p>
            <a:pPr marL="0" lvl="0" indent="0" algn="l" rtl="0">
              <a:spcBef>
                <a:spcPts val="360"/>
              </a:spcBef>
              <a:spcAft>
                <a:spcPts val="0"/>
              </a:spcAft>
              <a:buNone/>
            </a:pPr>
            <a:r>
              <a:rPr lang="en-US"/>
              <a:t>than a brute-force key search.</a:t>
            </a:r>
            <a:endParaRPr/>
          </a:p>
          <a:p>
            <a:pPr marL="0" lvl="0" indent="0" algn="l" rtl="0">
              <a:spcBef>
                <a:spcPts val="360"/>
              </a:spcBef>
              <a:spcAft>
                <a:spcPts val="0"/>
              </a:spcAft>
              <a:buNone/>
            </a:pPr>
            <a:endParaRPr/>
          </a:p>
          <a:p>
            <a:pPr marL="0" lvl="0" indent="0" algn="l" rtl="0">
              <a:spcBef>
                <a:spcPts val="360"/>
              </a:spcBef>
              <a:spcAft>
                <a:spcPts val="0"/>
              </a:spcAft>
              <a:buNone/>
            </a:pPr>
            <a:r>
              <a:rPr lang="en-US"/>
              <a:t>This criterion is attractive, because it makes it easy to judge the strength of</a:t>
            </a:r>
            <a:endParaRPr/>
          </a:p>
          <a:p>
            <a:pPr marL="0" lvl="0" indent="0" algn="l" rtl="0">
              <a:spcBef>
                <a:spcPts val="360"/>
              </a:spcBef>
              <a:spcAft>
                <a:spcPts val="0"/>
              </a:spcAft>
              <a:buNone/>
            </a:pPr>
            <a:r>
              <a:rPr lang="en-US"/>
              <a:t>an algorithm and to compare different algorithms. In the absence of a cryptanalytic</a:t>
            </a:r>
            <a:endParaRPr/>
          </a:p>
          <a:p>
            <a:pPr marL="0" lvl="0" indent="0" algn="l" rtl="0">
              <a:spcBef>
                <a:spcPts val="360"/>
              </a:spcBef>
              <a:spcAft>
                <a:spcPts val="0"/>
              </a:spcAft>
              <a:buNone/>
            </a:pPr>
            <a:r>
              <a:rPr lang="en-US"/>
              <a:t>breakthrough, the strength of any algorithm that satisfies the criterion can be</a:t>
            </a:r>
            <a:endParaRPr/>
          </a:p>
          <a:p>
            <a:pPr marL="0" lvl="0" indent="0" algn="l" rtl="0">
              <a:spcBef>
                <a:spcPts val="360"/>
              </a:spcBef>
              <a:spcAft>
                <a:spcPts val="0"/>
              </a:spcAft>
              <a:buNone/>
            </a:pPr>
            <a:r>
              <a:rPr lang="en-US"/>
              <a:t>judged solely on key length.</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59: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29</a:t>
            </a:fld>
            <a:endParaRPr>
              <a:latin typeface="Arial"/>
              <a:ea typeface="Arial"/>
              <a:cs typeface="Arial"/>
              <a:sym typeface="Arial"/>
            </a:endParaRPr>
          </a:p>
        </p:txBody>
      </p:sp>
      <p:sp>
        <p:nvSpPr>
          <p:cNvPr id="698" name="Google Shape;698;p59: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9" name="Google Shape;699;p59: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dirty="0"/>
              <a:t>The heart of a </a:t>
            </a:r>
            <a:r>
              <a:rPr lang="en-US" dirty="0" err="1"/>
              <a:t>Feistel</a:t>
            </a:r>
            <a:r>
              <a:rPr lang="en-US" dirty="0"/>
              <a:t> block cipher is the function F, which provides the element</a:t>
            </a:r>
            <a:endParaRPr dirty="0"/>
          </a:p>
          <a:p>
            <a:pPr marL="0" lvl="0" indent="0" algn="l" rtl="0">
              <a:spcBef>
                <a:spcPts val="360"/>
              </a:spcBef>
              <a:spcAft>
                <a:spcPts val="0"/>
              </a:spcAft>
              <a:buNone/>
            </a:pPr>
            <a:r>
              <a:rPr lang="en-US" dirty="0"/>
              <a:t>of confusion in a </a:t>
            </a:r>
            <a:r>
              <a:rPr lang="en-US" dirty="0" err="1"/>
              <a:t>Feistel</a:t>
            </a:r>
            <a:r>
              <a:rPr lang="en-US" dirty="0"/>
              <a:t> cipher. Thus, it must be difficult to “unscramble” the</a:t>
            </a:r>
            <a:endParaRPr dirty="0"/>
          </a:p>
          <a:p>
            <a:pPr marL="0" lvl="0" indent="0" algn="l" rtl="0">
              <a:spcBef>
                <a:spcPts val="360"/>
              </a:spcBef>
              <a:spcAft>
                <a:spcPts val="0"/>
              </a:spcAft>
              <a:buNone/>
            </a:pPr>
            <a:r>
              <a:rPr lang="en-US" dirty="0"/>
              <a:t>substitution performed by F. One obvious criterion is that F be nonlinear, as we</a:t>
            </a:r>
            <a:endParaRPr dirty="0"/>
          </a:p>
          <a:p>
            <a:pPr marL="0" lvl="0" indent="0" algn="l" rtl="0">
              <a:spcBef>
                <a:spcPts val="360"/>
              </a:spcBef>
              <a:spcAft>
                <a:spcPts val="0"/>
              </a:spcAft>
              <a:buNone/>
            </a:pPr>
            <a:r>
              <a:rPr lang="en-US" dirty="0"/>
              <a:t>discussed previously. The more nonlinear F, the more difficult any type of cryptanalysis</a:t>
            </a:r>
            <a:endParaRPr dirty="0"/>
          </a:p>
          <a:p>
            <a:pPr marL="0" lvl="0" indent="0" algn="l" rtl="0">
              <a:spcBef>
                <a:spcPts val="360"/>
              </a:spcBef>
              <a:spcAft>
                <a:spcPts val="0"/>
              </a:spcAft>
              <a:buNone/>
            </a:pPr>
            <a:r>
              <a:rPr lang="en-US" dirty="0"/>
              <a:t>will be. There are several measures of nonlinearity, which are beyond</a:t>
            </a:r>
            <a:endParaRPr dirty="0"/>
          </a:p>
          <a:p>
            <a:pPr marL="0" lvl="0" indent="0" algn="l" rtl="0">
              <a:spcBef>
                <a:spcPts val="360"/>
              </a:spcBef>
              <a:spcAft>
                <a:spcPts val="0"/>
              </a:spcAft>
              <a:buNone/>
            </a:pPr>
            <a:r>
              <a:rPr lang="en-US" dirty="0"/>
              <a:t>the scope of this book. In rough terms, the more difficult it is to approximate F</a:t>
            </a:r>
            <a:endParaRPr dirty="0"/>
          </a:p>
          <a:p>
            <a:pPr marL="0" lvl="0" indent="0" algn="l" rtl="0">
              <a:spcBef>
                <a:spcPts val="360"/>
              </a:spcBef>
              <a:spcAft>
                <a:spcPts val="0"/>
              </a:spcAft>
              <a:buNone/>
            </a:pPr>
            <a:r>
              <a:rPr lang="en-US" dirty="0"/>
              <a:t>by a set of linear equations, the more nonlinear F is.</a:t>
            </a:r>
            <a:endParaRPr dirty="0"/>
          </a:p>
          <a:p>
            <a:pPr marL="0" lvl="0" indent="0" algn="l" rtl="0">
              <a:spcBef>
                <a:spcPts val="360"/>
              </a:spcBef>
              <a:spcAft>
                <a:spcPts val="0"/>
              </a:spcAft>
              <a:buNone/>
            </a:pPr>
            <a:endParaRPr dirty="0"/>
          </a:p>
          <a:p>
            <a:pPr marL="0" lvl="0" indent="0" algn="l" rtl="0">
              <a:spcBef>
                <a:spcPts val="360"/>
              </a:spcBef>
              <a:spcAft>
                <a:spcPts val="0"/>
              </a:spcAft>
              <a:buNone/>
            </a:pPr>
            <a:r>
              <a:rPr lang="en-US" dirty="0"/>
              <a:t>Several other criteria should be considered in designing F. We would like the</a:t>
            </a:r>
            <a:endParaRPr dirty="0"/>
          </a:p>
          <a:p>
            <a:pPr marL="0" lvl="0" indent="0" algn="l" rtl="0">
              <a:spcBef>
                <a:spcPts val="360"/>
              </a:spcBef>
              <a:spcAft>
                <a:spcPts val="0"/>
              </a:spcAft>
              <a:buNone/>
            </a:pPr>
            <a:r>
              <a:rPr lang="en-US" dirty="0"/>
              <a:t>algorithm to have good avalanche properties. Recall that, in general, this means that</a:t>
            </a:r>
            <a:endParaRPr dirty="0"/>
          </a:p>
          <a:p>
            <a:pPr marL="0" lvl="0" indent="0" algn="l" rtl="0">
              <a:spcBef>
                <a:spcPts val="360"/>
              </a:spcBef>
              <a:spcAft>
                <a:spcPts val="0"/>
              </a:spcAft>
              <a:buNone/>
            </a:pPr>
            <a:r>
              <a:rPr lang="en-US" dirty="0"/>
              <a:t>a change in one bit of the input should produce a change in many bits of the output.</a:t>
            </a:r>
            <a:endParaRPr dirty="0"/>
          </a:p>
          <a:p>
            <a:pPr marL="0" lvl="0" indent="0" algn="l" rtl="0">
              <a:spcBef>
                <a:spcPts val="360"/>
              </a:spcBef>
              <a:spcAft>
                <a:spcPts val="0"/>
              </a:spcAft>
              <a:buNone/>
            </a:pPr>
            <a:r>
              <a:rPr lang="en-US" dirty="0"/>
              <a:t>A more stringent version of this is the strict avalanche criterion (SAC)  [WEBS86],</a:t>
            </a:r>
            <a:endParaRPr dirty="0"/>
          </a:p>
          <a:p>
            <a:pPr marL="0" lvl="0" indent="0" algn="l" rtl="0">
              <a:spcBef>
                <a:spcPts val="360"/>
              </a:spcBef>
              <a:spcAft>
                <a:spcPts val="0"/>
              </a:spcAft>
              <a:buNone/>
            </a:pPr>
            <a:r>
              <a:rPr lang="en-US" dirty="0"/>
              <a:t>which states that any output bit j  of an S-box (see Appendix S for a discussion of</a:t>
            </a:r>
            <a:endParaRPr dirty="0"/>
          </a:p>
          <a:p>
            <a:pPr marL="0" lvl="0" indent="0" algn="l" rtl="0">
              <a:spcBef>
                <a:spcPts val="360"/>
              </a:spcBef>
              <a:spcAft>
                <a:spcPts val="0"/>
              </a:spcAft>
              <a:buNone/>
            </a:pPr>
            <a:r>
              <a:rPr lang="en-US" dirty="0"/>
              <a:t>S-boxes) should change with probability 1/2 when any single input bit </a:t>
            </a:r>
            <a:r>
              <a:rPr lang="en-US" dirty="0" err="1"/>
              <a:t>i</a:t>
            </a:r>
            <a:r>
              <a:rPr lang="en-US" dirty="0"/>
              <a:t>  is inverted</a:t>
            </a:r>
            <a:endParaRPr dirty="0"/>
          </a:p>
          <a:p>
            <a:pPr marL="0" lvl="0" indent="0" algn="l" rtl="0">
              <a:spcBef>
                <a:spcPts val="360"/>
              </a:spcBef>
              <a:spcAft>
                <a:spcPts val="0"/>
              </a:spcAft>
              <a:buNone/>
            </a:pPr>
            <a:r>
              <a:rPr lang="en-US" dirty="0"/>
              <a:t>for all </a:t>
            </a:r>
            <a:r>
              <a:rPr lang="en-US" dirty="0" err="1"/>
              <a:t>i</a:t>
            </a:r>
            <a:r>
              <a:rPr lang="en-US" dirty="0"/>
              <a:t> , j . Although SAC is expressed in terms of S-boxes, a similar criterion could</a:t>
            </a:r>
            <a:endParaRPr dirty="0"/>
          </a:p>
          <a:p>
            <a:pPr marL="0" lvl="0" indent="0" algn="l" rtl="0">
              <a:spcBef>
                <a:spcPts val="360"/>
              </a:spcBef>
              <a:spcAft>
                <a:spcPts val="0"/>
              </a:spcAft>
              <a:buNone/>
            </a:pPr>
            <a:r>
              <a:rPr lang="en-US" dirty="0"/>
              <a:t>be applied to F as a whole. This is important when considering designs that do not</a:t>
            </a:r>
            <a:endParaRPr dirty="0"/>
          </a:p>
          <a:p>
            <a:pPr marL="0" lvl="0" indent="0" algn="l" rtl="0">
              <a:spcBef>
                <a:spcPts val="360"/>
              </a:spcBef>
              <a:spcAft>
                <a:spcPts val="0"/>
              </a:spcAft>
              <a:buNone/>
            </a:pPr>
            <a:r>
              <a:rPr lang="en-US" dirty="0"/>
              <a:t>include S-boxes.</a:t>
            </a:r>
            <a:endParaRPr dirty="0"/>
          </a:p>
          <a:p>
            <a:pPr marL="0" lvl="0" indent="0" algn="l" rtl="0">
              <a:spcBef>
                <a:spcPts val="360"/>
              </a:spcBef>
              <a:spcAft>
                <a:spcPts val="0"/>
              </a:spcAft>
              <a:buNone/>
            </a:pPr>
            <a:endParaRPr dirty="0"/>
          </a:p>
          <a:p>
            <a:pPr marL="0" lvl="0" indent="0" algn="l" rtl="0">
              <a:spcBef>
                <a:spcPts val="360"/>
              </a:spcBef>
              <a:spcAft>
                <a:spcPts val="0"/>
              </a:spcAft>
              <a:buNone/>
            </a:pPr>
            <a:r>
              <a:rPr lang="en-US" dirty="0"/>
              <a:t>Another criterion proposed in [WEBS86] is the bit independence criterion</a:t>
            </a:r>
            <a:endParaRPr dirty="0"/>
          </a:p>
          <a:p>
            <a:pPr marL="0" lvl="0" indent="0" algn="l" rtl="0">
              <a:spcBef>
                <a:spcPts val="360"/>
              </a:spcBef>
              <a:spcAft>
                <a:spcPts val="0"/>
              </a:spcAft>
              <a:buNone/>
            </a:pPr>
            <a:r>
              <a:rPr lang="en-US" dirty="0"/>
              <a:t>(BIC) , which states that output bits j  and k  should change independently when any</a:t>
            </a:r>
            <a:endParaRPr dirty="0"/>
          </a:p>
          <a:p>
            <a:pPr marL="0" lvl="0" indent="0" algn="l" rtl="0">
              <a:spcBef>
                <a:spcPts val="360"/>
              </a:spcBef>
              <a:spcAft>
                <a:spcPts val="0"/>
              </a:spcAft>
              <a:buNone/>
            </a:pPr>
            <a:r>
              <a:rPr lang="en-US" dirty="0"/>
              <a:t>single input bit </a:t>
            </a:r>
            <a:r>
              <a:rPr lang="en-US" dirty="0" err="1"/>
              <a:t>i</a:t>
            </a:r>
            <a:r>
              <a:rPr lang="en-US" dirty="0"/>
              <a:t>  is inverted for all </a:t>
            </a:r>
            <a:r>
              <a:rPr lang="en-US" dirty="0" err="1"/>
              <a:t>i</a:t>
            </a:r>
            <a:r>
              <a:rPr lang="en-US" dirty="0"/>
              <a:t> , j , and k . The SAC and BIC criteria appear to</a:t>
            </a:r>
            <a:endParaRPr dirty="0"/>
          </a:p>
          <a:p>
            <a:pPr marL="0" lvl="0" indent="0" algn="l" rtl="0">
              <a:spcBef>
                <a:spcPts val="360"/>
              </a:spcBef>
              <a:spcAft>
                <a:spcPts val="0"/>
              </a:spcAft>
              <a:buNone/>
            </a:pPr>
            <a:r>
              <a:rPr lang="en-US" dirty="0"/>
              <a:t>strengthen the effectiveness of the confusion function.</a:t>
            </a:r>
            <a:endParaRPr dirty="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60: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30</a:t>
            </a:fld>
            <a:endParaRPr>
              <a:latin typeface="Arial"/>
              <a:ea typeface="Arial"/>
              <a:cs typeface="Arial"/>
              <a:sym typeface="Arial"/>
            </a:endParaRPr>
          </a:p>
        </p:txBody>
      </p:sp>
      <p:sp>
        <p:nvSpPr>
          <p:cNvPr id="717" name="Google Shape;717;p60: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8" name="Google Shape;718;p60: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t> With any Feistel block cipher, the key is used to generate one subkey for each</a:t>
            </a:r>
            <a:endParaRPr/>
          </a:p>
          <a:p>
            <a:pPr marL="0" lvl="0" indent="0" algn="l" rtl="0">
              <a:spcBef>
                <a:spcPts val="360"/>
              </a:spcBef>
              <a:spcAft>
                <a:spcPts val="0"/>
              </a:spcAft>
              <a:buNone/>
            </a:pPr>
            <a:r>
              <a:rPr lang="en-US"/>
              <a:t>round. In general, we would like to select subkeys to maximize the difficulty of</a:t>
            </a:r>
            <a:endParaRPr/>
          </a:p>
          <a:p>
            <a:pPr marL="0" lvl="0" indent="0" algn="l" rtl="0">
              <a:spcBef>
                <a:spcPts val="360"/>
              </a:spcBef>
              <a:spcAft>
                <a:spcPts val="0"/>
              </a:spcAft>
              <a:buNone/>
            </a:pPr>
            <a:r>
              <a:rPr lang="en-US"/>
              <a:t>deducing individual subkeys and the difficulty of working back to the main key. No</a:t>
            </a:r>
            <a:endParaRPr/>
          </a:p>
          <a:p>
            <a:pPr marL="0" lvl="0" indent="0" algn="l" rtl="0">
              <a:spcBef>
                <a:spcPts val="360"/>
              </a:spcBef>
              <a:spcAft>
                <a:spcPts val="0"/>
              </a:spcAft>
              <a:buNone/>
            </a:pPr>
            <a:r>
              <a:rPr lang="en-US"/>
              <a:t>general principles for this have yet been promulgated.</a:t>
            </a:r>
            <a:endParaRPr/>
          </a:p>
          <a:p>
            <a:pPr marL="0" lvl="0" indent="0" algn="l" rtl="0">
              <a:spcBef>
                <a:spcPts val="360"/>
              </a:spcBef>
              <a:spcAft>
                <a:spcPts val="0"/>
              </a:spcAft>
              <a:buNone/>
            </a:pPr>
            <a:r>
              <a:rPr lang="en-US"/>
              <a:t>Adams suggests [ADAM94] that, at minimum, the key schedule should</a:t>
            </a:r>
            <a:endParaRPr/>
          </a:p>
          <a:p>
            <a:pPr marL="0" lvl="0" indent="0" algn="l" rtl="0">
              <a:spcBef>
                <a:spcPts val="360"/>
              </a:spcBef>
              <a:spcAft>
                <a:spcPts val="0"/>
              </a:spcAft>
              <a:buNone/>
            </a:pPr>
            <a:r>
              <a:rPr lang="en-US"/>
              <a:t>guarantee key/ciphertext Strict Avalanche Criterion and Bit Independence</a:t>
            </a:r>
            <a:endParaRPr/>
          </a:p>
          <a:p>
            <a:pPr marL="0" lvl="0" indent="0" algn="l" rtl="0">
              <a:spcBef>
                <a:spcPts val="360"/>
              </a:spcBef>
              <a:spcAft>
                <a:spcPts val="0"/>
              </a:spcAft>
              <a:buNone/>
            </a:pPr>
            <a:r>
              <a:rPr lang="en-US"/>
              <a:t>Criterion.</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61:notes"/>
          <p:cNvSpPr txBox="1">
            <a:spLocks noGrp="1"/>
          </p:cNvSpPr>
          <p:nvPr>
            <p:ph type="sldNum" idx="12"/>
          </p:nvPr>
        </p:nvSpPr>
        <p:spPr>
          <a:xfrm>
            <a:off x="3927775" y="8757590"/>
            <a:ext cx="3004820" cy="461010"/>
          </a:xfrm>
          <a:prstGeom prst="rect">
            <a:avLst/>
          </a:prstGeom>
          <a:noFill/>
          <a:ln>
            <a:noFill/>
          </a:ln>
        </p:spPr>
        <p:txBody>
          <a:bodyPr spcFirstLastPara="1" wrap="square" lIns="92300" tIns="46150" rIns="92300" bIns="4615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32</a:t>
            </a:fld>
            <a:endParaRPr>
              <a:latin typeface="Arial"/>
              <a:ea typeface="Arial"/>
              <a:cs typeface="Arial"/>
              <a:sym typeface="Arial"/>
            </a:endParaRPr>
          </a:p>
        </p:txBody>
      </p:sp>
      <p:sp>
        <p:nvSpPr>
          <p:cNvPr id="724" name="Google Shape;724;p61:notes"/>
          <p:cNvSpPr>
            <a:spLocks noGrp="1" noRot="1" noChangeAspect="1"/>
          </p:cNvSpPr>
          <p:nvPr>
            <p:ph type="sldImg" idx="2"/>
          </p:nvPr>
        </p:nvSpPr>
        <p:spPr>
          <a:xfrm>
            <a:off x="1162050" y="692150"/>
            <a:ext cx="4610100" cy="34575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5" name="Google Shape;725;p61:notes"/>
          <p:cNvSpPr txBox="1">
            <a:spLocks noGrp="1"/>
          </p:cNvSpPr>
          <p:nvPr>
            <p:ph type="body" idx="1"/>
          </p:nvPr>
        </p:nvSpPr>
        <p:spPr>
          <a:xfrm>
            <a:off x="693420" y="4379595"/>
            <a:ext cx="5547360" cy="4149090"/>
          </a:xfrm>
          <a:prstGeom prst="rect">
            <a:avLst/>
          </a:prstGeom>
          <a:noFill/>
          <a:ln>
            <a:noFill/>
          </a:ln>
        </p:spPr>
        <p:txBody>
          <a:bodyPr spcFirstLastPara="1" wrap="square" lIns="92300" tIns="46150" rIns="92300" bIns="46150" anchor="t" anchorCtr="0">
            <a:noAutofit/>
          </a:bodyPr>
          <a:lstStyle/>
          <a:p>
            <a:pPr marL="0" lvl="0" indent="0" algn="l" rtl="0">
              <a:spcBef>
                <a:spcPts val="0"/>
              </a:spcBef>
              <a:spcAft>
                <a:spcPts val="0"/>
              </a:spcAft>
              <a:buNone/>
            </a:pPr>
            <a:r>
              <a:rPr lang="en-US">
                <a:latin typeface="Arial"/>
                <a:ea typeface="Arial"/>
                <a:cs typeface="Arial"/>
                <a:sym typeface="Arial"/>
              </a:rPr>
              <a:t>Chapter 3 summary.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sz="3600"/>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719400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smtClean="0"/>
              <a:t>Click to edit Master title style</a:t>
            </a:r>
            <a:endParaRPr lang="en-US" dirty="0"/>
          </a:p>
        </p:txBody>
      </p:sp>
      <p:sp>
        <p:nvSpPr>
          <p:cNvPr id="3" name="Content Placeholder 2"/>
          <p:cNvSpPr>
            <a:spLocks noGrp="1"/>
          </p:cNvSpPr>
          <p:nvPr>
            <p:ph idx="1"/>
          </p:nvPr>
        </p:nvSpPr>
        <p:spPr>
          <a:xfrm>
            <a:off x="457200" y="1454228"/>
            <a:ext cx="8229600" cy="4671936"/>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iming>
    <p:tnLst>
      <p:par>
        <p:cTn id="1" dur="indefinite" restart="never" nodeType="tmRoot"/>
      </p:par>
    </p:tnLst>
  </p:timing>
  <p:hf sldNum="0" hdr="0" ftr="0" dt="0"/>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feistel-cipher/"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tutorialspoint.com/cryptography_with_pytho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smtClean="0">
                <a:ea typeface="+mj-ea"/>
                <a:cs typeface="+mj-cs"/>
              </a:rPr>
              <a:t>Cryptography</a:t>
            </a:r>
            <a:endParaRPr lang="en-AU" dirty="0">
              <a:ea typeface="+mj-ea"/>
              <a:cs typeface="+mj-cs"/>
            </a:endParaRPr>
          </a:p>
        </p:txBody>
      </p:sp>
      <p:sp>
        <p:nvSpPr>
          <p:cNvPr id="29699" name="Rectangle 3"/>
          <p:cNvSpPr>
            <a:spLocks noGrp="1" noChangeArrowheads="1"/>
          </p:cNvSpPr>
          <p:nvPr>
            <p:ph type="subTitle" idx="1"/>
          </p:nvPr>
        </p:nvSpPr>
        <p:spPr/>
        <p:txBody>
          <a:bodyPr/>
          <a:lstStyle/>
          <a:p>
            <a:pPr>
              <a:buFont typeface="Wingdings" pitchFamily="-84" charset="2"/>
              <a:buNone/>
            </a:pPr>
            <a:r>
              <a:rPr lang="en-US" dirty="0" smtClean="0"/>
              <a:t>Dr. Tran The Son</a:t>
            </a:r>
          </a:p>
          <a:p>
            <a:pPr>
              <a:buFont typeface="Wingdings" pitchFamily="-84"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extLst>
      <p:ext uri="{BB962C8B-B14F-4D97-AF65-F5344CB8AC3E}">
        <p14:creationId xmlns:p14="http://schemas.microsoft.com/office/powerpoint/2010/main" val="35623939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38"/>
          <p:cNvSpPr txBox="1">
            <a:spLocks noGrp="1"/>
          </p:cNvSpPr>
          <p:nvPr>
            <p:ph type="ctr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Chapter </a:t>
            </a:r>
            <a:r>
              <a:rPr lang="en-US" dirty="0" smtClean="0"/>
              <a:t>4</a:t>
            </a:r>
            <a:endParaRPr dirty="0"/>
          </a:p>
        </p:txBody>
      </p:sp>
      <p:sp>
        <p:nvSpPr>
          <p:cNvPr id="504" name="Google Shape;504;p38"/>
          <p:cNvSpPr txBox="1">
            <a:spLocks noGrp="1"/>
          </p:cNvSpPr>
          <p:nvPr>
            <p:ph type="subTitle" idx="1"/>
          </p:nvPr>
        </p:nvSpPr>
        <p:spPr>
          <a:xfrm>
            <a:off x="1524000" y="3861048"/>
            <a:ext cx="6096000" cy="219526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Arial"/>
              <a:buNone/>
            </a:pPr>
            <a:r>
              <a:rPr lang="en-US" sz="3600"/>
              <a:t>Block Ciphers and the Data Encryption Standard</a:t>
            </a:r>
            <a:endParaRPr/>
          </a:p>
        </p:txBody>
      </p:sp>
      <p:pic>
        <p:nvPicPr>
          <p:cNvPr id="505" name="Google Shape;505;p38" descr="crypto.jpg"/>
          <p:cNvPicPr preferRelativeResize="0"/>
          <p:nvPr/>
        </p:nvPicPr>
        <p:blipFill rotWithShape="1">
          <a:blip r:embed="rId3">
            <a:alphaModFix/>
          </a:blip>
          <a:srcRect l="-16674" t="-1110" r="-18211" b="44444"/>
          <a:stretch/>
        </p:blipFill>
        <p:spPr>
          <a:xfrm>
            <a:off x="3581400" y="1447800"/>
            <a:ext cx="2109547" cy="1209027"/>
          </a:xfrm>
          <a:prstGeom prst="ellipse">
            <a:avLst/>
          </a:prstGeom>
          <a:solidFill>
            <a:srgbClr val="D8D8D8"/>
          </a:solid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4: Outline</a:t>
            </a:r>
            <a:endParaRPr lang="en-US" dirty="0"/>
          </a:p>
        </p:txBody>
      </p:sp>
      <p:sp>
        <p:nvSpPr>
          <p:cNvPr id="3" name="Content Placeholder 2"/>
          <p:cNvSpPr>
            <a:spLocks noGrp="1"/>
          </p:cNvSpPr>
          <p:nvPr>
            <p:ph idx="1"/>
          </p:nvPr>
        </p:nvSpPr>
        <p:spPr/>
        <p:txBody>
          <a:bodyPr/>
          <a:lstStyle/>
          <a:p>
            <a:r>
              <a:rPr lang="en-US" sz="2800" dirty="0" smtClean="0"/>
              <a:t>Traditional </a:t>
            </a:r>
            <a:r>
              <a:rPr lang="en-US" sz="2800" dirty="0"/>
              <a:t>Block Cipher Structure</a:t>
            </a:r>
          </a:p>
          <a:p>
            <a:r>
              <a:rPr lang="en-US" sz="2800" dirty="0" smtClean="0"/>
              <a:t>The </a:t>
            </a:r>
            <a:r>
              <a:rPr lang="en-US" sz="2800" dirty="0"/>
              <a:t>Data Encryption Standard</a:t>
            </a:r>
          </a:p>
          <a:p>
            <a:r>
              <a:rPr lang="en-US" sz="2800" dirty="0" smtClean="0"/>
              <a:t>A </a:t>
            </a:r>
            <a:r>
              <a:rPr lang="en-US" sz="2800" dirty="0"/>
              <a:t>DES Example</a:t>
            </a:r>
          </a:p>
          <a:p>
            <a:r>
              <a:rPr lang="en-US" sz="2800" dirty="0" smtClean="0"/>
              <a:t>The </a:t>
            </a:r>
            <a:r>
              <a:rPr lang="en-US" sz="2800" dirty="0"/>
              <a:t>Strength of DES</a:t>
            </a:r>
          </a:p>
          <a:p>
            <a:r>
              <a:rPr lang="en-US" sz="2800" dirty="0" smtClean="0"/>
              <a:t>Block </a:t>
            </a:r>
            <a:r>
              <a:rPr lang="en-US" sz="2800" dirty="0"/>
              <a:t>Cipher Design </a:t>
            </a:r>
            <a:r>
              <a:rPr lang="en-US" sz="2800" dirty="0" smtClean="0"/>
              <a:t>Principles</a:t>
            </a:r>
            <a:endParaRPr lang="en-US" sz="2800" dirty="0"/>
          </a:p>
        </p:txBody>
      </p:sp>
    </p:spTree>
    <p:extLst>
      <p:ext uri="{BB962C8B-B14F-4D97-AF65-F5344CB8AC3E}">
        <p14:creationId xmlns:p14="http://schemas.microsoft.com/office/powerpoint/2010/main" val="39132080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Stream Cipher</a:t>
            </a:r>
            <a:endParaRPr/>
          </a:p>
        </p:txBody>
      </p:sp>
      <p:grpSp>
        <p:nvGrpSpPr>
          <p:cNvPr id="518" name="Google Shape;518;p40"/>
          <p:cNvGrpSpPr/>
          <p:nvPr/>
        </p:nvGrpSpPr>
        <p:grpSpPr>
          <a:xfrm>
            <a:off x="762922" y="1394102"/>
            <a:ext cx="7568938" cy="5325035"/>
            <a:chOff x="924" y="0"/>
            <a:chExt cx="7568938" cy="5325035"/>
          </a:xfrm>
        </p:grpSpPr>
        <p:sp>
          <p:nvSpPr>
            <p:cNvPr id="519" name="Google Shape;519;p40"/>
            <p:cNvSpPr/>
            <p:nvPr/>
          </p:nvSpPr>
          <p:spPr>
            <a:xfrm>
              <a:off x="924" y="0"/>
              <a:ext cx="2402837" cy="5325035"/>
            </a:xfrm>
            <a:prstGeom prst="roundRect">
              <a:avLst>
                <a:gd name="adj" fmla="val 10000"/>
              </a:avLst>
            </a:prstGeom>
            <a:solidFill>
              <a:srgbClr val="E7F2F3"/>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0"/>
            <p:cNvSpPr txBox="1"/>
            <p:nvPr/>
          </p:nvSpPr>
          <p:spPr>
            <a:xfrm>
              <a:off x="924" y="0"/>
              <a:ext cx="2402837" cy="1597510"/>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None/>
              </a:pPr>
              <a:r>
                <a:rPr lang="en-US" sz="1600">
                  <a:solidFill>
                    <a:schemeClr val="dk1"/>
                  </a:solidFill>
                  <a:latin typeface="Arial"/>
                  <a:ea typeface="Arial"/>
                  <a:cs typeface="Arial"/>
                  <a:sym typeface="Arial"/>
                </a:rPr>
                <a:t>Encrypts a digital data stream one bit or one byte at a time</a:t>
              </a:r>
              <a:endParaRPr sz="1600">
                <a:solidFill>
                  <a:schemeClr val="dk1"/>
                </a:solidFill>
                <a:latin typeface="Arial"/>
                <a:ea typeface="Arial"/>
                <a:cs typeface="Arial"/>
                <a:sym typeface="Arial"/>
              </a:endParaRPr>
            </a:p>
          </p:txBody>
        </p:sp>
        <p:sp>
          <p:nvSpPr>
            <p:cNvPr id="521" name="Google Shape;521;p40"/>
            <p:cNvSpPr/>
            <p:nvPr/>
          </p:nvSpPr>
          <p:spPr>
            <a:xfrm>
              <a:off x="241207" y="1597510"/>
              <a:ext cx="1922270" cy="3461272"/>
            </a:xfrm>
            <a:prstGeom prst="roundRect">
              <a:avLst>
                <a:gd name="adj" fmla="val 10000"/>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0"/>
            <p:cNvSpPr txBox="1"/>
            <p:nvPr/>
          </p:nvSpPr>
          <p:spPr>
            <a:xfrm>
              <a:off x="297508" y="1653811"/>
              <a:ext cx="1809668" cy="3348670"/>
            </a:xfrm>
            <a:prstGeom prst="rect">
              <a:avLst/>
            </a:prstGeom>
            <a:noFill/>
            <a:ln>
              <a:noFill/>
            </a:ln>
          </p:spPr>
          <p:txBody>
            <a:bodyPr spcFirstLastPara="1" wrap="square" lIns="38100" tIns="28575" rIns="38100" bIns="28575" anchor="t" anchorCtr="0">
              <a:noAutofit/>
            </a:bodyPr>
            <a:lstStyle/>
            <a:p>
              <a:pPr marL="0" marR="0" lvl="0" indent="0" algn="l" rtl="0">
                <a:lnSpc>
                  <a:spcPct val="90000"/>
                </a:lnSpc>
                <a:spcBef>
                  <a:spcPts val="0"/>
                </a:spcBef>
                <a:spcAft>
                  <a:spcPts val="0"/>
                </a:spcAft>
                <a:buNone/>
              </a:pPr>
              <a:r>
                <a:rPr lang="en-US" sz="1500">
                  <a:solidFill>
                    <a:schemeClr val="lt1"/>
                  </a:solidFill>
                  <a:latin typeface="Arial"/>
                  <a:ea typeface="Arial"/>
                  <a:cs typeface="Arial"/>
                  <a:sym typeface="Arial"/>
                </a:rPr>
                <a:t>Examples:</a:t>
              </a:r>
              <a:endParaRPr sz="1500">
                <a:solidFill>
                  <a:schemeClr val="lt1"/>
                </a:solidFill>
                <a:latin typeface="Arial"/>
                <a:ea typeface="Arial"/>
                <a:cs typeface="Arial"/>
                <a:sym typeface="Arial"/>
              </a:endParaRPr>
            </a:p>
            <a:p>
              <a:pPr marL="114300" marR="0" lvl="1" indent="-114300" algn="l" rtl="0">
                <a:lnSpc>
                  <a:spcPct val="90000"/>
                </a:lnSpc>
                <a:spcBef>
                  <a:spcPts val="525"/>
                </a:spcBef>
                <a:spcAft>
                  <a:spcPts val="0"/>
                </a:spcAft>
                <a:buClr>
                  <a:schemeClr val="lt1"/>
                </a:buClr>
                <a:buSzPts val="1200"/>
                <a:buFont typeface="Arial"/>
                <a:buChar char="•"/>
              </a:pPr>
              <a:r>
                <a:rPr lang="en-US" sz="1200" b="0" i="0" u="none" strike="noStrike" cap="none">
                  <a:solidFill>
                    <a:schemeClr val="lt1"/>
                  </a:solidFill>
                  <a:latin typeface="Arial"/>
                  <a:ea typeface="Arial"/>
                  <a:cs typeface="Arial"/>
                  <a:sym typeface="Arial"/>
                </a:rPr>
                <a:t>Autokeyed Vigenère cipher</a:t>
              </a:r>
              <a:endParaRPr sz="1200" b="0" i="0" u="none" strike="noStrike" cap="none">
                <a:solidFill>
                  <a:schemeClr val="lt1"/>
                </a:solidFill>
                <a:latin typeface="Arial"/>
                <a:ea typeface="Arial"/>
                <a:cs typeface="Arial"/>
                <a:sym typeface="Arial"/>
              </a:endParaRPr>
            </a:p>
            <a:p>
              <a:pPr marL="114300" marR="0" lvl="1" indent="-114300" algn="l" rtl="0">
                <a:lnSpc>
                  <a:spcPct val="90000"/>
                </a:lnSpc>
                <a:spcBef>
                  <a:spcPts val="180"/>
                </a:spcBef>
                <a:spcAft>
                  <a:spcPts val="0"/>
                </a:spcAft>
                <a:buClr>
                  <a:schemeClr val="lt1"/>
                </a:buClr>
                <a:buSzPts val="1200"/>
                <a:buFont typeface="Arial"/>
                <a:buChar char="•"/>
              </a:pPr>
              <a:r>
                <a:rPr lang="en-US" sz="1200" b="0" i="0" u="none" strike="noStrike" cap="none">
                  <a:solidFill>
                    <a:schemeClr val="lt1"/>
                  </a:solidFill>
                  <a:latin typeface="Arial"/>
                  <a:ea typeface="Arial"/>
                  <a:cs typeface="Arial"/>
                  <a:sym typeface="Arial"/>
                </a:rPr>
                <a:t>Vernam cipher</a:t>
              </a:r>
              <a:endParaRPr sz="1200" b="0" i="0" u="none" strike="noStrike" cap="none">
                <a:solidFill>
                  <a:schemeClr val="lt1"/>
                </a:solidFill>
                <a:latin typeface="Arial"/>
                <a:ea typeface="Arial"/>
                <a:cs typeface="Arial"/>
                <a:sym typeface="Arial"/>
              </a:endParaRPr>
            </a:p>
          </p:txBody>
        </p:sp>
        <p:sp>
          <p:nvSpPr>
            <p:cNvPr id="523" name="Google Shape;523;p40"/>
            <p:cNvSpPr/>
            <p:nvPr/>
          </p:nvSpPr>
          <p:spPr>
            <a:xfrm>
              <a:off x="2583974" y="0"/>
              <a:ext cx="2402837" cy="5325035"/>
            </a:xfrm>
            <a:prstGeom prst="roundRect">
              <a:avLst>
                <a:gd name="adj" fmla="val 10000"/>
              </a:avLst>
            </a:prstGeom>
            <a:solidFill>
              <a:srgbClr val="E7F2F3"/>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40"/>
            <p:cNvSpPr txBox="1"/>
            <p:nvPr/>
          </p:nvSpPr>
          <p:spPr>
            <a:xfrm>
              <a:off x="2583974" y="0"/>
              <a:ext cx="2402837" cy="1597510"/>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None/>
              </a:pPr>
              <a:r>
                <a:rPr lang="en-US" sz="1600" dirty="0">
                  <a:solidFill>
                    <a:schemeClr val="dk1"/>
                  </a:solidFill>
                  <a:latin typeface="Arial"/>
                  <a:ea typeface="Arial"/>
                  <a:cs typeface="Arial"/>
                  <a:sym typeface="Arial"/>
                </a:rPr>
                <a:t>In the ideal case a one-time pad version of the </a:t>
              </a:r>
              <a:r>
                <a:rPr lang="en-US" sz="1600" dirty="0" err="1">
                  <a:solidFill>
                    <a:schemeClr val="dk1"/>
                  </a:solidFill>
                  <a:latin typeface="Arial"/>
                  <a:ea typeface="Arial"/>
                  <a:cs typeface="Arial"/>
                  <a:sym typeface="Arial"/>
                </a:rPr>
                <a:t>Vernam</a:t>
              </a:r>
              <a:r>
                <a:rPr lang="en-US" sz="1600" dirty="0">
                  <a:solidFill>
                    <a:schemeClr val="dk1"/>
                  </a:solidFill>
                  <a:latin typeface="Arial"/>
                  <a:ea typeface="Arial"/>
                  <a:cs typeface="Arial"/>
                  <a:sym typeface="Arial"/>
                </a:rPr>
                <a:t> cipher would be used, in which the keystream is as long as the plaintext bit stream</a:t>
              </a:r>
              <a:endParaRPr sz="1600" dirty="0">
                <a:solidFill>
                  <a:schemeClr val="dk1"/>
                </a:solidFill>
                <a:latin typeface="Arial"/>
                <a:ea typeface="Arial"/>
                <a:cs typeface="Arial"/>
                <a:sym typeface="Arial"/>
              </a:endParaRPr>
            </a:p>
          </p:txBody>
        </p:sp>
        <p:sp>
          <p:nvSpPr>
            <p:cNvPr id="525" name="Google Shape;525;p40"/>
            <p:cNvSpPr/>
            <p:nvPr/>
          </p:nvSpPr>
          <p:spPr>
            <a:xfrm>
              <a:off x="2824258" y="1597510"/>
              <a:ext cx="1922270" cy="3461272"/>
            </a:xfrm>
            <a:prstGeom prst="roundRect">
              <a:avLst>
                <a:gd name="adj" fmla="val 10000"/>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40"/>
            <p:cNvSpPr txBox="1"/>
            <p:nvPr/>
          </p:nvSpPr>
          <p:spPr>
            <a:xfrm>
              <a:off x="2880559" y="1653811"/>
              <a:ext cx="1809668" cy="3348670"/>
            </a:xfrm>
            <a:prstGeom prst="rect">
              <a:avLst/>
            </a:prstGeom>
            <a:noFill/>
            <a:ln>
              <a:noFill/>
            </a:ln>
          </p:spPr>
          <p:txBody>
            <a:bodyPr spcFirstLastPara="1" wrap="square" lIns="38100" tIns="28575" rIns="38100" bIns="28575" anchor="t" anchorCtr="0">
              <a:noAutofit/>
            </a:bodyPr>
            <a:lstStyle/>
            <a:p>
              <a:pPr marL="0" marR="0" lvl="0" indent="0" algn="l" rtl="0">
                <a:lnSpc>
                  <a:spcPct val="90000"/>
                </a:lnSpc>
                <a:spcBef>
                  <a:spcPts val="0"/>
                </a:spcBef>
                <a:spcAft>
                  <a:spcPts val="0"/>
                </a:spcAft>
                <a:buNone/>
              </a:pPr>
              <a:r>
                <a:rPr lang="en-US" sz="1500">
                  <a:solidFill>
                    <a:schemeClr val="lt1"/>
                  </a:solidFill>
                  <a:latin typeface="Arial"/>
                  <a:ea typeface="Arial"/>
                  <a:cs typeface="Arial"/>
                  <a:sym typeface="Arial"/>
                </a:rPr>
                <a:t>If the cryptographic keystream is random, then this cipher is unbreakable by any means other than acquiring the keystream</a:t>
              </a:r>
              <a:endParaRPr sz="1500">
                <a:solidFill>
                  <a:schemeClr val="lt1"/>
                </a:solidFill>
                <a:latin typeface="Arial"/>
                <a:ea typeface="Arial"/>
                <a:cs typeface="Arial"/>
                <a:sym typeface="Arial"/>
              </a:endParaRPr>
            </a:p>
            <a:p>
              <a:pPr marL="114300" marR="0" lvl="1" indent="-114300" algn="l" rtl="0">
                <a:lnSpc>
                  <a:spcPct val="90000"/>
                </a:lnSpc>
                <a:spcBef>
                  <a:spcPts val="525"/>
                </a:spcBef>
                <a:spcAft>
                  <a:spcPts val="0"/>
                </a:spcAft>
                <a:buClr>
                  <a:schemeClr val="lt1"/>
                </a:buClr>
                <a:buSzPts val="1200"/>
                <a:buFont typeface="Arial"/>
                <a:buChar char="•"/>
              </a:pPr>
              <a:r>
                <a:rPr lang="en-US" sz="1200" b="0" i="0" u="none" strike="noStrike" cap="none">
                  <a:solidFill>
                    <a:schemeClr val="lt1"/>
                  </a:solidFill>
                  <a:latin typeface="Arial"/>
                  <a:ea typeface="Arial"/>
                  <a:cs typeface="Arial"/>
                  <a:sym typeface="Arial"/>
                </a:rPr>
                <a:t>Keystream must be provided to both users in advance via some independent and secure channel</a:t>
              </a:r>
              <a:endParaRPr sz="1200" b="0" i="0" u="none" strike="noStrike" cap="none">
                <a:solidFill>
                  <a:schemeClr val="lt1"/>
                </a:solidFill>
                <a:latin typeface="Arial"/>
                <a:ea typeface="Arial"/>
                <a:cs typeface="Arial"/>
                <a:sym typeface="Arial"/>
              </a:endParaRPr>
            </a:p>
            <a:p>
              <a:pPr marL="114300" marR="0" lvl="1" indent="-114300" algn="l" rtl="0">
                <a:lnSpc>
                  <a:spcPct val="90000"/>
                </a:lnSpc>
                <a:spcBef>
                  <a:spcPts val="180"/>
                </a:spcBef>
                <a:spcAft>
                  <a:spcPts val="0"/>
                </a:spcAft>
                <a:buClr>
                  <a:schemeClr val="lt1"/>
                </a:buClr>
                <a:buSzPts val="1200"/>
                <a:buFont typeface="Arial"/>
                <a:buChar char="•"/>
              </a:pPr>
              <a:r>
                <a:rPr lang="en-US" sz="1200" b="0" i="0" u="none" strike="noStrike" cap="none">
                  <a:solidFill>
                    <a:schemeClr val="lt1"/>
                  </a:solidFill>
                  <a:latin typeface="Arial"/>
                  <a:ea typeface="Arial"/>
                  <a:cs typeface="Arial"/>
                  <a:sym typeface="Arial"/>
                </a:rPr>
                <a:t>This introduces insurmountable logistical problems if the intended data traffic is very large</a:t>
              </a:r>
              <a:endParaRPr sz="1200" b="0" i="0" u="none" strike="noStrike" cap="none">
                <a:solidFill>
                  <a:schemeClr val="lt1"/>
                </a:solidFill>
                <a:latin typeface="Arial"/>
                <a:ea typeface="Arial"/>
                <a:cs typeface="Arial"/>
                <a:sym typeface="Arial"/>
              </a:endParaRPr>
            </a:p>
          </p:txBody>
        </p:sp>
        <p:sp>
          <p:nvSpPr>
            <p:cNvPr id="527" name="Google Shape;527;p40"/>
            <p:cNvSpPr/>
            <p:nvPr/>
          </p:nvSpPr>
          <p:spPr>
            <a:xfrm>
              <a:off x="5167025" y="0"/>
              <a:ext cx="2402837" cy="5325035"/>
            </a:xfrm>
            <a:prstGeom prst="roundRect">
              <a:avLst>
                <a:gd name="adj" fmla="val 10000"/>
              </a:avLst>
            </a:prstGeom>
            <a:solidFill>
              <a:srgbClr val="E7F2F3"/>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0"/>
            <p:cNvSpPr txBox="1"/>
            <p:nvPr/>
          </p:nvSpPr>
          <p:spPr>
            <a:xfrm>
              <a:off x="5167025" y="0"/>
              <a:ext cx="2402837" cy="1597510"/>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None/>
              </a:pPr>
              <a:r>
                <a:rPr lang="en-US" sz="1600">
                  <a:solidFill>
                    <a:schemeClr val="dk1"/>
                  </a:solidFill>
                  <a:latin typeface="Arial"/>
                  <a:ea typeface="Arial"/>
                  <a:cs typeface="Arial"/>
                  <a:sym typeface="Arial"/>
                </a:rPr>
                <a:t>For practical reasons the bit-stream generator must be implemented as an algorithmic procedure so that the cryptographic bit stream can be produced by both users</a:t>
              </a:r>
              <a:endParaRPr sz="1600">
                <a:solidFill>
                  <a:schemeClr val="dk1"/>
                </a:solidFill>
                <a:latin typeface="Arial"/>
                <a:ea typeface="Arial"/>
                <a:cs typeface="Arial"/>
                <a:sym typeface="Arial"/>
              </a:endParaRPr>
            </a:p>
          </p:txBody>
        </p:sp>
        <p:sp>
          <p:nvSpPr>
            <p:cNvPr id="529" name="Google Shape;529;p40"/>
            <p:cNvSpPr/>
            <p:nvPr/>
          </p:nvSpPr>
          <p:spPr>
            <a:xfrm>
              <a:off x="5407308" y="1599070"/>
              <a:ext cx="1922270" cy="1605570"/>
            </a:xfrm>
            <a:prstGeom prst="roundRect">
              <a:avLst>
                <a:gd name="adj" fmla="val 10000"/>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0"/>
            <p:cNvSpPr txBox="1"/>
            <p:nvPr/>
          </p:nvSpPr>
          <p:spPr>
            <a:xfrm>
              <a:off x="5454334" y="1646096"/>
              <a:ext cx="1828218" cy="1511518"/>
            </a:xfrm>
            <a:prstGeom prst="rect">
              <a:avLst/>
            </a:prstGeom>
            <a:noFill/>
            <a:ln>
              <a:noFill/>
            </a:ln>
          </p:spPr>
          <p:txBody>
            <a:bodyPr spcFirstLastPara="1" wrap="square" lIns="38100" tIns="28575" rIns="38100" bIns="28575" anchor="ctr" anchorCtr="0">
              <a:noAutofit/>
            </a:bodyPr>
            <a:lstStyle/>
            <a:p>
              <a:pPr marL="0" marR="0" lvl="0" indent="0" algn="ctr" rtl="0">
                <a:lnSpc>
                  <a:spcPct val="90000"/>
                </a:lnSpc>
                <a:spcBef>
                  <a:spcPts val="0"/>
                </a:spcBef>
                <a:spcAft>
                  <a:spcPts val="0"/>
                </a:spcAft>
                <a:buNone/>
              </a:pPr>
              <a:r>
                <a:rPr lang="en-US" sz="1500">
                  <a:solidFill>
                    <a:schemeClr val="lt1"/>
                  </a:solidFill>
                  <a:latin typeface="Arial"/>
                  <a:ea typeface="Arial"/>
                  <a:cs typeface="Arial"/>
                  <a:sym typeface="Arial"/>
                </a:rPr>
                <a:t>It must be computationally impractical to predict future portions of the bit stream based on previous portions of the bit stream</a:t>
              </a:r>
              <a:endParaRPr sz="1500">
                <a:solidFill>
                  <a:schemeClr val="lt1"/>
                </a:solidFill>
                <a:latin typeface="Arial"/>
                <a:ea typeface="Arial"/>
                <a:cs typeface="Arial"/>
                <a:sym typeface="Arial"/>
              </a:endParaRPr>
            </a:p>
          </p:txBody>
        </p:sp>
        <p:sp>
          <p:nvSpPr>
            <p:cNvPr id="531" name="Google Shape;531;p40"/>
            <p:cNvSpPr/>
            <p:nvPr/>
          </p:nvSpPr>
          <p:spPr>
            <a:xfrm>
              <a:off x="5407308" y="3451652"/>
              <a:ext cx="1922270" cy="1605570"/>
            </a:xfrm>
            <a:prstGeom prst="roundRect">
              <a:avLst>
                <a:gd name="adj" fmla="val 10000"/>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0"/>
            <p:cNvSpPr txBox="1"/>
            <p:nvPr/>
          </p:nvSpPr>
          <p:spPr>
            <a:xfrm>
              <a:off x="5454334" y="3498678"/>
              <a:ext cx="1828218" cy="1511518"/>
            </a:xfrm>
            <a:prstGeom prst="rect">
              <a:avLst/>
            </a:prstGeom>
            <a:noFill/>
            <a:ln>
              <a:noFill/>
            </a:ln>
          </p:spPr>
          <p:txBody>
            <a:bodyPr spcFirstLastPara="1" wrap="square" lIns="38100" tIns="28575" rIns="38100" bIns="28575" anchor="ctr" anchorCtr="0">
              <a:noAutofit/>
            </a:bodyPr>
            <a:lstStyle/>
            <a:p>
              <a:pPr marL="0" marR="0" lvl="0" indent="0" algn="ctr" rtl="0">
                <a:lnSpc>
                  <a:spcPct val="90000"/>
                </a:lnSpc>
                <a:spcBef>
                  <a:spcPts val="0"/>
                </a:spcBef>
                <a:spcAft>
                  <a:spcPts val="0"/>
                </a:spcAft>
                <a:buNone/>
              </a:pPr>
              <a:r>
                <a:rPr lang="en-US" sz="1500">
                  <a:solidFill>
                    <a:schemeClr val="lt1"/>
                  </a:solidFill>
                  <a:latin typeface="Arial"/>
                  <a:ea typeface="Arial"/>
                  <a:cs typeface="Arial"/>
                  <a:sym typeface="Arial"/>
                </a:rPr>
                <a:t>The two users need only share the generating key and each can produce the keystream</a:t>
              </a:r>
              <a:endParaRPr sz="1500">
                <a:solidFill>
                  <a:schemeClr val="lt1"/>
                </a:solidFill>
                <a:latin typeface="Arial"/>
                <a:ea typeface="Arial"/>
                <a:cs typeface="Arial"/>
                <a:sym typeface="Arial"/>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Block Cipher</a:t>
            </a:r>
            <a:endParaRPr/>
          </a:p>
        </p:txBody>
      </p:sp>
      <p:grpSp>
        <p:nvGrpSpPr>
          <p:cNvPr id="539" name="Google Shape;539;p41"/>
          <p:cNvGrpSpPr/>
          <p:nvPr/>
        </p:nvGrpSpPr>
        <p:grpSpPr>
          <a:xfrm>
            <a:off x="2046702" y="1196752"/>
            <a:ext cx="4944034" cy="4944034"/>
            <a:chOff x="1795182" y="0"/>
            <a:chExt cx="4944034" cy="4944034"/>
          </a:xfrm>
        </p:grpSpPr>
        <p:sp>
          <p:nvSpPr>
            <p:cNvPr id="540" name="Google Shape;540;p41"/>
            <p:cNvSpPr/>
            <p:nvPr/>
          </p:nvSpPr>
          <p:spPr>
            <a:xfrm>
              <a:off x="1795182" y="0"/>
              <a:ext cx="4944034" cy="4944034"/>
            </a:xfrm>
            <a:prstGeom prst="quadArrow">
              <a:avLst>
                <a:gd name="adj1" fmla="val 2000"/>
                <a:gd name="adj2" fmla="val 4000"/>
                <a:gd name="adj3" fmla="val 5000"/>
              </a:avLst>
            </a:prstGeom>
            <a:solidFill>
              <a:srgbClr val="212167"/>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1"/>
            <p:cNvSpPr/>
            <p:nvPr/>
          </p:nvSpPr>
          <p:spPr>
            <a:xfrm>
              <a:off x="2116544" y="321362"/>
              <a:ext cx="1977614" cy="1977614"/>
            </a:xfrm>
            <a:prstGeom prst="roundRect">
              <a:avLst>
                <a:gd name="adj" fmla="val 16667"/>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1"/>
            <p:cNvSpPr txBox="1"/>
            <p:nvPr/>
          </p:nvSpPr>
          <p:spPr>
            <a:xfrm>
              <a:off x="2213083" y="417901"/>
              <a:ext cx="1784536" cy="1784536"/>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None/>
              </a:pPr>
              <a:r>
                <a:rPr lang="en-US" sz="1700">
                  <a:solidFill>
                    <a:schemeClr val="lt1"/>
                  </a:solidFill>
                  <a:latin typeface="Arial"/>
                  <a:ea typeface="Arial"/>
                  <a:cs typeface="Arial"/>
                  <a:sym typeface="Arial"/>
                </a:rPr>
                <a:t>A block of plaintext is treated as a whole and used to produce a ciphertext block of equal length</a:t>
              </a:r>
              <a:endParaRPr sz="1700">
                <a:solidFill>
                  <a:schemeClr val="lt1"/>
                </a:solidFill>
                <a:latin typeface="Arial"/>
                <a:ea typeface="Arial"/>
                <a:cs typeface="Arial"/>
                <a:sym typeface="Arial"/>
              </a:endParaRPr>
            </a:p>
          </p:txBody>
        </p:sp>
        <p:sp>
          <p:nvSpPr>
            <p:cNvPr id="543" name="Google Shape;543;p41"/>
            <p:cNvSpPr/>
            <p:nvPr/>
          </p:nvSpPr>
          <p:spPr>
            <a:xfrm>
              <a:off x="4440241" y="321362"/>
              <a:ext cx="1977614" cy="1977614"/>
            </a:xfrm>
            <a:prstGeom prst="roundRect">
              <a:avLst>
                <a:gd name="adj" fmla="val 16667"/>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1"/>
            <p:cNvSpPr txBox="1"/>
            <p:nvPr/>
          </p:nvSpPr>
          <p:spPr>
            <a:xfrm>
              <a:off x="4536780" y="417901"/>
              <a:ext cx="1784536" cy="1784536"/>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None/>
              </a:pPr>
              <a:r>
                <a:rPr lang="en-US" sz="1700">
                  <a:solidFill>
                    <a:schemeClr val="lt1"/>
                  </a:solidFill>
                  <a:latin typeface="Arial"/>
                  <a:ea typeface="Arial"/>
                  <a:cs typeface="Arial"/>
                  <a:sym typeface="Arial"/>
                </a:rPr>
                <a:t>Typically a block size of 64 or 128 bits is used</a:t>
              </a:r>
              <a:endParaRPr sz="1700">
                <a:solidFill>
                  <a:schemeClr val="lt1"/>
                </a:solidFill>
                <a:latin typeface="Arial"/>
                <a:ea typeface="Arial"/>
                <a:cs typeface="Arial"/>
                <a:sym typeface="Arial"/>
              </a:endParaRPr>
            </a:p>
          </p:txBody>
        </p:sp>
        <p:sp>
          <p:nvSpPr>
            <p:cNvPr id="545" name="Google Shape;545;p41"/>
            <p:cNvSpPr/>
            <p:nvPr/>
          </p:nvSpPr>
          <p:spPr>
            <a:xfrm>
              <a:off x="2116544" y="2645058"/>
              <a:ext cx="1977614" cy="1977614"/>
            </a:xfrm>
            <a:prstGeom prst="roundRect">
              <a:avLst>
                <a:gd name="adj" fmla="val 16667"/>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41"/>
            <p:cNvSpPr txBox="1"/>
            <p:nvPr/>
          </p:nvSpPr>
          <p:spPr>
            <a:xfrm>
              <a:off x="2213083" y="2741597"/>
              <a:ext cx="1784536" cy="1784536"/>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None/>
              </a:pPr>
              <a:r>
                <a:rPr lang="en-US" sz="1700">
                  <a:solidFill>
                    <a:schemeClr val="lt1"/>
                  </a:solidFill>
                  <a:latin typeface="Arial"/>
                  <a:ea typeface="Arial"/>
                  <a:cs typeface="Arial"/>
                  <a:sym typeface="Arial"/>
                </a:rPr>
                <a:t>As with a stream cipher,  the two users share a symmetric encryption key </a:t>
              </a:r>
              <a:endParaRPr sz="1700">
                <a:solidFill>
                  <a:schemeClr val="lt1"/>
                </a:solidFill>
                <a:latin typeface="Arial"/>
                <a:ea typeface="Arial"/>
                <a:cs typeface="Arial"/>
                <a:sym typeface="Arial"/>
              </a:endParaRPr>
            </a:p>
          </p:txBody>
        </p:sp>
        <p:sp>
          <p:nvSpPr>
            <p:cNvPr id="547" name="Google Shape;547;p41"/>
            <p:cNvSpPr/>
            <p:nvPr/>
          </p:nvSpPr>
          <p:spPr>
            <a:xfrm>
              <a:off x="4440241" y="2645058"/>
              <a:ext cx="1977614" cy="1977614"/>
            </a:xfrm>
            <a:prstGeom prst="roundRect">
              <a:avLst>
                <a:gd name="adj" fmla="val 16667"/>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1"/>
            <p:cNvSpPr txBox="1"/>
            <p:nvPr/>
          </p:nvSpPr>
          <p:spPr>
            <a:xfrm>
              <a:off x="4536780" y="2741597"/>
              <a:ext cx="1784536" cy="1784536"/>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None/>
              </a:pPr>
              <a:r>
                <a:rPr lang="en-US" sz="1700">
                  <a:solidFill>
                    <a:schemeClr val="lt1"/>
                  </a:solidFill>
                  <a:latin typeface="Arial"/>
                  <a:ea typeface="Arial"/>
                  <a:cs typeface="Arial"/>
                  <a:sym typeface="Arial"/>
                </a:rPr>
                <a:t>The majority of network-based symmetric cryptographic applications make use of block ciphers</a:t>
              </a:r>
              <a:endParaRPr sz="1700">
                <a:solidFill>
                  <a:schemeClr val="lt1"/>
                </a:solidFill>
                <a:latin typeface="Arial"/>
                <a:ea typeface="Arial"/>
                <a:cs typeface="Arial"/>
                <a:sym typeface="Arial"/>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2"/>
          <p:cNvSpPr txBox="1">
            <a:spLocks noGrp="1"/>
          </p:cNvSpPr>
          <p:nvPr>
            <p:ph type="title" orient="vert"/>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Stream Cipher and Block Cipher</a:t>
            </a:r>
            <a:endParaRPr/>
          </a:p>
        </p:txBody>
      </p:sp>
      <p:pic>
        <p:nvPicPr>
          <p:cNvPr id="555" name="Google Shape;555;p42" descr="f1.pdf"/>
          <p:cNvPicPr preferRelativeResize="0"/>
          <p:nvPr/>
        </p:nvPicPr>
        <p:blipFill rotWithShape="1">
          <a:blip r:embed="rId3">
            <a:alphaModFix/>
          </a:blip>
          <a:srcRect t="3636" b="16364"/>
          <a:stretch/>
        </p:blipFill>
        <p:spPr>
          <a:xfrm>
            <a:off x="533400" y="0"/>
            <a:ext cx="6624290" cy="6453336"/>
          </a:xfrm>
          <a:prstGeom prst="rect">
            <a:avLst/>
          </a:prstGeom>
          <a:noFill/>
          <a:ln>
            <a:noFill/>
          </a:ln>
        </p:spPr>
      </p:pic>
    </p:spTree>
  </p:cSld>
  <p:clrMapOvr>
    <a:masterClrMapping/>
  </p:clrMapOvr>
  <p:transition>
    <p:fade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pic>
        <p:nvPicPr>
          <p:cNvPr id="561" name="Google Shape;561;p43" descr="f2.pdf"/>
          <p:cNvPicPr preferRelativeResize="0"/>
          <p:nvPr/>
        </p:nvPicPr>
        <p:blipFill rotWithShape="1">
          <a:blip r:embed="rId3">
            <a:alphaModFix/>
          </a:blip>
          <a:srcRect/>
          <a:stretch/>
        </p:blipFill>
        <p:spPr>
          <a:xfrm>
            <a:off x="-26893" y="-228600"/>
            <a:ext cx="9170894" cy="6825952"/>
          </a:xfrm>
          <a:prstGeom prst="rect">
            <a:avLst/>
          </a:prstGeom>
          <a:noFill/>
          <a:ln>
            <a:noFill/>
          </a:ln>
        </p:spPr>
      </p:pic>
    </p:spTree>
  </p:cSld>
  <p:clrMapOvr>
    <a:masterClrMapping/>
  </p:clrMapOvr>
  <p:transition spd="med">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pic>
        <p:nvPicPr>
          <p:cNvPr id="567" name="Google Shape;567;p44"/>
          <p:cNvPicPr preferRelativeResize="0"/>
          <p:nvPr/>
        </p:nvPicPr>
        <p:blipFill rotWithShape="1">
          <a:blip r:embed="rId3">
            <a:alphaModFix/>
          </a:blip>
          <a:srcRect l="9038" t="-2236" r="9038" b="2235"/>
          <a:stretch/>
        </p:blipFill>
        <p:spPr>
          <a:xfrm>
            <a:off x="1660711" y="1052736"/>
            <a:ext cx="6249912" cy="5082250"/>
          </a:xfrm>
          <a:prstGeom prst="rect">
            <a:avLst/>
          </a:prstGeom>
          <a:noFill/>
          <a:ln>
            <a:noFill/>
          </a:ln>
        </p:spPr>
      </p:pic>
      <p:sp>
        <p:nvSpPr>
          <p:cNvPr id="568" name="Google Shape;568;p44"/>
          <p:cNvSpPr txBox="1">
            <a:spLocks noGrp="1"/>
          </p:cNvSpPr>
          <p:nvPr>
            <p:ph type="title"/>
          </p:nvPr>
        </p:nvSpPr>
        <p:spPr>
          <a:xfrm>
            <a:off x="0" y="40341"/>
            <a:ext cx="9144000" cy="1156411"/>
          </a:xfrm>
          <a:prstGeom prst="rect">
            <a:avLst/>
          </a:prstGeom>
          <a:noFill/>
          <a:ln>
            <a:noFill/>
          </a:ln>
        </p:spPr>
        <p:txBody>
          <a:bodyPr spcFirstLastPara="1" wrap="square" lIns="91425" tIns="45700" rIns="91425" bIns="45700" anchor="ctr" anchorCtr="0">
            <a:noAutofit/>
          </a:bodyPr>
          <a:lstStyle/>
          <a:p>
            <a:pPr marL="0" lvl="0" indent="0" algn="ctr" rtl="0">
              <a:lnSpc>
                <a:spcPct val="105555"/>
              </a:lnSpc>
              <a:spcBef>
                <a:spcPts val="0"/>
              </a:spcBef>
              <a:spcAft>
                <a:spcPts val="0"/>
              </a:spcAft>
              <a:buNone/>
            </a:pPr>
            <a:r>
              <a:rPr lang="en-US" sz="3600"/>
              <a:t>Table 3.1   </a:t>
            </a:r>
            <a:r>
              <a:rPr lang="en-US" sz="2400"/>
              <a:t/>
            </a:r>
            <a:br>
              <a:rPr lang="en-US" sz="2400"/>
            </a:br>
            <a:r>
              <a:rPr lang="en-US" sz="2000"/>
              <a:t>Encryption and Decryption Tables for Substitution Cipher of Fig 3.2 </a:t>
            </a:r>
            <a:endParaRPr sz="2400"/>
          </a:p>
        </p:txBody>
      </p:sp>
    </p:spTree>
  </p:cSld>
  <p:clrMapOvr>
    <a:masterClrMapping/>
  </p:clrMapOvr>
  <p:transition spd="med">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lstStyle/>
          <a:p>
            <a:r>
              <a:rPr lang="en-US" dirty="0" err="1" smtClean="0"/>
              <a:t>Mã</a:t>
            </a:r>
            <a:r>
              <a:rPr lang="en-US" dirty="0" smtClean="0"/>
              <a:t> </a:t>
            </a:r>
            <a:r>
              <a:rPr lang="en-US" dirty="0" err="1" smtClean="0"/>
              <a:t>hóa</a:t>
            </a:r>
            <a:r>
              <a:rPr lang="en-US" dirty="0" smtClean="0"/>
              <a:t> </a:t>
            </a:r>
            <a:r>
              <a:rPr lang="en-US" dirty="0" err="1" smtClean="0"/>
              <a:t>tên</a:t>
            </a:r>
            <a:r>
              <a:rPr lang="en-US" dirty="0" smtClean="0"/>
              <a:t> SV </a:t>
            </a:r>
            <a:r>
              <a:rPr lang="en-US" dirty="0" err="1" smtClean="0"/>
              <a:t>theo</a:t>
            </a:r>
            <a:r>
              <a:rPr lang="en-US" dirty="0" smtClean="0"/>
              <a:t> </a:t>
            </a:r>
            <a:r>
              <a:rPr lang="en-US" dirty="0" err="1" smtClean="0"/>
              <a:t>khối</a:t>
            </a:r>
            <a:r>
              <a:rPr lang="en-US" dirty="0" smtClean="0"/>
              <a:t> 4 bit</a:t>
            </a:r>
          </a:p>
          <a:p>
            <a:r>
              <a:rPr lang="en-US" dirty="0" err="1" smtClean="0"/>
              <a:t>Bằng</a:t>
            </a:r>
            <a:r>
              <a:rPr lang="en-US" dirty="0" smtClean="0"/>
              <a:t> </a:t>
            </a:r>
            <a:r>
              <a:rPr lang="en-US" dirty="0" err="1" smtClean="0"/>
              <a:t>kỹ</a:t>
            </a:r>
            <a:r>
              <a:rPr lang="en-US" dirty="0" smtClean="0"/>
              <a:t> </a:t>
            </a:r>
            <a:r>
              <a:rPr lang="en-US" dirty="0" err="1" smtClean="0"/>
              <a:t>thuật</a:t>
            </a:r>
            <a:r>
              <a:rPr lang="en-US" dirty="0" smtClean="0"/>
              <a:t> </a:t>
            </a:r>
            <a:r>
              <a:rPr lang="en-US" dirty="0" err="1" smtClean="0"/>
              <a:t>thay</a:t>
            </a:r>
            <a:r>
              <a:rPr lang="en-US" dirty="0" smtClean="0"/>
              <a:t> </a:t>
            </a:r>
            <a:r>
              <a:rPr lang="en-US" dirty="0" err="1" smtClean="0"/>
              <a:t>thế</a:t>
            </a:r>
            <a:r>
              <a:rPr lang="en-US" dirty="0" smtClean="0"/>
              <a:t> </a:t>
            </a:r>
            <a:endParaRPr lang="en-US" dirty="0"/>
          </a:p>
        </p:txBody>
      </p:sp>
    </p:spTree>
    <p:extLst>
      <p:ext uri="{BB962C8B-B14F-4D97-AF65-F5344CB8AC3E}">
        <p14:creationId xmlns:p14="http://schemas.microsoft.com/office/powerpoint/2010/main" val="18048107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substitution problem</a:t>
            </a:r>
            <a:endParaRPr lang="en-US" dirty="0"/>
          </a:p>
        </p:txBody>
      </p:sp>
      <p:sp>
        <p:nvSpPr>
          <p:cNvPr id="3" name="Content Placeholder 2"/>
          <p:cNvSpPr>
            <a:spLocks noGrp="1"/>
          </p:cNvSpPr>
          <p:nvPr>
            <p:ph idx="1"/>
          </p:nvPr>
        </p:nvSpPr>
        <p:spPr/>
        <p:txBody>
          <a:bodyPr/>
          <a:lstStyle/>
          <a:p>
            <a:r>
              <a:rPr lang="en-US" dirty="0" smtClean="0"/>
              <a:t>The </a:t>
            </a:r>
            <a:r>
              <a:rPr lang="en-US" dirty="0"/>
              <a:t>required key length is (4 bits) * (16 rows) = 64 bits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4662" y="2498496"/>
            <a:ext cx="4214676" cy="1864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8536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45"/>
          <p:cNvSpPr txBox="1">
            <a:spLocks noGrp="1"/>
          </p:cNvSpPr>
          <p:nvPr>
            <p:ph type="title"/>
          </p:nvPr>
        </p:nvSpPr>
        <p:spPr>
          <a:xfrm>
            <a:off x="228600" y="277813"/>
            <a:ext cx="8686800" cy="11398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Feistel Cipher</a:t>
            </a:r>
            <a:endParaRPr/>
          </a:p>
        </p:txBody>
      </p:sp>
      <p:sp>
        <p:nvSpPr>
          <p:cNvPr id="575" name="Google Shape;575;p45"/>
          <p:cNvSpPr txBox="1">
            <a:spLocks noGrp="1"/>
          </p:cNvSpPr>
          <p:nvPr>
            <p:ph idx="1"/>
          </p:nvPr>
        </p:nvSpPr>
        <p:spPr>
          <a:xfrm>
            <a:off x="827584" y="1484784"/>
            <a:ext cx="7570787" cy="4867835"/>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Font typeface="Arial"/>
              <a:buChar char="•"/>
            </a:pPr>
            <a:r>
              <a:rPr lang="en-US" dirty="0"/>
              <a:t>Proposed the use of a cipher that </a:t>
            </a:r>
            <a:r>
              <a:rPr lang="en-US" dirty="0">
                <a:solidFill>
                  <a:srgbClr val="FF0000"/>
                </a:solidFill>
              </a:rPr>
              <a:t>alternates substitutions and permutations</a:t>
            </a:r>
            <a:endParaRPr dirty="0">
              <a:solidFill>
                <a:srgbClr val="FF0000"/>
              </a:solidFill>
            </a:endParaRPr>
          </a:p>
          <a:p>
            <a:pPr marL="342900" lvl="1" indent="-189674" algn="l" rtl="0">
              <a:spcBef>
                <a:spcPts val="2400"/>
              </a:spcBef>
              <a:spcAft>
                <a:spcPts val="0"/>
              </a:spcAft>
              <a:buClr>
                <a:srgbClr val="D5ECED"/>
              </a:buClr>
              <a:buSzPct val="100000"/>
              <a:buFont typeface="Arial"/>
              <a:buNone/>
            </a:pPr>
            <a:endParaRPr sz="2839" dirty="0"/>
          </a:p>
          <a:p>
            <a:pPr marL="342900" lvl="1" indent="-189674" algn="l" rtl="0">
              <a:spcBef>
                <a:spcPts val="2400"/>
              </a:spcBef>
              <a:spcAft>
                <a:spcPts val="0"/>
              </a:spcAft>
              <a:buClr>
                <a:srgbClr val="D5ECED"/>
              </a:buClr>
              <a:buSzPct val="100000"/>
              <a:buFont typeface="Arial"/>
              <a:buNone/>
            </a:pPr>
            <a:endParaRPr sz="2839" dirty="0"/>
          </a:p>
          <a:p>
            <a:pPr marL="342900" lvl="1" indent="-189674" algn="l" rtl="0">
              <a:spcBef>
                <a:spcPts val="2400"/>
              </a:spcBef>
              <a:spcAft>
                <a:spcPts val="0"/>
              </a:spcAft>
              <a:buClr>
                <a:srgbClr val="D5ECED"/>
              </a:buClr>
              <a:buSzPct val="100000"/>
              <a:buFont typeface="Arial"/>
              <a:buNone/>
            </a:pPr>
            <a:endParaRPr sz="2839" dirty="0"/>
          </a:p>
          <a:p>
            <a:pPr marL="342900" lvl="1" indent="-342909" algn="l" rtl="0">
              <a:spcBef>
                <a:spcPts val="2400"/>
              </a:spcBef>
              <a:spcAft>
                <a:spcPts val="0"/>
              </a:spcAft>
              <a:buClr>
                <a:srgbClr val="D5ECED"/>
              </a:buClr>
              <a:buSzPct val="100000"/>
              <a:buFont typeface="Arial"/>
              <a:buChar char="–"/>
            </a:pPr>
            <a:r>
              <a:rPr lang="en-US" sz="2839" dirty="0"/>
              <a:t>Is a practical application of a proposal by Claude Shannon to develop a product cipher that alternates </a:t>
            </a:r>
            <a:r>
              <a:rPr lang="en-US" sz="2839" dirty="0">
                <a:solidFill>
                  <a:srgbClr val="FF0000"/>
                </a:solidFill>
              </a:rPr>
              <a:t>confusion</a:t>
            </a:r>
            <a:r>
              <a:rPr lang="en-US" sz="2839" dirty="0"/>
              <a:t> and </a:t>
            </a:r>
            <a:r>
              <a:rPr lang="en-US" sz="2839" dirty="0">
                <a:solidFill>
                  <a:srgbClr val="FF0000"/>
                </a:solidFill>
              </a:rPr>
              <a:t>diffusion</a:t>
            </a:r>
            <a:r>
              <a:rPr lang="en-US" sz="2839" dirty="0"/>
              <a:t> functions </a:t>
            </a:r>
            <a:endParaRPr dirty="0"/>
          </a:p>
          <a:p>
            <a:pPr marL="342900" lvl="1" indent="-342909" algn="l" rtl="0">
              <a:spcBef>
                <a:spcPts val="2400"/>
              </a:spcBef>
              <a:spcAft>
                <a:spcPts val="0"/>
              </a:spcAft>
              <a:buClr>
                <a:srgbClr val="D5ECED"/>
              </a:buClr>
              <a:buSzPct val="100000"/>
              <a:buFont typeface="Arial"/>
              <a:buChar char="–"/>
            </a:pPr>
            <a:r>
              <a:rPr lang="en-US" sz="2839" dirty="0"/>
              <a:t>Is the structure used by many significant symmetric block ciphers currently in use</a:t>
            </a:r>
            <a:endParaRPr dirty="0"/>
          </a:p>
        </p:txBody>
      </p:sp>
      <p:grpSp>
        <p:nvGrpSpPr>
          <p:cNvPr id="576" name="Google Shape;576;p45"/>
          <p:cNvGrpSpPr/>
          <p:nvPr/>
        </p:nvGrpSpPr>
        <p:grpSpPr>
          <a:xfrm>
            <a:off x="1026022" y="2314248"/>
            <a:ext cx="7010399" cy="1879141"/>
            <a:chOff x="0" y="229"/>
            <a:chExt cx="7010399" cy="1879141"/>
          </a:xfrm>
        </p:grpSpPr>
        <p:sp>
          <p:nvSpPr>
            <p:cNvPr id="577" name="Google Shape;577;p45"/>
            <p:cNvSpPr/>
            <p:nvPr/>
          </p:nvSpPr>
          <p:spPr>
            <a:xfrm>
              <a:off x="2804159" y="229"/>
              <a:ext cx="4206240" cy="894829"/>
            </a:xfrm>
            <a:prstGeom prst="rightArrow">
              <a:avLst>
                <a:gd name="adj1" fmla="val 75000"/>
                <a:gd name="adj2" fmla="val 50000"/>
              </a:avLst>
            </a:prstGeom>
            <a:solidFill>
              <a:srgbClr val="E7F2F3">
                <a:alpha val="89803"/>
              </a:srgbClr>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5"/>
            <p:cNvSpPr txBox="1"/>
            <p:nvPr/>
          </p:nvSpPr>
          <p:spPr>
            <a:xfrm>
              <a:off x="2804159" y="112083"/>
              <a:ext cx="3870679" cy="671121"/>
            </a:xfrm>
            <a:prstGeom prst="rect">
              <a:avLst/>
            </a:prstGeom>
            <a:noFill/>
            <a:ln>
              <a:noFill/>
            </a:ln>
          </p:spPr>
          <p:txBody>
            <a:bodyPr spcFirstLastPara="1" wrap="square" lIns="8875" tIns="8875" rIns="8875" bIns="8875" anchor="t" anchorCtr="0">
              <a:noAutofit/>
            </a:bodyPr>
            <a:lstStyle/>
            <a:p>
              <a:pPr marL="114300" marR="0" lvl="1" indent="-114300" algn="l" rtl="0">
                <a:lnSpc>
                  <a:spcPct val="9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Arial"/>
                  <a:ea typeface="Arial"/>
                  <a:cs typeface="Arial"/>
                  <a:sym typeface="Arial"/>
                </a:rPr>
                <a:t>Each plaintext element or group of elements is uniquely </a:t>
              </a:r>
              <a:r>
                <a:rPr lang="en-US" sz="1400" b="0" i="0" u="none" strike="noStrike" cap="none" dirty="0">
                  <a:solidFill>
                    <a:srgbClr val="FF0000"/>
                  </a:solidFill>
                  <a:latin typeface="Arial"/>
                  <a:ea typeface="Arial"/>
                  <a:cs typeface="Arial"/>
                  <a:sym typeface="Arial"/>
                </a:rPr>
                <a:t>replaced</a:t>
              </a:r>
              <a:r>
                <a:rPr lang="en-US" sz="1400" b="0" i="0" u="none" strike="noStrike" cap="none" dirty="0">
                  <a:solidFill>
                    <a:schemeClr val="dk1"/>
                  </a:solidFill>
                  <a:latin typeface="Arial"/>
                  <a:ea typeface="Arial"/>
                  <a:cs typeface="Arial"/>
                  <a:sym typeface="Arial"/>
                </a:rPr>
                <a:t> by a corresponding </a:t>
              </a:r>
              <a:r>
                <a:rPr lang="en-US" sz="1400" b="0" i="0" u="none" strike="noStrike" cap="none" dirty="0" err="1">
                  <a:solidFill>
                    <a:schemeClr val="dk1"/>
                  </a:solidFill>
                  <a:latin typeface="Arial"/>
                  <a:ea typeface="Arial"/>
                  <a:cs typeface="Arial"/>
                  <a:sym typeface="Arial"/>
                </a:rPr>
                <a:t>ciphertext</a:t>
              </a:r>
              <a:r>
                <a:rPr lang="en-US" sz="1400" b="0" i="0" u="none" strike="noStrike" cap="none" dirty="0">
                  <a:solidFill>
                    <a:schemeClr val="dk1"/>
                  </a:solidFill>
                  <a:latin typeface="Arial"/>
                  <a:ea typeface="Arial"/>
                  <a:cs typeface="Arial"/>
                  <a:sym typeface="Arial"/>
                </a:rPr>
                <a:t> element or group of elements</a:t>
              </a:r>
              <a:endParaRPr dirty="0"/>
            </a:p>
          </p:txBody>
        </p:sp>
        <p:sp>
          <p:nvSpPr>
            <p:cNvPr id="579" name="Google Shape;579;p45"/>
            <p:cNvSpPr/>
            <p:nvPr/>
          </p:nvSpPr>
          <p:spPr>
            <a:xfrm>
              <a:off x="0" y="229"/>
              <a:ext cx="2804160" cy="894829"/>
            </a:xfrm>
            <a:prstGeom prst="roundRect">
              <a:avLst>
                <a:gd name="adj" fmla="val 16667"/>
              </a:avLst>
            </a:prstGeom>
            <a:gradFill>
              <a:gsLst>
                <a:gs pos="0">
                  <a:srgbClr val="000000"/>
                </a:gs>
                <a:gs pos="20000">
                  <a:srgbClr val="000040"/>
                </a:gs>
                <a:gs pos="50000">
                  <a:srgbClr val="400040"/>
                </a:gs>
                <a:gs pos="75000">
                  <a:srgbClr val="8F0040"/>
                </a:gs>
                <a:gs pos="89999">
                  <a:srgbClr val="F27300"/>
                </a:gs>
                <a:gs pos="100000">
                  <a:srgbClr val="FFBF00"/>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5"/>
            <p:cNvSpPr txBox="1"/>
            <p:nvPr/>
          </p:nvSpPr>
          <p:spPr>
            <a:xfrm>
              <a:off x="43682" y="43911"/>
              <a:ext cx="2716796" cy="807465"/>
            </a:xfrm>
            <a:prstGeom prst="rect">
              <a:avLst/>
            </a:prstGeom>
            <a:noFill/>
            <a:ln>
              <a:noFill/>
            </a:ln>
          </p:spPr>
          <p:txBody>
            <a:bodyPr spcFirstLastPara="1" wrap="square" lIns="121900" tIns="60950" rIns="121900" bIns="60950" anchor="ctr" anchorCtr="0">
              <a:noAutofit/>
            </a:bodyPr>
            <a:lstStyle/>
            <a:p>
              <a:pPr marL="0" marR="0" lvl="0" indent="0" algn="ctr" rtl="0">
                <a:lnSpc>
                  <a:spcPct val="90000"/>
                </a:lnSpc>
                <a:spcBef>
                  <a:spcPts val="0"/>
                </a:spcBef>
                <a:spcAft>
                  <a:spcPts val="0"/>
                </a:spcAft>
                <a:buNone/>
              </a:pPr>
              <a:r>
                <a:rPr lang="en-US" sz="3200">
                  <a:solidFill>
                    <a:schemeClr val="lt1"/>
                  </a:solidFill>
                  <a:latin typeface="Arial"/>
                  <a:ea typeface="Arial"/>
                  <a:cs typeface="Arial"/>
                  <a:sym typeface="Arial"/>
                </a:rPr>
                <a:t>Substitutions</a:t>
              </a:r>
              <a:endParaRPr sz="3200">
                <a:solidFill>
                  <a:schemeClr val="lt1"/>
                </a:solidFill>
                <a:latin typeface="Arial"/>
                <a:ea typeface="Arial"/>
                <a:cs typeface="Arial"/>
                <a:sym typeface="Arial"/>
              </a:endParaRPr>
            </a:p>
          </p:txBody>
        </p:sp>
        <p:sp>
          <p:nvSpPr>
            <p:cNvPr id="581" name="Google Shape;581;p45"/>
            <p:cNvSpPr/>
            <p:nvPr/>
          </p:nvSpPr>
          <p:spPr>
            <a:xfrm>
              <a:off x="2804159" y="984541"/>
              <a:ext cx="4206240" cy="894829"/>
            </a:xfrm>
            <a:prstGeom prst="rightArrow">
              <a:avLst>
                <a:gd name="adj1" fmla="val 75000"/>
                <a:gd name="adj2" fmla="val 50000"/>
              </a:avLst>
            </a:prstGeom>
            <a:solidFill>
              <a:srgbClr val="E7F2F3">
                <a:alpha val="89803"/>
              </a:srgbClr>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5"/>
            <p:cNvSpPr txBox="1"/>
            <p:nvPr/>
          </p:nvSpPr>
          <p:spPr>
            <a:xfrm>
              <a:off x="2804159" y="1096395"/>
              <a:ext cx="3870679" cy="671121"/>
            </a:xfrm>
            <a:prstGeom prst="rect">
              <a:avLst/>
            </a:prstGeom>
            <a:noFill/>
            <a:ln>
              <a:noFill/>
            </a:ln>
          </p:spPr>
          <p:txBody>
            <a:bodyPr spcFirstLastPara="1" wrap="square" lIns="8875" tIns="8875" rIns="8875" bIns="8875" anchor="t" anchorCtr="0">
              <a:noAutofit/>
            </a:bodyPr>
            <a:lstStyle/>
            <a:p>
              <a:pPr marL="114300" marR="0" lvl="1" indent="-114300" algn="l" rtl="0">
                <a:lnSpc>
                  <a:spcPct val="9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Arial"/>
                  <a:ea typeface="Arial"/>
                  <a:cs typeface="Arial"/>
                  <a:sym typeface="Arial"/>
                </a:rPr>
                <a:t>No elements are added or deleted or replaced in the sequence, rather the order in which the </a:t>
              </a:r>
              <a:r>
                <a:rPr lang="en-US" sz="1400" b="0" i="0" u="none" strike="noStrike" cap="none" dirty="0">
                  <a:solidFill>
                    <a:srgbClr val="FF0000"/>
                  </a:solidFill>
                  <a:sym typeface="Arial"/>
                </a:rPr>
                <a:t>elements appear in the sequence is changed</a:t>
              </a:r>
              <a:endParaRPr dirty="0">
                <a:solidFill>
                  <a:srgbClr val="FF0000"/>
                </a:solidFill>
              </a:endParaRPr>
            </a:p>
          </p:txBody>
        </p:sp>
        <p:sp>
          <p:nvSpPr>
            <p:cNvPr id="583" name="Google Shape;583;p45"/>
            <p:cNvSpPr/>
            <p:nvPr/>
          </p:nvSpPr>
          <p:spPr>
            <a:xfrm>
              <a:off x="0" y="984541"/>
              <a:ext cx="2804160" cy="894829"/>
            </a:xfrm>
            <a:prstGeom prst="roundRect">
              <a:avLst>
                <a:gd name="adj" fmla="val 16667"/>
              </a:avLst>
            </a:prstGeom>
            <a:gradFill>
              <a:gsLst>
                <a:gs pos="0">
                  <a:srgbClr val="000000"/>
                </a:gs>
                <a:gs pos="20000">
                  <a:srgbClr val="000040"/>
                </a:gs>
                <a:gs pos="50000">
                  <a:srgbClr val="400040"/>
                </a:gs>
                <a:gs pos="75000">
                  <a:srgbClr val="8F0040"/>
                </a:gs>
                <a:gs pos="89999">
                  <a:srgbClr val="F27300"/>
                </a:gs>
                <a:gs pos="100000">
                  <a:srgbClr val="FFBF00"/>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5"/>
            <p:cNvSpPr txBox="1"/>
            <p:nvPr/>
          </p:nvSpPr>
          <p:spPr>
            <a:xfrm>
              <a:off x="43682" y="1028223"/>
              <a:ext cx="2716796" cy="807465"/>
            </a:xfrm>
            <a:prstGeom prst="rect">
              <a:avLst/>
            </a:prstGeom>
            <a:noFill/>
            <a:ln>
              <a:noFill/>
            </a:ln>
          </p:spPr>
          <p:txBody>
            <a:bodyPr spcFirstLastPara="1" wrap="square" lIns="121900" tIns="60950" rIns="121900" bIns="60950" anchor="ctr" anchorCtr="0">
              <a:noAutofit/>
            </a:bodyPr>
            <a:lstStyle/>
            <a:p>
              <a:pPr marL="0" marR="0" lvl="0" indent="0" algn="ctr" rtl="0">
                <a:lnSpc>
                  <a:spcPct val="90000"/>
                </a:lnSpc>
                <a:spcBef>
                  <a:spcPts val="0"/>
                </a:spcBef>
                <a:spcAft>
                  <a:spcPts val="0"/>
                </a:spcAft>
                <a:buNone/>
              </a:pPr>
              <a:r>
                <a:rPr lang="en-US" sz="3200" dirty="0">
                  <a:solidFill>
                    <a:schemeClr val="lt1"/>
                  </a:solidFill>
                  <a:latin typeface="Arial"/>
                  <a:ea typeface="Arial"/>
                  <a:cs typeface="Arial"/>
                  <a:sym typeface="Arial"/>
                </a:rPr>
                <a:t>Permutation </a:t>
              </a:r>
              <a:endParaRPr sz="3200" dirty="0">
                <a:solidFill>
                  <a:schemeClr val="lt1"/>
                </a:solidFill>
                <a:latin typeface="Arial"/>
                <a:ea typeface="Arial"/>
                <a:cs typeface="Arial"/>
                <a:sym typeface="Arial"/>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46"/>
          <p:cNvSpPr txBox="1">
            <a:spLocks noGrp="1"/>
          </p:cNvSpPr>
          <p:nvPr>
            <p:ph type="title"/>
          </p:nvPr>
        </p:nvSpPr>
        <p:spPr>
          <a:xfrm>
            <a:off x="457200" y="274638"/>
            <a:ext cx="8229600" cy="85010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Diffusion and Confusion</a:t>
            </a:r>
            <a:endParaRPr/>
          </a:p>
        </p:txBody>
      </p:sp>
      <p:sp>
        <p:nvSpPr>
          <p:cNvPr id="591" name="Google Shape;591;p46"/>
          <p:cNvSpPr txBox="1">
            <a:spLocks noGrp="1"/>
          </p:cNvSpPr>
          <p:nvPr>
            <p:ph idx="1"/>
          </p:nvPr>
        </p:nvSpPr>
        <p:spPr>
          <a:xfrm>
            <a:off x="827584" y="1340768"/>
            <a:ext cx="7570787" cy="1819835"/>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Font typeface="Arial"/>
              <a:buChar char="•"/>
            </a:pPr>
            <a:r>
              <a:rPr lang="en-US" dirty="0"/>
              <a:t>Terms introduced by Claude Shannon to capture the two basic building blocks for any cryptographic system</a:t>
            </a:r>
            <a:endParaRPr dirty="0"/>
          </a:p>
          <a:p>
            <a:pPr marL="742950" lvl="1" indent="-285750" algn="l" rtl="0">
              <a:spcBef>
                <a:spcPts val="476"/>
              </a:spcBef>
              <a:spcAft>
                <a:spcPts val="0"/>
              </a:spcAft>
              <a:buClr>
                <a:schemeClr val="dk1"/>
              </a:buClr>
              <a:buSzPct val="100000"/>
              <a:buFont typeface="Arial"/>
              <a:buChar char="–"/>
            </a:pPr>
            <a:r>
              <a:rPr lang="en-US" dirty="0"/>
              <a:t>Shannon’s concern was to thwart cryptanalysis based on statistical analysis</a:t>
            </a:r>
            <a:endParaRPr dirty="0"/>
          </a:p>
        </p:txBody>
      </p:sp>
      <p:grpSp>
        <p:nvGrpSpPr>
          <p:cNvPr id="592" name="Google Shape;592;p46"/>
          <p:cNvGrpSpPr/>
          <p:nvPr/>
        </p:nvGrpSpPr>
        <p:grpSpPr>
          <a:xfrm>
            <a:off x="949822" y="3183312"/>
            <a:ext cx="7772400" cy="3002581"/>
            <a:chOff x="0" y="98909"/>
            <a:chExt cx="7772400" cy="3002581"/>
          </a:xfrm>
        </p:grpSpPr>
        <p:sp>
          <p:nvSpPr>
            <p:cNvPr id="593" name="Google Shape;593;p46"/>
            <p:cNvSpPr/>
            <p:nvPr/>
          </p:nvSpPr>
          <p:spPr>
            <a:xfrm>
              <a:off x="0" y="305549"/>
              <a:ext cx="7772400" cy="1168650"/>
            </a:xfrm>
            <a:prstGeom prst="rect">
              <a:avLst/>
            </a:prstGeom>
            <a:solidFill>
              <a:schemeClr val="lt1">
                <a:alpha val="89803"/>
              </a:scheme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6"/>
            <p:cNvSpPr txBox="1"/>
            <p:nvPr/>
          </p:nvSpPr>
          <p:spPr>
            <a:xfrm>
              <a:off x="0" y="305549"/>
              <a:ext cx="7772400" cy="1168650"/>
            </a:xfrm>
            <a:prstGeom prst="rect">
              <a:avLst/>
            </a:prstGeom>
            <a:noFill/>
            <a:ln>
              <a:noFill/>
            </a:ln>
          </p:spPr>
          <p:txBody>
            <a:bodyPr spcFirstLastPara="1" wrap="square" lIns="603225" tIns="291575" rIns="603225" bIns="99550" anchor="t" anchorCtr="0">
              <a:noAutofit/>
            </a:bodyPr>
            <a:lstStyle/>
            <a:p>
              <a:pPr marL="114300" marR="0" lvl="1" indent="-114300" algn="l" rtl="0">
                <a:lnSpc>
                  <a:spcPct val="9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Arial"/>
                  <a:ea typeface="Arial"/>
                  <a:cs typeface="Arial"/>
                  <a:sym typeface="Arial"/>
                </a:rPr>
                <a:t>The statistical structure of the plaintext is dissipated into long-range statistics of the </a:t>
              </a:r>
              <a:r>
                <a:rPr lang="en-US" sz="1400" b="0" i="0" u="none" strike="noStrike" cap="none" dirty="0" err="1">
                  <a:solidFill>
                    <a:schemeClr val="dk1"/>
                  </a:solidFill>
                  <a:latin typeface="Arial"/>
                  <a:ea typeface="Arial"/>
                  <a:cs typeface="Arial"/>
                  <a:sym typeface="Arial"/>
                </a:rPr>
                <a:t>ciphertext</a:t>
              </a:r>
              <a:endParaRPr sz="1400" b="0" i="0" u="none" strike="noStrike" cap="none" dirty="0">
                <a:solidFill>
                  <a:schemeClr val="dk1"/>
                </a:solidFill>
                <a:latin typeface="Arial"/>
                <a:ea typeface="Arial"/>
                <a:cs typeface="Arial"/>
                <a:sym typeface="Arial"/>
              </a:endParaRPr>
            </a:p>
            <a:p>
              <a:pPr marL="114300" marR="0" lvl="1" indent="-114300" algn="l" rtl="0">
                <a:lnSpc>
                  <a:spcPct val="90000"/>
                </a:lnSpc>
                <a:spcBef>
                  <a:spcPts val="210"/>
                </a:spcBef>
                <a:spcAft>
                  <a:spcPts val="0"/>
                </a:spcAft>
                <a:buClr>
                  <a:schemeClr val="dk1"/>
                </a:buClr>
                <a:buSzPts val="1400"/>
                <a:buFont typeface="Arial"/>
                <a:buChar char="•"/>
              </a:pPr>
              <a:r>
                <a:rPr lang="en-US" sz="1400" b="0" i="0" u="none" strike="noStrike" cap="none" dirty="0">
                  <a:solidFill>
                    <a:schemeClr val="dk1"/>
                  </a:solidFill>
                  <a:latin typeface="Arial"/>
                  <a:ea typeface="Arial"/>
                  <a:cs typeface="Arial"/>
                  <a:sym typeface="Arial"/>
                </a:rPr>
                <a:t>This is achieved by having each plaintext digit affect the value of many </a:t>
              </a:r>
              <a:r>
                <a:rPr lang="en-US" sz="1400" b="0" i="0" u="none" strike="noStrike" cap="none" dirty="0" err="1">
                  <a:solidFill>
                    <a:schemeClr val="dk1"/>
                  </a:solidFill>
                  <a:latin typeface="Arial"/>
                  <a:ea typeface="Arial"/>
                  <a:cs typeface="Arial"/>
                  <a:sym typeface="Arial"/>
                </a:rPr>
                <a:t>ciphertext</a:t>
              </a:r>
              <a:r>
                <a:rPr lang="en-US" sz="1400" b="0" i="0" u="none" strike="noStrike" cap="none" dirty="0">
                  <a:solidFill>
                    <a:schemeClr val="dk1"/>
                  </a:solidFill>
                  <a:latin typeface="Arial"/>
                  <a:ea typeface="Arial"/>
                  <a:cs typeface="Arial"/>
                  <a:sym typeface="Arial"/>
                </a:rPr>
                <a:t> digits</a:t>
              </a:r>
              <a:endParaRPr sz="1400" b="0" i="0" u="none" strike="noStrike" cap="none" dirty="0">
                <a:solidFill>
                  <a:schemeClr val="dk1"/>
                </a:solidFill>
                <a:latin typeface="Arial"/>
                <a:ea typeface="Arial"/>
                <a:cs typeface="Arial"/>
                <a:sym typeface="Arial"/>
              </a:endParaRPr>
            </a:p>
          </p:txBody>
        </p:sp>
        <p:sp>
          <p:nvSpPr>
            <p:cNvPr id="595" name="Google Shape;595;p46"/>
            <p:cNvSpPr/>
            <p:nvPr/>
          </p:nvSpPr>
          <p:spPr>
            <a:xfrm>
              <a:off x="388620" y="98909"/>
              <a:ext cx="5440680" cy="413280"/>
            </a:xfrm>
            <a:prstGeom prst="roundRect">
              <a:avLst>
                <a:gd name="adj" fmla="val 16667"/>
              </a:avLst>
            </a:prstGeom>
            <a:gradFill>
              <a:gsLst>
                <a:gs pos="0">
                  <a:srgbClr val="03D4A8"/>
                </a:gs>
                <a:gs pos="25000">
                  <a:srgbClr val="21D6E0"/>
                </a:gs>
                <a:gs pos="75000">
                  <a:srgbClr val="0087E6"/>
                </a:gs>
                <a:gs pos="100000">
                  <a:srgbClr val="005CBF"/>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6"/>
            <p:cNvSpPr txBox="1"/>
            <p:nvPr/>
          </p:nvSpPr>
          <p:spPr>
            <a:xfrm>
              <a:off x="408795" y="119084"/>
              <a:ext cx="5400330" cy="372930"/>
            </a:xfrm>
            <a:prstGeom prst="rect">
              <a:avLst/>
            </a:prstGeom>
            <a:noFill/>
            <a:ln>
              <a:noFill/>
            </a:ln>
          </p:spPr>
          <p:txBody>
            <a:bodyPr spcFirstLastPara="1" wrap="square" lIns="205625" tIns="0" rIns="205625" bIns="0" anchor="ctr" anchorCtr="0">
              <a:noAutofit/>
            </a:bodyPr>
            <a:lstStyle/>
            <a:p>
              <a:pPr marL="0" marR="0" lvl="0" indent="0" algn="l" rtl="0">
                <a:lnSpc>
                  <a:spcPct val="90000"/>
                </a:lnSpc>
                <a:spcBef>
                  <a:spcPts val="0"/>
                </a:spcBef>
                <a:spcAft>
                  <a:spcPts val="0"/>
                </a:spcAft>
                <a:buNone/>
              </a:pPr>
              <a:r>
                <a:rPr lang="en-US" sz="1800" b="1" i="0">
                  <a:solidFill>
                    <a:schemeClr val="lt1"/>
                  </a:solidFill>
                  <a:latin typeface="Arial"/>
                  <a:ea typeface="Arial"/>
                  <a:cs typeface="Arial"/>
                  <a:sym typeface="Arial"/>
                </a:rPr>
                <a:t>Diffusion</a:t>
              </a:r>
              <a:endParaRPr sz="1800" b="1" i="0">
                <a:solidFill>
                  <a:schemeClr val="lt1"/>
                </a:solidFill>
                <a:latin typeface="Arial"/>
                <a:ea typeface="Arial"/>
                <a:cs typeface="Arial"/>
                <a:sym typeface="Arial"/>
              </a:endParaRPr>
            </a:p>
          </p:txBody>
        </p:sp>
        <p:sp>
          <p:nvSpPr>
            <p:cNvPr id="597" name="Google Shape;597;p46"/>
            <p:cNvSpPr/>
            <p:nvPr/>
          </p:nvSpPr>
          <p:spPr>
            <a:xfrm>
              <a:off x="0" y="1756440"/>
              <a:ext cx="7772400" cy="1345050"/>
            </a:xfrm>
            <a:prstGeom prst="rect">
              <a:avLst/>
            </a:prstGeom>
            <a:solidFill>
              <a:schemeClr val="lt1">
                <a:alpha val="89803"/>
              </a:scheme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6"/>
            <p:cNvSpPr txBox="1"/>
            <p:nvPr/>
          </p:nvSpPr>
          <p:spPr>
            <a:xfrm>
              <a:off x="0" y="1756440"/>
              <a:ext cx="7772400" cy="1345050"/>
            </a:xfrm>
            <a:prstGeom prst="rect">
              <a:avLst/>
            </a:prstGeom>
            <a:noFill/>
            <a:ln>
              <a:noFill/>
            </a:ln>
          </p:spPr>
          <p:txBody>
            <a:bodyPr spcFirstLastPara="1" wrap="square" lIns="603225" tIns="291575" rIns="603225" bIns="99550" anchor="t" anchorCtr="0">
              <a:noAutofit/>
            </a:bodyPr>
            <a:lstStyle/>
            <a:p>
              <a:pPr marL="114300" marR="0" lvl="1" indent="-114300" algn="l" rtl="0">
                <a:lnSpc>
                  <a:spcPct val="9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Seeks to make the relationship between the statistics of the ciphertext and the value of the encryption key as complex as possible </a:t>
              </a:r>
              <a:endParaRPr sz="1400" b="0" i="0" u="none" strike="noStrike" cap="none">
                <a:solidFill>
                  <a:schemeClr val="dk1"/>
                </a:solidFill>
                <a:latin typeface="Arial"/>
                <a:ea typeface="Arial"/>
                <a:cs typeface="Arial"/>
                <a:sym typeface="Arial"/>
              </a:endParaRPr>
            </a:p>
            <a:p>
              <a:pPr marL="114300" marR="0" lvl="1" indent="-114300" algn="l" rtl="0">
                <a:lnSpc>
                  <a:spcPct val="9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Even if the attacker can get some handle on the statistics of the ciphertext, the way in which the key was used to produce that ciphertext is so complex as to make it difficult to deduce the key</a:t>
              </a:r>
              <a:endParaRPr sz="1400" b="0" i="0" u="none" strike="noStrike" cap="none">
                <a:solidFill>
                  <a:schemeClr val="dk1"/>
                </a:solidFill>
                <a:latin typeface="Arial"/>
                <a:ea typeface="Arial"/>
                <a:cs typeface="Arial"/>
                <a:sym typeface="Arial"/>
              </a:endParaRPr>
            </a:p>
          </p:txBody>
        </p:sp>
        <p:sp>
          <p:nvSpPr>
            <p:cNvPr id="599" name="Google Shape;599;p46"/>
            <p:cNvSpPr/>
            <p:nvPr/>
          </p:nvSpPr>
          <p:spPr>
            <a:xfrm>
              <a:off x="388620" y="1549799"/>
              <a:ext cx="5440680" cy="413280"/>
            </a:xfrm>
            <a:prstGeom prst="roundRect">
              <a:avLst>
                <a:gd name="adj" fmla="val 16667"/>
              </a:avLst>
            </a:prstGeom>
            <a:gradFill>
              <a:gsLst>
                <a:gs pos="0">
                  <a:srgbClr val="03D4A8"/>
                </a:gs>
                <a:gs pos="25000">
                  <a:srgbClr val="21D6E0"/>
                </a:gs>
                <a:gs pos="75000">
                  <a:srgbClr val="0087E6"/>
                </a:gs>
                <a:gs pos="100000">
                  <a:srgbClr val="005CBF"/>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6"/>
            <p:cNvSpPr txBox="1"/>
            <p:nvPr/>
          </p:nvSpPr>
          <p:spPr>
            <a:xfrm>
              <a:off x="408795" y="1569974"/>
              <a:ext cx="5400330" cy="372930"/>
            </a:xfrm>
            <a:prstGeom prst="rect">
              <a:avLst/>
            </a:prstGeom>
            <a:noFill/>
            <a:ln>
              <a:noFill/>
            </a:ln>
          </p:spPr>
          <p:txBody>
            <a:bodyPr spcFirstLastPara="1" wrap="square" lIns="205625" tIns="0" rIns="205625" bIns="0" anchor="ctr" anchorCtr="0">
              <a:noAutofit/>
            </a:bodyPr>
            <a:lstStyle/>
            <a:p>
              <a:pPr marL="0" marR="0" lvl="0" indent="0" algn="l" rtl="0">
                <a:lnSpc>
                  <a:spcPct val="90000"/>
                </a:lnSpc>
                <a:spcBef>
                  <a:spcPts val="0"/>
                </a:spcBef>
                <a:spcAft>
                  <a:spcPts val="0"/>
                </a:spcAft>
                <a:buNone/>
              </a:pPr>
              <a:r>
                <a:rPr lang="en-US" sz="1800" b="1" i="0">
                  <a:solidFill>
                    <a:schemeClr val="lt1"/>
                  </a:solidFill>
                  <a:latin typeface="Arial"/>
                  <a:ea typeface="Arial"/>
                  <a:cs typeface="Arial"/>
                  <a:sym typeface="Arial"/>
                </a:rPr>
                <a:t>Confusion</a:t>
              </a:r>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47"/>
          <p:cNvSpPr txBox="1">
            <a:spLocks noGrp="1"/>
          </p:cNvSpPr>
          <p:nvPr>
            <p:ph type="title"/>
          </p:nvPr>
        </p:nvSpPr>
        <p:spPr>
          <a:xfrm>
            <a:off x="381000" y="609600"/>
            <a:ext cx="3612776" cy="20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Feistel Cipher Structure</a:t>
            </a:r>
            <a:endParaRPr/>
          </a:p>
        </p:txBody>
      </p:sp>
      <p:pic>
        <p:nvPicPr>
          <p:cNvPr id="607" name="Google Shape;607;p47" descr="f3.pdf"/>
          <p:cNvPicPr preferRelativeResize="0"/>
          <p:nvPr/>
        </p:nvPicPr>
        <p:blipFill rotWithShape="1">
          <a:blip r:embed="rId3">
            <a:alphaModFix/>
          </a:blip>
          <a:srcRect t="3213" b="4257"/>
          <a:stretch/>
        </p:blipFill>
        <p:spPr>
          <a:xfrm>
            <a:off x="3425455" y="0"/>
            <a:ext cx="5531257" cy="6566053"/>
          </a:xfrm>
          <a:prstGeom prst="rect">
            <a:avLst/>
          </a:prstGeom>
          <a:noFill/>
          <a:ln>
            <a:noFill/>
          </a:ln>
        </p:spPr>
      </p:pic>
    </p:spTree>
  </p:cSld>
  <p:clrMapOvr>
    <a:masterClrMapping/>
  </p:clrMapOvr>
  <p:transition>
    <p:fade thruBlk="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4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Feistel Cipher Design Features</a:t>
            </a:r>
            <a:endParaRPr/>
          </a:p>
        </p:txBody>
      </p:sp>
      <p:sp>
        <p:nvSpPr>
          <p:cNvPr id="614" name="Google Shape;614;p48"/>
          <p:cNvSpPr txBox="1">
            <a:spLocks noGrp="1"/>
          </p:cNvSpPr>
          <p:nvPr>
            <p:ph sz="half" idx="1"/>
          </p:nvPr>
        </p:nvSpPr>
        <p:spPr>
          <a:xfrm>
            <a:off x="827584" y="1556792"/>
            <a:ext cx="3566160" cy="4953000"/>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Font typeface="Arial"/>
              <a:buChar char="•"/>
            </a:pPr>
            <a:r>
              <a:rPr lang="en-US"/>
              <a:t>Block size</a:t>
            </a:r>
            <a:endParaRPr/>
          </a:p>
          <a:p>
            <a:pPr marL="742950" lvl="1" indent="-285750" algn="l" rtl="0">
              <a:spcBef>
                <a:spcPts val="300"/>
              </a:spcBef>
              <a:spcAft>
                <a:spcPts val="0"/>
              </a:spcAft>
              <a:buClr>
                <a:schemeClr val="dk1"/>
              </a:buClr>
              <a:buSzPct val="100000"/>
              <a:buFont typeface="Arial"/>
              <a:buChar char="–"/>
            </a:pPr>
            <a:r>
              <a:rPr lang="en-US"/>
              <a:t>Larger block sizes mean greater security but reduced encryption/decryption speed for a given algorithm</a:t>
            </a:r>
            <a:endParaRPr/>
          </a:p>
          <a:p>
            <a:pPr marL="342900" lvl="0" indent="-342900" algn="l" rtl="0">
              <a:spcBef>
                <a:spcPts val="350"/>
              </a:spcBef>
              <a:spcAft>
                <a:spcPts val="0"/>
              </a:spcAft>
              <a:buClr>
                <a:schemeClr val="dk1"/>
              </a:buClr>
              <a:buSzPct val="100000"/>
              <a:buFont typeface="Arial"/>
              <a:buChar char="•"/>
            </a:pPr>
            <a:r>
              <a:rPr lang="en-US"/>
              <a:t>Key size</a:t>
            </a:r>
            <a:endParaRPr/>
          </a:p>
          <a:p>
            <a:pPr marL="742950" lvl="1" indent="-285750" algn="l" rtl="0">
              <a:spcBef>
                <a:spcPts val="300"/>
              </a:spcBef>
              <a:spcAft>
                <a:spcPts val="0"/>
              </a:spcAft>
              <a:buClr>
                <a:schemeClr val="dk1"/>
              </a:buClr>
              <a:buSzPct val="100000"/>
              <a:buFont typeface="Arial"/>
              <a:buChar char="–"/>
            </a:pPr>
            <a:r>
              <a:rPr lang="en-US"/>
              <a:t>Larger key size means greater security but may decrease encryption/decryption speeds</a:t>
            </a:r>
            <a:endParaRPr/>
          </a:p>
          <a:p>
            <a:pPr marL="342900" lvl="0" indent="-342900" algn="l" rtl="0">
              <a:spcBef>
                <a:spcPts val="350"/>
              </a:spcBef>
              <a:spcAft>
                <a:spcPts val="0"/>
              </a:spcAft>
              <a:buClr>
                <a:schemeClr val="dk1"/>
              </a:buClr>
              <a:buSzPct val="100000"/>
              <a:buFont typeface="Arial"/>
              <a:buChar char="•"/>
            </a:pPr>
            <a:r>
              <a:rPr lang="en-US"/>
              <a:t>Number of rounds</a:t>
            </a:r>
            <a:endParaRPr/>
          </a:p>
          <a:p>
            <a:pPr marL="742950" lvl="1" indent="-285750" algn="l" rtl="0">
              <a:spcBef>
                <a:spcPts val="300"/>
              </a:spcBef>
              <a:spcAft>
                <a:spcPts val="0"/>
              </a:spcAft>
              <a:buClr>
                <a:schemeClr val="dk1"/>
              </a:buClr>
              <a:buSzPct val="100000"/>
              <a:buFont typeface="Arial"/>
              <a:buChar char="–"/>
            </a:pPr>
            <a:r>
              <a:rPr lang="en-US"/>
              <a:t>The essence of the Feistel cipher is that a single round offers inadequate security but that multiple rounds offer increasing security</a:t>
            </a:r>
            <a:endParaRPr/>
          </a:p>
          <a:p>
            <a:pPr marL="342900" lvl="0" indent="-342900" algn="l" rtl="0">
              <a:spcBef>
                <a:spcPts val="350"/>
              </a:spcBef>
              <a:spcAft>
                <a:spcPts val="0"/>
              </a:spcAft>
              <a:buClr>
                <a:schemeClr val="dk1"/>
              </a:buClr>
              <a:buSzPct val="100000"/>
              <a:buFont typeface="Arial"/>
              <a:buChar char="•"/>
            </a:pPr>
            <a:r>
              <a:rPr lang="en-US"/>
              <a:t>Subkey generation algorithm</a:t>
            </a:r>
            <a:endParaRPr/>
          </a:p>
          <a:p>
            <a:pPr marL="742950" lvl="1" indent="-285750" algn="l" rtl="0">
              <a:spcBef>
                <a:spcPts val="300"/>
              </a:spcBef>
              <a:spcAft>
                <a:spcPts val="0"/>
              </a:spcAft>
              <a:buClr>
                <a:schemeClr val="dk1"/>
              </a:buClr>
              <a:buSzPct val="100000"/>
              <a:buFont typeface="Arial"/>
              <a:buChar char="–"/>
            </a:pPr>
            <a:r>
              <a:rPr lang="en-US"/>
              <a:t>Greater complexity in this algorithm should lead to greater difficulty of cryptanalysis</a:t>
            </a:r>
            <a:endParaRPr/>
          </a:p>
        </p:txBody>
      </p:sp>
      <p:sp>
        <p:nvSpPr>
          <p:cNvPr id="615" name="Google Shape;615;p48"/>
          <p:cNvSpPr txBox="1">
            <a:spLocks noGrp="1"/>
          </p:cNvSpPr>
          <p:nvPr>
            <p:ph sz="half" idx="2"/>
          </p:nvPr>
        </p:nvSpPr>
        <p:spPr>
          <a:xfrm>
            <a:off x="4788024" y="1556792"/>
            <a:ext cx="3566160" cy="4930775"/>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Font typeface="Arial"/>
              <a:buChar char="•"/>
            </a:pPr>
            <a:r>
              <a:rPr lang="en-US"/>
              <a:t>Round function F</a:t>
            </a:r>
            <a:endParaRPr/>
          </a:p>
          <a:p>
            <a:pPr marL="742950" lvl="1" indent="-285750" algn="l" rtl="0">
              <a:spcBef>
                <a:spcPts val="300"/>
              </a:spcBef>
              <a:spcAft>
                <a:spcPts val="0"/>
              </a:spcAft>
              <a:buClr>
                <a:schemeClr val="dk1"/>
              </a:buClr>
              <a:buSzPct val="100000"/>
              <a:buFont typeface="Arial"/>
              <a:buChar char="–"/>
            </a:pPr>
            <a:r>
              <a:rPr lang="en-US"/>
              <a:t>Greater complexity generally means greater resistance to cryptanalysis</a:t>
            </a:r>
            <a:endParaRPr/>
          </a:p>
          <a:p>
            <a:pPr marL="342900" lvl="0" indent="-342900" algn="l" rtl="0">
              <a:spcBef>
                <a:spcPts val="350"/>
              </a:spcBef>
              <a:spcAft>
                <a:spcPts val="0"/>
              </a:spcAft>
              <a:buClr>
                <a:schemeClr val="dk1"/>
              </a:buClr>
              <a:buSzPct val="100000"/>
              <a:buFont typeface="Arial"/>
              <a:buChar char="•"/>
            </a:pPr>
            <a:r>
              <a:rPr lang="en-US"/>
              <a:t>Fast software encryption/decryption</a:t>
            </a:r>
            <a:endParaRPr/>
          </a:p>
          <a:p>
            <a:pPr marL="742950" lvl="1" indent="-285750" algn="l" rtl="0">
              <a:spcBef>
                <a:spcPts val="300"/>
              </a:spcBef>
              <a:spcAft>
                <a:spcPts val="0"/>
              </a:spcAft>
              <a:buClr>
                <a:schemeClr val="dk1"/>
              </a:buClr>
              <a:buSzPct val="100000"/>
              <a:buFont typeface="Arial"/>
              <a:buChar char="–"/>
            </a:pPr>
            <a:r>
              <a:rPr lang="en-US"/>
              <a:t>In many cases, encrypting is embedded in applications or utility functions in such a way as to preclude a hardware implementation; accordingly, the speed of execution of the algorithm becomes a concern</a:t>
            </a:r>
            <a:endParaRPr/>
          </a:p>
          <a:p>
            <a:pPr marL="342900" lvl="0" indent="-342900" algn="l" rtl="0">
              <a:spcBef>
                <a:spcPts val="350"/>
              </a:spcBef>
              <a:spcAft>
                <a:spcPts val="0"/>
              </a:spcAft>
              <a:buClr>
                <a:schemeClr val="dk1"/>
              </a:buClr>
              <a:buSzPct val="100000"/>
              <a:buFont typeface="Arial"/>
              <a:buChar char="•"/>
            </a:pPr>
            <a:r>
              <a:rPr lang="en-US"/>
              <a:t>Ease of analysis</a:t>
            </a:r>
            <a:endParaRPr/>
          </a:p>
          <a:p>
            <a:pPr marL="742950" lvl="1" indent="-285750" algn="l" rtl="0">
              <a:spcBef>
                <a:spcPts val="300"/>
              </a:spcBef>
              <a:spcAft>
                <a:spcPts val="0"/>
              </a:spcAft>
              <a:buClr>
                <a:schemeClr val="dk1"/>
              </a:buClr>
              <a:buSzPct val="100000"/>
              <a:buFont typeface="Arial"/>
              <a:buChar char="–"/>
            </a:pPr>
            <a:r>
              <a:rPr lang="en-US"/>
              <a:t>If the algorithm can be concisely and clearly explained, it is easier to analyze that algorithm for cryptanalytic vulnerabilities and therefore develop a higher level of assurance as to its strength</a:t>
            </a:r>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Chứng</a:t>
            </a:r>
            <a:r>
              <a:rPr lang="en-US" dirty="0" smtClean="0"/>
              <a:t> minh </a:t>
            </a:r>
            <a:r>
              <a:rPr lang="en-US" dirty="0" err="1" smtClean="0"/>
              <a:t>mã</a:t>
            </a:r>
            <a:r>
              <a:rPr lang="en-US" dirty="0" smtClean="0"/>
              <a:t> </a:t>
            </a:r>
            <a:r>
              <a:rPr lang="en-US" dirty="0" err="1" smtClean="0"/>
              <a:t>Feistel</a:t>
            </a:r>
            <a:endParaRPr lang="en-US" dirty="0" smtClean="0"/>
          </a:p>
          <a:p>
            <a:pPr lvl="1"/>
            <a:r>
              <a:rPr lang="en-US" dirty="0" smtClean="0"/>
              <a:t>Trang 127, 128 </a:t>
            </a:r>
            <a:r>
              <a:rPr lang="en-US" dirty="0" err="1" smtClean="0"/>
              <a:t>của</a:t>
            </a:r>
            <a:r>
              <a:rPr lang="en-US" dirty="0" smtClean="0"/>
              <a:t> </a:t>
            </a:r>
            <a:r>
              <a:rPr lang="en-US" dirty="0" err="1" smtClean="0"/>
              <a:t>sách</a:t>
            </a:r>
            <a:r>
              <a:rPr lang="en-US" dirty="0" smtClean="0"/>
              <a:t> GK.</a:t>
            </a:r>
            <a:endParaRPr lang="en-US" dirty="0"/>
          </a:p>
        </p:txBody>
      </p:sp>
    </p:spTree>
    <p:extLst>
      <p:ext uri="{BB962C8B-B14F-4D97-AF65-F5344CB8AC3E}">
        <p14:creationId xmlns:p14="http://schemas.microsoft.com/office/powerpoint/2010/main" val="15007697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4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err="1"/>
              <a:t>Feistel</a:t>
            </a:r>
            <a:r>
              <a:rPr lang="en-US" dirty="0"/>
              <a:t> Example</a:t>
            </a:r>
            <a:endParaRPr dirty="0"/>
          </a:p>
        </p:txBody>
      </p:sp>
      <p:pic>
        <p:nvPicPr>
          <p:cNvPr id="622" name="Google Shape;622;p49" descr="f4.pdf"/>
          <p:cNvPicPr preferRelativeResize="0"/>
          <p:nvPr/>
        </p:nvPicPr>
        <p:blipFill rotWithShape="1">
          <a:blip r:embed="rId3">
            <a:alphaModFix/>
          </a:blip>
          <a:srcRect t="40909" b="17273"/>
          <a:stretch/>
        </p:blipFill>
        <p:spPr>
          <a:xfrm>
            <a:off x="-8198" y="1474143"/>
            <a:ext cx="9152198" cy="4952999"/>
          </a:xfrm>
          <a:prstGeom prst="rect">
            <a:avLst/>
          </a:prstGeom>
          <a:noFill/>
          <a:ln>
            <a:noFill/>
          </a:ln>
        </p:spPr>
      </p:pic>
    </p:spTree>
  </p:cSld>
  <p:clrMapOvr>
    <a:masterClrMapping/>
  </p:clrMapOvr>
  <p:transition spd="med">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lstStyle/>
          <a:p>
            <a:r>
              <a:rPr lang="en-US" dirty="0" smtClean="0"/>
              <a:t>Read and explain code</a:t>
            </a:r>
          </a:p>
          <a:p>
            <a:pPr lvl="1"/>
            <a:r>
              <a:rPr lang="en-US" dirty="0">
                <a:hlinkClick r:id="rId2"/>
              </a:rPr>
              <a:t>https://www.geeksforgeeks.org/feistel-cipher</a:t>
            </a:r>
            <a:r>
              <a:rPr lang="en-US" dirty="0" smtClean="0">
                <a:hlinkClick r:id="rId2"/>
              </a:rPr>
              <a:t>/</a:t>
            </a:r>
            <a:endParaRPr lang="en-US" dirty="0" smtClean="0"/>
          </a:p>
          <a:p>
            <a:pPr lvl="1"/>
            <a:endParaRPr lang="en-US" dirty="0"/>
          </a:p>
          <a:p>
            <a:r>
              <a:rPr lang="en-US" dirty="0" err="1" smtClean="0"/>
              <a:t>Thực</a:t>
            </a:r>
            <a:r>
              <a:rPr lang="en-US" dirty="0" smtClean="0"/>
              <a:t> </a:t>
            </a:r>
            <a:r>
              <a:rPr lang="en-US" dirty="0" err="1" smtClean="0"/>
              <a:t>hiện</a:t>
            </a:r>
            <a:r>
              <a:rPr lang="en-US" dirty="0" smtClean="0"/>
              <a:t> </a:t>
            </a:r>
            <a:r>
              <a:rPr lang="en-US" dirty="0" err="1" smtClean="0"/>
              <a:t>thêm</a:t>
            </a:r>
            <a:r>
              <a:rPr lang="en-US" dirty="0" smtClean="0"/>
              <a:t> 1 round (</a:t>
            </a:r>
            <a:r>
              <a:rPr lang="en-US" dirty="0" err="1" smtClean="0"/>
              <a:t>thứ</a:t>
            </a:r>
            <a:r>
              <a:rPr lang="en-US" dirty="0" smtClean="0"/>
              <a:t> 3) </a:t>
            </a:r>
            <a:r>
              <a:rPr lang="en-US" dirty="0" err="1" smtClean="0"/>
              <a:t>nữa</a:t>
            </a:r>
            <a:r>
              <a:rPr lang="en-US" dirty="0" smtClean="0"/>
              <a:t> </a:t>
            </a:r>
            <a:r>
              <a:rPr lang="en-US" dirty="0" err="1" smtClean="0"/>
              <a:t>cho</a:t>
            </a:r>
            <a:r>
              <a:rPr lang="en-US" dirty="0" smtClean="0"/>
              <a:t> </a:t>
            </a:r>
            <a:r>
              <a:rPr lang="en-US" dirty="0" err="1" smtClean="0"/>
              <a:t>mã</a:t>
            </a:r>
            <a:r>
              <a:rPr lang="en-US" dirty="0" smtClean="0"/>
              <a:t> </a:t>
            </a:r>
            <a:r>
              <a:rPr lang="en-US" dirty="0" err="1" smtClean="0"/>
              <a:t>Feistel</a:t>
            </a:r>
            <a:r>
              <a:rPr lang="en-US" dirty="0"/>
              <a:t> </a:t>
            </a:r>
            <a:r>
              <a:rPr lang="en-US" dirty="0" err="1" smtClean="0"/>
              <a:t>cung</a:t>
            </a:r>
            <a:r>
              <a:rPr lang="en-US" dirty="0" smtClean="0"/>
              <a:t> </a:t>
            </a:r>
            <a:r>
              <a:rPr lang="en-US" dirty="0" err="1" smtClean="0"/>
              <a:t>cấp</a:t>
            </a:r>
            <a:r>
              <a:rPr lang="en-US" dirty="0"/>
              <a:t> </a:t>
            </a:r>
            <a:r>
              <a:rPr lang="en-US" dirty="0" smtClean="0"/>
              <a:t>ở </a:t>
            </a:r>
            <a:r>
              <a:rPr lang="en-US" dirty="0" err="1" smtClean="0"/>
              <a:t>trên</a:t>
            </a:r>
            <a:endParaRPr lang="en-US" dirty="0" smtClean="0"/>
          </a:p>
          <a:p>
            <a:pPr lvl="1"/>
            <a:r>
              <a:rPr lang="en-US" dirty="0" err="1" smtClean="0"/>
              <a:t>Gửi</a:t>
            </a:r>
            <a:r>
              <a:rPr lang="en-US" dirty="0" smtClean="0"/>
              <a:t> </a:t>
            </a:r>
            <a:r>
              <a:rPr lang="en-US" dirty="0" err="1" smtClean="0"/>
              <a:t>kq</a:t>
            </a:r>
            <a:r>
              <a:rPr lang="en-US" dirty="0" smtClean="0"/>
              <a:t> </a:t>
            </a:r>
            <a:r>
              <a:rPr lang="en-US" dirty="0" err="1" smtClean="0"/>
              <a:t>lên</a:t>
            </a:r>
            <a:r>
              <a:rPr lang="en-US" dirty="0" smtClean="0"/>
              <a:t> e-learning</a:t>
            </a:r>
            <a:endParaRPr lang="en-US" dirty="0"/>
          </a:p>
        </p:txBody>
      </p:sp>
    </p:spTree>
    <p:extLst>
      <p:ext uri="{BB962C8B-B14F-4D97-AF65-F5344CB8AC3E}">
        <p14:creationId xmlns:p14="http://schemas.microsoft.com/office/powerpoint/2010/main" val="16847342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5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t>Data Encryption Standard (DES)</a:t>
            </a:r>
            <a:endParaRPr/>
          </a:p>
        </p:txBody>
      </p:sp>
      <p:sp>
        <p:nvSpPr>
          <p:cNvPr id="629" name="Google Shape;629;p50"/>
          <p:cNvSpPr txBox="1">
            <a:spLocks noGrp="1"/>
          </p:cNvSpPr>
          <p:nvPr>
            <p:ph idx="1"/>
          </p:nvPr>
        </p:nvSpPr>
        <p:spPr>
          <a:xfrm>
            <a:off x="792162" y="1761565"/>
            <a:ext cx="7570787" cy="4715435"/>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Font typeface="Arial"/>
              <a:buChar char="•"/>
            </a:pPr>
            <a:r>
              <a:rPr lang="en-US" dirty="0"/>
              <a:t>Issued in 1977 by the National Bureau of Standards (now NIST) as Federal Information Processing Standard 46</a:t>
            </a:r>
            <a:endParaRPr dirty="0"/>
          </a:p>
          <a:p>
            <a:pPr marL="342900" lvl="0" indent="-342900" algn="l" rtl="0">
              <a:spcBef>
                <a:spcPts val="496"/>
              </a:spcBef>
              <a:spcAft>
                <a:spcPts val="0"/>
              </a:spcAft>
              <a:buClr>
                <a:schemeClr val="dk1"/>
              </a:buClr>
              <a:buSzPct val="100000"/>
              <a:buFont typeface="Arial"/>
              <a:buChar char="•"/>
            </a:pPr>
            <a:r>
              <a:rPr lang="en-US" dirty="0"/>
              <a:t>Was the most widely used encryption scheme until the introduction of the Advanced Encryption Standard (AES) in 2001</a:t>
            </a:r>
            <a:endParaRPr dirty="0"/>
          </a:p>
          <a:p>
            <a:pPr marL="342900" lvl="0" indent="-342900" algn="l" rtl="0">
              <a:spcBef>
                <a:spcPts val="496"/>
              </a:spcBef>
              <a:spcAft>
                <a:spcPts val="0"/>
              </a:spcAft>
              <a:buClr>
                <a:schemeClr val="dk1"/>
              </a:buClr>
              <a:buSzPct val="100000"/>
              <a:buFont typeface="Arial"/>
              <a:buChar char="•"/>
            </a:pPr>
            <a:r>
              <a:rPr lang="en-US" dirty="0"/>
              <a:t>Algorithm itself is referred to as the Data Encryption Algorithm (DEA)</a:t>
            </a:r>
            <a:endParaRPr dirty="0"/>
          </a:p>
          <a:p>
            <a:pPr marL="742950" lvl="1" indent="-285750" algn="l" rtl="0">
              <a:spcBef>
                <a:spcPts val="434"/>
              </a:spcBef>
              <a:spcAft>
                <a:spcPts val="0"/>
              </a:spcAft>
              <a:buClr>
                <a:schemeClr val="dk1"/>
              </a:buClr>
              <a:buSzPct val="100000"/>
              <a:buFont typeface="Arial"/>
              <a:buChar char="–"/>
            </a:pPr>
            <a:r>
              <a:rPr lang="en-US" dirty="0"/>
              <a:t>Data are encrypted in </a:t>
            </a:r>
            <a:r>
              <a:rPr lang="en-US" dirty="0">
                <a:solidFill>
                  <a:srgbClr val="FF0000"/>
                </a:solidFill>
              </a:rPr>
              <a:t>64-bit blocks </a:t>
            </a:r>
            <a:r>
              <a:rPr lang="en-US" dirty="0"/>
              <a:t>using a </a:t>
            </a:r>
            <a:r>
              <a:rPr lang="en-US" dirty="0">
                <a:solidFill>
                  <a:srgbClr val="FF0000"/>
                </a:solidFill>
              </a:rPr>
              <a:t>56-bit key</a:t>
            </a:r>
            <a:endParaRPr dirty="0">
              <a:solidFill>
                <a:srgbClr val="FF0000"/>
              </a:solidFill>
            </a:endParaRPr>
          </a:p>
          <a:p>
            <a:pPr marL="742950" lvl="1" indent="-285750" algn="l" rtl="0">
              <a:spcBef>
                <a:spcPts val="434"/>
              </a:spcBef>
              <a:spcAft>
                <a:spcPts val="0"/>
              </a:spcAft>
              <a:buClr>
                <a:schemeClr val="dk1"/>
              </a:buClr>
              <a:buSzPct val="100000"/>
              <a:buFont typeface="Arial"/>
              <a:buChar char="–"/>
            </a:pPr>
            <a:r>
              <a:rPr lang="en-US" dirty="0"/>
              <a:t>The algorithm transforms </a:t>
            </a:r>
            <a:r>
              <a:rPr lang="en-US" dirty="0">
                <a:solidFill>
                  <a:srgbClr val="FF0000"/>
                </a:solidFill>
              </a:rPr>
              <a:t>64-bit input </a:t>
            </a:r>
            <a:r>
              <a:rPr lang="en-US" dirty="0"/>
              <a:t>in a series of steps into a </a:t>
            </a:r>
            <a:r>
              <a:rPr lang="en-US" dirty="0">
                <a:solidFill>
                  <a:srgbClr val="FF0000"/>
                </a:solidFill>
              </a:rPr>
              <a:t>64-bit output</a:t>
            </a:r>
            <a:endParaRPr dirty="0">
              <a:solidFill>
                <a:srgbClr val="FF0000"/>
              </a:solidFill>
            </a:endParaRPr>
          </a:p>
          <a:p>
            <a:pPr marL="742950" lvl="1" indent="-285750" algn="l" rtl="0">
              <a:spcBef>
                <a:spcPts val="434"/>
              </a:spcBef>
              <a:spcAft>
                <a:spcPts val="0"/>
              </a:spcAft>
              <a:buClr>
                <a:schemeClr val="dk1"/>
              </a:buClr>
              <a:buSzPct val="100000"/>
              <a:buFont typeface="Arial"/>
              <a:buChar char="–"/>
            </a:pPr>
            <a:r>
              <a:rPr lang="en-US" dirty="0"/>
              <a:t>The same steps, with the same key, are used to reverse the encryption</a:t>
            </a:r>
            <a:endParaRP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51"/>
          <p:cNvSpPr txBox="1">
            <a:spLocks noGrp="1"/>
          </p:cNvSpPr>
          <p:nvPr>
            <p:ph type="title" idx="4294967295"/>
          </p:nvPr>
        </p:nvSpPr>
        <p:spPr>
          <a:xfrm>
            <a:off x="0" y="0"/>
            <a:ext cx="3200400" cy="6021388"/>
          </a:xfrm>
          <a:prstGeom prst="rect">
            <a:avLst/>
          </a:prstGeom>
          <a:solidFill>
            <a:schemeClr val="lt1"/>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400">
                <a:solidFill>
                  <a:srgbClr val="3C8C92"/>
                </a:solidFill>
              </a:rPr>
              <a:t>DES Encryption Algorithm</a:t>
            </a:r>
            <a:endParaRPr sz="4400">
              <a:solidFill>
                <a:srgbClr val="3C8C92"/>
              </a:solidFill>
            </a:endParaRPr>
          </a:p>
        </p:txBody>
      </p:sp>
      <p:pic>
        <p:nvPicPr>
          <p:cNvPr id="636" name="Google Shape;636;p51" descr="f5.pdf"/>
          <p:cNvPicPr preferRelativeResize="0"/>
          <p:nvPr/>
        </p:nvPicPr>
        <p:blipFill rotWithShape="1">
          <a:blip r:embed="rId3">
            <a:alphaModFix/>
          </a:blip>
          <a:srcRect t="5455" b="12407"/>
          <a:stretch/>
        </p:blipFill>
        <p:spPr>
          <a:xfrm>
            <a:off x="3372322" y="1"/>
            <a:ext cx="5771678" cy="6108700"/>
          </a:xfrm>
          <a:prstGeom prst="rect">
            <a:avLst/>
          </a:prstGeom>
          <a:noFill/>
          <a:ln>
            <a:noFill/>
          </a:ln>
        </p:spPr>
      </p:pic>
      <p:sp>
        <p:nvSpPr>
          <p:cNvPr id="637" name="Google Shape;637;p51"/>
          <p:cNvSpPr txBox="1"/>
          <p:nvPr/>
        </p:nvSpPr>
        <p:spPr>
          <a:xfrm>
            <a:off x="6756400" y="6108700"/>
            <a:ext cx="1846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 name="TextBox 1"/>
          <p:cNvSpPr txBox="1"/>
          <p:nvPr/>
        </p:nvSpPr>
        <p:spPr>
          <a:xfrm>
            <a:off x="28486" y="4369370"/>
            <a:ext cx="3343836" cy="738664"/>
          </a:xfrm>
          <a:prstGeom prst="rect">
            <a:avLst/>
          </a:prstGeom>
          <a:solidFill>
            <a:srgbClr val="92D050"/>
          </a:solidFill>
        </p:spPr>
        <p:txBody>
          <a:bodyPr wrap="square" rtlCol="0">
            <a:spAutoFit/>
          </a:bodyPr>
          <a:lstStyle/>
          <a:p>
            <a:r>
              <a:rPr lang="en-US" dirty="0">
                <a:latin typeface="Linux Biolinum" panose="02000503000000000000" pitchFamily="2" charset="0"/>
                <a:ea typeface="Linux Biolinum" panose="02000503000000000000" pitchFamily="2" charset="0"/>
                <a:cs typeface="Linux Biolinum" panose="02000503000000000000" pitchFamily="2" charset="0"/>
              </a:rPr>
              <a:t>With the </a:t>
            </a:r>
            <a:r>
              <a:rPr lang="en-US" dirty="0" smtClean="0">
                <a:latin typeface="Linux Biolinum" panose="02000503000000000000" pitchFamily="2" charset="0"/>
                <a:ea typeface="Linux Biolinum" panose="02000503000000000000" pitchFamily="2" charset="0"/>
                <a:cs typeface="Linux Biolinum" panose="02000503000000000000" pitchFamily="2" charset="0"/>
              </a:rPr>
              <a:t>exception of </a:t>
            </a:r>
            <a:r>
              <a:rPr lang="en-US" dirty="0">
                <a:latin typeface="Linux Biolinum" panose="02000503000000000000" pitchFamily="2" charset="0"/>
                <a:ea typeface="Linux Biolinum" panose="02000503000000000000" pitchFamily="2" charset="0"/>
                <a:cs typeface="Linux Biolinum" panose="02000503000000000000" pitchFamily="2" charset="0"/>
              </a:rPr>
              <a:t>the initial and final permutations, DES has the exact structure of a </a:t>
            </a:r>
            <a:r>
              <a:rPr lang="en-US" dirty="0" err="1" smtClean="0">
                <a:latin typeface="Linux Biolinum" panose="02000503000000000000" pitchFamily="2" charset="0"/>
                <a:ea typeface="Linux Biolinum" panose="02000503000000000000" pitchFamily="2" charset="0"/>
                <a:cs typeface="Linux Biolinum" panose="02000503000000000000" pitchFamily="2" charset="0"/>
              </a:rPr>
              <a:t>Feistel</a:t>
            </a:r>
            <a:r>
              <a:rPr lang="en-US" dirty="0" smtClean="0">
                <a:latin typeface="Linux Biolinum" panose="02000503000000000000" pitchFamily="2" charset="0"/>
                <a:ea typeface="Linux Biolinum" panose="02000503000000000000" pitchFamily="2" charset="0"/>
                <a:cs typeface="Linux Biolinum" panose="02000503000000000000" pitchFamily="2" charset="0"/>
              </a:rPr>
              <a:t> cipher</a:t>
            </a:r>
            <a:endParaRPr lang="en-US" dirty="0">
              <a:latin typeface="Linux Biolinum" panose="02000503000000000000" pitchFamily="2" charset="0"/>
              <a:ea typeface="Linux Biolinum" panose="02000503000000000000" pitchFamily="2" charset="0"/>
              <a:cs typeface="Linux Biolinum" panose="02000503000000000000" pitchFamily="2" charset="0"/>
            </a:endParaRPr>
          </a:p>
        </p:txBody>
      </p:sp>
    </p:spTree>
  </p:cSld>
  <p:clrMapOvr>
    <a:masterClrMapping/>
  </p:clrMapOvr>
  <p:transition spd="med">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and Final Permutation</a:t>
            </a:r>
            <a:endParaRPr lang="en-US" dirty="0"/>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6177" y="1695153"/>
            <a:ext cx="6097588" cy="379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50659" y="5658980"/>
            <a:ext cx="989373" cy="461665"/>
          </a:xfrm>
          <a:prstGeom prst="rect">
            <a:avLst/>
          </a:prstGeom>
          <a:solidFill>
            <a:srgbClr val="92D050"/>
          </a:solidFill>
        </p:spPr>
        <p:txBody>
          <a:bodyPr wrap="none" rtlCol="0">
            <a:spAutoFit/>
          </a:bodyPr>
          <a:lstStyle/>
          <a:p>
            <a:r>
              <a:rPr lang="en-US" sz="2400" dirty="0" smtClean="0"/>
              <a:t>P-box</a:t>
            </a:r>
            <a:endParaRPr lang="en-US" sz="2400" dirty="0"/>
          </a:p>
        </p:txBody>
      </p:sp>
    </p:spTree>
    <p:extLst>
      <p:ext uri="{BB962C8B-B14F-4D97-AF65-F5344CB8AC3E}">
        <p14:creationId xmlns:p14="http://schemas.microsoft.com/office/powerpoint/2010/main" val="4184598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Round Function</a:t>
            </a:r>
            <a:endParaRPr lang="en-US" dirty="0"/>
          </a:p>
        </p:txBody>
      </p:sp>
      <p:sp>
        <p:nvSpPr>
          <p:cNvPr id="3" name="Content Placeholder 2"/>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22" y="2024017"/>
            <a:ext cx="3757301" cy="384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0323" y="1228166"/>
            <a:ext cx="5208961" cy="788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3839" y="2137562"/>
            <a:ext cx="3381268" cy="174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0625" y="4002005"/>
            <a:ext cx="2316163" cy="1866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7870" y="6014481"/>
            <a:ext cx="2587345" cy="73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flipV="1">
            <a:off x="2402541" y="1855694"/>
            <a:ext cx="1613647" cy="1057835"/>
          </a:xfrm>
          <a:prstGeom prst="straightConnector1">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2465294" y="5146714"/>
            <a:ext cx="2689412" cy="867767"/>
          </a:xfrm>
          <a:prstGeom prst="straightConnector1">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2465294" y="4278947"/>
            <a:ext cx="3092824" cy="743018"/>
          </a:xfrm>
          <a:prstGeom prst="straightConnector1">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8631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Generation</a:t>
            </a:r>
            <a:endParaRPr lang="en-US" dirty="0"/>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856" y="1048322"/>
            <a:ext cx="5376768" cy="5190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4613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52"/>
          <p:cNvSpPr txBox="1">
            <a:spLocks noGrp="1"/>
          </p:cNvSpPr>
          <p:nvPr>
            <p:ph type="title" idx="4294967295"/>
          </p:nvPr>
        </p:nvSpPr>
        <p:spPr>
          <a:xfrm>
            <a:off x="76200" y="84499"/>
            <a:ext cx="2286000" cy="3429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dirty="0"/>
              <a:t/>
            </a:r>
            <a:br>
              <a:rPr lang="en-US" sz="2800" dirty="0"/>
            </a:br>
            <a:r>
              <a:rPr lang="en-US" sz="2800" dirty="0">
                <a:solidFill>
                  <a:srgbClr val="404040"/>
                </a:solidFill>
              </a:rPr>
              <a:t>Table 3.2</a:t>
            </a:r>
            <a:br>
              <a:rPr lang="en-US" sz="2800" dirty="0">
                <a:solidFill>
                  <a:srgbClr val="404040"/>
                </a:solidFill>
              </a:rPr>
            </a:br>
            <a:r>
              <a:rPr lang="en-US" sz="2800" dirty="0">
                <a:solidFill>
                  <a:srgbClr val="404040"/>
                </a:solidFill>
              </a:rPr>
              <a:t/>
            </a:r>
            <a:br>
              <a:rPr lang="en-US" sz="2800" dirty="0">
                <a:solidFill>
                  <a:srgbClr val="404040"/>
                </a:solidFill>
              </a:rPr>
            </a:br>
            <a:r>
              <a:rPr lang="en-US" sz="2800" dirty="0">
                <a:solidFill>
                  <a:srgbClr val="404040"/>
                </a:solidFill>
              </a:rPr>
              <a:t>DES Example</a:t>
            </a:r>
            <a:endParaRPr sz="2800" dirty="0">
              <a:solidFill>
                <a:srgbClr val="404040"/>
              </a:solidFill>
            </a:endParaRPr>
          </a:p>
        </p:txBody>
      </p:sp>
      <p:pic>
        <p:nvPicPr>
          <p:cNvPr id="644" name="Google Shape;644;p52"/>
          <p:cNvPicPr preferRelativeResize="0"/>
          <p:nvPr/>
        </p:nvPicPr>
        <p:blipFill rotWithShape="1">
          <a:blip r:embed="rId3">
            <a:alphaModFix/>
          </a:blip>
          <a:srcRect l="6153" r="5838" b="3128"/>
          <a:stretch/>
        </p:blipFill>
        <p:spPr>
          <a:xfrm>
            <a:off x="2815628" y="174417"/>
            <a:ext cx="6301209" cy="5891405"/>
          </a:xfrm>
          <a:prstGeom prst="rect">
            <a:avLst/>
          </a:prstGeom>
          <a:noFill/>
          <a:ln>
            <a:noFill/>
          </a:ln>
        </p:spPr>
      </p:pic>
      <p:sp>
        <p:nvSpPr>
          <p:cNvPr id="645" name="Google Shape;645;p52"/>
          <p:cNvSpPr/>
          <p:nvPr/>
        </p:nvSpPr>
        <p:spPr>
          <a:xfrm>
            <a:off x="2987824" y="6400800"/>
            <a:ext cx="5927576"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500" i="1">
                <a:solidFill>
                  <a:srgbClr val="FFFF00"/>
                </a:solidFill>
                <a:latin typeface="Arial"/>
                <a:ea typeface="Arial"/>
                <a:cs typeface="Arial"/>
                <a:sym typeface="Arial"/>
              </a:rPr>
              <a:t>Note:</a:t>
            </a:r>
            <a:r>
              <a:rPr lang="en-US" sz="1500">
                <a:solidFill>
                  <a:srgbClr val="FFFF00"/>
                </a:solidFill>
                <a:latin typeface="Arial"/>
                <a:ea typeface="Arial"/>
                <a:cs typeface="Arial"/>
                <a:sym typeface="Arial"/>
              </a:rPr>
              <a:t> DES subkeys are shown as eight 6-bit values in hex format </a:t>
            </a:r>
            <a:endParaRPr sz="1500">
              <a:solidFill>
                <a:srgbClr val="FFFF00"/>
              </a:solidFill>
              <a:latin typeface="Arial"/>
              <a:ea typeface="Arial"/>
              <a:cs typeface="Arial"/>
              <a:sym typeface="Arial"/>
            </a:endParaRPr>
          </a:p>
        </p:txBody>
      </p:sp>
      <p:sp>
        <p:nvSpPr>
          <p:cNvPr id="646" name="Google Shape;646;p52"/>
          <p:cNvSpPr txBox="1"/>
          <p:nvPr/>
        </p:nvSpPr>
        <p:spPr>
          <a:xfrm>
            <a:off x="152400" y="4953000"/>
            <a:ext cx="2133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(Table can be found on page 75 in textbook)</a:t>
            </a:r>
            <a:endParaRPr sz="1400">
              <a:solidFill>
                <a:schemeClr val="dk1"/>
              </a:solidFill>
              <a:latin typeface="Arial"/>
              <a:ea typeface="Arial"/>
              <a:cs typeface="Arial"/>
              <a:sym typeface="Aria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99" y="3009432"/>
            <a:ext cx="2610793" cy="7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thruBlk="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53"/>
          <p:cNvSpPr txBox="1">
            <a:spLocks noGrp="1"/>
          </p:cNvSpPr>
          <p:nvPr>
            <p:ph type="title" idx="4294967295"/>
          </p:nvPr>
        </p:nvSpPr>
        <p:spPr>
          <a:xfrm>
            <a:off x="2987675" y="6324600"/>
            <a:ext cx="6156325" cy="41751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800" dirty="0">
                <a:solidFill>
                  <a:srgbClr val="FFFF00"/>
                </a:solidFill>
              </a:rPr>
              <a:t>Table 3.3  Avalanche Effect in DES: Change in Plaintext </a:t>
            </a:r>
            <a:endParaRPr sz="1800" dirty="0">
              <a:solidFill>
                <a:srgbClr val="FFFF00"/>
              </a:solidFill>
            </a:endParaRPr>
          </a:p>
        </p:txBody>
      </p:sp>
      <p:pic>
        <p:nvPicPr>
          <p:cNvPr id="653" name="Google Shape;653;p53"/>
          <p:cNvPicPr preferRelativeResize="0"/>
          <p:nvPr/>
        </p:nvPicPr>
        <p:blipFill rotWithShape="1">
          <a:blip r:embed="rId3">
            <a:alphaModFix/>
          </a:blip>
          <a:srcRect l="3677" r="3982" b="3700"/>
          <a:stretch/>
        </p:blipFill>
        <p:spPr>
          <a:xfrm>
            <a:off x="2725092" y="554524"/>
            <a:ext cx="6429600" cy="5185373"/>
          </a:xfrm>
          <a:prstGeom prst="rect">
            <a:avLst/>
          </a:prstGeom>
          <a:noFill/>
          <a:ln>
            <a:noFill/>
          </a:ln>
        </p:spPr>
      </p:pic>
      <p:sp>
        <p:nvSpPr>
          <p:cNvPr id="2" name="TextBox 1"/>
          <p:cNvSpPr txBox="1"/>
          <p:nvPr/>
        </p:nvSpPr>
        <p:spPr>
          <a:xfrm>
            <a:off x="244444" y="610975"/>
            <a:ext cx="1709122" cy="1200329"/>
          </a:xfrm>
          <a:prstGeom prst="rect">
            <a:avLst/>
          </a:prstGeom>
          <a:noFill/>
        </p:spPr>
        <p:txBody>
          <a:bodyPr vert="horz" wrap="none" rtlCol="0">
            <a:spAutoFit/>
          </a:bodyPr>
          <a:lstStyle/>
          <a:p>
            <a:r>
              <a:rPr lang="en-US" sz="2400" dirty="0">
                <a:solidFill>
                  <a:schemeClr val="tx1"/>
                </a:solidFill>
              </a:rPr>
              <a:t>Avalanche </a:t>
            </a:r>
            <a:endParaRPr lang="en-US" sz="2400" dirty="0" smtClean="0">
              <a:solidFill>
                <a:schemeClr val="tx1"/>
              </a:solidFill>
            </a:endParaRPr>
          </a:p>
          <a:p>
            <a:r>
              <a:rPr lang="en-US" sz="2400" dirty="0" smtClean="0">
                <a:solidFill>
                  <a:schemeClr val="tx1"/>
                </a:solidFill>
              </a:rPr>
              <a:t>Effect </a:t>
            </a:r>
          </a:p>
          <a:p>
            <a:r>
              <a:rPr lang="en-US" sz="2400" dirty="0" smtClean="0">
                <a:solidFill>
                  <a:schemeClr val="tx1"/>
                </a:solidFill>
              </a:rPr>
              <a:t>in </a:t>
            </a:r>
            <a:r>
              <a:rPr lang="en-US" sz="2400" dirty="0">
                <a:solidFill>
                  <a:schemeClr val="tx1"/>
                </a:solidFill>
              </a:rPr>
              <a:t>DES</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779105"/>
            <a:ext cx="2480650" cy="28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2294" y="3496234"/>
            <a:ext cx="2448356" cy="738664"/>
          </a:xfrm>
          <a:prstGeom prst="rect">
            <a:avLst/>
          </a:prstGeom>
          <a:solidFill>
            <a:schemeClr val="accent6">
              <a:lumMod val="20000"/>
              <a:lumOff val="80000"/>
            </a:schemeClr>
          </a:solidFill>
        </p:spPr>
        <p:txBody>
          <a:bodyPr wrap="square" rtlCol="0">
            <a:spAutoFit/>
          </a:bodyPr>
          <a:lstStyle/>
          <a:p>
            <a:r>
              <a:rPr lang="en-US" dirty="0">
                <a:latin typeface="Linux Biolinum" panose="02000503000000000000" pitchFamily="2" charset="0"/>
                <a:ea typeface="Linux Biolinum" panose="02000503000000000000" pitchFamily="2" charset="0"/>
                <a:cs typeface="Linux Biolinum" panose="02000503000000000000" pitchFamily="2" charset="0"/>
              </a:rPr>
              <a:t>A small change in plaintext results in the very great change in the </a:t>
            </a:r>
            <a:r>
              <a:rPr lang="en-US" dirty="0" err="1">
                <a:latin typeface="Linux Biolinum" panose="02000503000000000000" pitchFamily="2" charset="0"/>
                <a:ea typeface="Linux Biolinum" panose="02000503000000000000" pitchFamily="2" charset="0"/>
                <a:cs typeface="Linux Biolinum" panose="02000503000000000000" pitchFamily="2" charset="0"/>
              </a:rPr>
              <a:t>ciphertext</a:t>
            </a:r>
            <a:r>
              <a:rPr lang="en-US" dirty="0">
                <a:latin typeface="Linux Biolinum" panose="02000503000000000000" pitchFamily="2" charset="0"/>
                <a:ea typeface="Linux Biolinum" panose="02000503000000000000" pitchFamily="2" charset="0"/>
                <a:cs typeface="Linux Biolinum" panose="02000503000000000000" pitchFamily="2" charset="0"/>
              </a:rPr>
              <a:t>.</a:t>
            </a:r>
            <a:endParaRPr lang="en-US" dirty="0">
              <a:latin typeface="Linux Biolinum" panose="02000503000000000000" pitchFamily="2" charset="0"/>
              <a:ea typeface="Linux Biolinum" panose="02000503000000000000" pitchFamily="2" charset="0"/>
              <a:cs typeface="Linux Biolinum" panose="02000503000000000000" pitchFamily="2" charset="0"/>
            </a:endParaRPr>
          </a:p>
        </p:txBody>
      </p:sp>
    </p:spTree>
  </p:cSld>
  <p:clrMapOvr>
    <a:masterClrMapping/>
  </p:clrMapOvr>
  <p:transition>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54"/>
          <p:cNvSpPr txBox="1">
            <a:spLocks noGrp="1"/>
          </p:cNvSpPr>
          <p:nvPr>
            <p:ph type="title" idx="4294967295"/>
          </p:nvPr>
        </p:nvSpPr>
        <p:spPr>
          <a:xfrm>
            <a:off x="0" y="5997575"/>
            <a:ext cx="9144000" cy="152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400"/>
              <a:t>Table 3.4  Avalanche Effect in DES: Change in Key </a:t>
            </a:r>
            <a:endParaRPr sz="2400"/>
          </a:p>
        </p:txBody>
      </p:sp>
      <p:pic>
        <p:nvPicPr>
          <p:cNvPr id="660" name="Google Shape;660;p54"/>
          <p:cNvPicPr preferRelativeResize="0"/>
          <p:nvPr/>
        </p:nvPicPr>
        <p:blipFill rotWithShape="1">
          <a:blip r:embed="rId3">
            <a:alphaModFix/>
          </a:blip>
          <a:srcRect l="3922" r="3883" b="3461"/>
          <a:stretch/>
        </p:blipFill>
        <p:spPr>
          <a:xfrm>
            <a:off x="2716306" y="582706"/>
            <a:ext cx="6427694" cy="5120978"/>
          </a:xfrm>
          <a:prstGeom prst="rect">
            <a:avLst/>
          </a:prstGeom>
          <a:noFill/>
          <a:ln>
            <a:noFill/>
          </a:ln>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802058"/>
            <a:ext cx="2390115" cy="227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2294" y="3496234"/>
            <a:ext cx="2448356" cy="738664"/>
          </a:xfrm>
          <a:prstGeom prst="rect">
            <a:avLst/>
          </a:prstGeom>
          <a:solidFill>
            <a:schemeClr val="accent6">
              <a:lumMod val="20000"/>
              <a:lumOff val="80000"/>
            </a:schemeClr>
          </a:solidFill>
        </p:spPr>
        <p:txBody>
          <a:bodyPr wrap="square" rtlCol="0">
            <a:spAutoFit/>
          </a:bodyPr>
          <a:lstStyle/>
          <a:p>
            <a:r>
              <a:rPr lang="en-US" dirty="0">
                <a:latin typeface="Linux Biolinum" panose="02000503000000000000" pitchFamily="2" charset="0"/>
                <a:ea typeface="Linux Biolinum" panose="02000503000000000000" pitchFamily="2" charset="0"/>
                <a:cs typeface="Linux Biolinum" panose="02000503000000000000" pitchFamily="2" charset="0"/>
              </a:rPr>
              <a:t>A small change in plaintext results in the very great change in the </a:t>
            </a:r>
            <a:r>
              <a:rPr lang="en-US" dirty="0" err="1">
                <a:latin typeface="Linux Biolinum" panose="02000503000000000000" pitchFamily="2" charset="0"/>
                <a:ea typeface="Linux Biolinum" panose="02000503000000000000" pitchFamily="2" charset="0"/>
                <a:cs typeface="Linux Biolinum" panose="02000503000000000000" pitchFamily="2" charset="0"/>
              </a:rPr>
              <a:t>ciphertext</a:t>
            </a:r>
            <a:r>
              <a:rPr lang="en-US" dirty="0">
                <a:latin typeface="Linux Biolinum" panose="02000503000000000000" pitchFamily="2" charset="0"/>
                <a:ea typeface="Linux Biolinum" panose="02000503000000000000" pitchFamily="2" charset="0"/>
                <a:cs typeface="Linux Biolinum" panose="02000503000000000000" pitchFamily="2" charset="0"/>
              </a:rPr>
              <a:t>.</a:t>
            </a:r>
            <a:endParaRPr lang="en-US" dirty="0">
              <a:latin typeface="Linux Biolinum" panose="02000503000000000000" pitchFamily="2" charset="0"/>
              <a:ea typeface="Linux Biolinum" panose="02000503000000000000" pitchFamily="2" charset="0"/>
              <a:cs typeface="Linux Biolinum" panose="02000503000000000000" pitchFamily="2" charset="0"/>
            </a:endParaRPr>
          </a:p>
        </p:txBody>
      </p:sp>
    </p:spTree>
  </p:cSld>
  <p:clrMapOvr>
    <a:masterClrMapping/>
  </p:clrMapOvr>
  <p:transition>
    <p:wipe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55"/>
          <p:cNvSpPr txBox="1">
            <a:spLocks noGrp="1"/>
          </p:cNvSpPr>
          <p:nvPr>
            <p:ph type="title"/>
          </p:nvPr>
        </p:nvSpPr>
        <p:spPr>
          <a:xfrm>
            <a:off x="0" y="40341"/>
            <a:ext cx="9144000" cy="868379"/>
          </a:xfrm>
          <a:prstGeom prst="rect">
            <a:avLst/>
          </a:prstGeom>
          <a:noFill/>
          <a:ln>
            <a:noFill/>
          </a:ln>
        </p:spPr>
        <p:txBody>
          <a:bodyPr spcFirstLastPara="1" wrap="square" lIns="91425" tIns="45700" rIns="91425" bIns="45700" anchor="ctr" anchorCtr="0">
            <a:noAutofit/>
          </a:bodyPr>
          <a:lstStyle/>
          <a:p>
            <a:pPr marL="0" lvl="0" indent="0" algn="ctr" rtl="0">
              <a:lnSpc>
                <a:spcPct val="164285"/>
              </a:lnSpc>
              <a:spcBef>
                <a:spcPts val="0"/>
              </a:spcBef>
              <a:spcAft>
                <a:spcPts val="0"/>
              </a:spcAft>
              <a:buNone/>
            </a:pPr>
            <a:r>
              <a:rPr lang="en-US" sz="2800"/>
              <a:t>Table 3.5: </a:t>
            </a:r>
            <a:r>
              <a:rPr lang="en-US" sz="2400"/>
              <a:t>Average Time Required for Exhaustive Key Search </a:t>
            </a:r>
            <a:endParaRPr sz="360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00" y="1811338"/>
            <a:ext cx="8812213"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56"/>
          <p:cNvSpPr txBox="1">
            <a:spLocks noGrp="1"/>
          </p:cNvSpPr>
          <p:nvPr>
            <p:ph type="title"/>
          </p:nvPr>
        </p:nvSpPr>
        <p:spPr>
          <a:xfrm>
            <a:off x="467544" y="188640"/>
            <a:ext cx="8229600" cy="99412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Strength of DES</a:t>
            </a:r>
            <a:endParaRPr/>
          </a:p>
        </p:txBody>
      </p:sp>
      <p:sp>
        <p:nvSpPr>
          <p:cNvPr id="674" name="Google Shape;674;p56"/>
          <p:cNvSpPr txBox="1">
            <a:spLocks noGrp="1"/>
          </p:cNvSpPr>
          <p:nvPr>
            <p:ph idx="1"/>
          </p:nvPr>
        </p:nvSpPr>
        <p:spPr>
          <a:xfrm>
            <a:off x="372691" y="1412776"/>
            <a:ext cx="7570787" cy="486783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000"/>
              <a:buFont typeface="Arial"/>
              <a:buChar char="•"/>
            </a:pPr>
            <a:r>
              <a:rPr lang="en-US" sz="3000"/>
              <a:t>Timing attacks</a:t>
            </a:r>
            <a:endParaRPr/>
          </a:p>
          <a:p>
            <a:pPr marL="742950" lvl="1" indent="-285750" algn="l" rtl="0">
              <a:spcBef>
                <a:spcPts val="480"/>
              </a:spcBef>
              <a:spcAft>
                <a:spcPts val="0"/>
              </a:spcAft>
              <a:buClr>
                <a:schemeClr val="dk1"/>
              </a:buClr>
              <a:buSzPts val="2400"/>
              <a:buFont typeface="Arial"/>
              <a:buChar char="–"/>
            </a:pPr>
            <a:r>
              <a:rPr lang="en-US" sz="2400"/>
              <a:t>One in which information about the key or the plaintext is obtained by observing how long it takes a given implementation to perform decryptions on various ciphertexts</a:t>
            </a:r>
            <a:endParaRPr/>
          </a:p>
          <a:p>
            <a:pPr marL="742950" lvl="1" indent="-285750" algn="l" rtl="0">
              <a:spcBef>
                <a:spcPts val="480"/>
              </a:spcBef>
              <a:spcAft>
                <a:spcPts val="0"/>
              </a:spcAft>
              <a:buClr>
                <a:schemeClr val="dk1"/>
              </a:buClr>
              <a:buSzPts val="2400"/>
              <a:buFont typeface="Arial"/>
              <a:buChar char="–"/>
            </a:pPr>
            <a:r>
              <a:rPr lang="en-US" sz="2400"/>
              <a:t>Exploits the fact that an encryption or decryption algorithm often takes slightly different amounts of time on different inputs</a:t>
            </a:r>
            <a:endParaRPr/>
          </a:p>
          <a:p>
            <a:pPr marL="742950" lvl="1" indent="-285750" algn="l" rtl="0">
              <a:spcBef>
                <a:spcPts val="480"/>
              </a:spcBef>
              <a:spcAft>
                <a:spcPts val="0"/>
              </a:spcAft>
              <a:buClr>
                <a:schemeClr val="dk1"/>
              </a:buClr>
              <a:buSzPts val="2400"/>
              <a:buFont typeface="Arial"/>
              <a:buChar char="–"/>
            </a:pPr>
            <a:r>
              <a:rPr lang="en-US" sz="2400"/>
              <a:t>So far it appears unlikely that this technique will ever be successful against DES or more powerful symmetric ciphers such as triple DES and AES</a:t>
            </a:r>
            <a:endParaRPr sz="2400"/>
          </a:p>
        </p:txBody>
      </p:sp>
      <p:pic>
        <p:nvPicPr>
          <p:cNvPr id="675" name="Google Shape;675;p56"/>
          <p:cNvPicPr preferRelativeResize="0"/>
          <p:nvPr/>
        </p:nvPicPr>
        <p:blipFill rotWithShape="1">
          <a:blip r:embed="rId3">
            <a:alphaModFix/>
          </a:blip>
          <a:srcRect/>
          <a:stretch/>
        </p:blipFill>
        <p:spPr>
          <a:xfrm>
            <a:off x="7924800" y="4724400"/>
            <a:ext cx="1044638" cy="1851025"/>
          </a:xfrm>
          <a:prstGeom prst="rect">
            <a:avLst/>
          </a:prstGeom>
          <a:noFill/>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57"/>
          <p:cNvSpPr txBox="1">
            <a:spLocks noGrp="1"/>
          </p:cNvSpPr>
          <p:nvPr>
            <p:ph type="title"/>
          </p:nvPr>
        </p:nvSpPr>
        <p:spPr>
          <a:xfrm>
            <a:off x="0" y="40341"/>
            <a:ext cx="9144000" cy="14119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t>Block Cipher Design Principles:</a:t>
            </a:r>
            <a:br>
              <a:rPr lang="en-US" sz="4000"/>
            </a:br>
            <a:r>
              <a:rPr lang="en-US" sz="3600"/>
              <a:t>Number of Rounds</a:t>
            </a:r>
            <a:endParaRPr sz="3600"/>
          </a:p>
        </p:txBody>
      </p:sp>
      <p:grpSp>
        <p:nvGrpSpPr>
          <p:cNvPr id="682" name="Google Shape;682;p57"/>
          <p:cNvGrpSpPr/>
          <p:nvPr/>
        </p:nvGrpSpPr>
        <p:grpSpPr>
          <a:xfrm>
            <a:off x="828509" y="1484783"/>
            <a:ext cx="7568937" cy="4791635"/>
            <a:chOff x="925" y="-1"/>
            <a:chExt cx="7568937" cy="4791635"/>
          </a:xfrm>
        </p:grpSpPr>
        <p:sp>
          <p:nvSpPr>
            <p:cNvPr id="683" name="Google Shape;683;p57"/>
            <p:cNvSpPr/>
            <p:nvPr/>
          </p:nvSpPr>
          <p:spPr>
            <a:xfrm rot="-5400000">
              <a:off x="-1193474" y="1194398"/>
              <a:ext cx="4791635" cy="2402837"/>
            </a:xfrm>
            <a:prstGeom prst="flowChartManualOperation">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7"/>
            <p:cNvSpPr txBox="1"/>
            <p:nvPr/>
          </p:nvSpPr>
          <p:spPr>
            <a:xfrm>
              <a:off x="925" y="958326"/>
              <a:ext cx="2402837" cy="2874981"/>
            </a:xfrm>
            <a:prstGeom prst="rect">
              <a:avLst/>
            </a:prstGeom>
            <a:noFill/>
            <a:ln>
              <a:noFill/>
            </a:ln>
          </p:spPr>
          <p:txBody>
            <a:bodyPr spcFirstLastPara="1" wrap="square" lIns="120650" tIns="0" rIns="120825" bIns="0" anchor="ctr" anchorCtr="0">
              <a:noAutofit/>
            </a:bodyPr>
            <a:lstStyle/>
            <a:p>
              <a:pPr marL="0" marR="0" lvl="0" indent="0" algn="ctr" rtl="0">
                <a:lnSpc>
                  <a:spcPct val="90000"/>
                </a:lnSpc>
                <a:spcBef>
                  <a:spcPts val="0"/>
                </a:spcBef>
                <a:spcAft>
                  <a:spcPts val="0"/>
                </a:spcAft>
                <a:buNone/>
              </a:pPr>
              <a:r>
                <a:rPr lang="en-US" sz="1900">
                  <a:solidFill>
                    <a:schemeClr val="lt1"/>
                  </a:solidFill>
                  <a:latin typeface="Arial"/>
                  <a:ea typeface="Arial"/>
                  <a:cs typeface="Arial"/>
                  <a:sym typeface="Arial"/>
                </a:rPr>
                <a:t>The greater the number of rounds, the more difficult it is to perform cryptanalysis</a:t>
              </a:r>
              <a:endParaRPr sz="1900">
                <a:solidFill>
                  <a:schemeClr val="lt1"/>
                </a:solidFill>
                <a:latin typeface="Arial"/>
                <a:ea typeface="Arial"/>
                <a:cs typeface="Arial"/>
                <a:sym typeface="Arial"/>
              </a:endParaRPr>
            </a:p>
          </p:txBody>
        </p:sp>
        <p:sp>
          <p:nvSpPr>
            <p:cNvPr id="685" name="Google Shape;685;p57"/>
            <p:cNvSpPr/>
            <p:nvPr/>
          </p:nvSpPr>
          <p:spPr>
            <a:xfrm rot="-5400000">
              <a:off x="1389575" y="1194398"/>
              <a:ext cx="4791635" cy="2402837"/>
            </a:xfrm>
            <a:prstGeom prst="flowChartManualOperation">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7"/>
            <p:cNvSpPr txBox="1"/>
            <p:nvPr/>
          </p:nvSpPr>
          <p:spPr>
            <a:xfrm>
              <a:off x="2583974" y="958326"/>
              <a:ext cx="2402837" cy="2874981"/>
            </a:xfrm>
            <a:prstGeom prst="rect">
              <a:avLst/>
            </a:prstGeom>
            <a:noFill/>
            <a:ln>
              <a:noFill/>
            </a:ln>
          </p:spPr>
          <p:txBody>
            <a:bodyPr spcFirstLastPara="1" wrap="square" lIns="120650" tIns="0" rIns="120825" bIns="0" anchor="ctr" anchorCtr="0">
              <a:noAutofit/>
            </a:bodyPr>
            <a:lstStyle/>
            <a:p>
              <a:pPr marL="0" marR="0" lvl="0" indent="0" algn="ctr" rtl="0">
                <a:lnSpc>
                  <a:spcPct val="90000"/>
                </a:lnSpc>
                <a:spcBef>
                  <a:spcPts val="0"/>
                </a:spcBef>
                <a:spcAft>
                  <a:spcPts val="0"/>
                </a:spcAft>
                <a:buNone/>
              </a:pPr>
              <a:r>
                <a:rPr lang="en-US" sz="1900">
                  <a:solidFill>
                    <a:schemeClr val="lt1"/>
                  </a:solidFill>
                  <a:latin typeface="Arial"/>
                  <a:ea typeface="Arial"/>
                  <a:cs typeface="Arial"/>
                  <a:sym typeface="Arial"/>
                </a:rPr>
                <a:t>In general, the criterion should be that the number of rounds is chosen so that known cryptanalytic efforts require greater effort than a simple brute-force key search attack</a:t>
              </a:r>
              <a:endParaRPr sz="1900">
                <a:solidFill>
                  <a:schemeClr val="lt1"/>
                </a:solidFill>
                <a:latin typeface="Arial"/>
                <a:ea typeface="Arial"/>
                <a:cs typeface="Arial"/>
                <a:sym typeface="Arial"/>
              </a:endParaRPr>
            </a:p>
          </p:txBody>
        </p:sp>
        <p:sp>
          <p:nvSpPr>
            <p:cNvPr id="687" name="Google Shape;687;p57"/>
            <p:cNvSpPr/>
            <p:nvPr/>
          </p:nvSpPr>
          <p:spPr>
            <a:xfrm rot="-5400000">
              <a:off x="3972626" y="1194398"/>
              <a:ext cx="4791635" cy="2402837"/>
            </a:xfrm>
            <a:prstGeom prst="flowChartManualOperation">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7"/>
            <p:cNvSpPr txBox="1"/>
            <p:nvPr/>
          </p:nvSpPr>
          <p:spPr>
            <a:xfrm>
              <a:off x="5167025" y="958326"/>
              <a:ext cx="2402837" cy="2874981"/>
            </a:xfrm>
            <a:prstGeom prst="rect">
              <a:avLst/>
            </a:prstGeom>
            <a:noFill/>
            <a:ln>
              <a:noFill/>
            </a:ln>
          </p:spPr>
          <p:txBody>
            <a:bodyPr spcFirstLastPara="1" wrap="square" lIns="120650" tIns="0" rIns="120825" bIns="0" anchor="ctr" anchorCtr="0">
              <a:noAutofit/>
            </a:bodyPr>
            <a:lstStyle/>
            <a:p>
              <a:pPr marL="0" marR="0" lvl="0" indent="0" algn="ctr" rtl="0">
                <a:lnSpc>
                  <a:spcPct val="90000"/>
                </a:lnSpc>
                <a:spcBef>
                  <a:spcPts val="0"/>
                </a:spcBef>
                <a:spcAft>
                  <a:spcPts val="0"/>
                </a:spcAft>
                <a:buNone/>
              </a:pPr>
              <a:r>
                <a:rPr lang="en-US" sz="1900" dirty="0">
                  <a:solidFill>
                    <a:schemeClr val="lt1"/>
                  </a:solidFill>
                  <a:latin typeface="Arial"/>
                  <a:ea typeface="Arial"/>
                  <a:cs typeface="Arial"/>
                  <a:sym typeface="Arial"/>
                </a:rPr>
                <a:t>If DES had 15 or fewer rounds, differential cryptanalysis would require less effort than a brute-force key search</a:t>
              </a:r>
              <a:endParaRPr sz="1900" dirty="0">
                <a:solidFill>
                  <a:schemeClr val="lt1"/>
                </a:solidFill>
                <a:latin typeface="Arial"/>
                <a:ea typeface="Arial"/>
                <a:cs typeface="Arial"/>
                <a:sym typeface="Arial"/>
              </a:endParaRPr>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59"/>
          <p:cNvSpPr txBox="1">
            <a:spLocks noGrp="1"/>
          </p:cNvSpPr>
          <p:nvPr>
            <p:ph type="title"/>
          </p:nvPr>
        </p:nvSpPr>
        <p:spPr>
          <a:xfrm>
            <a:off x="152400" y="40341"/>
            <a:ext cx="8839200" cy="14119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t>Block Cipher Design Principles:</a:t>
            </a:r>
            <a:br>
              <a:rPr lang="en-US" sz="4000"/>
            </a:br>
            <a:r>
              <a:rPr lang="en-US" sz="3600"/>
              <a:t>Design of Function F</a:t>
            </a:r>
            <a:endParaRPr sz="3600"/>
          </a:p>
        </p:txBody>
      </p:sp>
      <p:sp>
        <p:nvSpPr>
          <p:cNvPr id="702" name="Google Shape;702;p59"/>
          <p:cNvSpPr txBox="1">
            <a:spLocks noGrp="1"/>
          </p:cNvSpPr>
          <p:nvPr>
            <p:ph sz="half" idx="1"/>
          </p:nvPr>
        </p:nvSpPr>
        <p:spPr>
          <a:xfrm>
            <a:off x="395536" y="1556792"/>
            <a:ext cx="3566160" cy="453231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dirty="0">
                <a:solidFill>
                  <a:srgbClr val="FF0000"/>
                </a:solidFill>
              </a:rPr>
              <a:t>The heart of a </a:t>
            </a:r>
            <a:r>
              <a:rPr lang="en-US" sz="2400" dirty="0" err="1">
                <a:solidFill>
                  <a:srgbClr val="FF0000"/>
                </a:solidFill>
              </a:rPr>
              <a:t>Feistel</a:t>
            </a:r>
            <a:r>
              <a:rPr lang="en-US" sz="2400" dirty="0">
                <a:solidFill>
                  <a:srgbClr val="FF0000"/>
                </a:solidFill>
              </a:rPr>
              <a:t> block cipher is the function F</a:t>
            </a:r>
            <a:endParaRPr dirty="0">
              <a:solidFill>
                <a:srgbClr val="FF0000"/>
              </a:solidFill>
            </a:endParaRPr>
          </a:p>
          <a:p>
            <a:pPr lvl="1" indent="-342900">
              <a:spcBef>
                <a:spcPts val="480"/>
              </a:spcBef>
              <a:spcAft>
                <a:spcPts val="0"/>
              </a:spcAft>
              <a:buClr>
                <a:schemeClr val="dk1"/>
              </a:buClr>
              <a:buSzPts val="2400"/>
              <a:buFont typeface="Arial"/>
              <a:buChar char="•"/>
            </a:pPr>
            <a:r>
              <a:rPr lang="en-US" sz="2000" dirty="0"/>
              <a:t>The more nonlinear F, the more difficult any type of cryptanalysis will be</a:t>
            </a:r>
            <a:endParaRPr dirty="0"/>
          </a:p>
          <a:p>
            <a:pPr marL="342900" lvl="0" indent="-342900" algn="l" rtl="0">
              <a:spcBef>
                <a:spcPts val="480"/>
              </a:spcBef>
              <a:spcAft>
                <a:spcPts val="0"/>
              </a:spcAft>
              <a:buClr>
                <a:schemeClr val="dk1"/>
              </a:buClr>
              <a:buSzPts val="2400"/>
              <a:buFont typeface="Arial"/>
              <a:buChar char="•"/>
            </a:pPr>
            <a:r>
              <a:rPr lang="en-US" sz="2400" dirty="0"/>
              <a:t>The SAC and BIC criteria appear to strengthen the effectiveness of the confusion function</a:t>
            </a:r>
            <a:endParaRPr sz="2400" dirty="0"/>
          </a:p>
        </p:txBody>
      </p:sp>
      <p:grpSp>
        <p:nvGrpSpPr>
          <p:cNvPr id="703" name="Google Shape;703;p59"/>
          <p:cNvGrpSpPr/>
          <p:nvPr/>
        </p:nvGrpSpPr>
        <p:grpSpPr>
          <a:xfrm>
            <a:off x="4041486" y="2963727"/>
            <a:ext cx="4871027" cy="2835545"/>
            <a:chOff x="2886" y="1515927"/>
            <a:chExt cx="4871027" cy="2835545"/>
          </a:xfrm>
        </p:grpSpPr>
        <p:sp>
          <p:nvSpPr>
            <p:cNvPr id="704" name="Google Shape;704;p59"/>
            <p:cNvSpPr/>
            <p:nvPr/>
          </p:nvSpPr>
          <p:spPr>
            <a:xfrm>
              <a:off x="2886" y="1515927"/>
              <a:ext cx="1997868" cy="998934"/>
            </a:xfrm>
            <a:prstGeom prst="roundRect">
              <a:avLst>
                <a:gd name="adj" fmla="val 10000"/>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59"/>
            <p:cNvSpPr txBox="1"/>
            <p:nvPr/>
          </p:nvSpPr>
          <p:spPr>
            <a:xfrm>
              <a:off x="32144" y="1545185"/>
              <a:ext cx="1939352" cy="940418"/>
            </a:xfrm>
            <a:prstGeom prst="rect">
              <a:avLst/>
            </a:prstGeom>
            <a:noFill/>
            <a:ln>
              <a:noFill/>
            </a:ln>
          </p:spPr>
          <p:txBody>
            <a:bodyPr spcFirstLastPara="1" wrap="square" lIns="41900" tIns="27925" rIns="41900" bIns="27925" anchor="ctr" anchorCtr="0">
              <a:noAutofit/>
            </a:bodyPr>
            <a:lstStyle/>
            <a:p>
              <a:pPr marL="0" marR="0" lvl="0" indent="0" algn="ctr" rtl="0">
                <a:lnSpc>
                  <a:spcPct val="90000"/>
                </a:lnSpc>
                <a:spcBef>
                  <a:spcPts val="0"/>
                </a:spcBef>
                <a:spcAft>
                  <a:spcPts val="0"/>
                </a:spcAft>
                <a:buNone/>
              </a:pPr>
              <a:r>
                <a:rPr lang="en-US" sz="2200">
                  <a:solidFill>
                    <a:schemeClr val="lt1"/>
                  </a:solidFill>
                  <a:latin typeface="Arial"/>
                  <a:ea typeface="Arial"/>
                  <a:cs typeface="Arial"/>
                  <a:sym typeface="Arial"/>
                </a:rPr>
                <a:t>Strict avalanche criterion (SAC)</a:t>
              </a:r>
              <a:endParaRPr sz="2200">
                <a:solidFill>
                  <a:schemeClr val="lt1"/>
                </a:solidFill>
                <a:latin typeface="Arial"/>
                <a:ea typeface="Arial"/>
                <a:cs typeface="Arial"/>
                <a:sym typeface="Arial"/>
              </a:endParaRPr>
            </a:p>
          </p:txBody>
        </p:sp>
        <p:sp>
          <p:nvSpPr>
            <p:cNvPr id="706" name="Google Shape;706;p59"/>
            <p:cNvSpPr/>
            <p:nvPr/>
          </p:nvSpPr>
          <p:spPr>
            <a:xfrm>
              <a:off x="202672" y="2514861"/>
              <a:ext cx="199786" cy="1010961"/>
            </a:xfrm>
            <a:custGeom>
              <a:avLst/>
              <a:gdLst/>
              <a:ahLst/>
              <a:cxnLst/>
              <a:rect l="l" t="t" r="r" b="b"/>
              <a:pathLst>
                <a:path w="120000" h="120000" extrusionOk="0">
                  <a:moveTo>
                    <a:pt x="0" y="0"/>
                  </a:moveTo>
                  <a:lnTo>
                    <a:pt x="0" y="120000"/>
                  </a:lnTo>
                  <a:lnTo>
                    <a:pt x="120000" y="120000"/>
                  </a:lnTo>
                </a:path>
              </a:pathLst>
            </a:custGeom>
            <a:noFill/>
            <a:ln w="9525" cap="flat" cmpd="sng">
              <a:solidFill>
                <a:srgbClr val="93B1B3"/>
              </a:solidFill>
              <a:prstDash val="solid"/>
              <a:round/>
              <a:headEnd type="none" w="sm" len="sm"/>
              <a:tailEnd type="none" w="sm" len="sm"/>
            </a:ln>
          </p:spPr>
        </p:sp>
        <p:sp>
          <p:nvSpPr>
            <p:cNvPr id="707" name="Google Shape;707;p59"/>
            <p:cNvSpPr/>
            <p:nvPr/>
          </p:nvSpPr>
          <p:spPr>
            <a:xfrm>
              <a:off x="402459" y="2764595"/>
              <a:ext cx="2053841" cy="1522455"/>
            </a:xfrm>
            <a:prstGeom prst="roundRect">
              <a:avLst>
                <a:gd name="adj" fmla="val 10000"/>
              </a:avLst>
            </a:prstGeom>
            <a:solidFill>
              <a:schemeClr val="lt1">
                <a:alpha val="89803"/>
              </a:scheme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59"/>
            <p:cNvSpPr txBox="1"/>
            <p:nvPr/>
          </p:nvSpPr>
          <p:spPr>
            <a:xfrm>
              <a:off x="447050" y="2809186"/>
              <a:ext cx="1964659" cy="1433273"/>
            </a:xfrm>
            <a:prstGeom prst="rect">
              <a:avLst/>
            </a:prstGeom>
            <a:noFill/>
            <a:ln>
              <a:noFill/>
            </a:ln>
          </p:spPr>
          <p:txBody>
            <a:bodyPr spcFirstLastPara="1" wrap="square" lIns="26650" tIns="17775" rIns="26650" bIns="17775" anchor="ctr" anchorCtr="0">
              <a:noAutofit/>
            </a:bodyPr>
            <a:lstStyle/>
            <a:p>
              <a:pPr marL="0" marR="0" lvl="0" indent="0" algn="ctr" rtl="0">
                <a:lnSpc>
                  <a:spcPct val="90000"/>
                </a:lnSpc>
                <a:spcBef>
                  <a:spcPts val="0"/>
                </a:spcBef>
                <a:spcAft>
                  <a:spcPts val="0"/>
                </a:spcAft>
                <a:buNone/>
              </a:pPr>
              <a:r>
                <a:rPr lang="en-US" sz="1400" b="1">
                  <a:solidFill>
                    <a:schemeClr val="dk1"/>
                  </a:solidFill>
                  <a:latin typeface="Arial"/>
                  <a:ea typeface="Arial"/>
                  <a:cs typeface="Arial"/>
                  <a:sym typeface="Arial"/>
                </a:rPr>
                <a:t>States that any output bit j  of an S-box should change with probability 1/2 when any single input bit i  is inverted for all i , j </a:t>
              </a:r>
              <a:endParaRPr/>
            </a:p>
          </p:txBody>
        </p:sp>
        <p:sp>
          <p:nvSpPr>
            <p:cNvPr id="709" name="Google Shape;709;p59"/>
            <p:cNvSpPr/>
            <p:nvPr/>
          </p:nvSpPr>
          <p:spPr>
            <a:xfrm>
              <a:off x="2556194" y="1515927"/>
              <a:ext cx="1997868" cy="998934"/>
            </a:xfrm>
            <a:prstGeom prst="roundRect">
              <a:avLst>
                <a:gd name="adj" fmla="val 10000"/>
              </a:avLst>
            </a:prstGeom>
            <a:gradFill>
              <a:gsLst>
                <a:gs pos="0">
                  <a:srgbClr val="000000"/>
                </a:gs>
                <a:gs pos="39999">
                  <a:srgbClr val="0A128C"/>
                </a:gs>
                <a:gs pos="70000">
                  <a:srgbClr val="181CC7"/>
                </a:gs>
                <a:gs pos="88000">
                  <a:srgbClr val="7005D4"/>
                </a:gs>
                <a:gs pos="100000">
                  <a:srgbClr val="8C3D91"/>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9"/>
            <p:cNvSpPr txBox="1"/>
            <p:nvPr/>
          </p:nvSpPr>
          <p:spPr>
            <a:xfrm>
              <a:off x="2585452" y="1545185"/>
              <a:ext cx="1939352" cy="940418"/>
            </a:xfrm>
            <a:prstGeom prst="rect">
              <a:avLst/>
            </a:prstGeom>
            <a:noFill/>
            <a:ln>
              <a:noFill/>
            </a:ln>
          </p:spPr>
          <p:txBody>
            <a:bodyPr spcFirstLastPara="1" wrap="square" lIns="41900" tIns="27925" rIns="41900" bIns="27925" anchor="ctr" anchorCtr="0">
              <a:noAutofit/>
            </a:bodyPr>
            <a:lstStyle/>
            <a:p>
              <a:pPr marL="0" marR="0" lvl="0" indent="0" algn="ctr" rtl="0">
                <a:lnSpc>
                  <a:spcPct val="90000"/>
                </a:lnSpc>
                <a:spcBef>
                  <a:spcPts val="0"/>
                </a:spcBef>
                <a:spcAft>
                  <a:spcPts val="0"/>
                </a:spcAft>
                <a:buNone/>
              </a:pPr>
              <a:r>
                <a:rPr lang="en-US" sz="2200">
                  <a:solidFill>
                    <a:schemeClr val="lt1"/>
                  </a:solidFill>
                  <a:latin typeface="Arial"/>
                  <a:ea typeface="Arial"/>
                  <a:cs typeface="Arial"/>
                  <a:sym typeface="Arial"/>
                </a:rPr>
                <a:t>Bit independence criterion (BIC) </a:t>
              </a:r>
              <a:endParaRPr/>
            </a:p>
          </p:txBody>
        </p:sp>
        <p:sp>
          <p:nvSpPr>
            <p:cNvPr id="711" name="Google Shape;711;p59"/>
            <p:cNvSpPr/>
            <p:nvPr/>
          </p:nvSpPr>
          <p:spPr>
            <a:xfrm>
              <a:off x="2755981" y="2514861"/>
              <a:ext cx="199786" cy="1043172"/>
            </a:xfrm>
            <a:custGeom>
              <a:avLst/>
              <a:gdLst/>
              <a:ahLst/>
              <a:cxnLst/>
              <a:rect l="l" t="t" r="r" b="b"/>
              <a:pathLst>
                <a:path w="120000" h="120000" extrusionOk="0">
                  <a:moveTo>
                    <a:pt x="0" y="0"/>
                  </a:moveTo>
                  <a:lnTo>
                    <a:pt x="0" y="120000"/>
                  </a:lnTo>
                  <a:lnTo>
                    <a:pt x="120000" y="120000"/>
                  </a:lnTo>
                </a:path>
              </a:pathLst>
            </a:custGeom>
            <a:noFill/>
            <a:ln w="9525" cap="flat" cmpd="sng">
              <a:solidFill>
                <a:srgbClr val="93B1B3"/>
              </a:solidFill>
              <a:prstDash val="solid"/>
              <a:round/>
              <a:headEnd type="none" w="sm" len="sm"/>
              <a:tailEnd type="none" w="sm" len="sm"/>
            </a:ln>
          </p:spPr>
        </p:sp>
        <p:sp>
          <p:nvSpPr>
            <p:cNvPr id="712" name="Google Shape;712;p59"/>
            <p:cNvSpPr/>
            <p:nvPr/>
          </p:nvSpPr>
          <p:spPr>
            <a:xfrm>
              <a:off x="2955768" y="2764595"/>
              <a:ext cx="1918145" cy="1586877"/>
            </a:xfrm>
            <a:prstGeom prst="roundRect">
              <a:avLst>
                <a:gd name="adj" fmla="val 10000"/>
              </a:avLst>
            </a:prstGeom>
            <a:solidFill>
              <a:schemeClr val="lt1">
                <a:alpha val="89803"/>
              </a:scheme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59"/>
            <p:cNvSpPr txBox="1"/>
            <p:nvPr/>
          </p:nvSpPr>
          <p:spPr>
            <a:xfrm>
              <a:off x="3002246" y="2811073"/>
              <a:ext cx="1825189" cy="1493921"/>
            </a:xfrm>
            <a:prstGeom prst="rect">
              <a:avLst/>
            </a:prstGeom>
            <a:noFill/>
            <a:ln>
              <a:noFill/>
            </a:ln>
          </p:spPr>
          <p:txBody>
            <a:bodyPr spcFirstLastPara="1" wrap="square" lIns="26650" tIns="17775" rIns="26650" bIns="17775" anchor="ctr" anchorCtr="0">
              <a:noAutofit/>
            </a:bodyPr>
            <a:lstStyle/>
            <a:p>
              <a:pPr marL="0" marR="0" lvl="0" indent="0" algn="ctr" rtl="0">
                <a:lnSpc>
                  <a:spcPct val="90000"/>
                </a:lnSpc>
                <a:spcBef>
                  <a:spcPts val="0"/>
                </a:spcBef>
                <a:spcAft>
                  <a:spcPts val="0"/>
                </a:spcAft>
                <a:buNone/>
              </a:pPr>
              <a:r>
                <a:rPr lang="en-US" sz="1400" b="1">
                  <a:solidFill>
                    <a:schemeClr val="dk1"/>
                  </a:solidFill>
                  <a:latin typeface="Arial"/>
                  <a:ea typeface="Arial"/>
                  <a:cs typeface="Arial"/>
                  <a:sym typeface="Arial"/>
                </a:rPr>
                <a:t>States that output bits j and k  should change independently when any single input bit i  is inverted for all i , j, and k </a:t>
              </a:r>
              <a:endParaRPr/>
            </a:p>
          </p:txBody>
        </p:sp>
      </p:grpSp>
      <p:sp>
        <p:nvSpPr>
          <p:cNvPr id="714" name="Google Shape;714;p59"/>
          <p:cNvSpPr txBox="1"/>
          <p:nvPr/>
        </p:nvSpPr>
        <p:spPr>
          <a:xfrm>
            <a:off x="4343400" y="1828800"/>
            <a:ext cx="4343400" cy="800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00">
                <a:solidFill>
                  <a:schemeClr val="dk2"/>
                </a:solidFill>
                <a:latin typeface="Arial"/>
                <a:ea typeface="Arial"/>
                <a:cs typeface="Arial"/>
                <a:sym typeface="Arial"/>
              </a:rPr>
              <a:t>The algorithm should have good avalanche properties</a:t>
            </a:r>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60"/>
          <p:cNvSpPr txBox="1">
            <a:spLocks noGrp="1"/>
          </p:cNvSpPr>
          <p:nvPr>
            <p:ph type="title"/>
          </p:nvPr>
        </p:nvSpPr>
        <p:spPr>
          <a:xfrm>
            <a:off x="0" y="40341"/>
            <a:ext cx="9144000" cy="14119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t>Block Cipher Design Principles:</a:t>
            </a:r>
            <a:br>
              <a:rPr lang="en-US" sz="4000"/>
            </a:br>
            <a:r>
              <a:rPr lang="en-US" sz="3600"/>
              <a:t>Key Schedule Algorithm</a:t>
            </a:r>
            <a:endParaRPr sz="3600"/>
          </a:p>
        </p:txBody>
      </p:sp>
      <p:sp>
        <p:nvSpPr>
          <p:cNvPr id="721" name="Google Shape;721;p60"/>
          <p:cNvSpPr txBox="1">
            <a:spLocks noGrp="1"/>
          </p:cNvSpPr>
          <p:nvPr>
            <p:ph idx="1"/>
          </p:nvPr>
        </p:nvSpPr>
        <p:spPr>
          <a:xfrm>
            <a:off x="755576" y="1412776"/>
            <a:ext cx="7570787" cy="463923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Font typeface="Arial"/>
              <a:buChar char="•"/>
            </a:pPr>
            <a:r>
              <a:rPr lang="en-US" sz="2800"/>
              <a:t>With any Feistel block cipher, the key is used to generate one subkey for each round</a:t>
            </a:r>
            <a:endParaRPr/>
          </a:p>
          <a:p>
            <a:pPr marL="342900" lvl="0" indent="-342900" algn="l" rtl="0">
              <a:spcBef>
                <a:spcPts val="560"/>
              </a:spcBef>
              <a:spcAft>
                <a:spcPts val="0"/>
              </a:spcAft>
              <a:buClr>
                <a:schemeClr val="dk1"/>
              </a:buClr>
              <a:buSzPts val="2800"/>
              <a:buFont typeface="Arial"/>
              <a:buChar char="•"/>
            </a:pPr>
            <a:r>
              <a:rPr lang="en-US" sz="2800"/>
              <a:t>In general, we would like to select subkeys to maximize the difficulty of deducing individual subkeys and the difficulty of working back to the main key</a:t>
            </a:r>
            <a:endParaRPr/>
          </a:p>
          <a:p>
            <a:pPr marL="342900" lvl="0" indent="-342900" algn="l" rtl="0">
              <a:spcBef>
                <a:spcPts val="560"/>
              </a:spcBef>
              <a:spcAft>
                <a:spcPts val="0"/>
              </a:spcAft>
              <a:buClr>
                <a:schemeClr val="dk1"/>
              </a:buClr>
              <a:buSzPts val="2800"/>
              <a:buFont typeface="Arial"/>
              <a:buChar char="•"/>
            </a:pPr>
            <a:r>
              <a:rPr lang="en-US" sz="2800"/>
              <a:t>It is suggested that, at a minimum, the key schedule should guarantee key/ciphertext Strict Avalanche Criterion and Bit Independence Criterion</a:t>
            </a:r>
            <a:endParaRPr/>
          </a:p>
          <a:p>
            <a:pPr marL="342900" lvl="0" indent="-165100" algn="l" rtl="0">
              <a:spcBef>
                <a:spcPts val="560"/>
              </a:spcBef>
              <a:spcAft>
                <a:spcPts val="0"/>
              </a:spcAft>
              <a:buClr>
                <a:schemeClr val="dk1"/>
              </a:buClr>
              <a:buSzPts val="2800"/>
              <a:buFont typeface="Arial"/>
              <a:buNone/>
            </a:pPr>
            <a:endParaRPr sz="280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Homework</a:t>
            </a:r>
            <a:endParaRPr lang="en-US" dirty="0"/>
          </a:p>
        </p:txBody>
      </p:sp>
      <p:sp>
        <p:nvSpPr>
          <p:cNvPr id="3" name="Content Placeholder 2"/>
          <p:cNvSpPr>
            <a:spLocks noGrp="1"/>
          </p:cNvSpPr>
          <p:nvPr>
            <p:ph idx="1"/>
          </p:nvPr>
        </p:nvSpPr>
        <p:spPr/>
        <p:txBody>
          <a:bodyPr/>
          <a:lstStyle/>
          <a:p>
            <a:r>
              <a:rPr lang="en-US" dirty="0" err="1" smtClean="0"/>
              <a:t>pyDes</a:t>
            </a:r>
            <a:r>
              <a:rPr lang="en-US" dirty="0" smtClean="0"/>
              <a:t>: </a:t>
            </a:r>
          </a:p>
          <a:p>
            <a:pPr lvl="1"/>
            <a:r>
              <a:rPr lang="en-US" dirty="0" smtClean="0"/>
              <a:t>install </a:t>
            </a:r>
            <a:r>
              <a:rPr lang="en-US" dirty="0" err="1" smtClean="0">
                <a:solidFill>
                  <a:srgbClr val="FF0000"/>
                </a:solidFill>
              </a:rPr>
              <a:t>pyDes</a:t>
            </a:r>
            <a:r>
              <a:rPr lang="en-US" dirty="0" smtClean="0">
                <a:solidFill>
                  <a:srgbClr val="FF0000"/>
                </a:solidFill>
              </a:rPr>
              <a:t> </a:t>
            </a:r>
            <a:r>
              <a:rPr lang="en-US" dirty="0" smtClean="0"/>
              <a:t>package in Python/Sage</a:t>
            </a:r>
          </a:p>
          <a:p>
            <a:pPr lvl="1"/>
            <a:r>
              <a:rPr lang="en-US" dirty="0" smtClean="0"/>
              <a:t>Run and explain code for DES encryption </a:t>
            </a:r>
          </a:p>
          <a:p>
            <a:pPr lvl="1"/>
            <a:endParaRPr lang="en-US" dirty="0" smtClean="0"/>
          </a:p>
          <a:p>
            <a:endParaRPr lang="en-US" dirty="0"/>
          </a:p>
        </p:txBody>
      </p:sp>
      <p:sp>
        <p:nvSpPr>
          <p:cNvPr id="4" name="TextBox 3"/>
          <p:cNvSpPr txBox="1"/>
          <p:nvPr/>
        </p:nvSpPr>
        <p:spPr>
          <a:xfrm>
            <a:off x="1219199" y="3445457"/>
            <a:ext cx="6721712" cy="400110"/>
          </a:xfrm>
          <a:prstGeom prst="rect">
            <a:avLst/>
          </a:prstGeom>
          <a:noFill/>
        </p:spPr>
        <p:txBody>
          <a:bodyPr wrap="none" rtlCol="0">
            <a:spAutoFit/>
          </a:bodyPr>
          <a:lstStyle/>
          <a:p>
            <a:r>
              <a:rPr lang="en-US" sz="2000" dirty="0">
                <a:hlinkClick r:id="rId2"/>
              </a:rPr>
              <a:t>https://</a:t>
            </a:r>
            <a:r>
              <a:rPr lang="en-US" sz="2000" dirty="0" smtClean="0">
                <a:hlinkClick r:id="rId2"/>
              </a:rPr>
              <a:t>www.tutorialspoint.com/cryptography_with_python</a:t>
            </a:r>
            <a:r>
              <a:rPr lang="en-US" sz="2000" dirty="0" smtClean="0"/>
              <a:t> </a:t>
            </a:r>
            <a:endParaRPr lang="en-US" sz="2000" dirty="0"/>
          </a:p>
        </p:txBody>
      </p:sp>
    </p:spTree>
    <p:extLst>
      <p:ext uri="{BB962C8B-B14F-4D97-AF65-F5344CB8AC3E}">
        <p14:creationId xmlns:p14="http://schemas.microsoft.com/office/powerpoint/2010/main" val="40949189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6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Summary</a:t>
            </a:r>
            <a:endParaRPr/>
          </a:p>
        </p:txBody>
      </p:sp>
      <p:sp>
        <p:nvSpPr>
          <p:cNvPr id="728" name="Google Shape;728;p61"/>
          <p:cNvSpPr txBox="1">
            <a:spLocks noGrp="1"/>
          </p:cNvSpPr>
          <p:nvPr>
            <p:ph sz="half" idx="1"/>
          </p:nvPr>
        </p:nvSpPr>
        <p:spPr>
          <a:xfrm>
            <a:off x="567680" y="1340768"/>
            <a:ext cx="3565525" cy="4778375"/>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Font typeface="Arial"/>
              <a:buChar char="•"/>
            </a:pPr>
            <a:r>
              <a:rPr lang="en-US"/>
              <a:t>Traditional Block Cipher Structure</a:t>
            </a:r>
            <a:endParaRPr/>
          </a:p>
          <a:p>
            <a:pPr marL="742950" lvl="1" indent="-285750" algn="l" rtl="0">
              <a:spcBef>
                <a:spcPts val="444"/>
              </a:spcBef>
              <a:spcAft>
                <a:spcPts val="0"/>
              </a:spcAft>
              <a:buClr>
                <a:schemeClr val="dk1"/>
              </a:buClr>
              <a:buSzPct val="100000"/>
              <a:buFont typeface="Arial"/>
              <a:buChar char="–"/>
            </a:pPr>
            <a:r>
              <a:rPr lang="en-US"/>
              <a:t>Stream ciphers</a:t>
            </a:r>
            <a:endParaRPr/>
          </a:p>
          <a:p>
            <a:pPr marL="742950" lvl="1" indent="-285750" algn="l" rtl="0">
              <a:spcBef>
                <a:spcPts val="444"/>
              </a:spcBef>
              <a:spcAft>
                <a:spcPts val="0"/>
              </a:spcAft>
              <a:buClr>
                <a:schemeClr val="dk1"/>
              </a:buClr>
              <a:buSzPct val="100000"/>
              <a:buFont typeface="Arial"/>
              <a:buChar char="–"/>
            </a:pPr>
            <a:r>
              <a:rPr lang="en-US"/>
              <a:t>Block ciphers</a:t>
            </a:r>
            <a:endParaRPr/>
          </a:p>
          <a:p>
            <a:pPr marL="742950" lvl="1" indent="-285750" algn="l" rtl="0">
              <a:spcBef>
                <a:spcPts val="444"/>
              </a:spcBef>
              <a:spcAft>
                <a:spcPts val="0"/>
              </a:spcAft>
              <a:buClr>
                <a:schemeClr val="dk1"/>
              </a:buClr>
              <a:buSzPct val="100000"/>
              <a:buFont typeface="Arial"/>
              <a:buChar char="–"/>
            </a:pPr>
            <a:r>
              <a:rPr lang="en-US"/>
              <a:t>Feistel cipher</a:t>
            </a:r>
            <a:endParaRPr/>
          </a:p>
          <a:p>
            <a:pPr marL="342900" lvl="0" indent="-342900" algn="l" rtl="0">
              <a:spcBef>
                <a:spcPts val="518"/>
              </a:spcBef>
              <a:spcAft>
                <a:spcPts val="0"/>
              </a:spcAft>
              <a:buClr>
                <a:schemeClr val="dk1"/>
              </a:buClr>
              <a:buSzPct val="100000"/>
              <a:buFont typeface="Arial"/>
              <a:buChar char="•"/>
            </a:pPr>
            <a:r>
              <a:rPr lang="en-US"/>
              <a:t>The Data Encryption Standard (DES)</a:t>
            </a:r>
            <a:endParaRPr/>
          </a:p>
          <a:p>
            <a:pPr marL="742950" lvl="1" indent="-285750" algn="l" rtl="0">
              <a:spcBef>
                <a:spcPts val="444"/>
              </a:spcBef>
              <a:spcAft>
                <a:spcPts val="0"/>
              </a:spcAft>
              <a:buClr>
                <a:schemeClr val="dk1"/>
              </a:buClr>
              <a:buSzPct val="100000"/>
              <a:buFont typeface="Arial"/>
              <a:buChar char="–"/>
            </a:pPr>
            <a:r>
              <a:rPr lang="en-US"/>
              <a:t>Encryption</a:t>
            </a:r>
            <a:endParaRPr/>
          </a:p>
          <a:p>
            <a:pPr marL="742950" lvl="1" indent="-285750" algn="l" rtl="0">
              <a:spcBef>
                <a:spcPts val="444"/>
              </a:spcBef>
              <a:spcAft>
                <a:spcPts val="0"/>
              </a:spcAft>
              <a:buClr>
                <a:schemeClr val="dk1"/>
              </a:buClr>
              <a:buSzPct val="100000"/>
              <a:buFont typeface="Arial"/>
              <a:buChar char="–"/>
            </a:pPr>
            <a:r>
              <a:rPr lang="en-US"/>
              <a:t>Decryption</a:t>
            </a:r>
            <a:endParaRPr/>
          </a:p>
          <a:p>
            <a:pPr marL="742950" lvl="1" indent="-285750" algn="l" rtl="0">
              <a:spcBef>
                <a:spcPts val="444"/>
              </a:spcBef>
              <a:spcAft>
                <a:spcPts val="0"/>
              </a:spcAft>
              <a:buClr>
                <a:schemeClr val="dk1"/>
              </a:buClr>
              <a:buSzPct val="100000"/>
              <a:buFont typeface="Arial"/>
              <a:buChar char="–"/>
            </a:pPr>
            <a:r>
              <a:rPr lang="en-US"/>
              <a:t>Avalanche effect</a:t>
            </a:r>
            <a:endParaRPr/>
          </a:p>
        </p:txBody>
      </p:sp>
      <p:sp>
        <p:nvSpPr>
          <p:cNvPr id="729" name="Google Shape;729;p61"/>
          <p:cNvSpPr txBox="1">
            <a:spLocks noGrp="1"/>
          </p:cNvSpPr>
          <p:nvPr>
            <p:ph sz="half" idx="2"/>
          </p:nvPr>
        </p:nvSpPr>
        <p:spPr>
          <a:xfrm>
            <a:off x="5292080" y="1340768"/>
            <a:ext cx="3565525" cy="4778375"/>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Font typeface="Arial"/>
              <a:buChar char="•"/>
            </a:pPr>
            <a:r>
              <a:rPr lang="en-US"/>
              <a:t>The strength of DES</a:t>
            </a:r>
            <a:endParaRPr/>
          </a:p>
          <a:p>
            <a:pPr marL="742950" lvl="1" indent="-285750" algn="l" rtl="0">
              <a:spcBef>
                <a:spcPts val="444"/>
              </a:spcBef>
              <a:spcAft>
                <a:spcPts val="0"/>
              </a:spcAft>
              <a:buClr>
                <a:schemeClr val="dk1"/>
              </a:buClr>
              <a:buSzPct val="100000"/>
              <a:buFont typeface="Arial"/>
              <a:buChar char="–"/>
            </a:pPr>
            <a:r>
              <a:rPr lang="en-US"/>
              <a:t>Use of 56-bit keys</a:t>
            </a:r>
            <a:endParaRPr/>
          </a:p>
          <a:p>
            <a:pPr marL="742950" lvl="1" indent="-285750" algn="l" rtl="0">
              <a:spcBef>
                <a:spcPts val="444"/>
              </a:spcBef>
              <a:spcAft>
                <a:spcPts val="0"/>
              </a:spcAft>
              <a:buClr>
                <a:schemeClr val="dk1"/>
              </a:buClr>
              <a:buSzPct val="100000"/>
              <a:buFont typeface="Arial"/>
              <a:buChar char="–"/>
            </a:pPr>
            <a:r>
              <a:rPr lang="en-US"/>
              <a:t>Nature of the DES algorithm</a:t>
            </a:r>
            <a:endParaRPr/>
          </a:p>
          <a:p>
            <a:pPr marL="742950" lvl="1" indent="-285750" algn="l" rtl="0">
              <a:spcBef>
                <a:spcPts val="444"/>
              </a:spcBef>
              <a:spcAft>
                <a:spcPts val="0"/>
              </a:spcAft>
              <a:buClr>
                <a:schemeClr val="dk1"/>
              </a:buClr>
              <a:buSzPct val="100000"/>
              <a:buFont typeface="Arial"/>
              <a:buChar char="–"/>
            </a:pPr>
            <a:r>
              <a:rPr lang="en-US"/>
              <a:t>Timing attacks</a:t>
            </a:r>
            <a:endParaRPr/>
          </a:p>
          <a:p>
            <a:pPr marL="342900" lvl="0" indent="-342900" algn="l" rtl="0">
              <a:spcBef>
                <a:spcPts val="518"/>
              </a:spcBef>
              <a:spcAft>
                <a:spcPts val="0"/>
              </a:spcAft>
              <a:buClr>
                <a:schemeClr val="dk1"/>
              </a:buClr>
              <a:buSzPct val="100000"/>
              <a:buFont typeface="Arial"/>
              <a:buChar char="•"/>
            </a:pPr>
            <a:r>
              <a:rPr lang="en-US"/>
              <a:t>Block cipher design principles</a:t>
            </a:r>
            <a:endParaRPr/>
          </a:p>
          <a:p>
            <a:pPr marL="742950" lvl="1" indent="-285750" algn="l" rtl="0">
              <a:spcBef>
                <a:spcPts val="444"/>
              </a:spcBef>
              <a:spcAft>
                <a:spcPts val="0"/>
              </a:spcAft>
              <a:buClr>
                <a:schemeClr val="dk1"/>
              </a:buClr>
              <a:buSzPct val="100000"/>
              <a:buFont typeface="Arial"/>
              <a:buChar char="–"/>
            </a:pPr>
            <a:r>
              <a:rPr lang="en-US"/>
              <a:t>DES design criteria</a:t>
            </a:r>
            <a:endParaRPr/>
          </a:p>
          <a:p>
            <a:pPr marL="742950" lvl="1" indent="-285750" algn="l" rtl="0">
              <a:spcBef>
                <a:spcPts val="444"/>
              </a:spcBef>
              <a:spcAft>
                <a:spcPts val="0"/>
              </a:spcAft>
              <a:buClr>
                <a:schemeClr val="dk1"/>
              </a:buClr>
              <a:buSzPct val="100000"/>
              <a:buFont typeface="Arial"/>
              <a:buChar char="–"/>
            </a:pPr>
            <a:r>
              <a:rPr lang="en-US"/>
              <a:t>Number of rounds</a:t>
            </a:r>
            <a:endParaRPr/>
          </a:p>
          <a:p>
            <a:pPr marL="742950" lvl="1" indent="-285750" algn="l" rtl="0">
              <a:spcBef>
                <a:spcPts val="444"/>
              </a:spcBef>
              <a:spcAft>
                <a:spcPts val="0"/>
              </a:spcAft>
              <a:buClr>
                <a:schemeClr val="dk1"/>
              </a:buClr>
              <a:buSzPct val="100000"/>
              <a:buFont typeface="Arial"/>
              <a:buChar char="–"/>
            </a:pPr>
            <a:r>
              <a:rPr lang="en-US"/>
              <a:t>Design of function F</a:t>
            </a:r>
            <a:endParaRPr/>
          </a:p>
          <a:p>
            <a:pPr marL="742950" lvl="1" indent="-285750" algn="l" rtl="0">
              <a:spcBef>
                <a:spcPts val="444"/>
              </a:spcBef>
              <a:spcAft>
                <a:spcPts val="0"/>
              </a:spcAft>
              <a:buClr>
                <a:schemeClr val="dk1"/>
              </a:buClr>
              <a:buSzPct val="100000"/>
              <a:buFont typeface="Arial"/>
              <a:buChar char="–"/>
            </a:pPr>
            <a:r>
              <a:rPr lang="en-US"/>
              <a:t>Key schedule algorithm</a:t>
            </a:r>
            <a:endParaRPr/>
          </a:p>
        </p:txBody>
      </p:sp>
      <p:pic>
        <p:nvPicPr>
          <p:cNvPr id="730" name="Google Shape;730;p61" descr="crypto.jpg"/>
          <p:cNvPicPr preferRelativeResize="0"/>
          <p:nvPr/>
        </p:nvPicPr>
        <p:blipFill rotWithShape="1">
          <a:blip r:embed="rId3">
            <a:alphaModFix/>
          </a:blip>
          <a:srcRect l="-16674" t="-1110" r="-18211" b="44444"/>
          <a:stretch/>
        </p:blipFill>
        <p:spPr>
          <a:xfrm>
            <a:off x="3635896" y="2204864"/>
            <a:ext cx="1834835" cy="1051584"/>
          </a:xfrm>
          <a:prstGeom prst="ellipse">
            <a:avLst/>
          </a:prstGeom>
          <a:solidFill>
            <a:srgbClr val="D8D8D8"/>
          </a:solid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1326</TotalTime>
  <Words>5980</Words>
  <Application>Microsoft Office PowerPoint</Application>
  <PresentationFormat>On-screen Show (4:3)</PresentationFormat>
  <Paragraphs>543</Paragraphs>
  <Slides>32</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Arial Narrow</vt:lpstr>
      <vt:lpstr>Linux Biolinum</vt:lpstr>
      <vt:lpstr>Candara</vt:lpstr>
      <vt:lpstr>ＭＳ Ｐゴシック</vt:lpstr>
      <vt:lpstr>Wingdings</vt:lpstr>
      <vt:lpstr>Times New Roman</vt:lpstr>
      <vt:lpstr>Crypto</vt:lpstr>
      <vt:lpstr>Cryptography</vt:lpstr>
      <vt:lpstr>Chapter 4</vt:lpstr>
      <vt:lpstr>Chapter 4: Outline</vt:lpstr>
      <vt:lpstr>Stream Cipher</vt:lpstr>
      <vt:lpstr>Block Cipher</vt:lpstr>
      <vt:lpstr>Stream Cipher and Block Cipher</vt:lpstr>
      <vt:lpstr>PowerPoint Presentation</vt:lpstr>
      <vt:lpstr>Table 3.1    Encryption and Decryption Tables for Substitution Cipher of Fig 3.2 </vt:lpstr>
      <vt:lpstr>Exercise</vt:lpstr>
      <vt:lpstr>Block substitution problem</vt:lpstr>
      <vt:lpstr>Feistel Cipher</vt:lpstr>
      <vt:lpstr>Diffusion and Confusion</vt:lpstr>
      <vt:lpstr>Feistel Cipher Structure</vt:lpstr>
      <vt:lpstr>Feistel Cipher Design Features</vt:lpstr>
      <vt:lpstr>PowerPoint Presentation</vt:lpstr>
      <vt:lpstr>Feistel Example</vt:lpstr>
      <vt:lpstr>Exercise</vt:lpstr>
      <vt:lpstr>Data Encryption Standard (DES)</vt:lpstr>
      <vt:lpstr>DES Encryption Algorithm</vt:lpstr>
      <vt:lpstr>Initial and Final Permutation</vt:lpstr>
      <vt:lpstr>Round Function</vt:lpstr>
      <vt:lpstr>Key Generation</vt:lpstr>
      <vt:lpstr> Table 3.2  DES Example</vt:lpstr>
      <vt:lpstr>Table 3.3  Avalanche Effect in DES: Change in Plaintext </vt:lpstr>
      <vt:lpstr>Table 3.4  Avalanche Effect in DES: Change in Key </vt:lpstr>
      <vt:lpstr>Table 3.5: Average Time Required for Exhaustive Key Search </vt:lpstr>
      <vt:lpstr>Strength of DES</vt:lpstr>
      <vt:lpstr>Block Cipher Design Principles: Number of Rounds</vt:lpstr>
      <vt:lpstr>Block Cipher Design Principles: Design of Function F</vt:lpstr>
      <vt:lpstr>Block Cipher Design Principles: Key Schedule Algorithm</vt:lpstr>
      <vt:lpstr>Homework</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Dr Lawrie Brown</dc:creator>
  <cp:lastModifiedBy>tran the son</cp:lastModifiedBy>
  <cp:revision>55</cp:revision>
  <dcterms:created xsi:type="dcterms:W3CDTF">2013-02-04T03:27:46Z</dcterms:created>
  <dcterms:modified xsi:type="dcterms:W3CDTF">2023-03-10T04:35:20Z</dcterms:modified>
</cp:coreProperties>
</file>