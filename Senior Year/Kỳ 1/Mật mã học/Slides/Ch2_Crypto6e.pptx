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749" r:id="rId2"/>
    <p:sldMasterId id="2147483762" r:id="rId3"/>
  </p:sldMasterIdLst>
  <p:notesMasterIdLst>
    <p:notesMasterId r:id="rId52"/>
  </p:notesMasterIdLst>
  <p:handoutMasterIdLst>
    <p:handoutMasterId r:id="rId53"/>
  </p:handoutMasterIdLst>
  <p:sldIdLst>
    <p:sldId id="324" r:id="rId4"/>
    <p:sldId id="325" r:id="rId5"/>
    <p:sldId id="409" r:id="rId6"/>
    <p:sldId id="412" r:id="rId7"/>
    <p:sldId id="281" r:id="rId8"/>
    <p:sldId id="305" r:id="rId9"/>
    <p:sldId id="328" r:id="rId10"/>
    <p:sldId id="306" r:id="rId11"/>
    <p:sldId id="329" r:id="rId12"/>
    <p:sldId id="286" r:id="rId13"/>
    <p:sldId id="330" r:id="rId14"/>
    <p:sldId id="331" r:id="rId15"/>
    <p:sldId id="332" r:id="rId16"/>
    <p:sldId id="411" r:id="rId17"/>
    <p:sldId id="410" r:id="rId18"/>
    <p:sldId id="423" r:id="rId19"/>
    <p:sldId id="424" r:id="rId20"/>
    <p:sldId id="333" r:id="rId21"/>
    <p:sldId id="422" r:id="rId22"/>
    <p:sldId id="334" r:id="rId23"/>
    <p:sldId id="335" r:id="rId24"/>
    <p:sldId id="336" r:id="rId25"/>
    <p:sldId id="425" r:id="rId26"/>
    <p:sldId id="337" r:id="rId27"/>
    <p:sldId id="343" r:id="rId28"/>
    <p:sldId id="345" r:id="rId29"/>
    <p:sldId id="344" r:id="rId30"/>
    <p:sldId id="314" r:id="rId31"/>
    <p:sldId id="339" r:id="rId32"/>
    <p:sldId id="397" r:id="rId33"/>
    <p:sldId id="398" r:id="rId34"/>
    <p:sldId id="399" r:id="rId35"/>
    <p:sldId id="413" r:id="rId36"/>
    <p:sldId id="414" r:id="rId37"/>
    <p:sldId id="415" r:id="rId38"/>
    <p:sldId id="400" r:id="rId39"/>
    <p:sldId id="401" r:id="rId40"/>
    <p:sldId id="402" r:id="rId41"/>
    <p:sldId id="416" r:id="rId42"/>
    <p:sldId id="403" r:id="rId43"/>
    <p:sldId id="404" r:id="rId44"/>
    <p:sldId id="421" r:id="rId45"/>
    <p:sldId id="420" r:id="rId46"/>
    <p:sldId id="417" r:id="rId47"/>
    <p:sldId id="418" r:id="rId48"/>
    <p:sldId id="405" r:id="rId49"/>
    <p:sldId id="406" r:id="rId50"/>
    <p:sldId id="419" r:id="rId51"/>
  </p:sldIdLst>
  <p:sldSz cx="9144000" cy="6858000" type="screen4x3"/>
  <p:notesSz cx="6934200" cy="92202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196" autoAdjust="0"/>
  </p:normalViewPr>
  <p:slideViewPr>
    <p:cSldViewPr>
      <p:cViewPr varScale="1">
        <p:scale>
          <a:sx n="88" d="100"/>
          <a:sy n="88" d="100"/>
        </p:scale>
        <p:origin x="-1639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-1496" y="-120"/>
      </p:cViewPr>
      <p:guideLst>
        <p:guide orient="horz" pos="2904"/>
        <p:guide pos="2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09D6F4-BC36-0D42-9828-50A4B5F57A5B}" type="doc">
      <dgm:prSet loTypeId="urn:microsoft.com/office/officeart/2005/8/layout/chevron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7F2861-8603-1749-8905-36222D71F47A}">
      <dgm:prSet phldrT="[Text]" custT="1"/>
      <dgm:spPr/>
      <dgm:t>
        <a:bodyPr/>
        <a:lstStyle/>
        <a:p>
          <a:r>
            <a:rPr lang="en-AU" sz="1600" b="1" i="0" dirty="0" smtClean="0">
              <a:ea typeface="+mn-ea"/>
            </a:rPr>
            <a:t>1.</a:t>
          </a:r>
          <a:endParaRPr lang="en-US" sz="1600" b="1" i="0" dirty="0"/>
        </a:p>
      </dgm:t>
    </dgm:pt>
    <dgm:pt modelId="{4BC56C73-5124-D046-9848-B78AA5F456F7}" type="parTrans" cxnId="{795A9BD3-8C52-584C-B3C5-4A6457088198}">
      <dgm:prSet/>
      <dgm:spPr/>
      <dgm:t>
        <a:bodyPr/>
        <a:lstStyle/>
        <a:p>
          <a:endParaRPr lang="en-US"/>
        </a:p>
      </dgm:t>
    </dgm:pt>
    <dgm:pt modelId="{D8BD60E9-60E2-BB49-BA41-B7BC874F1D2E}" type="sibTrans" cxnId="{795A9BD3-8C52-584C-B3C5-4A6457088198}">
      <dgm:prSet/>
      <dgm:spPr/>
      <dgm:t>
        <a:bodyPr/>
        <a:lstStyle/>
        <a:p>
          <a:endParaRPr lang="en-US"/>
        </a:p>
      </dgm:t>
    </dgm:pt>
    <dgm:pt modelId="{E7BEE5E9-B068-F440-AA78-C06B5DA31F9F}">
      <dgm:prSet custT="1"/>
      <dgm:spPr/>
      <dgm:t>
        <a:bodyPr/>
        <a:lstStyle/>
        <a:p>
          <a:r>
            <a:rPr lang="en-AU" sz="1600" b="1" i="0" dirty="0" smtClean="0">
              <a:ea typeface="+mn-ea"/>
            </a:rPr>
            <a:t>2.</a:t>
          </a:r>
        </a:p>
      </dgm:t>
    </dgm:pt>
    <dgm:pt modelId="{3BD7872B-5311-4C46-BE7D-1A43595322FD}" type="parTrans" cxnId="{E6F4BD6A-E71B-C348-A7C5-892E30686EF6}">
      <dgm:prSet/>
      <dgm:spPr/>
      <dgm:t>
        <a:bodyPr/>
        <a:lstStyle/>
        <a:p>
          <a:endParaRPr lang="en-US"/>
        </a:p>
      </dgm:t>
    </dgm:pt>
    <dgm:pt modelId="{8200FAE9-38A0-794A-9C45-0A523EBC6CD8}" type="sibTrans" cxnId="{E6F4BD6A-E71B-C348-A7C5-892E30686EF6}">
      <dgm:prSet/>
      <dgm:spPr/>
      <dgm:t>
        <a:bodyPr/>
        <a:lstStyle/>
        <a:p>
          <a:endParaRPr lang="en-US"/>
        </a:p>
      </dgm:t>
    </dgm:pt>
    <dgm:pt modelId="{09D346F8-9EAF-5B4F-878E-A6E389AE9980}">
      <dgm:prSet custT="1"/>
      <dgm:spPr/>
      <dgm:t>
        <a:bodyPr/>
        <a:lstStyle/>
        <a:p>
          <a:r>
            <a:rPr lang="en-AU" sz="1600" b="1" i="0" dirty="0" smtClean="0">
              <a:ea typeface="+mn-ea"/>
            </a:rPr>
            <a:t>3.</a:t>
          </a:r>
        </a:p>
      </dgm:t>
    </dgm:pt>
    <dgm:pt modelId="{8595B2C8-0405-7B4C-ABDE-A21DE2E1B6B4}" type="parTrans" cxnId="{8E3C383C-CB97-CB49-89EB-176D995223F0}">
      <dgm:prSet/>
      <dgm:spPr/>
      <dgm:t>
        <a:bodyPr/>
        <a:lstStyle/>
        <a:p>
          <a:endParaRPr lang="en-US"/>
        </a:p>
      </dgm:t>
    </dgm:pt>
    <dgm:pt modelId="{84008035-451E-244B-9822-9BFB0C54B9B1}" type="sibTrans" cxnId="{8E3C383C-CB97-CB49-89EB-176D995223F0}">
      <dgm:prSet/>
      <dgm:spPr/>
      <dgm:t>
        <a:bodyPr/>
        <a:lstStyle/>
        <a:p>
          <a:endParaRPr lang="en-US"/>
        </a:p>
      </dgm:t>
    </dgm:pt>
    <dgm:pt modelId="{49EFE361-CF40-C647-A532-3DB806AF13A5}">
      <dgm:prSet custT="1"/>
      <dgm:spPr/>
      <dgm:t>
        <a:bodyPr/>
        <a:lstStyle/>
        <a:p>
          <a:r>
            <a:rPr lang="en-AU" sz="1600" b="1" i="0" dirty="0" smtClean="0">
              <a:ea typeface="+mn-ea"/>
            </a:rPr>
            <a:t>4.</a:t>
          </a:r>
        </a:p>
      </dgm:t>
    </dgm:pt>
    <dgm:pt modelId="{CFE636A9-8EBA-A545-B381-D1901F80C1F8}" type="parTrans" cxnId="{AB94D550-4FC1-BD4D-A19A-3F4C3AB52280}">
      <dgm:prSet/>
      <dgm:spPr/>
      <dgm:t>
        <a:bodyPr/>
        <a:lstStyle/>
        <a:p>
          <a:endParaRPr lang="en-US"/>
        </a:p>
      </dgm:t>
    </dgm:pt>
    <dgm:pt modelId="{38E7586E-E1E7-6641-B699-FC69EF62FCB4}" type="sibTrans" cxnId="{AB94D550-4FC1-BD4D-A19A-3F4C3AB52280}">
      <dgm:prSet/>
      <dgm:spPr/>
      <dgm:t>
        <a:bodyPr/>
        <a:lstStyle/>
        <a:p>
          <a:endParaRPr lang="en-US"/>
        </a:p>
      </dgm:t>
    </dgm:pt>
    <dgm:pt modelId="{DE800D88-AFC2-C748-95A6-84274571450D}">
      <dgm:prSet custT="1"/>
      <dgm:spPr/>
      <dgm:t>
        <a:bodyPr/>
        <a:lstStyle/>
        <a:p>
          <a:r>
            <a:rPr lang="en-AU" sz="1600" b="1" i="0" dirty="0" smtClean="0">
              <a:ea typeface="+mn-ea"/>
            </a:rPr>
            <a:t>5. </a:t>
          </a:r>
        </a:p>
      </dgm:t>
    </dgm:pt>
    <dgm:pt modelId="{2AB82780-A93F-2241-82C5-044F7C113A5B}" type="parTrans" cxnId="{D309BC2B-2C28-5D4F-A167-B5C8489E062B}">
      <dgm:prSet/>
      <dgm:spPr/>
      <dgm:t>
        <a:bodyPr/>
        <a:lstStyle/>
        <a:p>
          <a:endParaRPr lang="en-US"/>
        </a:p>
      </dgm:t>
    </dgm:pt>
    <dgm:pt modelId="{56A0522B-1198-1A4B-95EF-8273C6411250}" type="sibTrans" cxnId="{D309BC2B-2C28-5D4F-A167-B5C8489E062B}">
      <dgm:prSet/>
      <dgm:spPr/>
      <dgm:t>
        <a:bodyPr/>
        <a:lstStyle/>
        <a:p>
          <a:endParaRPr lang="en-US"/>
        </a:p>
      </dgm:t>
    </dgm:pt>
    <dgm:pt modelId="{1C83C87B-222E-0647-A9B1-678C74EE72FB}">
      <dgm:prSet custT="1"/>
      <dgm:spPr/>
      <dgm:t>
        <a:bodyPr/>
        <a:lstStyle/>
        <a:p>
          <a:r>
            <a:rPr lang="en-AU" sz="1600" b="1" i="0" dirty="0" smtClean="0">
              <a:ea typeface="+mn-ea"/>
            </a:rPr>
            <a:t>6.</a:t>
          </a:r>
        </a:p>
      </dgm:t>
    </dgm:pt>
    <dgm:pt modelId="{5175E942-C08B-5340-8A93-6316416F3C04}" type="parTrans" cxnId="{D9B66B88-B454-7740-A110-89C2A8F7895B}">
      <dgm:prSet/>
      <dgm:spPr/>
      <dgm:t>
        <a:bodyPr/>
        <a:lstStyle/>
        <a:p>
          <a:endParaRPr lang="en-US"/>
        </a:p>
      </dgm:t>
    </dgm:pt>
    <dgm:pt modelId="{A1A4982E-B916-3545-B228-858E66705963}" type="sibTrans" cxnId="{D9B66B88-B454-7740-A110-89C2A8F7895B}">
      <dgm:prSet/>
      <dgm:spPr/>
      <dgm:t>
        <a:bodyPr/>
        <a:lstStyle/>
        <a:p>
          <a:endParaRPr lang="en-US"/>
        </a:p>
      </dgm:t>
    </dgm:pt>
    <dgm:pt modelId="{ADC67CD4-5024-4449-B1E2-58B28F85B9A6}">
      <dgm:prSet/>
      <dgm:spPr/>
      <dgm:t>
        <a:bodyPr/>
        <a:lstStyle/>
        <a:p>
          <a:r>
            <a:rPr lang="en-AU" dirty="0" smtClean="0">
              <a:ea typeface="+mn-ea"/>
            </a:rPr>
            <a:t> Select a random integer </a:t>
          </a:r>
          <a:r>
            <a:rPr lang="en-AU" i="1" dirty="0" smtClean="0">
              <a:ea typeface="+mn-ea"/>
            </a:rPr>
            <a:t>a, 1 &lt; a &lt; </a:t>
          </a:r>
          <a:r>
            <a:rPr lang="en-AU" i="1" dirty="0" err="1" smtClean="0">
              <a:ea typeface="+mn-ea"/>
            </a:rPr>
            <a:t>n</a:t>
          </a:r>
          <a:r>
            <a:rPr lang="en-AU" i="1" dirty="0" smtClean="0">
              <a:ea typeface="+mn-ea"/>
            </a:rPr>
            <a:t> – 1 ;</a:t>
          </a:r>
        </a:p>
      </dgm:t>
    </dgm:pt>
    <dgm:pt modelId="{E4D2A74A-25BA-ED49-935E-32E7C5909C8F}" type="parTrans" cxnId="{A5458707-6149-AE4C-A4B3-D6287B953BCC}">
      <dgm:prSet/>
      <dgm:spPr/>
      <dgm:t>
        <a:bodyPr/>
        <a:lstStyle/>
        <a:p>
          <a:endParaRPr lang="en-US"/>
        </a:p>
      </dgm:t>
    </dgm:pt>
    <dgm:pt modelId="{052867FB-C570-EE47-8D47-84A7FFD9AFE5}" type="sibTrans" cxnId="{A5458707-6149-AE4C-A4B3-D6287B953BCC}">
      <dgm:prSet/>
      <dgm:spPr/>
      <dgm:t>
        <a:bodyPr/>
        <a:lstStyle/>
        <a:p>
          <a:endParaRPr lang="en-US"/>
        </a:p>
      </dgm:t>
    </dgm:pt>
    <dgm:pt modelId="{3D7D89BD-3593-1D4F-8698-91E73EF5D182}">
      <dgm:prSet/>
      <dgm:spPr/>
      <dgm:t>
        <a:bodyPr/>
        <a:lstStyle/>
        <a:p>
          <a:r>
            <a:rPr lang="en-AU" dirty="0" smtClean="0">
              <a:ea typeface="+mn-ea"/>
            </a:rPr>
            <a:t> </a:t>
          </a:r>
          <a:r>
            <a:rPr lang="en-AU" b="1" dirty="0" smtClean="0">
              <a:ea typeface="+mn-ea"/>
            </a:rPr>
            <a:t>if</a:t>
          </a:r>
          <a:r>
            <a:rPr lang="en-AU" dirty="0" smtClean="0">
              <a:ea typeface="+mn-ea"/>
            </a:rPr>
            <a:t> </a:t>
          </a:r>
          <a:r>
            <a:rPr lang="en-AU" i="1" dirty="0" err="1" smtClean="0">
              <a:ea typeface="+mn-ea"/>
            </a:rPr>
            <a:t>a</a:t>
          </a:r>
          <a:r>
            <a:rPr lang="en-AU" i="1" baseline="30000" dirty="0" err="1" smtClean="0">
              <a:ea typeface="+mn-ea"/>
            </a:rPr>
            <a:t>q</a:t>
          </a:r>
          <a:r>
            <a:rPr lang="en-AU" i="1" dirty="0" smtClean="0">
              <a:ea typeface="+mn-ea"/>
            </a:rPr>
            <a:t> mod n = 1 </a:t>
          </a:r>
          <a:r>
            <a:rPr lang="en-AU" b="1" dirty="0" smtClean="0">
              <a:ea typeface="+mn-ea"/>
            </a:rPr>
            <a:t>then</a:t>
          </a:r>
          <a:r>
            <a:rPr lang="en-AU" dirty="0" smtClean="0">
              <a:ea typeface="+mn-ea"/>
            </a:rPr>
            <a:t> return (“</a:t>
          </a:r>
          <a:r>
            <a:rPr lang="en-US" dirty="0" smtClean="0">
              <a:ea typeface="+mn-ea"/>
            </a:rPr>
            <a:t>inconclusive</a:t>
          </a:r>
          <a:r>
            <a:rPr lang="en-AU" dirty="0" smtClean="0">
              <a:ea typeface="+mn-ea"/>
            </a:rPr>
            <a:t>") ;</a:t>
          </a:r>
        </a:p>
      </dgm:t>
    </dgm:pt>
    <dgm:pt modelId="{DB8B4F9B-009D-1448-AB53-DE3DEAA28659}" type="parTrans" cxnId="{2BCF0FD8-3469-7845-89AA-5616D5E2B633}">
      <dgm:prSet/>
      <dgm:spPr/>
      <dgm:t>
        <a:bodyPr/>
        <a:lstStyle/>
        <a:p>
          <a:endParaRPr lang="en-US"/>
        </a:p>
      </dgm:t>
    </dgm:pt>
    <dgm:pt modelId="{135EC791-B2DD-B848-80AC-3D9E557FAF51}" type="sibTrans" cxnId="{2BCF0FD8-3469-7845-89AA-5616D5E2B633}">
      <dgm:prSet/>
      <dgm:spPr/>
      <dgm:t>
        <a:bodyPr/>
        <a:lstStyle/>
        <a:p>
          <a:endParaRPr lang="en-US"/>
        </a:p>
      </dgm:t>
    </dgm:pt>
    <dgm:pt modelId="{192186F6-7AF8-3145-9D3A-B172FA14B83E}">
      <dgm:prSet/>
      <dgm:spPr/>
      <dgm:t>
        <a:bodyPr/>
        <a:lstStyle/>
        <a:p>
          <a:r>
            <a:rPr lang="en-AU" smtClean="0">
              <a:ea typeface="+mn-ea"/>
            </a:rPr>
            <a:t> </a:t>
          </a:r>
          <a:r>
            <a:rPr lang="en-AU" b="1" dirty="0" smtClean="0">
              <a:ea typeface="+mn-ea"/>
            </a:rPr>
            <a:t>for</a:t>
          </a:r>
          <a:r>
            <a:rPr lang="en-AU" dirty="0" smtClean="0">
              <a:ea typeface="+mn-ea"/>
            </a:rPr>
            <a:t> </a:t>
          </a:r>
          <a:r>
            <a:rPr lang="en-AU" i="1" dirty="0" err="1" smtClean="0">
              <a:ea typeface="+mn-ea"/>
            </a:rPr>
            <a:t>j</a:t>
          </a:r>
          <a:r>
            <a:rPr lang="en-AU" i="1" dirty="0" smtClean="0">
              <a:ea typeface="+mn-ea"/>
            </a:rPr>
            <a:t> = 0 </a:t>
          </a:r>
          <a:r>
            <a:rPr lang="en-AU" b="1" dirty="0" smtClean="0">
              <a:ea typeface="+mn-ea"/>
            </a:rPr>
            <a:t>to</a:t>
          </a:r>
          <a:r>
            <a:rPr lang="en-AU" dirty="0" smtClean="0">
              <a:ea typeface="+mn-ea"/>
            </a:rPr>
            <a:t> </a:t>
          </a:r>
          <a:r>
            <a:rPr lang="en-AU" i="1" dirty="0" err="1" smtClean="0">
              <a:ea typeface="+mn-ea"/>
            </a:rPr>
            <a:t>k</a:t>
          </a:r>
          <a:r>
            <a:rPr lang="en-AU" i="1" dirty="0" smtClean="0">
              <a:ea typeface="+mn-ea"/>
            </a:rPr>
            <a:t> – 1 </a:t>
          </a:r>
          <a:r>
            <a:rPr lang="en-AU" b="1" dirty="0" smtClean="0">
              <a:ea typeface="+mn-ea"/>
            </a:rPr>
            <a:t>do</a:t>
          </a:r>
        </a:p>
      </dgm:t>
    </dgm:pt>
    <dgm:pt modelId="{EDE528E3-FAAB-184A-B521-906B172CBC25}" type="parTrans" cxnId="{3BF51E6E-EE78-8E4B-A13F-8D9EAE33BD38}">
      <dgm:prSet/>
      <dgm:spPr/>
      <dgm:t>
        <a:bodyPr/>
        <a:lstStyle/>
        <a:p>
          <a:endParaRPr lang="en-US"/>
        </a:p>
      </dgm:t>
    </dgm:pt>
    <dgm:pt modelId="{BEA016D0-03A7-C946-B73B-108307CE6788}" type="sibTrans" cxnId="{3BF51E6E-EE78-8E4B-A13F-8D9EAE33BD38}">
      <dgm:prSet/>
      <dgm:spPr/>
      <dgm:t>
        <a:bodyPr/>
        <a:lstStyle/>
        <a:p>
          <a:endParaRPr lang="en-US"/>
        </a:p>
      </dgm:t>
    </dgm:pt>
    <dgm:pt modelId="{69541EC2-EEAC-F24D-B49B-E8C172D9D351}">
      <dgm:prSet/>
      <dgm:spPr/>
      <dgm:t>
        <a:bodyPr/>
        <a:lstStyle/>
        <a:p>
          <a:r>
            <a:rPr lang="en-AU" b="1" smtClean="0">
              <a:ea typeface="+mn-ea"/>
            </a:rPr>
            <a:t>if</a:t>
          </a:r>
          <a:r>
            <a:rPr lang="en-AU" smtClean="0">
              <a:ea typeface="+mn-ea"/>
            </a:rPr>
            <a:t> </a:t>
          </a:r>
          <a:r>
            <a:rPr lang="en-AU" i="1" dirty="0" smtClean="0">
              <a:ea typeface="+mn-ea"/>
            </a:rPr>
            <a:t>(a</a:t>
          </a:r>
          <a:r>
            <a:rPr lang="en-AU" i="1" baseline="30000" dirty="0" smtClean="0">
              <a:ea typeface="+mn-ea"/>
            </a:rPr>
            <a:t>2jq</a:t>
          </a:r>
          <a:r>
            <a:rPr lang="en-AU" i="1" dirty="0" smtClean="0">
              <a:ea typeface="+mn-ea"/>
            </a:rPr>
            <a:t> mod </a:t>
          </a:r>
          <a:r>
            <a:rPr lang="en-AU" i="1" dirty="0" err="1" smtClean="0">
              <a:ea typeface="+mn-ea"/>
            </a:rPr>
            <a:t>n</a:t>
          </a:r>
          <a:r>
            <a:rPr lang="en-AU" i="1" dirty="0" smtClean="0">
              <a:ea typeface="+mn-ea"/>
            </a:rPr>
            <a:t> = </a:t>
          </a:r>
          <a:r>
            <a:rPr lang="en-AU" i="1" dirty="0" err="1" smtClean="0">
              <a:ea typeface="+mn-ea"/>
            </a:rPr>
            <a:t>n</a:t>
          </a:r>
          <a:r>
            <a:rPr lang="en-AU" i="1" dirty="0" smtClean="0">
              <a:ea typeface="+mn-ea"/>
            </a:rPr>
            <a:t> – 1) </a:t>
          </a:r>
          <a:r>
            <a:rPr lang="en-AU" b="1" dirty="0" smtClean="0">
              <a:ea typeface="+mn-ea"/>
            </a:rPr>
            <a:t>then</a:t>
          </a:r>
          <a:r>
            <a:rPr lang="en-AU" dirty="0" smtClean="0">
              <a:ea typeface="+mn-ea"/>
            </a:rPr>
            <a:t> return (“</a:t>
          </a:r>
          <a:r>
            <a:rPr lang="en-US" dirty="0" smtClean="0">
              <a:ea typeface="+mn-ea"/>
            </a:rPr>
            <a:t>inconclusive</a:t>
          </a:r>
          <a:r>
            <a:rPr lang="en-AU" dirty="0" smtClean="0">
              <a:ea typeface="+mn-ea"/>
            </a:rPr>
            <a:t>") ;</a:t>
          </a:r>
        </a:p>
      </dgm:t>
    </dgm:pt>
    <dgm:pt modelId="{84CBE7AA-88E8-7342-8170-07F040767286}" type="parTrans" cxnId="{ABC98552-FA43-F342-95C8-A0AF8548403C}">
      <dgm:prSet/>
      <dgm:spPr/>
      <dgm:t>
        <a:bodyPr/>
        <a:lstStyle/>
        <a:p>
          <a:endParaRPr lang="en-US"/>
        </a:p>
      </dgm:t>
    </dgm:pt>
    <dgm:pt modelId="{E8351854-FC35-C643-BB4A-B61C8918F414}" type="sibTrans" cxnId="{ABC98552-FA43-F342-95C8-A0AF8548403C}">
      <dgm:prSet/>
      <dgm:spPr/>
      <dgm:t>
        <a:bodyPr/>
        <a:lstStyle/>
        <a:p>
          <a:endParaRPr lang="en-US"/>
        </a:p>
      </dgm:t>
    </dgm:pt>
    <dgm:pt modelId="{372DA5CB-9EB6-8B4D-97BA-01A5AB4F4F57}">
      <dgm:prSet/>
      <dgm:spPr/>
      <dgm:t>
        <a:bodyPr/>
        <a:lstStyle/>
        <a:p>
          <a:r>
            <a:rPr lang="en-AU" dirty="0" smtClean="0">
              <a:ea typeface="+mn-ea"/>
            </a:rPr>
            <a:t> return (“composite") ;</a:t>
          </a:r>
        </a:p>
      </dgm:t>
    </dgm:pt>
    <dgm:pt modelId="{45440A3E-C467-F24B-AE80-333CB8E50EA8}" type="parTrans" cxnId="{23A7B482-FB0F-F543-B352-0DD89D1F69F4}">
      <dgm:prSet/>
      <dgm:spPr/>
      <dgm:t>
        <a:bodyPr/>
        <a:lstStyle/>
        <a:p>
          <a:endParaRPr lang="en-US"/>
        </a:p>
      </dgm:t>
    </dgm:pt>
    <dgm:pt modelId="{3D0CCDC6-B23B-8143-B71B-FD3D01BA0255}" type="sibTrans" cxnId="{23A7B482-FB0F-F543-B352-0DD89D1F69F4}">
      <dgm:prSet/>
      <dgm:spPr/>
      <dgm:t>
        <a:bodyPr/>
        <a:lstStyle/>
        <a:p>
          <a:endParaRPr lang="en-US"/>
        </a:p>
      </dgm:t>
    </dgm:pt>
    <dgm:pt modelId="{84085882-6E9C-1740-A09E-E5D012E12456}">
      <dgm:prSet phldrT="[Text]"/>
      <dgm:spPr/>
      <dgm:t>
        <a:bodyPr/>
        <a:lstStyle/>
        <a:p>
          <a:r>
            <a:rPr lang="en-AU" smtClean="0">
              <a:ea typeface="+mn-ea"/>
            </a:rPr>
            <a:t> </a:t>
          </a:r>
          <a:r>
            <a:rPr lang="en-AU" dirty="0" smtClean="0">
              <a:ea typeface="+mn-ea"/>
            </a:rPr>
            <a:t>Find integers </a:t>
          </a:r>
          <a:r>
            <a:rPr lang="en-AU" i="1" dirty="0" err="1" smtClean="0">
              <a:ea typeface="+mn-ea"/>
            </a:rPr>
            <a:t>k</a:t>
          </a:r>
          <a:r>
            <a:rPr lang="en-AU" i="1" dirty="0" smtClean="0">
              <a:ea typeface="+mn-ea"/>
            </a:rPr>
            <a:t>, </a:t>
          </a:r>
          <a:r>
            <a:rPr lang="en-AU" i="1" dirty="0" err="1" smtClean="0">
              <a:ea typeface="+mn-ea"/>
            </a:rPr>
            <a:t>q</a:t>
          </a:r>
          <a:r>
            <a:rPr lang="en-AU" dirty="0" smtClean="0">
              <a:ea typeface="+mn-ea"/>
            </a:rPr>
            <a:t>, with </a:t>
          </a:r>
          <a:r>
            <a:rPr lang="en-AU" i="1" dirty="0" err="1" smtClean="0">
              <a:ea typeface="+mn-ea"/>
            </a:rPr>
            <a:t>k</a:t>
          </a:r>
          <a:r>
            <a:rPr lang="en-AU" i="1" dirty="0" smtClean="0">
              <a:ea typeface="+mn-ea"/>
            </a:rPr>
            <a:t> &gt; 0</a:t>
          </a:r>
          <a:r>
            <a:rPr lang="en-AU" dirty="0" smtClean="0">
              <a:ea typeface="+mn-ea"/>
            </a:rPr>
            <a:t>, </a:t>
          </a:r>
          <a:r>
            <a:rPr lang="en-AU" i="1" dirty="0" err="1" smtClean="0">
              <a:ea typeface="+mn-ea"/>
            </a:rPr>
            <a:t>q</a:t>
          </a:r>
          <a:r>
            <a:rPr lang="en-AU" dirty="0" smtClean="0">
              <a:ea typeface="+mn-ea"/>
            </a:rPr>
            <a:t> odd, so that </a:t>
          </a:r>
          <a:r>
            <a:rPr lang="en-AU" i="1" dirty="0" smtClean="0">
              <a:ea typeface="+mn-ea"/>
            </a:rPr>
            <a:t>(</a:t>
          </a:r>
          <a:r>
            <a:rPr lang="en-AU" i="1" dirty="0" err="1" smtClean="0">
              <a:ea typeface="+mn-ea"/>
            </a:rPr>
            <a:t>n</a:t>
          </a:r>
          <a:r>
            <a:rPr lang="en-AU" i="1" dirty="0" smtClean="0">
              <a:ea typeface="+mn-ea"/>
            </a:rPr>
            <a:t> – 1)=2</a:t>
          </a:r>
          <a:r>
            <a:rPr lang="en-AU" i="1" baseline="30000" dirty="0" smtClean="0">
              <a:ea typeface="+mn-ea"/>
            </a:rPr>
            <a:t>k</a:t>
          </a:r>
          <a:r>
            <a:rPr lang="en-AU" i="1" dirty="0" smtClean="0">
              <a:ea typeface="+mn-ea"/>
            </a:rPr>
            <a:t>q ;</a:t>
          </a:r>
          <a:endParaRPr lang="en-US" dirty="0"/>
        </a:p>
      </dgm:t>
    </dgm:pt>
    <dgm:pt modelId="{522EEFD0-741F-6844-B11C-0193E8A0AD51}" type="sibTrans" cxnId="{46B25CDD-CA2A-524E-A3E7-D09D1B833BFE}">
      <dgm:prSet/>
      <dgm:spPr/>
      <dgm:t>
        <a:bodyPr/>
        <a:lstStyle/>
        <a:p>
          <a:endParaRPr lang="en-US"/>
        </a:p>
      </dgm:t>
    </dgm:pt>
    <dgm:pt modelId="{29773E85-45B9-6045-9824-C7CE37D7B132}" type="parTrans" cxnId="{46B25CDD-CA2A-524E-A3E7-D09D1B833BFE}">
      <dgm:prSet/>
      <dgm:spPr/>
      <dgm:t>
        <a:bodyPr/>
        <a:lstStyle/>
        <a:p>
          <a:endParaRPr lang="en-US"/>
        </a:p>
      </dgm:t>
    </dgm:pt>
    <dgm:pt modelId="{D7D118A1-74CC-6C4F-B831-3685DF19C48D}" type="pres">
      <dgm:prSet presAssocID="{DE09D6F4-BC36-0D42-9828-50A4B5F57A5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DBAE230-6AF8-7A47-B5A6-8624F47456AE}" type="pres">
      <dgm:prSet presAssocID="{217F2861-8603-1749-8905-36222D71F47A}" presName="composite" presStyleCnt="0"/>
      <dgm:spPr/>
    </dgm:pt>
    <dgm:pt modelId="{D7A1E9D5-302B-694D-869C-A3ABA0C4A5D6}" type="pres">
      <dgm:prSet presAssocID="{217F2861-8603-1749-8905-36222D71F47A}" presName="parentText" presStyleLbl="align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F965AD-C2D4-B047-B721-29B9E3EC90ED}" type="pres">
      <dgm:prSet presAssocID="{217F2861-8603-1749-8905-36222D71F47A}" presName="descendantText" presStyleLbl="alignAcc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D26310-B59C-CB48-8080-F86AF6178FD8}" type="pres">
      <dgm:prSet presAssocID="{D8BD60E9-60E2-BB49-BA41-B7BC874F1D2E}" presName="sp" presStyleCnt="0"/>
      <dgm:spPr/>
    </dgm:pt>
    <dgm:pt modelId="{33EE43DC-34BE-A840-BD1C-AE38AAA55524}" type="pres">
      <dgm:prSet presAssocID="{E7BEE5E9-B068-F440-AA78-C06B5DA31F9F}" presName="composite" presStyleCnt="0"/>
      <dgm:spPr/>
    </dgm:pt>
    <dgm:pt modelId="{2F49BE34-3DD4-D442-BEA2-FF0D8EE8E178}" type="pres">
      <dgm:prSet presAssocID="{E7BEE5E9-B068-F440-AA78-C06B5DA31F9F}" presName="parentText" presStyleLbl="align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85ABA3-9ACF-FA4D-9D6C-AD4636C47777}" type="pres">
      <dgm:prSet presAssocID="{E7BEE5E9-B068-F440-AA78-C06B5DA31F9F}" presName="descendantText" presStyleLbl="alignAcc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534DD1-E48D-9F49-9F10-C9BFBD29C4CD}" type="pres">
      <dgm:prSet presAssocID="{8200FAE9-38A0-794A-9C45-0A523EBC6CD8}" presName="sp" presStyleCnt="0"/>
      <dgm:spPr/>
    </dgm:pt>
    <dgm:pt modelId="{7E85EF86-6CCB-6D4E-B305-07C60A71FA80}" type="pres">
      <dgm:prSet presAssocID="{09D346F8-9EAF-5B4F-878E-A6E389AE9980}" presName="composite" presStyleCnt="0"/>
      <dgm:spPr/>
    </dgm:pt>
    <dgm:pt modelId="{CDFA1110-DB91-3342-8A3D-179A837BBA12}" type="pres">
      <dgm:prSet presAssocID="{09D346F8-9EAF-5B4F-878E-A6E389AE9980}" presName="parentText" presStyleLbl="align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A74246-F6BC-5046-AA33-638FD8E71F46}" type="pres">
      <dgm:prSet presAssocID="{09D346F8-9EAF-5B4F-878E-A6E389AE9980}" presName="descendantText" presStyleLbl="alignAcc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3A862C-6535-E844-BD7C-1C965B86A6DC}" type="pres">
      <dgm:prSet presAssocID="{84008035-451E-244B-9822-9BFB0C54B9B1}" presName="sp" presStyleCnt="0"/>
      <dgm:spPr/>
    </dgm:pt>
    <dgm:pt modelId="{20D2E5A2-495E-CE45-B454-2F2C99F11F10}" type="pres">
      <dgm:prSet presAssocID="{49EFE361-CF40-C647-A532-3DB806AF13A5}" presName="composite" presStyleCnt="0"/>
      <dgm:spPr/>
    </dgm:pt>
    <dgm:pt modelId="{6CDAECC0-63B0-4043-8086-E12AC2EBF14F}" type="pres">
      <dgm:prSet presAssocID="{49EFE361-CF40-C647-A532-3DB806AF13A5}" presName="parentText" presStyleLbl="align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B0E9CA-38E0-294D-BA1D-ABDC8F904BF8}" type="pres">
      <dgm:prSet presAssocID="{49EFE361-CF40-C647-A532-3DB806AF13A5}" presName="descendantText" presStyleLbl="alignAcc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87DBBF-077B-AB45-9CCA-2DCBD66F11A2}" type="pres">
      <dgm:prSet presAssocID="{38E7586E-E1E7-6641-B699-FC69EF62FCB4}" presName="sp" presStyleCnt="0"/>
      <dgm:spPr/>
    </dgm:pt>
    <dgm:pt modelId="{9952EB10-1BAF-9C4E-82BC-013884F3CD0B}" type="pres">
      <dgm:prSet presAssocID="{DE800D88-AFC2-C748-95A6-84274571450D}" presName="composite" presStyleCnt="0"/>
      <dgm:spPr/>
    </dgm:pt>
    <dgm:pt modelId="{7A51B00A-7D2E-CB40-B681-149F0CD6A739}" type="pres">
      <dgm:prSet presAssocID="{DE800D88-AFC2-C748-95A6-84274571450D}" presName="parentText" presStyleLbl="align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1AD66C-6EA6-8E42-90F0-37439CBC6540}" type="pres">
      <dgm:prSet presAssocID="{DE800D88-AFC2-C748-95A6-84274571450D}" presName="descendantText" presStyleLbl="alignAcc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B8B7A7-DB29-3E4D-8B25-6A3EFF5A49E1}" type="pres">
      <dgm:prSet presAssocID="{56A0522B-1198-1A4B-95EF-8273C6411250}" presName="sp" presStyleCnt="0"/>
      <dgm:spPr/>
    </dgm:pt>
    <dgm:pt modelId="{81671323-D572-BA41-8D74-434926E9198C}" type="pres">
      <dgm:prSet presAssocID="{1C83C87B-222E-0647-A9B1-678C74EE72FB}" presName="composite" presStyleCnt="0"/>
      <dgm:spPr/>
    </dgm:pt>
    <dgm:pt modelId="{095298D9-91B6-C442-9E68-491C82CAAEDB}" type="pres">
      <dgm:prSet presAssocID="{1C83C87B-222E-0647-A9B1-678C74EE72FB}" presName="parentText" presStyleLbl="align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652334-D05E-924B-BE13-85008940BE0E}" type="pres">
      <dgm:prSet presAssocID="{1C83C87B-222E-0647-A9B1-678C74EE72FB}" presName="descendantText" presStyleLbl="alignAcc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806FD56-9623-4363-9E7E-EFFC151962F0}" type="presOf" srcId="{DE09D6F4-BC36-0D42-9828-50A4B5F57A5B}" destId="{D7D118A1-74CC-6C4F-B831-3685DF19C48D}" srcOrd="0" destOrd="0" presId="urn:microsoft.com/office/officeart/2005/8/layout/chevron2"/>
    <dgm:cxn modelId="{2BCF0FD8-3469-7845-89AA-5616D5E2B633}" srcId="{09D346F8-9EAF-5B4F-878E-A6E389AE9980}" destId="{3D7D89BD-3593-1D4F-8698-91E73EF5D182}" srcOrd="0" destOrd="0" parTransId="{DB8B4F9B-009D-1448-AB53-DE3DEAA28659}" sibTransId="{135EC791-B2DD-B848-80AC-3D9E557FAF51}"/>
    <dgm:cxn modelId="{AB94D550-4FC1-BD4D-A19A-3F4C3AB52280}" srcId="{DE09D6F4-BC36-0D42-9828-50A4B5F57A5B}" destId="{49EFE361-CF40-C647-A532-3DB806AF13A5}" srcOrd="3" destOrd="0" parTransId="{CFE636A9-8EBA-A545-B381-D1901F80C1F8}" sibTransId="{38E7586E-E1E7-6641-B699-FC69EF62FCB4}"/>
    <dgm:cxn modelId="{1347C5A0-56B2-4F0F-9CFA-97CD56E576E9}" type="presOf" srcId="{09D346F8-9EAF-5B4F-878E-A6E389AE9980}" destId="{CDFA1110-DB91-3342-8A3D-179A837BBA12}" srcOrd="0" destOrd="0" presId="urn:microsoft.com/office/officeart/2005/8/layout/chevron2"/>
    <dgm:cxn modelId="{E6F4BD6A-E71B-C348-A7C5-892E30686EF6}" srcId="{DE09D6F4-BC36-0D42-9828-50A4B5F57A5B}" destId="{E7BEE5E9-B068-F440-AA78-C06B5DA31F9F}" srcOrd="1" destOrd="0" parTransId="{3BD7872B-5311-4C46-BE7D-1A43595322FD}" sibTransId="{8200FAE9-38A0-794A-9C45-0A523EBC6CD8}"/>
    <dgm:cxn modelId="{D309BC2B-2C28-5D4F-A167-B5C8489E062B}" srcId="{DE09D6F4-BC36-0D42-9828-50A4B5F57A5B}" destId="{DE800D88-AFC2-C748-95A6-84274571450D}" srcOrd="4" destOrd="0" parTransId="{2AB82780-A93F-2241-82C5-044F7C113A5B}" sibTransId="{56A0522B-1198-1A4B-95EF-8273C6411250}"/>
    <dgm:cxn modelId="{456B4AFC-B793-4F5F-8102-1B4CA043FDAC}" type="presOf" srcId="{49EFE361-CF40-C647-A532-3DB806AF13A5}" destId="{6CDAECC0-63B0-4043-8086-E12AC2EBF14F}" srcOrd="0" destOrd="0" presId="urn:microsoft.com/office/officeart/2005/8/layout/chevron2"/>
    <dgm:cxn modelId="{3BF51E6E-EE78-8E4B-A13F-8D9EAE33BD38}" srcId="{49EFE361-CF40-C647-A532-3DB806AF13A5}" destId="{192186F6-7AF8-3145-9D3A-B172FA14B83E}" srcOrd="0" destOrd="0" parTransId="{EDE528E3-FAAB-184A-B521-906B172CBC25}" sibTransId="{BEA016D0-03A7-C946-B73B-108307CE6788}"/>
    <dgm:cxn modelId="{8E3C383C-CB97-CB49-89EB-176D995223F0}" srcId="{DE09D6F4-BC36-0D42-9828-50A4B5F57A5B}" destId="{09D346F8-9EAF-5B4F-878E-A6E389AE9980}" srcOrd="2" destOrd="0" parTransId="{8595B2C8-0405-7B4C-ABDE-A21DE2E1B6B4}" sibTransId="{84008035-451E-244B-9822-9BFB0C54B9B1}"/>
    <dgm:cxn modelId="{49B0503B-4A94-4ABF-8AD4-23EB79FA010A}" type="presOf" srcId="{69541EC2-EEAC-F24D-B49B-E8C172D9D351}" destId="{631AD66C-6EA6-8E42-90F0-37439CBC6540}" srcOrd="0" destOrd="0" presId="urn:microsoft.com/office/officeart/2005/8/layout/chevron2"/>
    <dgm:cxn modelId="{272A7C31-7E37-472C-91E5-D3D5151D18B6}" type="presOf" srcId="{ADC67CD4-5024-4449-B1E2-58B28F85B9A6}" destId="{9185ABA3-9ACF-FA4D-9D6C-AD4636C47777}" srcOrd="0" destOrd="0" presId="urn:microsoft.com/office/officeart/2005/8/layout/chevron2"/>
    <dgm:cxn modelId="{B4134A7D-CA85-4D05-832E-07F1816B3450}" type="presOf" srcId="{3D7D89BD-3593-1D4F-8698-91E73EF5D182}" destId="{EEA74246-F6BC-5046-AA33-638FD8E71F46}" srcOrd="0" destOrd="0" presId="urn:microsoft.com/office/officeart/2005/8/layout/chevron2"/>
    <dgm:cxn modelId="{795A9BD3-8C52-584C-B3C5-4A6457088198}" srcId="{DE09D6F4-BC36-0D42-9828-50A4B5F57A5B}" destId="{217F2861-8603-1749-8905-36222D71F47A}" srcOrd="0" destOrd="0" parTransId="{4BC56C73-5124-D046-9848-B78AA5F456F7}" sibTransId="{D8BD60E9-60E2-BB49-BA41-B7BC874F1D2E}"/>
    <dgm:cxn modelId="{23A7B482-FB0F-F543-B352-0DD89D1F69F4}" srcId="{1C83C87B-222E-0647-A9B1-678C74EE72FB}" destId="{372DA5CB-9EB6-8B4D-97BA-01A5AB4F4F57}" srcOrd="0" destOrd="0" parTransId="{45440A3E-C467-F24B-AE80-333CB8E50EA8}" sibTransId="{3D0CCDC6-B23B-8143-B71B-FD3D01BA0255}"/>
    <dgm:cxn modelId="{46B25CDD-CA2A-524E-A3E7-D09D1B833BFE}" srcId="{217F2861-8603-1749-8905-36222D71F47A}" destId="{84085882-6E9C-1740-A09E-E5D012E12456}" srcOrd="0" destOrd="0" parTransId="{29773E85-45B9-6045-9824-C7CE37D7B132}" sibTransId="{522EEFD0-741F-6844-B11C-0193E8A0AD51}"/>
    <dgm:cxn modelId="{A5458707-6149-AE4C-A4B3-D6287B953BCC}" srcId="{E7BEE5E9-B068-F440-AA78-C06B5DA31F9F}" destId="{ADC67CD4-5024-4449-B1E2-58B28F85B9A6}" srcOrd="0" destOrd="0" parTransId="{E4D2A74A-25BA-ED49-935E-32E7C5909C8F}" sibTransId="{052867FB-C570-EE47-8D47-84A7FFD9AFE5}"/>
    <dgm:cxn modelId="{D90ADD91-E480-4ED1-A902-6E5C794EA28E}" type="presOf" srcId="{372DA5CB-9EB6-8B4D-97BA-01A5AB4F4F57}" destId="{C5652334-D05E-924B-BE13-85008940BE0E}" srcOrd="0" destOrd="0" presId="urn:microsoft.com/office/officeart/2005/8/layout/chevron2"/>
    <dgm:cxn modelId="{2A2B0A67-21FF-4BF7-B233-E85CAB2645E3}" type="presOf" srcId="{DE800D88-AFC2-C748-95A6-84274571450D}" destId="{7A51B00A-7D2E-CB40-B681-149F0CD6A739}" srcOrd="0" destOrd="0" presId="urn:microsoft.com/office/officeart/2005/8/layout/chevron2"/>
    <dgm:cxn modelId="{D9B66B88-B454-7740-A110-89C2A8F7895B}" srcId="{DE09D6F4-BC36-0D42-9828-50A4B5F57A5B}" destId="{1C83C87B-222E-0647-A9B1-678C74EE72FB}" srcOrd="5" destOrd="0" parTransId="{5175E942-C08B-5340-8A93-6316416F3C04}" sibTransId="{A1A4982E-B916-3545-B228-858E66705963}"/>
    <dgm:cxn modelId="{0FB79EE4-0743-45AF-810A-7CB31EDEA796}" type="presOf" srcId="{84085882-6E9C-1740-A09E-E5D012E12456}" destId="{29F965AD-C2D4-B047-B721-29B9E3EC90ED}" srcOrd="0" destOrd="0" presId="urn:microsoft.com/office/officeart/2005/8/layout/chevron2"/>
    <dgm:cxn modelId="{ABC98552-FA43-F342-95C8-A0AF8548403C}" srcId="{DE800D88-AFC2-C748-95A6-84274571450D}" destId="{69541EC2-EEAC-F24D-B49B-E8C172D9D351}" srcOrd="0" destOrd="0" parTransId="{84CBE7AA-88E8-7342-8170-07F040767286}" sibTransId="{E8351854-FC35-C643-BB4A-B61C8918F414}"/>
    <dgm:cxn modelId="{91274121-CB0C-4EFE-AE86-80B8C7B82B31}" type="presOf" srcId="{1C83C87B-222E-0647-A9B1-678C74EE72FB}" destId="{095298D9-91B6-C442-9E68-491C82CAAEDB}" srcOrd="0" destOrd="0" presId="urn:microsoft.com/office/officeart/2005/8/layout/chevron2"/>
    <dgm:cxn modelId="{82FC7A56-D9CD-486C-BEF6-35BE3502F471}" type="presOf" srcId="{217F2861-8603-1749-8905-36222D71F47A}" destId="{D7A1E9D5-302B-694D-869C-A3ABA0C4A5D6}" srcOrd="0" destOrd="0" presId="urn:microsoft.com/office/officeart/2005/8/layout/chevron2"/>
    <dgm:cxn modelId="{82788F4F-D0AA-403B-B2C4-51EE3096AD59}" type="presOf" srcId="{E7BEE5E9-B068-F440-AA78-C06B5DA31F9F}" destId="{2F49BE34-3DD4-D442-BEA2-FF0D8EE8E178}" srcOrd="0" destOrd="0" presId="urn:microsoft.com/office/officeart/2005/8/layout/chevron2"/>
    <dgm:cxn modelId="{C93A284F-08B2-4F9F-8DBE-547BCFDBD3BD}" type="presOf" srcId="{192186F6-7AF8-3145-9D3A-B172FA14B83E}" destId="{8EB0E9CA-38E0-294D-BA1D-ABDC8F904BF8}" srcOrd="0" destOrd="0" presId="urn:microsoft.com/office/officeart/2005/8/layout/chevron2"/>
    <dgm:cxn modelId="{E77ACE50-20DB-4880-91FE-4240E8E6AEB0}" type="presParOf" srcId="{D7D118A1-74CC-6C4F-B831-3685DF19C48D}" destId="{7DBAE230-6AF8-7A47-B5A6-8624F47456AE}" srcOrd="0" destOrd="0" presId="urn:microsoft.com/office/officeart/2005/8/layout/chevron2"/>
    <dgm:cxn modelId="{9B4FEC69-9100-4F8E-9A66-4FB1CBB37043}" type="presParOf" srcId="{7DBAE230-6AF8-7A47-B5A6-8624F47456AE}" destId="{D7A1E9D5-302B-694D-869C-A3ABA0C4A5D6}" srcOrd="0" destOrd="0" presId="urn:microsoft.com/office/officeart/2005/8/layout/chevron2"/>
    <dgm:cxn modelId="{2587F92A-55B7-4382-9C24-FF9D408EF076}" type="presParOf" srcId="{7DBAE230-6AF8-7A47-B5A6-8624F47456AE}" destId="{29F965AD-C2D4-B047-B721-29B9E3EC90ED}" srcOrd="1" destOrd="0" presId="urn:microsoft.com/office/officeart/2005/8/layout/chevron2"/>
    <dgm:cxn modelId="{B3AA1E42-B3C4-42F8-BA68-23F0F8F74056}" type="presParOf" srcId="{D7D118A1-74CC-6C4F-B831-3685DF19C48D}" destId="{1CD26310-B59C-CB48-8080-F86AF6178FD8}" srcOrd="1" destOrd="0" presId="urn:microsoft.com/office/officeart/2005/8/layout/chevron2"/>
    <dgm:cxn modelId="{B679D718-CFBB-423F-81C9-55DC2ED48949}" type="presParOf" srcId="{D7D118A1-74CC-6C4F-B831-3685DF19C48D}" destId="{33EE43DC-34BE-A840-BD1C-AE38AAA55524}" srcOrd="2" destOrd="0" presId="urn:microsoft.com/office/officeart/2005/8/layout/chevron2"/>
    <dgm:cxn modelId="{4DEDFAAA-C7E6-417A-A09D-CCAB10A5AEAB}" type="presParOf" srcId="{33EE43DC-34BE-A840-BD1C-AE38AAA55524}" destId="{2F49BE34-3DD4-D442-BEA2-FF0D8EE8E178}" srcOrd="0" destOrd="0" presId="urn:microsoft.com/office/officeart/2005/8/layout/chevron2"/>
    <dgm:cxn modelId="{8A995A04-95CD-4C87-8D12-F4358E75D841}" type="presParOf" srcId="{33EE43DC-34BE-A840-BD1C-AE38AAA55524}" destId="{9185ABA3-9ACF-FA4D-9D6C-AD4636C47777}" srcOrd="1" destOrd="0" presId="urn:microsoft.com/office/officeart/2005/8/layout/chevron2"/>
    <dgm:cxn modelId="{347222DB-4851-468E-9452-5ADE1C7B9F02}" type="presParOf" srcId="{D7D118A1-74CC-6C4F-B831-3685DF19C48D}" destId="{68534DD1-E48D-9F49-9F10-C9BFBD29C4CD}" srcOrd="3" destOrd="0" presId="urn:microsoft.com/office/officeart/2005/8/layout/chevron2"/>
    <dgm:cxn modelId="{D43193E2-2B1A-4496-ABBB-3D80A4E6C396}" type="presParOf" srcId="{D7D118A1-74CC-6C4F-B831-3685DF19C48D}" destId="{7E85EF86-6CCB-6D4E-B305-07C60A71FA80}" srcOrd="4" destOrd="0" presId="urn:microsoft.com/office/officeart/2005/8/layout/chevron2"/>
    <dgm:cxn modelId="{92FDD496-D8C9-405F-80CF-FB8CE032503D}" type="presParOf" srcId="{7E85EF86-6CCB-6D4E-B305-07C60A71FA80}" destId="{CDFA1110-DB91-3342-8A3D-179A837BBA12}" srcOrd="0" destOrd="0" presId="urn:microsoft.com/office/officeart/2005/8/layout/chevron2"/>
    <dgm:cxn modelId="{421059D8-8E52-4FD0-88CE-6CBB5A9E39B0}" type="presParOf" srcId="{7E85EF86-6CCB-6D4E-B305-07C60A71FA80}" destId="{EEA74246-F6BC-5046-AA33-638FD8E71F46}" srcOrd="1" destOrd="0" presId="urn:microsoft.com/office/officeart/2005/8/layout/chevron2"/>
    <dgm:cxn modelId="{122E2863-1BA4-45B7-8422-35990C73A95C}" type="presParOf" srcId="{D7D118A1-74CC-6C4F-B831-3685DF19C48D}" destId="{6F3A862C-6535-E844-BD7C-1C965B86A6DC}" srcOrd="5" destOrd="0" presId="urn:microsoft.com/office/officeart/2005/8/layout/chevron2"/>
    <dgm:cxn modelId="{2BDD3A96-D301-4AAA-88B1-D106C99981F2}" type="presParOf" srcId="{D7D118A1-74CC-6C4F-B831-3685DF19C48D}" destId="{20D2E5A2-495E-CE45-B454-2F2C99F11F10}" srcOrd="6" destOrd="0" presId="urn:microsoft.com/office/officeart/2005/8/layout/chevron2"/>
    <dgm:cxn modelId="{6D1039F4-5704-4510-85A3-EE5B110C1EA4}" type="presParOf" srcId="{20D2E5A2-495E-CE45-B454-2F2C99F11F10}" destId="{6CDAECC0-63B0-4043-8086-E12AC2EBF14F}" srcOrd="0" destOrd="0" presId="urn:microsoft.com/office/officeart/2005/8/layout/chevron2"/>
    <dgm:cxn modelId="{F9A112B2-A2E4-4FB9-BC12-96E20164B4C0}" type="presParOf" srcId="{20D2E5A2-495E-CE45-B454-2F2C99F11F10}" destId="{8EB0E9CA-38E0-294D-BA1D-ABDC8F904BF8}" srcOrd="1" destOrd="0" presId="urn:microsoft.com/office/officeart/2005/8/layout/chevron2"/>
    <dgm:cxn modelId="{111DC47B-CFEF-48ED-B128-6466B367B2EA}" type="presParOf" srcId="{D7D118A1-74CC-6C4F-B831-3685DF19C48D}" destId="{3787DBBF-077B-AB45-9CCA-2DCBD66F11A2}" srcOrd="7" destOrd="0" presId="urn:microsoft.com/office/officeart/2005/8/layout/chevron2"/>
    <dgm:cxn modelId="{1DE2CCCD-1610-4D86-BD03-0268251185D6}" type="presParOf" srcId="{D7D118A1-74CC-6C4F-B831-3685DF19C48D}" destId="{9952EB10-1BAF-9C4E-82BC-013884F3CD0B}" srcOrd="8" destOrd="0" presId="urn:microsoft.com/office/officeart/2005/8/layout/chevron2"/>
    <dgm:cxn modelId="{AFF852AF-D84D-430D-AFE7-80899B2565C1}" type="presParOf" srcId="{9952EB10-1BAF-9C4E-82BC-013884F3CD0B}" destId="{7A51B00A-7D2E-CB40-B681-149F0CD6A739}" srcOrd="0" destOrd="0" presId="urn:microsoft.com/office/officeart/2005/8/layout/chevron2"/>
    <dgm:cxn modelId="{0F24F783-9902-4ED6-8539-51FDB9E78554}" type="presParOf" srcId="{9952EB10-1BAF-9C4E-82BC-013884F3CD0B}" destId="{631AD66C-6EA6-8E42-90F0-37439CBC6540}" srcOrd="1" destOrd="0" presId="urn:microsoft.com/office/officeart/2005/8/layout/chevron2"/>
    <dgm:cxn modelId="{51506B72-5D38-4AFF-AF63-09FB3D761713}" type="presParOf" srcId="{D7D118A1-74CC-6C4F-B831-3685DF19C48D}" destId="{1BB8B7A7-DB29-3E4D-8B25-6A3EFF5A49E1}" srcOrd="9" destOrd="0" presId="urn:microsoft.com/office/officeart/2005/8/layout/chevron2"/>
    <dgm:cxn modelId="{95106450-CD56-44C5-90A3-A639D75D6F19}" type="presParOf" srcId="{D7D118A1-74CC-6C4F-B831-3685DF19C48D}" destId="{81671323-D572-BA41-8D74-434926E9198C}" srcOrd="10" destOrd="0" presId="urn:microsoft.com/office/officeart/2005/8/layout/chevron2"/>
    <dgm:cxn modelId="{DF3A6A84-6BEA-476D-9EAC-2BDF6E00A526}" type="presParOf" srcId="{81671323-D572-BA41-8D74-434926E9198C}" destId="{095298D9-91B6-C442-9E68-491C82CAAEDB}" srcOrd="0" destOrd="0" presId="urn:microsoft.com/office/officeart/2005/8/layout/chevron2"/>
    <dgm:cxn modelId="{3B238871-1ABC-416D-B17D-D04E32967DF0}" type="presParOf" srcId="{81671323-D572-BA41-8D74-434926E9198C}" destId="{C5652334-D05E-924B-BE13-85008940BE0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579336-3EDD-504A-BEEF-A11AC624ED8E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B72FEC-E322-8D47-80DF-A7E41D4DDE9B}">
      <dgm:prSet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AU" smtClean="0">
              <a:ea typeface="+mn-ea"/>
            </a:rPr>
            <a:t>This can be useful when </a:t>
          </a:r>
          <a:r>
            <a:rPr lang="en-AU" i="1" smtClean="0">
              <a:ea typeface="+mn-ea"/>
            </a:rPr>
            <a:t>M </a:t>
          </a:r>
          <a:r>
            <a:rPr lang="en-AU" smtClean="0">
              <a:ea typeface="+mn-ea"/>
            </a:rPr>
            <a:t>is 150 digits or more</a:t>
          </a:r>
          <a:endParaRPr lang="en-AU" dirty="0" smtClean="0">
            <a:ea typeface="+mn-ea"/>
          </a:endParaRPr>
        </a:p>
      </dgm:t>
    </dgm:pt>
    <dgm:pt modelId="{B300D083-4B1B-DD48-BD68-F0FE22D3BCE8}" type="parTrans" cxnId="{442B01CF-1B47-BA46-8F5C-CE17C2B2E367}">
      <dgm:prSet/>
      <dgm:spPr/>
      <dgm:t>
        <a:bodyPr/>
        <a:lstStyle/>
        <a:p>
          <a:endParaRPr lang="en-US"/>
        </a:p>
      </dgm:t>
    </dgm:pt>
    <dgm:pt modelId="{7A0A9B0B-0D94-C942-9111-83E93925DB2F}" type="sibTrans" cxnId="{442B01CF-1B47-BA46-8F5C-CE17C2B2E367}">
      <dgm:prSet/>
      <dgm:spPr/>
      <dgm:t>
        <a:bodyPr/>
        <a:lstStyle/>
        <a:p>
          <a:endParaRPr lang="en-US"/>
        </a:p>
      </dgm:t>
    </dgm:pt>
    <dgm:pt modelId="{70B3C10C-A4AF-5B49-9C1C-C13364F5573B}">
      <dgm:prSet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AU" smtClean="0">
              <a:ea typeface="+mn-ea"/>
            </a:rPr>
            <a:t>However, it is necessary to know beforehand the factorization of </a:t>
          </a:r>
          <a:r>
            <a:rPr lang="en-AU" i="1" smtClean="0">
              <a:ea typeface="+mn-ea"/>
            </a:rPr>
            <a:t>M</a:t>
          </a:r>
          <a:endParaRPr lang="en-AU" dirty="0" smtClean="0">
            <a:ea typeface="+mn-ea"/>
          </a:endParaRPr>
        </a:p>
      </dgm:t>
    </dgm:pt>
    <dgm:pt modelId="{B75E28C2-B101-464A-95A2-E3F4BDF5452B}" type="parTrans" cxnId="{9665BCE8-EF01-914A-B553-A03D141D4190}">
      <dgm:prSet/>
      <dgm:spPr/>
      <dgm:t>
        <a:bodyPr/>
        <a:lstStyle/>
        <a:p>
          <a:endParaRPr lang="en-US"/>
        </a:p>
      </dgm:t>
    </dgm:pt>
    <dgm:pt modelId="{06C987B2-05BD-0040-9F19-DCB771E65FBC}" type="sibTrans" cxnId="{9665BCE8-EF01-914A-B553-A03D141D4190}">
      <dgm:prSet/>
      <dgm:spPr/>
      <dgm:t>
        <a:bodyPr/>
        <a:lstStyle/>
        <a:p>
          <a:endParaRPr lang="en-US"/>
        </a:p>
      </dgm:t>
    </dgm:pt>
    <dgm:pt modelId="{26269044-1E7A-0C41-802D-2DA78E58FD2B}">
      <dgm:prSet phldrT="[Text]"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AU" dirty="0" smtClean="0">
              <a:solidFill>
                <a:srgbClr val="FF0000"/>
              </a:solidFill>
              <a:ea typeface="+mn-ea"/>
              <a:cs typeface="+mn-cs"/>
            </a:rPr>
            <a:t>Provides a way to manipulate (potentially very large) numbers mod </a:t>
          </a:r>
          <a:r>
            <a:rPr lang="en-AU" i="1" dirty="0" smtClean="0">
              <a:solidFill>
                <a:srgbClr val="FF0000"/>
              </a:solidFill>
              <a:ea typeface="+mn-ea"/>
              <a:cs typeface="+mn-cs"/>
            </a:rPr>
            <a:t>M </a:t>
          </a:r>
          <a:r>
            <a:rPr lang="en-AU" dirty="0" smtClean="0">
              <a:solidFill>
                <a:srgbClr val="FF0000"/>
              </a:solidFill>
              <a:ea typeface="+mn-ea"/>
              <a:cs typeface="+mn-cs"/>
            </a:rPr>
            <a:t>in terms of </a:t>
          </a:r>
          <a:r>
            <a:rPr lang="en-AU" dirty="0" err="1" smtClean="0">
              <a:solidFill>
                <a:srgbClr val="FF0000"/>
              </a:solidFill>
              <a:ea typeface="+mn-ea"/>
              <a:cs typeface="+mn-cs"/>
            </a:rPr>
            <a:t>tuples</a:t>
          </a:r>
          <a:r>
            <a:rPr lang="en-AU" dirty="0" smtClean="0">
              <a:solidFill>
                <a:srgbClr val="FF0000"/>
              </a:solidFill>
              <a:ea typeface="+mn-ea"/>
              <a:cs typeface="+mn-cs"/>
            </a:rPr>
            <a:t> of smaller numbers</a:t>
          </a:r>
          <a:endParaRPr lang="en-US" dirty="0">
            <a:solidFill>
              <a:srgbClr val="FF0000"/>
            </a:solidFill>
          </a:endParaRPr>
        </a:p>
      </dgm:t>
    </dgm:pt>
    <dgm:pt modelId="{1CACCCBD-35A5-7E40-8528-08C6D4A4EFE4}" type="sibTrans" cxnId="{94106BBF-8DE6-DB41-BC8A-DE48E852D137}">
      <dgm:prSet/>
      <dgm:spPr/>
      <dgm:t>
        <a:bodyPr/>
        <a:lstStyle/>
        <a:p>
          <a:endParaRPr lang="en-US"/>
        </a:p>
      </dgm:t>
    </dgm:pt>
    <dgm:pt modelId="{ED5A64B5-EFE2-2E40-96AB-68006603D201}" type="parTrans" cxnId="{94106BBF-8DE6-DB41-BC8A-DE48E852D137}">
      <dgm:prSet/>
      <dgm:spPr/>
      <dgm:t>
        <a:bodyPr/>
        <a:lstStyle/>
        <a:p>
          <a:endParaRPr lang="en-US"/>
        </a:p>
      </dgm:t>
    </dgm:pt>
    <dgm:pt modelId="{E0D33B3F-4090-674E-9CE3-48A9DB04631B}" type="pres">
      <dgm:prSet presAssocID="{E9579336-3EDD-504A-BEEF-A11AC624ED8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34D492F-354E-2F4F-8BB7-0DEDAC2CAD25}" type="pres">
      <dgm:prSet presAssocID="{26269044-1E7A-0C41-802D-2DA78E58FD2B}" presName="composite" presStyleCnt="0"/>
      <dgm:spPr/>
    </dgm:pt>
    <dgm:pt modelId="{BA6348B4-F7A9-2B49-A2C4-F1F1F2B3A08C}" type="pres">
      <dgm:prSet presAssocID="{26269044-1E7A-0C41-802D-2DA78E58FD2B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5F77BB-9FDE-7E4A-B50C-8417DFBCAFC9}" type="pres">
      <dgm:prSet presAssocID="{26269044-1E7A-0C41-802D-2DA78E58FD2B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42B01CF-1B47-BA46-8F5C-CE17C2B2E367}" srcId="{26269044-1E7A-0C41-802D-2DA78E58FD2B}" destId="{A9B72FEC-E322-8D47-80DF-A7E41D4DDE9B}" srcOrd="0" destOrd="0" parTransId="{B300D083-4B1B-DD48-BD68-F0FE22D3BCE8}" sibTransId="{7A0A9B0B-0D94-C942-9111-83E93925DB2F}"/>
    <dgm:cxn modelId="{94106BBF-8DE6-DB41-BC8A-DE48E852D137}" srcId="{E9579336-3EDD-504A-BEEF-A11AC624ED8E}" destId="{26269044-1E7A-0C41-802D-2DA78E58FD2B}" srcOrd="0" destOrd="0" parTransId="{ED5A64B5-EFE2-2E40-96AB-68006603D201}" sibTransId="{1CACCCBD-35A5-7E40-8528-08C6D4A4EFE4}"/>
    <dgm:cxn modelId="{678683C8-9B35-45F5-9E27-C5BD328E717F}" type="presOf" srcId="{26269044-1E7A-0C41-802D-2DA78E58FD2B}" destId="{BA6348B4-F7A9-2B49-A2C4-F1F1F2B3A08C}" srcOrd="0" destOrd="0" presId="urn:microsoft.com/office/officeart/2005/8/layout/hList1"/>
    <dgm:cxn modelId="{16BDD03C-EC20-446F-93C0-7C88D51ECF39}" type="presOf" srcId="{E9579336-3EDD-504A-BEEF-A11AC624ED8E}" destId="{E0D33B3F-4090-674E-9CE3-48A9DB04631B}" srcOrd="0" destOrd="0" presId="urn:microsoft.com/office/officeart/2005/8/layout/hList1"/>
    <dgm:cxn modelId="{15DA9BFA-9050-44B4-B5DE-D3BFE510B8D3}" type="presOf" srcId="{A9B72FEC-E322-8D47-80DF-A7E41D4DDE9B}" destId="{215F77BB-9FDE-7E4A-B50C-8417DFBCAFC9}" srcOrd="0" destOrd="0" presId="urn:microsoft.com/office/officeart/2005/8/layout/hList1"/>
    <dgm:cxn modelId="{9727B623-F7A9-48B1-958E-85ACB401DBEB}" type="presOf" srcId="{70B3C10C-A4AF-5B49-9C1C-C13364F5573B}" destId="{215F77BB-9FDE-7E4A-B50C-8417DFBCAFC9}" srcOrd="0" destOrd="1" presId="urn:microsoft.com/office/officeart/2005/8/layout/hList1"/>
    <dgm:cxn modelId="{9665BCE8-EF01-914A-B553-A03D141D4190}" srcId="{26269044-1E7A-0C41-802D-2DA78E58FD2B}" destId="{70B3C10C-A4AF-5B49-9C1C-C13364F5573B}" srcOrd="1" destOrd="0" parTransId="{B75E28C2-B101-464A-95A2-E3F4BDF5452B}" sibTransId="{06C987B2-05BD-0040-9F19-DCB771E65FBC}"/>
    <dgm:cxn modelId="{BD57BF90-EB91-4552-8CDA-86EC780F1879}" type="presParOf" srcId="{E0D33B3F-4090-674E-9CE3-48A9DB04631B}" destId="{134D492F-354E-2F4F-8BB7-0DEDAC2CAD25}" srcOrd="0" destOrd="0" presId="urn:microsoft.com/office/officeart/2005/8/layout/hList1"/>
    <dgm:cxn modelId="{13FB94E9-E2E0-4AC6-A586-9692AC7FBB26}" type="presParOf" srcId="{134D492F-354E-2F4F-8BB7-0DEDAC2CAD25}" destId="{BA6348B4-F7A9-2B49-A2C4-F1F1F2B3A08C}" srcOrd="0" destOrd="0" presId="urn:microsoft.com/office/officeart/2005/8/layout/hList1"/>
    <dgm:cxn modelId="{877CEAE4-216C-45B3-95E7-1A7588FFB059}" type="presParOf" srcId="{134D492F-354E-2F4F-8BB7-0DEDAC2CAD25}" destId="{215F77BB-9FDE-7E4A-B50C-8417DFBCAFC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775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759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775" y="875759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F217DA43-F7AE-7641-96F9-03D7730E69D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122803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775" y="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420" y="4379595"/>
            <a:ext cx="5547360" cy="414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759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775" y="8757590"/>
            <a:ext cx="3004820" cy="461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B1B765E1-EB55-3F42-96E6-9BC39CDD5E7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0456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213168-CBB8-004E-B161-E3C8E26BC09B}" type="slidenum">
              <a:rPr lang="en-AU">
                <a:latin typeface="Arial" pitchFamily="-84" charset="0"/>
              </a:rPr>
              <a:pPr/>
              <a:t>1</a:t>
            </a:fld>
            <a:endParaRPr lang="en-AU">
              <a:latin typeface="Arial" pitchFamily="-8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Lecture slides prepared for “Cryptography and Network Security”, 6/e, by William Stallings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Chapter 4 – “Basic Concepts in Number Theory and Finite Fields”.</a:t>
            </a:r>
            <a:endParaRPr lang="en-AU" smtClean="0">
              <a:latin typeface="Times New Roman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Finite fields have become increasingly important in cryptography. A number of cryptographic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algorithms rely heavily on properties of finite fields, notably the Advanced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Encryption Standard (AES) and elliptic curve cryptography. Other examples include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message authentication code CMAC and the authenticated encryption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scheme GCM.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chapter provides the reader with sufficient background on the concepts of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finite fields to be able to understand the design of AES and other cryptographic algorithms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use finite fields. The first three sections introduce basic concepts from number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theory that are needed in the remainder of the chapter; these include divisibility,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Euclidian algorithm, and modular arithmetic. Next comes a brief overview of the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concepts of group, ring, and field. This section is somewhat abstract; the reader may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prefer to quickly skim this section on a first reading. We are then ready to discuss finite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fields of the form GF(p ), where p  is a prime number. Next, we need some additional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background, this time in polynomial arithmetic. The chapter concludes with a discussion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finite fields of the form GF(2</a:t>
            </a:r>
            <a:r>
              <a:rPr lang="en-US" baseline="30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), where n  is a positive integer.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0C2CB9-0E3F-284F-82E5-C13EA3B1B06E}" type="slidenum">
              <a:rPr lang="en-AU" smtClean="0">
                <a:latin typeface="Arial" pitchFamily="-84" charset="0"/>
              </a:rPr>
              <a:pPr/>
              <a:t>2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702A24-FA59-FB47-B5ED-F3B289B39302}" type="slidenum">
              <a:rPr lang="en-AU">
                <a:latin typeface="Arial" pitchFamily="-84" charset="0"/>
              </a:rPr>
              <a:pPr/>
              <a:t>5</a:t>
            </a:fld>
            <a:endParaRPr lang="en-AU">
              <a:latin typeface="Arial" pitchFamily="-8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-84" charset="0"/>
                <a:ea typeface="Arial" pitchFamily="-84" charset="0"/>
                <a:cs typeface="Arial" pitchFamily="-84" charset="0"/>
              </a:rPr>
              <a:t>We say that a nonzero b divides a if a=</a:t>
            </a:r>
            <a:r>
              <a:rPr lang="en-US" dirty="0" err="1" smtClean="0">
                <a:latin typeface="Arial" pitchFamily="-84" charset="0"/>
                <a:ea typeface="Arial" pitchFamily="-84" charset="0"/>
                <a:cs typeface="Arial" pitchFamily="-84" charset="0"/>
              </a:rPr>
              <a:t>mb</a:t>
            </a:r>
            <a:r>
              <a:rPr lang="en-US" dirty="0" smtClean="0">
                <a:latin typeface="Arial" pitchFamily="-84" charset="0"/>
                <a:ea typeface="Arial" pitchFamily="-84" charset="0"/>
                <a:cs typeface="Arial" pitchFamily="-84" charset="0"/>
              </a:rPr>
              <a:t> for some m, where a, b, and m are integers. That is, b divides a if there is no remainder on division.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notation b | a is commonly used to mean b  divides a . Also, if b | a , we say that b is a divisor of a .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Subsequently, we will need some simple properties of divisibility for integers, which are as follows: </a:t>
            </a:r>
          </a:p>
          <a:p>
            <a:pPr eaLnBrk="1" hangingPunct="1"/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• If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a|1, then a = ±1.</a:t>
            </a:r>
          </a:p>
          <a:p>
            <a:pPr eaLnBrk="1" hangingPunct="1"/>
            <a:endParaRPr lang="en-US" i="1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• If a|b and b|a, then a = ±b.</a:t>
            </a:r>
          </a:p>
          <a:p>
            <a:pPr eaLnBrk="1" hangingPunct="1"/>
            <a:endParaRPr lang="en-US" i="1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• Any b ≠ 0 divides 0. </a:t>
            </a:r>
          </a:p>
          <a:p>
            <a:pPr eaLnBrk="1" hangingPunct="1"/>
            <a:endParaRPr lang="en-US" i="1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If a | b and b | c, then a | c </a:t>
            </a:r>
          </a:p>
          <a:p>
            <a:pPr eaLnBrk="1" hangingPunct="1"/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If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b|g and b|h, then b|(mg + nh) for arbitrary integers m and n. 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D348B4-5558-1C4E-9943-D091830B32AF}" type="slidenum">
              <a:rPr lang="en-AU" smtClean="0">
                <a:latin typeface="Arial" pitchFamily="-84" charset="0"/>
              </a:rPr>
              <a:pPr/>
              <a:t>6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To see this last point, note that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 If b | g , then g  is of the form g = b * g</a:t>
            </a:r>
            <a:r>
              <a:rPr lang="en-US" baseline="-25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for some integer g</a:t>
            </a:r>
            <a:r>
              <a:rPr lang="en-US" baseline="-25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 If b | h , then h  is of the form h = b * h</a:t>
            </a:r>
            <a:r>
              <a:rPr lang="en-US" baseline="-25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for some integer h</a:t>
            </a:r>
            <a:r>
              <a:rPr lang="en-US" baseline="-25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So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mg + nh = mbg</a:t>
            </a:r>
            <a:r>
              <a:rPr lang="en-US" baseline="-25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+ nbh</a:t>
            </a:r>
            <a:r>
              <a:rPr lang="en-US" baseline="-25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b *  (mg</a:t>
            </a:r>
            <a:r>
              <a:rPr lang="en-US" baseline="-25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+ nh</a:t>
            </a:r>
            <a:r>
              <a:rPr lang="en-US" baseline="-25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therefore b  divides mg + nh .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46235F-3FA9-AE45-89D1-A58CF8B779DB}" type="slidenum">
              <a:rPr lang="en-AU" smtClean="0">
                <a:latin typeface="Arial" pitchFamily="-84" charset="0"/>
              </a:rPr>
              <a:pPr/>
              <a:t>7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Given any positive integer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and any nonnegative integer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if we divide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by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we get an integer quotient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q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and an integer remainder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that obey the following relationship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:</a:t>
            </a:r>
          </a:p>
          <a:p>
            <a:pPr eaLnBrk="1" hangingPunct="1"/>
            <a:endParaRPr lang="en-US" i="1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 = qn + r, 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  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0 ≤ r &lt; n; q = [a/n] 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which is referred to as the division algorithm. </a:t>
            </a:r>
          </a:p>
          <a:p>
            <a:pPr eaLnBrk="1" hangingPunct="1"/>
            <a:endParaRPr lang="en-US" b="1" i="1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3DC2E6-EEFD-874E-B170-9A85AC6E093F}" type="slidenum">
              <a:rPr lang="en-AU" smtClean="0">
                <a:latin typeface="Arial" pitchFamily="-84" charset="0"/>
              </a:rPr>
              <a:pPr/>
              <a:t>8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Figure 4.1a demonstrates that, given a and positive n, it is always possible to find q and r that satisfy the preceding relationship. Represent the integers on the number line; a will fall somewhere on that line (positive a is shown, a similar demonstration can be made for negative a). Starting at 0, proceed to n, 2n, up to qn such that qn ≤ a and (q + 1)n &gt; a. The distance from qn to a is r, and we have found the unique values of q and r. The remainder r  is often referred to as a residue .</a:t>
            </a:r>
          </a:p>
          <a:p>
            <a:pPr eaLnBrk="1" hangingPunct="1"/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example: </a:t>
            </a:r>
          </a:p>
          <a:p>
            <a:pPr eaLnBrk="1" hangingPunct="1"/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  a = 11; n = 7; 	11 = 1 x 7 + 4; 	r = 4 q = 1 </a:t>
            </a:r>
          </a:p>
          <a:p>
            <a:pPr eaLnBrk="1" hangingPunct="1"/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  a = –11; n = 7; 	–11 = (–2) x 7 + 3; 	r = 3 q = –2 </a:t>
            </a:r>
          </a:p>
          <a:p>
            <a:pPr eaLnBrk="1" hangingPunct="1"/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Figure 4.1b provides another example. 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372CBD-66AF-E241-A037-ABBDAFF689DC}" type="slidenum">
              <a:rPr lang="en-AU" smtClean="0">
                <a:latin typeface="Arial" pitchFamily="-84" charset="0"/>
              </a:rPr>
              <a:pPr/>
              <a:t>9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6F37AB-E29E-B94D-B797-40264BDA9EBB}" type="slidenum">
              <a:rPr lang="en-AU">
                <a:latin typeface="Arial" pitchFamily="-84" charset="0"/>
              </a:rPr>
              <a:pPr/>
              <a:t>10</a:t>
            </a:fld>
            <a:endParaRPr lang="en-AU">
              <a:latin typeface="Arial" pitchFamily="-8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One of the basic techniques of number theory is the Euclidean algorithm, which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a simple procedure for determining the greatest common divisor of two positive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integers. First, we need a simple definition: Two integers are relatively prime  if their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only common positive integer factor is 1.</a:t>
            </a:r>
            <a:endParaRPr lang="en-US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 smtClean="0"/>
              <a:t> Recall that nonzero b  is defined to be a divisor of a  if a = mb  for some m , where a , b , and</a:t>
            </a:r>
          </a:p>
          <a:p>
            <a:pPr>
              <a:defRPr/>
            </a:pPr>
            <a:r>
              <a:rPr lang="en-US" dirty="0" smtClean="0"/>
              <a:t>m  are integers. We will use the notation gcd(a , b ) to mean the greatest common divisor</a:t>
            </a:r>
          </a:p>
          <a:p>
            <a:pPr>
              <a:defRPr/>
            </a:pPr>
            <a:r>
              <a:rPr lang="en-US" dirty="0" smtClean="0"/>
              <a:t> of a  and b . The greatest common divisor of a  and b  is the largest integer that divides</a:t>
            </a:r>
          </a:p>
          <a:p>
            <a:pPr>
              <a:defRPr/>
            </a:pPr>
            <a:r>
              <a:rPr lang="en-US" dirty="0" smtClean="0"/>
              <a:t>both a  and b . We also define gcd(0, 0) =  0.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 More formally, the positive integer c  is said to be the greatest common divisor</a:t>
            </a:r>
          </a:p>
          <a:p>
            <a:pPr>
              <a:defRPr/>
            </a:pPr>
            <a:r>
              <a:rPr lang="en-US" dirty="0" smtClean="0"/>
              <a:t>of a  and b  if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1. c  is a divisor of a  and of b 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2.  Any divisor of a  and b  is a divisor of c 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An equivalent definition is the following: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gcd(a , b ) =  max[k , such that k | a  and k | b ]</a:t>
            </a:r>
          </a:p>
          <a:p>
            <a:pPr>
              <a:defRPr/>
            </a:pPr>
            <a:endParaRPr lang="en-US" dirty="0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D3896B-A8FC-4A47-B28C-34D1D9795B34}" type="slidenum">
              <a:rPr lang="en-AU" smtClean="0">
                <a:latin typeface="Arial" pitchFamily="-84" charset="0"/>
              </a:rPr>
              <a:pPr/>
              <a:t>11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Because we require that the greatest common divisor be positive,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gcd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(a , b ) =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gcd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(a , -b ) = 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gcd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(-a , b ) = 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gcd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(-a ,-b ). In general,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gcd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(a , b ) = 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gcd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 | a | , | b |  ).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Also, because all nonzero integers divide 0, we have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gcd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(a , 0) =  a  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We stated that two integers a  and b  are relatively prime if their only common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positive integer factor is 1. This is equivalent to saying that a  and b  are relatively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prime if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gcd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(a , b ) =  1.</a:t>
            </a: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3B5EFD-BDF2-DC42-8674-BFFF97780EEF}" type="slidenum">
              <a:rPr lang="en-AU" smtClean="0">
                <a:latin typeface="Arial" pitchFamily="-84" charset="0"/>
              </a:rPr>
              <a:pPr/>
              <a:t>12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In this example, we begin by dividing 1160718174 by 316258250, which gives 3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with a remainder of 211943424. Next we take 316258250 and divide it by 211943424.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process continues until we get a remainder of 0, yielding a result of 1078.</a:t>
            </a: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0E76CD-330F-DD41-BA79-88804F486D86}" type="slidenum">
              <a:rPr lang="en-AU" smtClean="0">
                <a:latin typeface="Arial" pitchFamily="-84" charset="0"/>
              </a:rPr>
              <a:pPr/>
              <a:t>13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15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0966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If a  is an integer and n  is a positive integer, we define a  mod n  to be the remainder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when a  is divided by n . The integer n  is called the modulus . Thus, for any integer a: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 =  qn +  r   0 ≤ r &lt;  n;  q = [ a/ n]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 = [a/ n] *  n + ( a mod  n)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0118FC-DFA6-EC48-AF68-EC43E4DB831B}" type="slidenum">
              <a:rPr lang="en-AU" smtClean="0">
                <a:latin typeface="Arial" pitchFamily="-84" charset="0"/>
              </a:rPr>
              <a:pPr/>
              <a:t>18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19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31880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Two integers a  and b  are said to be congruent modulo n , if (a  mod n ) =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(b  mod n ). This is written as a K b  (mod n ).</a:t>
            </a:r>
            <a:r>
              <a:rPr lang="en-US" baseline="30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</a:p>
          <a:p>
            <a:endParaRPr lang="en-US" baseline="3000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Note that if a = 0 (mod n ), then n | a .</a:t>
            </a:r>
            <a:endParaRPr lang="en-US" baseline="3000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0F70A2-E83B-B941-A8BF-73D587A67417}" type="slidenum">
              <a:rPr lang="en-AU" smtClean="0">
                <a:latin typeface="Arial" pitchFamily="-84" charset="0"/>
              </a:rPr>
              <a:pPr/>
              <a:t>20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Congruences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have the following properties: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	1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a = b (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n)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if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 (a – b)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	2.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= b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implies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 = a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	3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a = b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and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 = c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imply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= c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To demonstrate the first point, if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 (a - b)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then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(a - b) = </a:t>
            </a:r>
            <a:r>
              <a:rPr lang="en-US" i="1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kn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some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</a:t>
            </a:r>
          </a:p>
          <a:p>
            <a:pPr lvl="1"/>
            <a:r>
              <a:rPr lang="en-US" dirty="0" smtClean="0">
                <a:latin typeface="Arial" pitchFamily="-84" charset="0"/>
              </a:rPr>
              <a:t>So we can write </a:t>
            </a:r>
            <a:r>
              <a:rPr lang="en-US" i="1" dirty="0" smtClean="0">
                <a:latin typeface="Arial" pitchFamily="-84" charset="0"/>
              </a:rPr>
              <a:t>a = b + </a:t>
            </a:r>
            <a:r>
              <a:rPr lang="en-US" i="1" dirty="0" err="1" smtClean="0">
                <a:latin typeface="Arial" pitchFamily="-84" charset="0"/>
              </a:rPr>
              <a:t>kn</a:t>
            </a:r>
            <a:r>
              <a:rPr lang="en-US" dirty="0" smtClean="0">
                <a:latin typeface="Arial" pitchFamily="-84" charset="0"/>
              </a:rPr>
              <a:t> </a:t>
            </a:r>
          </a:p>
          <a:p>
            <a:pPr lvl="1"/>
            <a:r>
              <a:rPr lang="en-US" dirty="0" smtClean="0">
                <a:latin typeface="Arial" pitchFamily="-84" charset="0"/>
              </a:rPr>
              <a:t>Therefore, (</a:t>
            </a:r>
            <a:r>
              <a:rPr lang="en-US" i="1" dirty="0" smtClean="0">
                <a:latin typeface="Arial" pitchFamily="-84" charset="0"/>
              </a:rPr>
              <a:t>a </a:t>
            </a:r>
            <a:r>
              <a:rPr lang="en-US" dirty="0" smtClean="0">
                <a:latin typeface="Arial" pitchFamily="-84" charset="0"/>
              </a:rPr>
              <a:t>mod </a:t>
            </a:r>
            <a:r>
              <a:rPr lang="en-US" i="1" dirty="0" smtClean="0">
                <a:latin typeface="Arial" pitchFamily="-84" charset="0"/>
              </a:rPr>
              <a:t>n</a:t>
            </a:r>
            <a:r>
              <a:rPr lang="en-US" dirty="0" smtClean="0">
                <a:latin typeface="Arial" pitchFamily="-84" charset="0"/>
              </a:rPr>
              <a:t>) = (remainder when </a:t>
            </a:r>
            <a:r>
              <a:rPr lang="en-US" i="1" dirty="0" smtClean="0">
                <a:latin typeface="Arial" pitchFamily="-84" charset="0"/>
              </a:rPr>
              <a:t>b + </a:t>
            </a:r>
            <a:r>
              <a:rPr lang="en-US" i="1" dirty="0" err="1" smtClean="0">
                <a:latin typeface="Arial" pitchFamily="-84" charset="0"/>
              </a:rPr>
              <a:t>kn</a:t>
            </a:r>
            <a:r>
              <a:rPr lang="en-US" i="1" dirty="0" smtClean="0">
                <a:latin typeface="Arial" pitchFamily="-84" charset="0"/>
              </a:rPr>
              <a:t> </a:t>
            </a:r>
            <a:r>
              <a:rPr lang="en-US" dirty="0" smtClean="0">
                <a:latin typeface="Arial" pitchFamily="-84" charset="0"/>
              </a:rPr>
              <a:t>is divided by </a:t>
            </a:r>
            <a:r>
              <a:rPr lang="en-US" i="1" dirty="0" smtClean="0">
                <a:latin typeface="Arial" pitchFamily="-84" charset="0"/>
              </a:rPr>
              <a:t>n</a:t>
            </a:r>
            <a:r>
              <a:rPr lang="en-US" dirty="0" smtClean="0">
                <a:latin typeface="Arial" pitchFamily="-84" charset="0"/>
              </a:rPr>
              <a:t>) = (remainder when </a:t>
            </a:r>
            <a:r>
              <a:rPr lang="en-US" i="1" dirty="0" smtClean="0">
                <a:latin typeface="Arial" pitchFamily="-84" charset="0"/>
              </a:rPr>
              <a:t>b</a:t>
            </a:r>
            <a:r>
              <a:rPr lang="en-US" dirty="0" smtClean="0">
                <a:latin typeface="Arial" pitchFamily="-84" charset="0"/>
              </a:rPr>
              <a:t> is divided by </a:t>
            </a:r>
            <a:r>
              <a:rPr lang="en-US" i="1" dirty="0" smtClean="0">
                <a:latin typeface="Arial" pitchFamily="-84" charset="0"/>
              </a:rPr>
              <a:t>n</a:t>
            </a:r>
            <a:r>
              <a:rPr lang="en-US" dirty="0" smtClean="0">
                <a:latin typeface="Arial" pitchFamily="-84" charset="0"/>
              </a:rPr>
              <a:t>) = (</a:t>
            </a:r>
            <a:r>
              <a:rPr lang="en-US" i="1" dirty="0" smtClean="0">
                <a:latin typeface="Arial" pitchFamily="-84" charset="0"/>
              </a:rPr>
              <a:t>b</a:t>
            </a:r>
            <a:r>
              <a:rPr lang="en-US" dirty="0" smtClean="0">
                <a:latin typeface="Arial" pitchFamily="-84" charset="0"/>
              </a:rPr>
              <a:t> mod </a:t>
            </a:r>
            <a:r>
              <a:rPr lang="en-US" i="1" dirty="0" smtClean="0">
                <a:latin typeface="Arial" pitchFamily="-84" charset="0"/>
              </a:rPr>
              <a:t>n</a:t>
            </a:r>
            <a:r>
              <a:rPr lang="en-US" dirty="0" smtClean="0">
                <a:latin typeface="Arial" pitchFamily="-84" charset="0"/>
              </a:rPr>
              <a:t>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F94C3A-2C59-124A-9480-A1DD054BCF2A}" type="slidenum">
              <a:rPr lang="en-AU" smtClean="0">
                <a:latin typeface="Arial" pitchFamily="-84" charset="0"/>
              </a:rPr>
              <a:pPr/>
              <a:t>21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sz="3200" dirty="0"/>
              <a:t>Modular arithmetic exhibits the following properties:</a:t>
            </a:r>
          </a:p>
          <a:p>
            <a:pPr>
              <a:lnSpc>
                <a:spcPct val="120000"/>
              </a:lnSpc>
              <a:spcBef>
                <a:spcPts val="2019"/>
              </a:spcBef>
              <a:defRPr/>
            </a:pPr>
            <a:r>
              <a:rPr lang="en-US" dirty="0" smtClean="0"/>
              <a:t>		1.  [(</a:t>
            </a:r>
            <a:r>
              <a:rPr lang="en-US" i="1" dirty="0" smtClean="0"/>
              <a:t>a</a:t>
            </a:r>
            <a:r>
              <a:rPr lang="en-US" dirty="0" smtClean="0"/>
              <a:t> mod </a:t>
            </a:r>
            <a:r>
              <a:rPr lang="en-US" i="1" dirty="0" smtClean="0"/>
              <a:t>n</a:t>
            </a:r>
            <a:r>
              <a:rPr lang="en-US" dirty="0" smtClean="0"/>
              <a:t>) + (</a:t>
            </a:r>
            <a:r>
              <a:rPr lang="en-US" i="1" dirty="0" smtClean="0"/>
              <a:t>b</a:t>
            </a:r>
            <a:r>
              <a:rPr lang="en-US" dirty="0" smtClean="0"/>
              <a:t> mod </a:t>
            </a:r>
            <a:r>
              <a:rPr lang="en-US" i="1" dirty="0" smtClean="0"/>
              <a:t>n</a:t>
            </a:r>
            <a:r>
              <a:rPr lang="en-US" dirty="0" smtClean="0"/>
              <a:t>)] mod </a:t>
            </a:r>
            <a:r>
              <a:rPr lang="en-US" i="1" dirty="0" smtClean="0"/>
              <a:t>n</a:t>
            </a:r>
            <a:r>
              <a:rPr lang="en-US" dirty="0" smtClean="0"/>
              <a:t> </a:t>
            </a:r>
            <a:r>
              <a:rPr lang="en-US" i="1" dirty="0" smtClean="0"/>
              <a:t>= (a + b) </a:t>
            </a:r>
            <a:r>
              <a:rPr lang="en-US" dirty="0" smtClean="0"/>
              <a:t>mod </a:t>
            </a:r>
            <a:r>
              <a:rPr lang="en-US" i="1" dirty="0" smtClean="0"/>
              <a:t>n</a:t>
            </a:r>
          </a:p>
          <a:p>
            <a:pPr>
              <a:lnSpc>
                <a:spcPct val="120000"/>
              </a:lnSpc>
              <a:spcBef>
                <a:spcPts val="2019"/>
              </a:spcBef>
              <a:defRPr/>
            </a:pPr>
            <a:r>
              <a:rPr lang="en-US" dirty="0" smtClean="0"/>
              <a:t>		2.  [(</a:t>
            </a:r>
            <a:r>
              <a:rPr lang="en-US" i="1" dirty="0" smtClean="0"/>
              <a:t>a</a:t>
            </a:r>
            <a:r>
              <a:rPr lang="en-US" dirty="0" smtClean="0"/>
              <a:t> mod </a:t>
            </a:r>
            <a:r>
              <a:rPr lang="en-US" i="1" dirty="0" smtClean="0"/>
              <a:t>n</a:t>
            </a:r>
            <a:r>
              <a:rPr lang="en-US" dirty="0" smtClean="0"/>
              <a:t>) - (</a:t>
            </a:r>
            <a:r>
              <a:rPr lang="en-US" i="1" dirty="0" smtClean="0"/>
              <a:t>b</a:t>
            </a:r>
            <a:r>
              <a:rPr lang="en-US" dirty="0" smtClean="0"/>
              <a:t> mod </a:t>
            </a:r>
            <a:r>
              <a:rPr lang="en-US" i="1" dirty="0" smtClean="0"/>
              <a:t>n</a:t>
            </a:r>
            <a:r>
              <a:rPr lang="en-US" dirty="0" smtClean="0"/>
              <a:t>)] mod </a:t>
            </a:r>
            <a:r>
              <a:rPr lang="en-US" i="1" dirty="0" smtClean="0"/>
              <a:t>n = (a - b) </a:t>
            </a:r>
            <a:r>
              <a:rPr lang="en-US" dirty="0" smtClean="0"/>
              <a:t>mod </a:t>
            </a:r>
            <a:r>
              <a:rPr lang="en-US" i="1" dirty="0" smtClean="0"/>
              <a:t>n</a:t>
            </a:r>
          </a:p>
          <a:p>
            <a:pPr>
              <a:lnSpc>
                <a:spcPct val="120000"/>
              </a:lnSpc>
              <a:spcBef>
                <a:spcPts val="2019"/>
              </a:spcBef>
              <a:defRPr/>
            </a:pPr>
            <a:r>
              <a:rPr lang="en-US" dirty="0" smtClean="0"/>
              <a:t>		3.  [(</a:t>
            </a:r>
            <a:r>
              <a:rPr lang="en-US" i="1" dirty="0" smtClean="0"/>
              <a:t>a</a:t>
            </a:r>
            <a:r>
              <a:rPr lang="en-US" dirty="0" smtClean="0"/>
              <a:t> mod </a:t>
            </a:r>
            <a:r>
              <a:rPr lang="en-US" i="1" dirty="0" smtClean="0"/>
              <a:t>n</a:t>
            </a:r>
            <a:r>
              <a:rPr lang="en-US" dirty="0" smtClean="0"/>
              <a:t>) * (</a:t>
            </a:r>
            <a:r>
              <a:rPr lang="en-US" i="1" dirty="0" smtClean="0"/>
              <a:t>b</a:t>
            </a:r>
            <a:r>
              <a:rPr lang="en-US" dirty="0" smtClean="0"/>
              <a:t> mod </a:t>
            </a:r>
            <a:r>
              <a:rPr lang="en-US" i="1" dirty="0" smtClean="0"/>
              <a:t>n</a:t>
            </a:r>
            <a:r>
              <a:rPr lang="en-US" dirty="0" smtClean="0"/>
              <a:t>)] mod </a:t>
            </a:r>
            <a:r>
              <a:rPr lang="en-US" i="1" dirty="0" smtClean="0"/>
              <a:t>n = (a * b) </a:t>
            </a:r>
            <a:r>
              <a:rPr lang="en-US" dirty="0" smtClean="0"/>
              <a:t>mod </a:t>
            </a:r>
            <a:r>
              <a:rPr lang="en-US" i="1" dirty="0" smtClean="0"/>
              <a:t>n</a:t>
            </a:r>
          </a:p>
          <a:p>
            <a:pPr>
              <a:lnSpc>
                <a:spcPct val="120000"/>
              </a:lnSpc>
              <a:defRPr/>
            </a:pPr>
            <a:r>
              <a:rPr lang="en-US" sz="3200" dirty="0"/>
              <a:t>We demonstrate the first property:</a:t>
            </a:r>
          </a:p>
          <a:p>
            <a:pPr lvl="1">
              <a:lnSpc>
                <a:spcPct val="120000"/>
              </a:lnSpc>
              <a:defRPr/>
            </a:pPr>
            <a:r>
              <a:rPr lang="en-US" sz="3000" dirty="0"/>
              <a:t>Define (</a:t>
            </a:r>
            <a:r>
              <a:rPr lang="en-US" sz="3000" i="1" dirty="0"/>
              <a:t>a</a:t>
            </a:r>
            <a:r>
              <a:rPr lang="en-US" sz="3000" dirty="0"/>
              <a:t> mod </a:t>
            </a:r>
            <a:r>
              <a:rPr lang="en-US" sz="3000" i="1" dirty="0"/>
              <a:t>n)</a:t>
            </a:r>
            <a:r>
              <a:rPr lang="en-US" sz="3000" dirty="0"/>
              <a:t> = </a:t>
            </a:r>
            <a:r>
              <a:rPr lang="en-US" sz="3000" i="1" dirty="0"/>
              <a:t>r</a:t>
            </a:r>
            <a:r>
              <a:rPr lang="en-US" sz="3000" i="1" baseline="-25000" dirty="0"/>
              <a:t>a</a:t>
            </a:r>
            <a:r>
              <a:rPr lang="en-US" sz="3000" i="1" dirty="0"/>
              <a:t> </a:t>
            </a:r>
            <a:r>
              <a:rPr lang="en-US" sz="3000" dirty="0"/>
              <a:t>and (</a:t>
            </a:r>
            <a:r>
              <a:rPr lang="en-US" sz="3000" i="1" dirty="0"/>
              <a:t>b</a:t>
            </a:r>
            <a:r>
              <a:rPr lang="en-US" sz="3000" dirty="0"/>
              <a:t> mod </a:t>
            </a:r>
            <a:r>
              <a:rPr lang="en-US" sz="3000" i="1" dirty="0"/>
              <a:t>n</a:t>
            </a:r>
            <a:r>
              <a:rPr lang="en-US" sz="3000" dirty="0"/>
              <a:t>) = </a:t>
            </a:r>
            <a:r>
              <a:rPr lang="en-US" sz="3000" i="1" dirty="0"/>
              <a:t>r</a:t>
            </a:r>
            <a:r>
              <a:rPr lang="en-US" sz="3000" i="1" baseline="-25000" dirty="0"/>
              <a:t>b</a:t>
            </a:r>
            <a:r>
              <a:rPr lang="en-US" sz="3000" dirty="0"/>
              <a:t>. Then we can write </a:t>
            </a:r>
            <a:r>
              <a:rPr lang="en-US" sz="3000" i="1" dirty="0"/>
              <a:t>a = r</a:t>
            </a:r>
            <a:r>
              <a:rPr lang="en-US" sz="3000" i="1" baseline="-25000" dirty="0"/>
              <a:t>a</a:t>
            </a:r>
            <a:r>
              <a:rPr lang="en-US" sz="3000" i="1" dirty="0"/>
              <a:t> </a:t>
            </a:r>
            <a:r>
              <a:rPr lang="en-US" sz="3000" dirty="0"/>
              <a:t>+ </a:t>
            </a:r>
            <a:r>
              <a:rPr lang="en-US" sz="3000" i="1" dirty="0"/>
              <a:t>jn</a:t>
            </a:r>
            <a:r>
              <a:rPr lang="en-US" sz="3000" dirty="0"/>
              <a:t> for some integer</a:t>
            </a:r>
            <a:r>
              <a:rPr lang="en-US" sz="3000" i="1" dirty="0"/>
              <a:t> j </a:t>
            </a:r>
            <a:r>
              <a:rPr lang="en-US" sz="3000" dirty="0"/>
              <a:t>and </a:t>
            </a:r>
            <a:r>
              <a:rPr lang="en-US" sz="3000" i="1" dirty="0"/>
              <a:t>b = r</a:t>
            </a:r>
            <a:r>
              <a:rPr lang="en-US" sz="3000" i="1" baseline="-25000" dirty="0"/>
              <a:t>b</a:t>
            </a:r>
            <a:r>
              <a:rPr lang="en-US" sz="3000" i="1" dirty="0"/>
              <a:t> + kn </a:t>
            </a:r>
            <a:r>
              <a:rPr lang="en-US" sz="3000" dirty="0"/>
              <a:t>for some integer </a:t>
            </a:r>
            <a:r>
              <a:rPr lang="en-US" sz="3000" i="1" dirty="0"/>
              <a:t>k</a:t>
            </a:r>
            <a:r>
              <a:rPr lang="en-US" sz="3000" dirty="0"/>
              <a:t>. </a:t>
            </a:r>
          </a:p>
          <a:p>
            <a:pPr lvl="1">
              <a:lnSpc>
                <a:spcPct val="120000"/>
              </a:lnSpc>
              <a:defRPr/>
            </a:pPr>
            <a:r>
              <a:rPr lang="en-US" sz="3000" dirty="0"/>
              <a:t>Then:</a:t>
            </a:r>
          </a:p>
          <a:p>
            <a:pPr>
              <a:spcBef>
                <a:spcPts val="1211"/>
              </a:spcBef>
              <a:defRPr/>
            </a:pPr>
            <a:r>
              <a:rPr lang="en-US" dirty="0" smtClean="0"/>
              <a:t>		(a + b) mod n = (ra + jn + rb + kn) mod n</a:t>
            </a:r>
          </a:p>
          <a:p>
            <a:pPr>
              <a:spcBef>
                <a:spcPts val="1211"/>
              </a:spcBef>
              <a:defRPr/>
            </a:pPr>
            <a:r>
              <a:rPr lang="en-US" dirty="0" smtClean="0"/>
              <a:t>			        = (ra + rb + (k + j)n) mod n</a:t>
            </a:r>
          </a:p>
          <a:p>
            <a:pPr>
              <a:spcBef>
                <a:spcPts val="1211"/>
              </a:spcBef>
              <a:defRPr/>
            </a:pPr>
            <a:r>
              <a:rPr lang="en-US" dirty="0" smtClean="0"/>
              <a:t>			        = (ra + rb) mod n</a:t>
            </a:r>
          </a:p>
          <a:p>
            <a:pPr>
              <a:spcBef>
                <a:spcPts val="1211"/>
              </a:spcBef>
              <a:defRPr/>
            </a:pPr>
            <a:r>
              <a:rPr lang="en-US" dirty="0" smtClean="0"/>
              <a:t>			        = [(a mod n) + (b mod n)] mod n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5B2419-3275-C04F-8FDC-CEB8F0A9BFC5}" type="slidenum">
              <a:rPr lang="en-AU" smtClean="0">
                <a:latin typeface="Arial" pitchFamily="-84" charset="0"/>
              </a:rPr>
              <a:pPr/>
              <a:t>22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remaining properties are proven as easily. Here are examples of the three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Properties.</a:t>
            </a: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165EDC-6161-8D44-86F9-56C4889C6689}" type="slidenum">
              <a:rPr lang="en-AU" smtClean="0">
                <a:latin typeface="Arial" pitchFamily="-84" charset="0"/>
              </a:rPr>
              <a:pPr/>
              <a:t>24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Table 4.2 provides an illustration of modular addition and multiplication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modulo 8. Looking at addition, the results are straightforward, and there is a regular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pattern to the matrix. Both matrices are symmetric about the main diagonal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conformance to the commutative property of addition and multiplication. </a:t>
            </a:r>
            <a:endParaRPr lang="en-AU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812EAA-F774-4A4F-8A80-46A3893DE848}" type="slidenum">
              <a:rPr lang="en-AU" smtClean="0">
                <a:latin typeface="Arial" pitchFamily="-84" charset="0"/>
              </a:rPr>
              <a:pPr/>
              <a:t>25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Similarly, the entries in the multiplication table are straightforward. In ordinary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arithmetic, there is a multiplicative inverse, or reciprocal, to each integer. In modular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arithmetic mod 8, the multiplicative inverse of x  is the integer y  such that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(x * y ) mod 8 =  1 mod 8. Now, to find the multiplicative inverse of an integer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from the multiplication table, scan across the matrix in the row for that integer to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find the value 1; the integer at the top of that column is the multiplicative inverse;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thus, (3 *  3) mod 8 =  1. Note that not all integers mod 8 have a multiplicative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inverse; more about that later.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1755E3-5E80-4046-B358-B8EC7915C077}" type="slidenum">
              <a:rPr lang="en-AU" smtClean="0">
                <a:latin typeface="Arial" pitchFamily="-84" charset="0"/>
              </a:rPr>
              <a:pPr/>
              <a:t>26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As in ordinary addition, there is an additive inverse, or negative, to each integer 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modular arithmetic. In this case, the negative of an integer x  is the integer y  such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(x + y ) mod 8 =  0. To find the additive inverse of an integer in the left-hand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column, scan across the corresponding row of the matrix to find the value 0;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integer at the top of that column is the additive inverse; thus, (2 +  6) mod 8 =  0.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B5FE4E-337E-8542-8758-D390F14993B4}" type="slidenum">
              <a:rPr lang="en-AU" smtClean="0">
                <a:latin typeface="Arial" pitchFamily="-84" charset="0"/>
              </a:rPr>
              <a:pPr/>
              <a:t>27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If we perform modular arithmetic within Z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the properties shown in Table 4.3 hold for integers in Z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We show in the next section that this implies that Z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a commutative ring with a multiplicative identity element. Note that unlike ordinary arithmetic, the following statement is true only with the attached condition:</a:t>
            </a:r>
          </a:p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 if (a x b) = (a x c) (mod n) then b = c (mod n)    if a is relatively prime to n</a:t>
            </a:r>
          </a:p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general, an integer has a multiplicative inverse in Z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if that integer is relatively prime to n. Table 4.2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text shows that the integers 1, 3, 5, and 7 have a multiplicative inverse in Z 8, but 2, 4, and 6 do not. </a:t>
            </a: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666F9F-413C-7D4C-A627-B4D99621AA15}" type="slidenum">
              <a:rPr lang="en-AU" smtClean="0">
                <a:latin typeface="Arial" pitchFamily="-84" charset="0"/>
              </a:rPr>
              <a:pPr/>
              <a:t>28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Example of the Extended Euclidean Algorithm.  (See pages 97 – 99 in textbook for details.)</a:t>
            </a: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4220B7-2036-6648-AF1F-6DFB8489BAC3}" type="slidenum">
              <a:rPr lang="en-AU" smtClean="0">
                <a:latin typeface="Arial" pitchFamily="-84" charset="0"/>
              </a:rPr>
              <a:pPr/>
              <a:t>29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20D566-8A83-4341-A217-7A6B709D4AE3}" type="slidenum">
              <a:rPr lang="en-AU">
                <a:latin typeface="Arial" pitchFamily="-84" charset="0"/>
              </a:rPr>
              <a:pPr/>
              <a:t>30</a:t>
            </a:fld>
            <a:endParaRPr lang="en-AU">
              <a:latin typeface="Arial" pitchFamily="-8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 integer p &gt; 1 is a prime number if and only if its only divisors are ±1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± p . Prime numbers  play a critical role in number theory and in the techniques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discussed in this chapter.</a:t>
            </a:r>
          </a:p>
          <a:p>
            <a:endParaRPr lang="en-US" sz="3600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Any integer a &gt; 1 can be factored in a unique way as</a:t>
            </a:r>
          </a:p>
          <a:p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		a = </a:t>
            </a:r>
            <a:r>
              <a:rPr lang="en-US" sz="3600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p1</a:t>
            </a:r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sz="3600" baseline="30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a1</a:t>
            </a:r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* p</a:t>
            </a:r>
            <a:r>
              <a:rPr lang="en-US" sz="3600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sz="3600" baseline="30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a2</a:t>
            </a:r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* . . . * p</a:t>
            </a:r>
            <a:r>
              <a:rPr lang="en-US" sz="3600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p1</a:t>
            </a:r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sz="3600" baseline="30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a1</a:t>
            </a:r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</a:p>
          <a:p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where p</a:t>
            </a:r>
            <a:r>
              <a:rPr lang="en-US" sz="3600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&lt; p</a:t>
            </a:r>
            <a:r>
              <a:rPr lang="en-US" sz="3600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&lt; . . .  &lt; p</a:t>
            </a:r>
            <a:r>
              <a:rPr lang="en-US" sz="3600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are prime numbers and where each a</a:t>
            </a:r>
            <a:r>
              <a:rPr lang="en-US" sz="3600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</a:t>
            </a:r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a positive integer</a:t>
            </a:r>
          </a:p>
          <a:p>
            <a:r>
              <a:rPr lang="en-US" sz="36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is known as the fundamental theorem of arithmetic</a:t>
            </a:r>
            <a:endParaRPr lang="en-AU" sz="3600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Table 8.1 shows the primes less than 2000. Note the way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primes are distributed. In particular, note the number of primes in each range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100 numbers.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F2214A-C138-A847-BDBA-33769045B979}" type="slidenum">
              <a:rPr lang="en-AU" smtClean="0">
                <a:latin typeface="Arial" pitchFamily="-84" charset="0"/>
              </a:rPr>
              <a:pPr/>
              <a:t>31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21AA34-FB19-C14C-BCB4-272FDD16AD93}" type="slidenum">
              <a:rPr lang="en-AU">
                <a:latin typeface="Arial" pitchFamily="-84" charset="0"/>
              </a:rPr>
              <a:pPr/>
              <a:t>32</a:t>
            </a:fld>
            <a:endParaRPr lang="en-AU">
              <a:latin typeface="Arial" pitchFamily="-8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Two theorems that play important roles in public-key cryptography are Fermat’s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theorem and Euler’s theorem.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Fermat’s theorem states the following: If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prime and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a positive integer not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divisible by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then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baseline="30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p-1 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= 1 (mod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 alternative form of Fermat’s theorem is also useful: If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prime and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a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positive integer, then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	a</a:t>
            </a:r>
            <a:r>
              <a:rPr lang="en-US" baseline="30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(mod)</a:t>
            </a:r>
            <a:endParaRPr lang="en-US" smtClean="0">
              <a:solidFill>
                <a:srgbClr val="000000"/>
              </a:solidFill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3BE424-E5B0-6142-BFBD-BBEB599409A8}" type="slidenum">
              <a:rPr lang="en-AU">
                <a:latin typeface="Arial" pitchFamily="-84" charset="0"/>
              </a:rPr>
              <a:pPr/>
              <a:t>36</a:t>
            </a:fld>
            <a:endParaRPr lang="en-AU">
              <a:latin typeface="Arial" pitchFamily="-8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Before presenting Euler’s theorem, we need to introduce an important quantity in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number theory, referred to as Euler’s totient function, written </a:t>
            </a:r>
            <a:r>
              <a:rPr lang="en-AU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 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(n ), and defined as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number of positive integers less than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and relatively prime to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By convention,</a:t>
            </a:r>
          </a:p>
          <a:p>
            <a:r>
              <a:rPr lang="en-AU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(1) =  1.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Table 8.2 lists the first 30 values of </a:t>
            </a:r>
            <a:r>
              <a:rPr lang="en-AU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 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(n ). The value </a:t>
            </a:r>
            <a:r>
              <a:rPr lang="en-AU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(1) is without meaning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but is defined to have the value 1.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It should be clear that, for a prime number p ,</a:t>
            </a:r>
          </a:p>
          <a:p>
            <a:r>
              <a:rPr lang="en-AU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(p ) = p -  1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C152BB-3289-B54C-B77C-5536B430B290}" type="slidenum">
              <a:rPr lang="en-AU">
                <a:latin typeface="Arial" pitchFamily="-84" charset="0"/>
              </a:rPr>
              <a:pPr/>
              <a:t>37</a:t>
            </a:fld>
            <a:endParaRPr lang="en-AU">
              <a:latin typeface="Arial" pitchFamily="-8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Euler’s theorem states that for every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that are relatively prime: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AU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(n)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=  1(mod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As is the case for Fermat’s theorem, an alternative form of the theorem is also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Useful: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AU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(n)+1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= 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027762-5641-D348-AF5A-03C56F213ADC}" type="slidenum">
              <a:rPr lang="en-AU">
                <a:latin typeface="Arial" pitchFamily="-84" charset="0"/>
              </a:rPr>
              <a:pPr/>
              <a:t>38</a:t>
            </a:fld>
            <a:endParaRPr lang="en-AU">
              <a:latin typeface="Arial" pitchFamily="-8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many cryptographic algorithms, it is necessary to select one or more very large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prime numbers at random. Thus, we are faced with the task of determining whether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given large number is prime. There is no simple yet efficient means of accomplishing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task.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this section, we present one attractive and popular algorithm. You may be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surprised to learn that this algorithm yields a number that is not necessarily a prime.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However, the algorithm can yield a number that is almost certainly a prime. This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will be explained presently. We also make reference to a deterministic algorithm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finding primes. The section closes with a discussion concerning the distribution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primes.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algorithm due to Miller and Rabin [MILL75, RABI80] is typically used to test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large number for primality.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procedure TEST takes a candidate integer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as input and returns the result </a:t>
            </a:r>
            <a:r>
              <a:rPr lang="en-US" b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composite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if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definitely not a prime, and the result </a:t>
            </a:r>
            <a:r>
              <a:rPr lang="en-US" b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inconclusive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if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may or may not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 a prime.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How can we use the Miller-Rabin algorithm to determine with a high degree of confidence whether or not an integer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prime? It can be shown [KNUT98] that given an odd number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that is not prime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a randomly chosen integer,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 &lt; a &lt; n -  1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the probability that TEST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will return </a:t>
            </a:r>
            <a:r>
              <a:rPr lang="en-US" b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inconclusive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(i.e., fail to detect that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not prime) is less than 1/4.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Thus, if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 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different values of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are chosen, the probability that all of them will pass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TEST (return inconclusive) for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less than (1/4)</a:t>
            </a:r>
            <a:r>
              <a:rPr lang="en-US" baseline="30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For example, for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 10, the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probability that a nonprime number will pass all ten tests is less than 10</a:t>
            </a:r>
            <a:r>
              <a:rPr lang="en-US" baseline="3000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-6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Thus,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a sufficiently large value of t, we can be confident that n is prime if Miller’s test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always returns </a:t>
            </a:r>
            <a:r>
              <a:rPr lang="en-US" b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inconclusive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gives us a basis for determining whether an odd integer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prime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with a reasonable degree of confidence. The procedure is as follows: Repeatedly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invoke TEST (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using randomly chosen values for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If, at any point, TEST returns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composite , then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determined to be nonprime. If TEST continues to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return </a:t>
            </a:r>
            <a:r>
              <a:rPr lang="en-US" b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inconclusive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for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 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tests, then for a sufficiently large value of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 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assume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</a:t>
            </a:r>
            <a:r>
              <a:rPr lang="en-US" i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prime.</a:t>
            </a:r>
            <a:endParaRPr lang="en-US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Prior to 2002, there was no known method of efficiently proving the primality of very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large numbers. All of the algorithms in use, including the most popular (Miller-Rabin),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produced a probabilistic result. In 2002 (announced in 2002, published in 2004),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Agrawal, Kayal, and Saxena [AGRA04] developed a relatively simple deterministic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algorithm that efficiently determines whether a given large number is a prime. The algorithm,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known as the AKS algorithm, does not appear to be as efficient as the Miller-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Rabin algorithm. Thus far, it has not supplanted this older, probabilistic technique.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82B013-62D1-194A-B230-76FBB108D621}" type="slidenum">
              <a:rPr lang="en-AU" smtClean="0">
                <a:latin typeface="Arial" pitchFamily="-84" charset="0"/>
              </a:rPr>
              <a:pPr/>
              <a:t>40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893D91-8EA2-3449-B649-5F467F3288A1}" type="slidenum">
              <a:rPr lang="en-AU">
                <a:latin typeface="Arial" pitchFamily="-84" charset="0"/>
              </a:rPr>
              <a:pPr/>
              <a:t>41</a:t>
            </a:fld>
            <a:endParaRPr lang="en-AU">
              <a:latin typeface="Arial" pitchFamily="-8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One of the most useful results of number theory is the Chinese remainder theorem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(CRT).  In essence, the CRT says it is possible to reconstruct integers in a certain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range from their residues modulo a set of pairwise relatively prime moduli.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CRT can be stated in several ways. We present here a formulation that is most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useful from the point of view of this text. An alternative formulation is explored 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Problem 8.17.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One of the useful features of the Chinese remainder theorem is that it provides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way to manipulate (potentially very large) numbers mod M  in terms of tuples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smaller numbers. This can be useful when M  is 150 digits or more. However, note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it is necessary to know beforehand the factorization of M .</a:t>
            </a:r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42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337026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Table 8.3 shows all the powers of a , modulo 19 for all positive </a:t>
            </a:r>
            <a:r>
              <a:rPr lang="en-AU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&lt;19.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length of the sequence for each base value is indicated by shading. Note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following: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1.  All sequences end in 1. This is consistent with the reasoning of the preceding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few paragraphs.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2.  The length of a sequence divides </a:t>
            </a:r>
            <a:r>
              <a:rPr lang="en-AU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(19) =  18. That is, an integral number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sequences occur in each row of the table.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3.  Some of the sequences are of length 18. In this case, it is said that the base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integer a  generates (via powers) the set of nonzero integers modulo 19. Each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such integer is called a primitive root of the modulus 19.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More generally, we can say that the highest possible exponent to which a number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can belong (mod n ) is </a:t>
            </a:r>
            <a:r>
              <a:rPr lang="en-AU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(n ). If a number is of this order, it is referred to as 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primitive root  of n . The importance of this notion is that if a  is a primitive root of n 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then its powers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, a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,. . . , a</a:t>
            </a:r>
            <a:r>
              <a:rPr lang="en-AU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ø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(n)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are distinct (mod n ) and are all relatively prime to n . In particular, for a prime number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 , if a  is a primitive root of p , then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, a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,. . .  , a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p-1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are distinct (mod p ). For the prime number 19, its primitive roots are 2, 3, 10, 13, 14,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15.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Not all integers have primitive roots. In fact, the only integers with primitive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roots are those of the form 2, 4, p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and 2p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where p  is any odd prime and a  is 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positive integer. The proof is not simple but can be found in many number theory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books, including [ORE76].</a:t>
            </a: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C975D5-504D-EE48-B465-2A5BB37414DA}" type="slidenum">
              <a:rPr lang="en-AU" smtClean="0">
                <a:latin typeface="Arial" pitchFamily="-84" charset="0"/>
              </a:rPr>
              <a:pPr/>
              <a:t>46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Table 8.4, which is directly derived from Table 8.3, shows the sets of discrete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logarithms that can be defined for modulus 19.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D45CBD-3D6A-9E4D-BDA8-665711DF5647}" type="slidenum">
              <a:rPr lang="en-AU" smtClean="0">
                <a:latin typeface="Arial" pitchFamily="-84" charset="0"/>
              </a:rPr>
              <a:pPr/>
              <a:t>47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5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54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61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90178" name="Rectangle 66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017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6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EF581-0E8B-1644-973A-58ABAC7E08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B294C-D295-9A41-A644-AA4385FA01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B9FC7-6686-5347-9CB0-1546F2BC5E3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5C8B5-2ACE-8D46-AC11-C6D02B882DB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E763C-3782-2941-8360-E3F03AEA7D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40AA3-233B-FB4A-9F8F-C96C5A6CF6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D372B-D420-C54D-8767-D73AC5A101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642DF-26EE-714A-A24A-028B6D1762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7D039-DE9B-EB48-B3A9-EAE8E52898D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571F1-141D-9947-B89B-C71570E7C7A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9F3187-063D-B44F-AB3F-7977ABF9E0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00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4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1175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11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4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8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1240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8666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8833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86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801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005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4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11754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110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49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83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1240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8666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88331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86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801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89091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5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89094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5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6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7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8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9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00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01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9102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3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4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5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6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7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8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9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0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1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2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3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4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5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6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7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8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9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0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1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2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3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4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5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6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7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8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9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0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1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2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3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4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5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6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7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8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9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40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41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54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89143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4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5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6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7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8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61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89150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51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52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53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89154" name="Rectangle 66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9155" name="Rectangle 67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156" name="Rectangle 68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157" name="Rectangle 69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6D4DF42E-3762-4049-AE2C-F3CF68EA27A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9158" name="Rectangle 70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57200" y="1676400"/>
            <a:ext cx="82296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5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84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84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84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pic>
        <p:nvPicPr>
          <p:cNvPr id="1028" name="Picture 6" descr="UWindsor powerpoint bottom1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0775"/>
            <a:ext cx="91440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UW_Logo_1L_horz.jp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269038"/>
            <a:ext cx="2301875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</a:p>
        </p:txBody>
      </p:sp>
      <p:pic>
        <p:nvPicPr>
          <p:cNvPr id="1028" name="Picture 6" descr="UWindsor powerpoint bottom1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65305"/>
            <a:ext cx="9144000" cy="69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1" y="6216757"/>
            <a:ext cx="655494" cy="39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5536" y="6488668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tx1"/>
                </a:solidFill>
                <a:latin typeface="Arial Narrow" panose="020B0606020202030204" pitchFamily="34" charset="0"/>
                <a:ea typeface="Linux Biolinum" panose="02000503000000000000" pitchFamily="2" charset="0"/>
                <a:cs typeface="Linux Biolinum" panose="02000503000000000000" pitchFamily="2" charset="0"/>
              </a:rPr>
              <a:t>Vietnam</a:t>
            </a:r>
            <a:r>
              <a:rPr lang="en-US" sz="9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inux Biolinum" panose="02000503000000000000" pitchFamily="2" charset="0"/>
                <a:cs typeface="Linux Biolinum" panose="02000503000000000000" pitchFamily="2" charset="0"/>
              </a:rPr>
              <a:t> – Korea University </a:t>
            </a:r>
          </a:p>
          <a:p>
            <a:r>
              <a:rPr lang="en-US" sz="9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inux Biolinum" panose="02000503000000000000" pitchFamily="2" charset="0"/>
                <a:cs typeface="Linux Biolinum" panose="02000503000000000000" pitchFamily="2" charset="0"/>
              </a:rPr>
              <a:t>of Information and Communication Technology</a:t>
            </a:r>
            <a:endParaRPr lang="en-US" sz="900" dirty="0">
              <a:solidFill>
                <a:schemeClr val="tx1"/>
              </a:solidFill>
              <a:latin typeface="Arial Narrow" panose="020B0606020202030204" pitchFamily="34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Cryptography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pitchFamily="-84" charset="2"/>
              <a:buNone/>
            </a:pPr>
            <a:r>
              <a:rPr lang="en-US" dirty="0" smtClean="0"/>
              <a:t>Dr. Tran The Son</a:t>
            </a:r>
          </a:p>
          <a:p>
            <a:pPr>
              <a:buFont typeface="Wingdings" pitchFamily="-84" charset="2"/>
              <a:buNone/>
            </a:pPr>
            <a:endParaRPr lang="en-US" dirty="0" smtClean="0"/>
          </a:p>
        </p:txBody>
      </p:sp>
      <p:pic>
        <p:nvPicPr>
          <p:cNvPr id="5" name="Picture Placeholder 4" descr="crypto.jpg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>
          <a:xfrm>
            <a:off x="3581400" y="1447800"/>
            <a:ext cx="2109547" cy="1209027"/>
          </a:xfrm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Chapter 2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31747" name="Subtitle 13"/>
          <p:cNvSpPr>
            <a:spLocks noGrp="1"/>
          </p:cNvSpPr>
          <p:nvPr>
            <p:ph type="subTitle" idx="1"/>
          </p:nvPr>
        </p:nvSpPr>
        <p:spPr>
          <a:xfrm>
            <a:off x="1524000" y="5203825"/>
            <a:ext cx="6096000" cy="852488"/>
          </a:xfrm>
        </p:spPr>
        <p:txBody>
          <a:bodyPr>
            <a:normAutofit fontScale="92500"/>
          </a:bodyPr>
          <a:lstStyle/>
          <a:p>
            <a:r>
              <a:rPr lang="en-US" sz="3600" dirty="0" smtClean="0"/>
              <a:t>Introduction to Number Theory</a:t>
            </a:r>
          </a:p>
        </p:txBody>
      </p:sp>
      <p:pic>
        <p:nvPicPr>
          <p:cNvPr id="4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14478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2: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Divisibility </a:t>
            </a:r>
            <a:r>
              <a:rPr lang="en-US" sz="2800" dirty="0"/>
              <a:t>and The Division </a:t>
            </a:r>
            <a:r>
              <a:rPr lang="en-US" sz="2800" dirty="0" smtClean="0"/>
              <a:t>Algorithm Divisibility</a:t>
            </a:r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Euclidean Algorithm</a:t>
            </a:r>
          </a:p>
          <a:p>
            <a:r>
              <a:rPr lang="en-US" sz="2800" dirty="0" smtClean="0"/>
              <a:t>Modular </a:t>
            </a:r>
            <a:r>
              <a:rPr lang="en-US" sz="2800" dirty="0"/>
              <a:t>Arithmetic</a:t>
            </a:r>
          </a:p>
          <a:p>
            <a:r>
              <a:rPr lang="en-US" sz="2800" dirty="0" smtClean="0"/>
              <a:t>Prime </a:t>
            </a:r>
            <a:r>
              <a:rPr lang="en-US" sz="2800" dirty="0"/>
              <a:t>Numbers</a:t>
            </a:r>
          </a:p>
          <a:p>
            <a:r>
              <a:rPr lang="en-US" sz="2800" dirty="0" smtClean="0"/>
              <a:t>Fermat’s </a:t>
            </a:r>
            <a:r>
              <a:rPr lang="en-US" sz="2800" dirty="0"/>
              <a:t>and Euler’s Theorems</a:t>
            </a:r>
          </a:p>
          <a:p>
            <a:r>
              <a:rPr lang="en-US" sz="2800" dirty="0" smtClean="0"/>
              <a:t>Testing </a:t>
            </a:r>
            <a:r>
              <a:rPr lang="en-US" sz="2800" dirty="0"/>
              <a:t>for Primality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Chinese Remainder Theorem</a:t>
            </a:r>
          </a:p>
          <a:p>
            <a:r>
              <a:rPr lang="en-US" sz="2800" dirty="0" smtClean="0"/>
              <a:t>Discrete Logarithms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596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https://cnx.org/resources/ddfb2a5c27fb3235041a57b02e2d56f0823997fb/MG10C3_0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916832"/>
            <a:ext cx="5130492" cy="354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34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Divisibility</a:t>
            </a:r>
          </a:p>
        </p:txBody>
      </p:sp>
      <p:sp>
        <p:nvSpPr>
          <p:cNvPr id="35843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We say that a nonzero </a:t>
            </a:r>
            <a:r>
              <a:rPr lang="en-US" sz="2800" i="1" dirty="0" smtClean="0"/>
              <a:t>b </a:t>
            </a:r>
            <a:r>
              <a:rPr lang="en-US" sz="2800" b="1" dirty="0" smtClean="0"/>
              <a:t>divides </a:t>
            </a:r>
            <a:r>
              <a:rPr lang="en-US" sz="2800" i="1" dirty="0" smtClean="0"/>
              <a:t>a </a:t>
            </a:r>
            <a:r>
              <a:rPr lang="en-US" sz="2800" dirty="0" smtClean="0"/>
              <a:t>if </a:t>
            </a:r>
            <a:r>
              <a:rPr lang="en-US" sz="2800" i="1" dirty="0" smtClean="0"/>
              <a:t>a = </a:t>
            </a:r>
            <a:r>
              <a:rPr lang="en-US" sz="2800" i="1" dirty="0" err="1" smtClean="0"/>
              <a:t>mb</a:t>
            </a:r>
            <a:r>
              <a:rPr lang="en-US" sz="2800" i="1" dirty="0" smtClean="0"/>
              <a:t> </a:t>
            </a:r>
            <a:r>
              <a:rPr lang="en-US" sz="2800" dirty="0" smtClean="0"/>
              <a:t>for some </a:t>
            </a:r>
            <a:r>
              <a:rPr lang="en-US" sz="2800" i="1" dirty="0" smtClean="0"/>
              <a:t>m,</a:t>
            </a:r>
            <a:r>
              <a:rPr lang="en-US" sz="2800" dirty="0" smtClean="0"/>
              <a:t> where </a:t>
            </a:r>
            <a:r>
              <a:rPr lang="en-US" sz="2800" i="1" dirty="0" smtClean="0"/>
              <a:t>a, b, </a:t>
            </a:r>
            <a:r>
              <a:rPr lang="en-US" sz="2800" dirty="0" smtClean="0"/>
              <a:t>and </a:t>
            </a:r>
            <a:r>
              <a:rPr lang="en-US" sz="2800" i="1" dirty="0" smtClean="0"/>
              <a:t>m </a:t>
            </a:r>
            <a:r>
              <a:rPr lang="en-US" sz="2800" dirty="0" smtClean="0"/>
              <a:t>are </a:t>
            </a:r>
            <a:r>
              <a:rPr lang="en-US" sz="2800" u="sng" dirty="0" smtClean="0"/>
              <a:t>integers</a:t>
            </a:r>
          </a:p>
          <a:p>
            <a:r>
              <a:rPr lang="en-US" sz="2800" i="1" dirty="0" smtClean="0"/>
              <a:t>b </a:t>
            </a:r>
            <a:r>
              <a:rPr lang="en-US" sz="2800" dirty="0" smtClean="0"/>
              <a:t>divides </a:t>
            </a:r>
            <a:r>
              <a:rPr lang="en-US" sz="2800" i="1" dirty="0" smtClean="0"/>
              <a:t>a </a:t>
            </a:r>
            <a:r>
              <a:rPr lang="en-US" sz="2800" dirty="0" smtClean="0"/>
              <a:t>if there is no remainder on division</a:t>
            </a:r>
          </a:p>
          <a:p>
            <a:r>
              <a:rPr lang="en-US" sz="2800" dirty="0" smtClean="0"/>
              <a:t>The notation </a:t>
            </a:r>
            <a:r>
              <a:rPr lang="en-US" sz="2800" i="1" dirty="0" smtClean="0"/>
              <a:t>b | a </a:t>
            </a:r>
            <a:r>
              <a:rPr lang="en-US" sz="2800" dirty="0" smtClean="0"/>
              <a:t>is commonly used to mean </a:t>
            </a:r>
            <a:r>
              <a:rPr lang="en-US" sz="2800" i="1" dirty="0" smtClean="0"/>
              <a:t>b </a:t>
            </a:r>
            <a:r>
              <a:rPr lang="en-US" sz="2800" dirty="0" smtClean="0"/>
              <a:t>divides </a:t>
            </a:r>
            <a:r>
              <a:rPr lang="en-US" sz="2800" i="1" dirty="0" smtClean="0"/>
              <a:t>a</a:t>
            </a:r>
          </a:p>
          <a:p>
            <a:r>
              <a:rPr lang="en-US" sz="2800" dirty="0" smtClean="0"/>
              <a:t>If </a:t>
            </a:r>
            <a:r>
              <a:rPr lang="en-US" sz="2800" i="1" dirty="0" smtClean="0"/>
              <a:t>b | a </a:t>
            </a:r>
            <a:r>
              <a:rPr lang="en-US" sz="2800" dirty="0" smtClean="0"/>
              <a:t>we say that </a:t>
            </a:r>
            <a:r>
              <a:rPr lang="en-US" sz="2800" i="1" dirty="0" smtClean="0"/>
              <a:t>b </a:t>
            </a:r>
            <a:r>
              <a:rPr lang="en-US" sz="2800" dirty="0" smtClean="0"/>
              <a:t>is a </a:t>
            </a:r>
            <a:r>
              <a:rPr lang="en-US" sz="2800" b="1" dirty="0" smtClean="0"/>
              <a:t>divisor </a:t>
            </a:r>
            <a:r>
              <a:rPr lang="en-US" sz="2800" dirty="0" smtClean="0"/>
              <a:t>of </a:t>
            </a:r>
            <a:r>
              <a:rPr lang="en-US" sz="2800" i="1" dirty="0" smtClean="0"/>
              <a:t>a</a:t>
            </a:r>
            <a:endParaRPr lang="en-US" sz="28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217290" y="4869160"/>
            <a:ext cx="6705600" cy="9842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latin typeface="Arial" pitchFamily="-1" charset="0"/>
              </a:rPr>
              <a:t> </a:t>
            </a:r>
            <a:r>
              <a:rPr lang="en-US" sz="2000" dirty="0">
                <a:latin typeface="+mn-lt"/>
              </a:rPr>
              <a:t>The positive divisors of 24 are 1, 2, 3, 4, 6, 8, 12, and 24</a:t>
            </a:r>
          </a:p>
          <a:p>
            <a:pPr algn="ctr">
              <a:defRPr/>
            </a:pPr>
            <a:r>
              <a:rPr lang="en-US" sz="2000" dirty="0">
                <a:latin typeface="+mn-lt"/>
              </a:rPr>
              <a:t>13 | 182; - 5 | 30; 17 | 289; - 3 | 33; 17 | 0</a:t>
            </a:r>
          </a:p>
          <a:p>
            <a:pPr algn="ctr">
              <a:defRPr/>
            </a:pPr>
            <a:endParaRPr lang="en-US" dirty="0">
              <a:latin typeface="Arial" pitchFamily="-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Divisibility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56247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800" dirty="0" smtClean="0">
                <a:ea typeface="+mn-ea"/>
                <a:cs typeface="+mn-cs"/>
              </a:rPr>
              <a:t> If </a:t>
            </a:r>
            <a:r>
              <a:rPr lang="en-US" sz="2800" i="1" dirty="0" smtClean="0">
                <a:ea typeface="+mn-ea"/>
                <a:cs typeface="+mn-cs"/>
              </a:rPr>
              <a:t>a </a:t>
            </a:r>
            <a:r>
              <a:rPr lang="en-US" sz="2800" dirty="0" smtClean="0">
                <a:ea typeface="+mn-ea"/>
                <a:cs typeface="+mn-cs"/>
              </a:rPr>
              <a:t>| 1, then </a:t>
            </a:r>
            <a:r>
              <a:rPr lang="en-US" sz="2800" i="1" dirty="0" smtClean="0">
                <a:ea typeface="+mn-ea"/>
                <a:cs typeface="+mn-cs"/>
              </a:rPr>
              <a:t>a</a:t>
            </a:r>
            <a:r>
              <a:rPr lang="en-US" sz="2800" dirty="0" smtClean="0">
                <a:ea typeface="+mn-ea"/>
                <a:cs typeface="+mn-cs"/>
              </a:rPr>
              <a:t> = ±1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800" dirty="0" smtClean="0">
                <a:ea typeface="+mn-ea"/>
                <a:cs typeface="+mn-cs"/>
              </a:rPr>
              <a:t> If </a:t>
            </a:r>
            <a:r>
              <a:rPr lang="en-US" sz="2800" i="1" dirty="0" smtClean="0">
                <a:ea typeface="+mn-ea"/>
                <a:cs typeface="+mn-cs"/>
              </a:rPr>
              <a:t>a</a:t>
            </a:r>
            <a:r>
              <a:rPr lang="en-US" sz="2800" dirty="0" smtClean="0">
                <a:ea typeface="+mn-ea"/>
                <a:cs typeface="+mn-cs"/>
              </a:rPr>
              <a:t> | </a:t>
            </a:r>
            <a:r>
              <a:rPr lang="en-US" sz="2800" i="1" dirty="0" smtClean="0">
                <a:ea typeface="+mn-ea"/>
                <a:cs typeface="+mn-cs"/>
              </a:rPr>
              <a:t>b</a:t>
            </a:r>
            <a:r>
              <a:rPr lang="en-US" sz="2800" dirty="0" smtClean="0">
                <a:ea typeface="+mn-ea"/>
                <a:cs typeface="+mn-cs"/>
              </a:rPr>
              <a:t> and </a:t>
            </a:r>
            <a:r>
              <a:rPr lang="en-US" sz="2800" i="1" dirty="0" smtClean="0">
                <a:ea typeface="+mn-ea"/>
                <a:cs typeface="+mn-cs"/>
              </a:rPr>
              <a:t>b</a:t>
            </a:r>
            <a:r>
              <a:rPr lang="en-US" sz="2800" dirty="0" smtClean="0">
                <a:ea typeface="+mn-ea"/>
                <a:cs typeface="+mn-cs"/>
              </a:rPr>
              <a:t> | </a:t>
            </a:r>
            <a:r>
              <a:rPr lang="en-US" sz="2800" i="1" dirty="0" smtClean="0">
                <a:ea typeface="+mn-ea"/>
                <a:cs typeface="+mn-cs"/>
              </a:rPr>
              <a:t>a</a:t>
            </a:r>
            <a:r>
              <a:rPr lang="en-US" sz="2800" dirty="0" smtClean="0">
                <a:ea typeface="+mn-ea"/>
                <a:cs typeface="+mn-cs"/>
              </a:rPr>
              <a:t>, then </a:t>
            </a:r>
            <a:r>
              <a:rPr lang="en-US" sz="2800" i="1" dirty="0" smtClean="0">
                <a:ea typeface="+mn-ea"/>
                <a:cs typeface="+mn-cs"/>
              </a:rPr>
              <a:t>a</a:t>
            </a:r>
            <a:r>
              <a:rPr lang="en-US" sz="2800" dirty="0" smtClean="0">
                <a:ea typeface="+mn-ea"/>
                <a:cs typeface="+mn-cs"/>
              </a:rPr>
              <a:t> = ±</a:t>
            </a:r>
            <a:r>
              <a:rPr lang="en-US" sz="2800" i="1" dirty="0" smtClean="0">
                <a:ea typeface="+mn-ea"/>
                <a:cs typeface="+mn-cs"/>
              </a:rPr>
              <a:t>b</a:t>
            </a:r>
            <a:endParaRPr lang="en-US" sz="2800" dirty="0" smtClean="0"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800" dirty="0" smtClean="0">
                <a:ea typeface="+mn-ea"/>
                <a:cs typeface="+mn-cs"/>
              </a:rPr>
              <a:t> Any </a:t>
            </a:r>
            <a:r>
              <a:rPr lang="en-US" sz="2800" i="1" dirty="0" smtClean="0">
                <a:ea typeface="+mn-ea"/>
                <a:cs typeface="+mn-cs"/>
              </a:rPr>
              <a:t>b</a:t>
            </a:r>
            <a:r>
              <a:rPr lang="en-US" sz="2800" dirty="0" smtClean="0">
                <a:ea typeface="+mn-ea"/>
                <a:cs typeface="+mn-cs"/>
              </a:rPr>
              <a:t> ≠ 0 divides 0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800" dirty="0" smtClean="0">
                <a:ea typeface="+mn-ea"/>
                <a:cs typeface="+mn-cs"/>
              </a:rPr>
              <a:t>If </a:t>
            </a:r>
            <a:r>
              <a:rPr lang="en-US" sz="2800" i="1" dirty="0" smtClean="0">
                <a:ea typeface="+mn-ea"/>
                <a:cs typeface="+mn-cs"/>
              </a:rPr>
              <a:t>a</a:t>
            </a:r>
            <a:r>
              <a:rPr lang="en-US" sz="2800" dirty="0" smtClean="0">
                <a:ea typeface="+mn-ea"/>
                <a:cs typeface="+mn-cs"/>
              </a:rPr>
              <a:t> | </a:t>
            </a:r>
            <a:r>
              <a:rPr lang="en-US" sz="2800" i="1" dirty="0" smtClean="0">
                <a:ea typeface="+mn-ea"/>
                <a:cs typeface="+mn-cs"/>
              </a:rPr>
              <a:t>b</a:t>
            </a:r>
            <a:r>
              <a:rPr lang="en-US" sz="2800" dirty="0" smtClean="0">
                <a:ea typeface="+mn-ea"/>
                <a:cs typeface="+mn-cs"/>
              </a:rPr>
              <a:t> and </a:t>
            </a:r>
            <a:r>
              <a:rPr lang="en-US" sz="2800" i="1" dirty="0" smtClean="0">
                <a:ea typeface="+mn-ea"/>
                <a:cs typeface="+mn-cs"/>
              </a:rPr>
              <a:t>b</a:t>
            </a:r>
            <a:r>
              <a:rPr lang="en-US" sz="2800" dirty="0" smtClean="0">
                <a:ea typeface="+mn-ea"/>
                <a:cs typeface="+mn-cs"/>
              </a:rPr>
              <a:t> | </a:t>
            </a:r>
            <a:r>
              <a:rPr lang="en-US" sz="2800" i="1" dirty="0" smtClean="0">
                <a:ea typeface="+mn-ea"/>
                <a:cs typeface="+mn-cs"/>
              </a:rPr>
              <a:t>c</a:t>
            </a:r>
            <a:r>
              <a:rPr lang="en-US" sz="2800" dirty="0" smtClean="0">
                <a:ea typeface="+mn-ea"/>
                <a:cs typeface="+mn-cs"/>
              </a:rPr>
              <a:t>, then </a:t>
            </a:r>
            <a:r>
              <a:rPr lang="en-US" sz="2800" i="1" dirty="0" smtClean="0">
                <a:ea typeface="+mn-ea"/>
                <a:cs typeface="+mn-cs"/>
              </a:rPr>
              <a:t>a</a:t>
            </a:r>
            <a:r>
              <a:rPr lang="en-US" sz="2800" dirty="0" smtClean="0">
                <a:ea typeface="+mn-ea"/>
                <a:cs typeface="+mn-cs"/>
              </a:rPr>
              <a:t> | </a:t>
            </a:r>
            <a:r>
              <a:rPr lang="en-US" sz="2800" i="1" dirty="0" smtClean="0">
                <a:ea typeface="+mn-ea"/>
                <a:cs typeface="+mn-cs"/>
              </a:rPr>
              <a:t>c</a:t>
            </a:r>
            <a:r>
              <a:rPr lang="en-US" sz="2800" dirty="0" smtClean="0">
                <a:ea typeface="+mn-ea"/>
                <a:cs typeface="+mn-cs"/>
              </a:rPr>
              <a:t>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endParaRPr lang="en-US" sz="2800" dirty="0" smtClean="0"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800" dirty="0" smtClean="0">
                <a:ea typeface="+mn-ea"/>
                <a:cs typeface="+mn-cs"/>
              </a:rPr>
              <a:t>If </a:t>
            </a:r>
            <a:r>
              <a:rPr lang="en-US" sz="2800" i="1" dirty="0" smtClean="0">
                <a:ea typeface="+mn-ea"/>
                <a:cs typeface="+mn-cs"/>
              </a:rPr>
              <a:t>b </a:t>
            </a:r>
            <a:r>
              <a:rPr lang="en-US" sz="2800" dirty="0" smtClean="0">
                <a:ea typeface="+mn-ea"/>
                <a:cs typeface="+mn-cs"/>
              </a:rPr>
              <a:t>| </a:t>
            </a:r>
            <a:r>
              <a:rPr lang="en-US" sz="2800" i="1" dirty="0" smtClean="0">
                <a:ea typeface="+mn-ea"/>
                <a:cs typeface="+mn-cs"/>
              </a:rPr>
              <a:t>g</a:t>
            </a:r>
            <a:r>
              <a:rPr lang="en-US" sz="2800" dirty="0" smtClean="0">
                <a:ea typeface="+mn-ea"/>
                <a:cs typeface="+mn-cs"/>
              </a:rPr>
              <a:t> and </a:t>
            </a:r>
            <a:r>
              <a:rPr lang="en-US" sz="2800" i="1" dirty="0" smtClean="0">
                <a:ea typeface="+mn-ea"/>
                <a:cs typeface="+mn-cs"/>
              </a:rPr>
              <a:t>b </a:t>
            </a:r>
            <a:r>
              <a:rPr lang="en-US" sz="2800" dirty="0" smtClean="0">
                <a:ea typeface="+mn-ea"/>
                <a:cs typeface="+mn-cs"/>
              </a:rPr>
              <a:t>| </a:t>
            </a:r>
            <a:r>
              <a:rPr lang="en-US" sz="2800" i="1" dirty="0" smtClean="0">
                <a:ea typeface="+mn-ea"/>
                <a:cs typeface="+mn-cs"/>
              </a:rPr>
              <a:t>h</a:t>
            </a:r>
            <a:r>
              <a:rPr lang="en-US" sz="2800" dirty="0" smtClean="0">
                <a:ea typeface="+mn-ea"/>
                <a:cs typeface="+mn-cs"/>
              </a:rPr>
              <a:t>, then </a:t>
            </a:r>
            <a:r>
              <a:rPr lang="en-US" sz="2800" i="1" dirty="0" smtClean="0">
                <a:ea typeface="+mn-ea"/>
                <a:cs typeface="+mn-cs"/>
              </a:rPr>
              <a:t>b </a:t>
            </a:r>
            <a:r>
              <a:rPr lang="en-US" sz="2800" dirty="0" smtClean="0">
                <a:ea typeface="+mn-ea"/>
                <a:cs typeface="+mn-cs"/>
              </a:rPr>
              <a:t>| (</a:t>
            </a:r>
            <a:r>
              <a:rPr lang="en-US" sz="2800" i="1" dirty="0" smtClean="0">
                <a:ea typeface="+mn-ea"/>
                <a:cs typeface="+mn-cs"/>
              </a:rPr>
              <a:t>mg</a:t>
            </a:r>
            <a:r>
              <a:rPr lang="en-US" sz="2800" dirty="0" smtClean="0">
                <a:ea typeface="+mn-ea"/>
                <a:cs typeface="+mn-cs"/>
              </a:rPr>
              <a:t> + </a:t>
            </a:r>
            <a:r>
              <a:rPr lang="en-US" sz="2800" i="1" dirty="0" smtClean="0">
                <a:ea typeface="+mn-ea"/>
                <a:cs typeface="+mn-cs"/>
              </a:rPr>
              <a:t>nh</a:t>
            </a:r>
            <a:r>
              <a:rPr lang="en-US" sz="2800" dirty="0" smtClean="0">
                <a:ea typeface="+mn-ea"/>
                <a:cs typeface="+mn-cs"/>
              </a:rPr>
              <a:t>) for arbitrary integers </a:t>
            </a:r>
            <a:r>
              <a:rPr lang="en-US" sz="2800" i="1" dirty="0" smtClean="0">
                <a:ea typeface="+mn-ea"/>
                <a:cs typeface="+mn-cs"/>
              </a:rPr>
              <a:t>m</a:t>
            </a:r>
            <a:r>
              <a:rPr lang="en-US" sz="2800" dirty="0" smtClean="0">
                <a:ea typeface="+mn-ea"/>
                <a:cs typeface="+mn-cs"/>
              </a:rPr>
              <a:t> and </a:t>
            </a:r>
            <a:r>
              <a:rPr lang="en-US" sz="2800" i="1" dirty="0" smtClean="0">
                <a:ea typeface="+mn-ea"/>
                <a:cs typeface="+mn-c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7704" y="3861048"/>
            <a:ext cx="4608512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itchFamily="-1" charset="0"/>
              </a:rPr>
              <a:t> </a:t>
            </a:r>
            <a:r>
              <a:rPr lang="en-US" sz="2400" dirty="0">
                <a:latin typeface="+mn-lt"/>
              </a:rPr>
              <a:t>11 | 66 and 66 | 198 = 11 | 198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Properties of Divisibility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4114800"/>
          </a:xfrm>
        </p:spPr>
        <p:txBody>
          <a:bodyPr/>
          <a:lstStyle/>
          <a:p>
            <a:r>
              <a:rPr lang="en-US" sz="2400" dirty="0" smtClean="0"/>
              <a:t> To see this last point, note that:</a:t>
            </a:r>
          </a:p>
          <a:p>
            <a:pPr lvl="1"/>
            <a:r>
              <a:rPr lang="en-US" sz="2000" dirty="0" smtClean="0"/>
              <a:t>If </a:t>
            </a:r>
            <a:r>
              <a:rPr lang="en-US" sz="2000" i="1" dirty="0" smtClean="0"/>
              <a:t>b |</a:t>
            </a:r>
            <a:r>
              <a:rPr lang="en-US" sz="2000" dirty="0" smtClean="0"/>
              <a:t> </a:t>
            </a:r>
            <a:r>
              <a:rPr lang="en-US" sz="2000" i="1" dirty="0" err="1" smtClean="0"/>
              <a:t>g</a:t>
            </a:r>
            <a:r>
              <a:rPr lang="en-US" sz="2000" dirty="0" smtClean="0"/>
              <a:t> , then </a:t>
            </a:r>
            <a:r>
              <a:rPr lang="en-US" sz="2000" i="1" dirty="0" err="1" smtClean="0"/>
              <a:t>g</a:t>
            </a:r>
            <a:r>
              <a:rPr lang="en-US" sz="2000" dirty="0" smtClean="0"/>
              <a:t>  is of the form </a:t>
            </a:r>
            <a:r>
              <a:rPr lang="en-US" sz="2000" i="1" dirty="0" err="1" smtClean="0"/>
              <a:t>g</a:t>
            </a:r>
            <a:r>
              <a:rPr lang="en-US" sz="2000" i="1" dirty="0" smtClean="0"/>
              <a:t> = b * g</a:t>
            </a:r>
            <a:r>
              <a:rPr lang="en-US" sz="2000" i="1" baseline="-25000" dirty="0" smtClean="0"/>
              <a:t>1</a:t>
            </a:r>
            <a:r>
              <a:rPr lang="en-US" sz="2000" i="1" dirty="0" smtClean="0"/>
              <a:t>  </a:t>
            </a:r>
            <a:r>
              <a:rPr lang="en-US" sz="2000" dirty="0" smtClean="0"/>
              <a:t>for some integer g</a:t>
            </a:r>
            <a:r>
              <a:rPr lang="en-US" sz="2000" i="1" baseline="-25000" dirty="0" smtClean="0"/>
              <a:t>1</a:t>
            </a:r>
            <a:r>
              <a:rPr lang="en-US" sz="2000" dirty="0" smtClean="0"/>
              <a:t> </a:t>
            </a:r>
          </a:p>
          <a:p>
            <a:pPr lvl="1"/>
            <a:r>
              <a:rPr lang="en-US" sz="2000" dirty="0" smtClean="0"/>
              <a:t>If </a:t>
            </a:r>
            <a:r>
              <a:rPr lang="en-US" sz="2000" i="1" dirty="0" smtClean="0"/>
              <a:t>b |</a:t>
            </a:r>
            <a:r>
              <a:rPr lang="en-US" sz="2000" dirty="0" smtClean="0"/>
              <a:t> </a:t>
            </a:r>
            <a:r>
              <a:rPr lang="en-US" sz="2000" i="1" dirty="0" err="1" smtClean="0"/>
              <a:t>h</a:t>
            </a:r>
            <a:r>
              <a:rPr lang="en-US" sz="2000" dirty="0" smtClean="0"/>
              <a:t> , then </a:t>
            </a:r>
            <a:r>
              <a:rPr lang="en-US" sz="2000" i="1" dirty="0" err="1" smtClean="0"/>
              <a:t>h</a:t>
            </a:r>
            <a:r>
              <a:rPr lang="en-US" sz="2000" dirty="0" smtClean="0"/>
              <a:t>  is of the form </a:t>
            </a:r>
            <a:r>
              <a:rPr lang="en-US" sz="2000" i="1" dirty="0" err="1" smtClean="0"/>
              <a:t>h</a:t>
            </a:r>
            <a:r>
              <a:rPr lang="en-US" sz="2000" i="1" dirty="0" smtClean="0"/>
              <a:t> = b * h</a:t>
            </a:r>
            <a:r>
              <a:rPr lang="en-US" sz="2000" i="1" baseline="-25000" dirty="0" smtClean="0"/>
              <a:t>1</a:t>
            </a:r>
            <a:r>
              <a:rPr lang="en-US" sz="2000" i="1" dirty="0" smtClean="0"/>
              <a:t>  </a:t>
            </a:r>
            <a:r>
              <a:rPr lang="en-US" sz="2000" dirty="0" smtClean="0"/>
              <a:t>for some integer </a:t>
            </a:r>
            <a:r>
              <a:rPr lang="en-US" sz="2000" i="1" dirty="0" smtClean="0"/>
              <a:t>h</a:t>
            </a:r>
            <a:r>
              <a:rPr lang="en-US" sz="2000" i="1" baseline="-25000" dirty="0" smtClean="0"/>
              <a:t>1</a:t>
            </a:r>
            <a:r>
              <a:rPr lang="en-US" sz="2000" dirty="0" smtClean="0"/>
              <a:t> 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So:</a:t>
            </a:r>
          </a:p>
          <a:p>
            <a:pPr lvl="1"/>
            <a:r>
              <a:rPr lang="en-US" sz="2000" i="1" dirty="0" smtClean="0"/>
              <a:t>mg + </a:t>
            </a:r>
            <a:r>
              <a:rPr lang="en-US" sz="2000" i="1" dirty="0" err="1" smtClean="0"/>
              <a:t>nh</a:t>
            </a:r>
            <a:r>
              <a:rPr lang="en-US" sz="2000" i="1" dirty="0" smtClean="0"/>
              <a:t> = mbg</a:t>
            </a:r>
            <a:r>
              <a:rPr lang="en-US" sz="2000" i="1" baseline="-25000" dirty="0" smtClean="0"/>
              <a:t>1</a:t>
            </a:r>
            <a:r>
              <a:rPr lang="en-US" sz="2000" i="1" dirty="0" smtClean="0"/>
              <a:t> + nbh</a:t>
            </a:r>
            <a:r>
              <a:rPr lang="en-US" sz="2000" i="1" baseline="-25000" dirty="0" smtClean="0"/>
              <a:t>1</a:t>
            </a:r>
            <a:r>
              <a:rPr lang="en-US" sz="2000" i="1" dirty="0" smtClean="0"/>
              <a:t> = b *  (mg</a:t>
            </a:r>
            <a:r>
              <a:rPr lang="en-US" sz="2000" i="1" baseline="-25000" dirty="0" smtClean="0"/>
              <a:t>1</a:t>
            </a:r>
            <a:r>
              <a:rPr lang="en-US" sz="2000" i="1" dirty="0" smtClean="0"/>
              <a:t> + nh</a:t>
            </a:r>
            <a:r>
              <a:rPr lang="en-US" sz="2000" i="1" baseline="-25000" dirty="0" smtClean="0"/>
              <a:t>1</a:t>
            </a:r>
            <a:r>
              <a:rPr lang="en-US" sz="2000" i="1" dirty="0" smtClean="0"/>
              <a:t> ) </a:t>
            </a:r>
          </a:p>
          <a:p>
            <a:pPr lvl="1">
              <a:buFont typeface="Candara" pitchFamily="-84" charset="0"/>
              <a:buNone/>
            </a:pPr>
            <a:r>
              <a:rPr lang="en-US" sz="2000" i="1" dirty="0" smtClean="0"/>
              <a:t>     </a:t>
            </a:r>
            <a:r>
              <a:rPr lang="en-US" sz="2000" dirty="0" smtClean="0"/>
              <a:t>and therefore </a:t>
            </a:r>
            <a:r>
              <a:rPr lang="en-US" sz="2000" i="1" dirty="0" smtClean="0"/>
              <a:t>b</a:t>
            </a:r>
            <a:r>
              <a:rPr lang="en-US" sz="2000" dirty="0" smtClean="0"/>
              <a:t>  divides </a:t>
            </a:r>
            <a:r>
              <a:rPr lang="en-US" sz="2000" i="1" dirty="0" smtClean="0"/>
              <a:t>mg + </a:t>
            </a:r>
            <a:r>
              <a:rPr lang="en-US" sz="2000" i="1" dirty="0" err="1" smtClean="0"/>
              <a:t>nh</a:t>
            </a:r>
            <a:r>
              <a:rPr lang="en-US" sz="2000" i="1" dirty="0" smtClean="0"/>
              <a:t> </a:t>
            </a:r>
            <a:endParaRPr lang="en-US" sz="20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115616" y="4221088"/>
            <a:ext cx="7056784" cy="19389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    </a:t>
            </a:r>
            <a:r>
              <a:rPr lang="en-US" sz="2000" i="1" dirty="0">
                <a:latin typeface="+mn-lt"/>
              </a:rPr>
              <a:t>b</a:t>
            </a:r>
            <a:r>
              <a:rPr lang="en-US" sz="2000" dirty="0">
                <a:latin typeface="+mn-lt"/>
              </a:rPr>
              <a:t> = 7; </a:t>
            </a:r>
            <a:r>
              <a:rPr lang="en-US" sz="2000" i="1" dirty="0">
                <a:latin typeface="+mn-lt"/>
              </a:rPr>
              <a:t> g</a:t>
            </a:r>
            <a:r>
              <a:rPr lang="en-US" sz="2000" dirty="0">
                <a:latin typeface="+mn-lt"/>
              </a:rPr>
              <a:t> = 14;  </a:t>
            </a:r>
            <a:r>
              <a:rPr lang="en-US" sz="2000" i="1" dirty="0">
                <a:latin typeface="+mn-lt"/>
              </a:rPr>
              <a:t>h</a:t>
            </a:r>
            <a:r>
              <a:rPr lang="en-US" sz="2000" dirty="0">
                <a:latin typeface="+mn-lt"/>
              </a:rPr>
              <a:t> = 63;  </a:t>
            </a:r>
            <a:r>
              <a:rPr lang="en-US" sz="2000" i="1" dirty="0">
                <a:latin typeface="+mn-lt"/>
              </a:rPr>
              <a:t>m</a:t>
            </a:r>
            <a:r>
              <a:rPr lang="en-US" sz="2000" dirty="0">
                <a:latin typeface="+mn-lt"/>
              </a:rPr>
              <a:t> = 3;  </a:t>
            </a:r>
            <a:r>
              <a:rPr lang="en-US" sz="2000" i="1" dirty="0">
                <a:latin typeface="+mn-lt"/>
              </a:rPr>
              <a:t>n</a:t>
            </a:r>
            <a:r>
              <a:rPr lang="en-US" sz="2000" dirty="0">
                <a:latin typeface="+mn-lt"/>
              </a:rPr>
              <a:t> = 2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    7 | 14 and 7 | 63</a:t>
            </a:r>
            <a:r>
              <a:rPr lang="en-US" sz="2000" dirty="0" smtClean="0">
                <a:latin typeface="+mn-lt"/>
              </a:rPr>
              <a:t>.</a:t>
            </a:r>
          </a:p>
          <a:p>
            <a:pPr>
              <a:defRPr/>
            </a:pPr>
            <a:endParaRPr lang="en-US" sz="2000" dirty="0">
              <a:latin typeface="+mn-lt"/>
            </a:endParaRPr>
          </a:p>
          <a:p>
            <a:pPr>
              <a:defRPr/>
            </a:pPr>
            <a:r>
              <a:rPr lang="en-US" sz="2000" dirty="0">
                <a:latin typeface="+mn-lt"/>
              </a:rPr>
              <a:t>    To show 7 (3 * 14 + 2 * 63),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    we have (3 * 14 + 2 * 63) = 7(3 * 2 + 2 * 9),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    and it is obvious that 7 | (7(3 * 2 + 2 * 9)).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Division Algorithm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Given any positive integer </a:t>
            </a:r>
            <a:r>
              <a:rPr lang="en-US" sz="2800" i="1" dirty="0" smtClean="0"/>
              <a:t>n </a:t>
            </a:r>
            <a:r>
              <a:rPr lang="en-US" sz="2800" dirty="0" smtClean="0"/>
              <a:t>and any nonnegative integer </a:t>
            </a:r>
            <a:r>
              <a:rPr lang="en-US" sz="2800" i="1" dirty="0" smtClean="0"/>
              <a:t>a, </a:t>
            </a:r>
            <a:r>
              <a:rPr lang="en-US" sz="2800" dirty="0" smtClean="0"/>
              <a:t>if we divide </a:t>
            </a:r>
            <a:r>
              <a:rPr lang="en-US" sz="2800" i="1" dirty="0" smtClean="0"/>
              <a:t>a</a:t>
            </a:r>
            <a:r>
              <a:rPr lang="en-US" sz="2800" dirty="0" smtClean="0"/>
              <a:t> by </a:t>
            </a:r>
            <a:r>
              <a:rPr lang="en-US" sz="2800" i="1" dirty="0" smtClean="0"/>
              <a:t>n</a:t>
            </a:r>
            <a:r>
              <a:rPr lang="en-US" sz="2800" dirty="0" smtClean="0"/>
              <a:t> we get an integer quotient </a:t>
            </a:r>
            <a:r>
              <a:rPr lang="en-US" sz="2800" i="1" dirty="0" smtClean="0"/>
              <a:t>q</a:t>
            </a:r>
            <a:r>
              <a:rPr lang="en-US" sz="2800" dirty="0" smtClean="0"/>
              <a:t> and an integer remainder </a:t>
            </a:r>
            <a:r>
              <a:rPr lang="en-US" sz="2800" i="1" dirty="0" smtClean="0"/>
              <a:t>r</a:t>
            </a:r>
            <a:r>
              <a:rPr lang="en-US" sz="2800" dirty="0" smtClean="0"/>
              <a:t> that obey the following relationship:</a:t>
            </a:r>
          </a:p>
          <a:p>
            <a:pPr lvl="1">
              <a:buFont typeface="Candara" pitchFamily="-84" charset="0"/>
              <a:buNone/>
            </a:pPr>
            <a:endParaRPr lang="en-US" sz="2400" dirty="0" smtClean="0"/>
          </a:p>
          <a:p>
            <a:pPr lvl="1" algn="ctr">
              <a:buFont typeface="Candara" pitchFamily="-84" charset="0"/>
              <a:buNone/>
            </a:pPr>
            <a:r>
              <a:rPr lang="en-US" sz="2400" i="1" dirty="0" smtClean="0"/>
              <a:t>	a = </a:t>
            </a:r>
            <a:r>
              <a:rPr lang="en-US" sz="2400" i="1" dirty="0" err="1" smtClean="0"/>
              <a:t>qn</a:t>
            </a:r>
            <a:r>
              <a:rPr lang="en-US" sz="2400" i="1" dirty="0" smtClean="0"/>
              <a:t> + r             |r </a:t>
            </a:r>
            <a:r>
              <a:rPr lang="en-US" sz="2400" i="1" dirty="0"/>
              <a:t>|</a:t>
            </a:r>
            <a:r>
              <a:rPr lang="en-US" sz="2400" i="1" dirty="0" smtClean="0"/>
              <a:t>&lt; |n|; q = </a:t>
            </a:r>
            <a:r>
              <a:rPr lang="en-US" sz="2400" dirty="0" smtClean="0">
                <a:sym typeface="Symbol"/>
              </a:rPr>
              <a:t></a:t>
            </a:r>
            <a:r>
              <a:rPr lang="en-US" sz="2400" i="1" dirty="0" smtClean="0"/>
              <a:t>a/n</a:t>
            </a:r>
            <a:r>
              <a:rPr lang="en-US" sz="2400" dirty="0" smtClean="0">
                <a:sym typeface="Symbol"/>
              </a:rPr>
              <a:t></a:t>
            </a:r>
            <a:endParaRPr lang="en-US" sz="2400" dirty="0" smtClean="0"/>
          </a:p>
          <a:p>
            <a:endParaRPr lang="en-US" sz="28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3" descr="f1.pdf"/>
          <p:cNvPicPr>
            <a:picLocks noChangeAspect="1"/>
          </p:cNvPicPr>
          <p:nvPr/>
        </p:nvPicPr>
        <p:blipFill>
          <a:blip r:embed="rId3"/>
          <a:srcRect l="5882" t="18182" r="4706" b="30910"/>
          <a:stretch>
            <a:fillRect/>
          </a:stretch>
        </p:blipFill>
        <p:spPr bwMode="auto">
          <a:xfrm>
            <a:off x="0" y="0"/>
            <a:ext cx="9144000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7935416" cy="731168"/>
          </a:xfrm>
        </p:spPr>
        <p:txBody>
          <a:bodyPr/>
          <a:lstStyle/>
          <a:p>
            <a:pPr algn="ctr"/>
            <a:r>
              <a:rPr lang="en-AU" sz="4400" dirty="0" smtClean="0"/>
              <a:t>Euclidean Algorithm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3575050" y="1628800"/>
            <a:ext cx="5111750" cy="4497363"/>
          </a:xfrm>
        </p:spPr>
        <p:txBody>
          <a:bodyPr/>
          <a:lstStyle/>
          <a:p>
            <a:r>
              <a:rPr lang="en-AU" sz="2800" dirty="0" smtClean="0"/>
              <a:t>One of the basic techniques of number theory</a:t>
            </a:r>
          </a:p>
          <a:p>
            <a:r>
              <a:rPr lang="en-AU" sz="2800" dirty="0" smtClean="0"/>
              <a:t>Procedure for </a:t>
            </a:r>
            <a:r>
              <a:rPr lang="en-AU" sz="2800" dirty="0" smtClean="0">
                <a:solidFill>
                  <a:srgbClr val="FF0000"/>
                </a:solidFill>
              </a:rPr>
              <a:t>determining the greatest common divisor </a:t>
            </a:r>
            <a:r>
              <a:rPr lang="en-AU" sz="2800" dirty="0" smtClean="0"/>
              <a:t>of two positive integers</a:t>
            </a:r>
          </a:p>
          <a:p>
            <a:r>
              <a:rPr lang="en-AU" sz="2800" dirty="0" smtClean="0"/>
              <a:t>Two integers are </a:t>
            </a:r>
            <a:r>
              <a:rPr lang="en-AU" sz="2800" b="1" dirty="0" smtClean="0"/>
              <a:t>relatively prime </a:t>
            </a:r>
            <a:r>
              <a:rPr lang="en-AU" sz="2800" dirty="0" smtClean="0"/>
              <a:t>(aka coprime) if their only common positive integer factor is 1</a:t>
            </a:r>
          </a:p>
        </p:txBody>
      </p:sp>
      <p:pic>
        <p:nvPicPr>
          <p:cNvPr id="46084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3276600"/>
            <a:ext cx="2946400" cy="266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4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850106"/>
          </a:xfrm>
        </p:spPr>
        <p:txBody>
          <a:bodyPr/>
          <a:lstStyle/>
          <a:p>
            <a:r>
              <a:rPr lang="en-US" dirty="0" smtClean="0"/>
              <a:t>Greatest Common Divisor (GCD)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27584" y="1340768"/>
            <a:ext cx="7570787" cy="463867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 smtClean="0">
                <a:ea typeface="+mn-ea"/>
                <a:cs typeface="+mn-cs"/>
              </a:rPr>
              <a:t>The greatest common divisor of </a:t>
            </a:r>
            <a:r>
              <a:rPr lang="en-US" sz="2400" i="1" dirty="0" smtClean="0">
                <a:ea typeface="+mn-ea"/>
                <a:cs typeface="+mn-cs"/>
              </a:rPr>
              <a:t>a </a:t>
            </a:r>
            <a:r>
              <a:rPr lang="en-US" sz="2400" dirty="0" smtClean="0">
                <a:ea typeface="+mn-ea"/>
                <a:cs typeface="+mn-cs"/>
              </a:rPr>
              <a:t>and </a:t>
            </a:r>
            <a:r>
              <a:rPr lang="en-US" sz="2400" i="1" dirty="0" smtClean="0">
                <a:ea typeface="+mn-ea"/>
                <a:cs typeface="+mn-cs"/>
              </a:rPr>
              <a:t>b </a:t>
            </a:r>
            <a:r>
              <a:rPr lang="en-US" sz="2400" dirty="0" smtClean="0">
                <a:ea typeface="+mn-ea"/>
                <a:cs typeface="+mn-cs"/>
              </a:rPr>
              <a:t>is the largest integer that divides both </a:t>
            </a:r>
            <a:r>
              <a:rPr lang="en-US" sz="2400" i="1" dirty="0" smtClean="0">
                <a:ea typeface="+mn-ea"/>
                <a:cs typeface="+mn-cs"/>
              </a:rPr>
              <a:t>a </a:t>
            </a:r>
            <a:r>
              <a:rPr lang="en-US" sz="2400" dirty="0" smtClean="0">
                <a:ea typeface="+mn-ea"/>
                <a:cs typeface="+mn-cs"/>
              </a:rPr>
              <a:t>and </a:t>
            </a:r>
            <a:r>
              <a:rPr lang="en-US" sz="2400" i="1" dirty="0" smtClean="0">
                <a:ea typeface="+mn-ea"/>
                <a:cs typeface="+mn-cs"/>
              </a:rPr>
              <a:t>b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 smtClean="0">
                <a:ea typeface="+mn-ea"/>
                <a:cs typeface="+mn-cs"/>
              </a:rPr>
              <a:t>We can use the notation gcd</a:t>
            </a:r>
            <a:r>
              <a:rPr lang="en-US" sz="2400" i="1" dirty="0" smtClean="0">
                <a:ea typeface="+mn-ea"/>
                <a:cs typeface="+mn-cs"/>
              </a:rPr>
              <a:t>(a,b) </a:t>
            </a:r>
            <a:r>
              <a:rPr lang="en-US" sz="2400" dirty="0" smtClean="0">
                <a:ea typeface="+mn-ea"/>
                <a:cs typeface="+mn-cs"/>
              </a:rPr>
              <a:t> to mean the </a:t>
            </a:r>
            <a:r>
              <a:rPr lang="en-US" sz="2400" b="1" dirty="0" smtClean="0">
                <a:ea typeface="+mn-ea"/>
                <a:cs typeface="+mn-cs"/>
              </a:rPr>
              <a:t>greatest common divisor </a:t>
            </a:r>
            <a:r>
              <a:rPr lang="en-US" sz="2400" dirty="0" smtClean="0">
                <a:ea typeface="+mn-ea"/>
                <a:cs typeface="+mn-cs"/>
              </a:rPr>
              <a:t>of </a:t>
            </a:r>
            <a:r>
              <a:rPr lang="en-US" sz="2400" i="1" dirty="0" smtClean="0">
                <a:ea typeface="+mn-ea"/>
                <a:cs typeface="+mn-cs"/>
              </a:rPr>
              <a:t>a </a:t>
            </a:r>
            <a:r>
              <a:rPr lang="en-US" sz="2400" dirty="0" smtClean="0">
                <a:ea typeface="+mn-ea"/>
                <a:cs typeface="+mn-cs"/>
              </a:rPr>
              <a:t>and </a:t>
            </a:r>
            <a:r>
              <a:rPr lang="en-US" sz="2400" i="1" dirty="0" smtClean="0">
                <a:ea typeface="+mn-ea"/>
                <a:cs typeface="+mn-cs"/>
              </a:rPr>
              <a:t>b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 smtClean="0">
                <a:ea typeface="+mn-ea"/>
                <a:cs typeface="+mn-cs"/>
              </a:rPr>
              <a:t>We also define gcd(0,0) = 0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 smtClean="0">
                <a:ea typeface="+mn-ea"/>
                <a:cs typeface="+mn-cs"/>
              </a:rPr>
              <a:t>Positive integer </a:t>
            </a:r>
            <a:r>
              <a:rPr lang="en-US" sz="2400" i="1" dirty="0" smtClean="0">
                <a:ea typeface="+mn-ea"/>
                <a:cs typeface="+mn-cs"/>
              </a:rPr>
              <a:t>c </a:t>
            </a:r>
            <a:r>
              <a:rPr lang="en-US" sz="2400" dirty="0" smtClean="0">
                <a:ea typeface="+mn-ea"/>
                <a:cs typeface="+mn-cs"/>
              </a:rPr>
              <a:t>is said to be the gcd of </a:t>
            </a:r>
            <a:r>
              <a:rPr lang="en-US" sz="2400" i="1" dirty="0" smtClean="0">
                <a:ea typeface="+mn-ea"/>
                <a:cs typeface="+mn-cs"/>
              </a:rPr>
              <a:t>a </a:t>
            </a:r>
            <a:r>
              <a:rPr lang="en-US" sz="2400" dirty="0" smtClean="0">
                <a:ea typeface="+mn-ea"/>
                <a:cs typeface="+mn-cs"/>
              </a:rPr>
              <a:t>and </a:t>
            </a:r>
            <a:r>
              <a:rPr lang="en-US" sz="2400" i="1" dirty="0" smtClean="0">
                <a:ea typeface="+mn-ea"/>
                <a:cs typeface="+mn-cs"/>
              </a:rPr>
              <a:t>b </a:t>
            </a:r>
            <a:r>
              <a:rPr lang="en-US" sz="2400" dirty="0" smtClean="0">
                <a:ea typeface="+mn-ea"/>
                <a:cs typeface="+mn-cs"/>
              </a:rPr>
              <a:t>if: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i="1" dirty="0" smtClean="0">
                <a:ea typeface="+mn-ea"/>
              </a:rPr>
              <a:t>c </a:t>
            </a:r>
            <a:r>
              <a:rPr lang="en-US" sz="2000" dirty="0" smtClean="0">
                <a:ea typeface="+mn-ea"/>
              </a:rPr>
              <a:t>is a divisor of </a:t>
            </a:r>
            <a:r>
              <a:rPr lang="en-US" sz="2000" i="1" dirty="0" smtClean="0">
                <a:ea typeface="+mn-ea"/>
              </a:rPr>
              <a:t>a </a:t>
            </a:r>
            <a:r>
              <a:rPr lang="en-US" sz="2000" dirty="0" smtClean="0">
                <a:ea typeface="+mn-ea"/>
              </a:rPr>
              <a:t>and </a:t>
            </a:r>
            <a:r>
              <a:rPr lang="en-US" sz="2000" i="1" dirty="0" smtClean="0">
                <a:ea typeface="+mn-ea"/>
              </a:rPr>
              <a:t>b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 smtClean="0">
                <a:ea typeface="+mn-ea"/>
              </a:rPr>
              <a:t>Any divisor of </a:t>
            </a:r>
            <a:r>
              <a:rPr lang="en-US" sz="2000" i="1" dirty="0" smtClean="0">
                <a:ea typeface="+mn-ea"/>
              </a:rPr>
              <a:t>a </a:t>
            </a:r>
            <a:r>
              <a:rPr lang="en-US" sz="2000" dirty="0" smtClean="0">
                <a:ea typeface="+mn-ea"/>
              </a:rPr>
              <a:t>and </a:t>
            </a:r>
            <a:r>
              <a:rPr lang="en-US" sz="2000" i="1" dirty="0" smtClean="0">
                <a:ea typeface="+mn-ea"/>
              </a:rPr>
              <a:t>b </a:t>
            </a:r>
            <a:r>
              <a:rPr lang="en-US" sz="2000" dirty="0" smtClean="0">
                <a:ea typeface="+mn-ea"/>
              </a:rPr>
              <a:t>is a divisor of </a:t>
            </a:r>
            <a:r>
              <a:rPr lang="en-US" sz="2000" i="1" dirty="0" smtClean="0">
                <a:ea typeface="+mn-ea"/>
              </a:rPr>
              <a:t>c</a:t>
            </a:r>
          </a:p>
          <a:p>
            <a:pPr marL="342900" lvl="1" indent="-342900" fontAlgn="auto">
              <a:spcBef>
                <a:spcPts val="24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000" dirty="0" smtClean="0">
                <a:ea typeface="+mn-ea"/>
              </a:rPr>
              <a:t>An equivalent definition is:</a:t>
            </a:r>
          </a:p>
          <a:p>
            <a:pPr marL="342900" lvl="1" indent="-342900" algn="ctr" fontAlgn="auto">
              <a:spcBef>
                <a:spcPts val="24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2000" dirty="0" smtClean="0">
                <a:ea typeface="+mn-ea"/>
              </a:rPr>
              <a:t>gcd(</a:t>
            </a:r>
            <a:r>
              <a:rPr lang="en-US" sz="2000" i="1" dirty="0" smtClean="0">
                <a:ea typeface="+mn-ea"/>
              </a:rPr>
              <a:t>a,b) = </a:t>
            </a:r>
            <a:r>
              <a:rPr lang="en-US" sz="2000" dirty="0" smtClean="0">
                <a:ea typeface="+mn-ea"/>
              </a:rPr>
              <a:t>max[</a:t>
            </a:r>
            <a:r>
              <a:rPr lang="en-US" sz="2000" i="1" dirty="0" smtClean="0">
                <a:ea typeface="+mn-ea"/>
              </a:rPr>
              <a:t>k, </a:t>
            </a:r>
            <a:r>
              <a:rPr lang="en-US" sz="2000" dirty="0" smtClean="0">
                <a:ea typeface="+mn-ea"/>
              </a:rPr>
              <a:t>such that </a:t>
            </a:r>
            <a:r>
              <a:rPr lang="en-US" sz="2000" i="1" dirty="0" smtClean="0">
                <a:ea typeface="+mn-ea"/>
              </a:rPr>
              <a:t>k | a </a:t>
            </a:r>
            <a:r>
              <a:rPr lang="en-US" sz="2000" dirty="0" smtClean="0">
                <a:ea typeface="+mn-ea"/>
              </a:rPr>
              <a:t>and </a:t>
            </a:r>
            <a:r>
              <a:rPr lang="en-US" sz="2000" i="1" dirty="0" smtClean="0">
                <a:ea typeface="+mn-ea"/>
              </a:rPr>
              <a:t>k | b]</a:t>
            </a:r>
            <a:endParaRPr lang="en-US" sz="2000" dirty="0" smtClean="0">
              <a:ea typeface="+mn-ea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sz="2400" dirty="0"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/>
              <a:t>GCD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362868"/>
            <a:ext cx="8763000" cy="428942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 smtClean="0">
                <a:ea typeface="+mn-ea"/>
                <a:cs typeface="+mn-cs"/>
              </a:rPr>
              <a:t>Because we require that the greatest common divisor be positive, gcd(</a:t>
            </a:r>
            <a:r>
              <a:rPr lang="en-US" sz="2400" i="1" dirty="0" smtClean="0">
                <a:ea typeface="+mn-ea"/>
                <a:cs typeface="+mn-cs"/>
              </a:rPr>
              <a:t>a,b) = </a:t>
            </a:r>
            <a:r>
              <a:rPr lang="en-US" sz="2400" dirty="0" smtClean="0">
                <a:ea typeface="+mn-ea"/>
                <a:cs typeface="+mn-cs"/>
              </a:rPr>
              <a:t>gcd</a:t>
            </a:r>
            <a:r>
              <a:rPr lang="en-US" sz="2400" i="1" dirty="0" smtClean="0">
                <a:ea typeface="+mn-ea"/>
                <a:cs typeface="+mn-cs"/>
              </a:rPr>
              <a:t>(a,-b) = </a:t>
            </a:r>
            <a:r>
              <a:rPr lang="en-US" sz="2400" dirty="0" smtClean="0">
                <a:ea typeface="+mn-ea"/>
                <a:cs typeface="+mn-cs"/>
              </a:rPr>
              <a:t>gcd</a:t>
            </a:r>
            <a:r>
              <a:rPr lang="en-US" sz="2400" i="1" dirty="0" smtClean="0">
                <a:ea typeface="+mn-ea"/>
                <a:cs typeface="+mn-cs"/>
              </a:rPr>
              <a:t>(-a,b) = </a:t>
            </a:r>
            <a:r>
              <a:rPr lang="en-US" sz="2400" dirty="0" smtClean="0">
                <a:ea typeface="+mn-ea"/>
                <a:cs typeface="+mn-cs"/>
              </a:rPr>
              <a:t>gcd</a:t>
            </a:r>
            <a:r>
              <a:rPr lang="en-US" sz="2400" i="1" dirty="0" smtClean="0">
                <a:ea typeface="+mn-ea"/>
                <a:cs typeface="+mn-cs"/>
              </a:rPr>
              <a:t>(-a,-b)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 smtClean="0">
                <a:ea typeface="+mn-ea"/>
                <a:cs typeface="+mn-cs"/>
              </a:rPr>
              <a:t>In general, gcd(</a:t>
            </a:r>
            <a:r>
              <a:rPr lang="en-US" sz="2400" i="1" dirty="0" smtClean="0">
                <a:ea typeface="+mn-ea"/>
                <a:cs typeface="+mn-cs"/>
              </a:rPr>
              <a:t>a,b) = </a:t>
            </a:r>
            <a:r>
              <a:rPr lang="en-US" sz="2400" dirty="0" smtClean="0">
                <a:ea typeface="+mn-ea"/>
                <a:cs typeface="+mn-cs"/>
              </a:rPr>
              <a:t>gcd(| </a:t>
            </a:r>
            <a:r>
              <a:rPr lang="en-US" sz="2400" i="1" dirty="0" smtClean="0">
                <a:ea typeface="+mn-ea"/>
                <a:cs typeface="+mn-cs"/>
              </a:rPr>
              <a:t>a </a:t>
            </a:r>
            <a:r>
              <a:rPr lang="en-US" sz="2400" dirty="0" smtClean="0">
                <a:ea typeface="+mn-ea"/>
                <a:cs typeface="+mn-cs"/>
              </a:rPr>
              <a:t>|, | </a:t>
            </a:r>
            <a:r>
              <a:rPr lang="en-US" sz="2400" i="1" dirty="0" smtClean="0">
                <a:ea typeface="+mn-ea"/>
                <a:cs typeface="+mn-cs"/>
              </a:rPr>
              <a:t>b |)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sz="2800" i="1" dirty="0" smtClean="0"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 smtClean="0">
                <a:ea typeface="+mn-ea"/>
                <a:cs typeface="+mn-cs"/>
              </a:rPr>
              <a:t>Also, because all nonzero integers divide 0, we have gcd(</a:t>
            </a:r>
            <a:r>
              <a:rPr lang="en-US" sz="2400" i="1" dirty="0" smtClean="0">
                <a:ea typeface="+mn-ea"/>
                <a:cs typeface="+mn-cs"/>
              </a:rPr>
              <a:t>a,</a:t>
            </a:r>
            <a:r>
              <a:rPr lang="en-US" sz="2400" dirty="0" smtClean="0">
                <a:ea typeface="+mn-ea"/>
                <a:cs typeface="+mn-cs"/>
              </a:rPr>
              <a:t>0) = | a |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 smtClean="0">
                <a:ea typeface="+mn-ea"/>
                <a:cs typeface="+mn-cs"/>
              </a:rPr>
              <a:t>We stated that two integers </a:t>
            </a:r>
            <a:r>
              <a:rPr lang="en-US" sz="2400" i="1" dirty="0" smtClean="0">
                <a:ea typeface="+mn-ea"/>
                <a:cs typeface="+mn-cs"/>
              </a:rPr>
              <a:t>a </a:t>
            </a:r>
            <a:r>
              <a:rPr lang="en-US" sz="2400" dirty="0" smtClean="0">
                <a:ea typeface="+mn-ea"/>
                <a:cs typeface="+mn-cs"/>
              </a:rPr>
              <a:t>and </a:t>
            </a:r>
            <a:r>
              <a:rPr lang="en-US" sz="2400" i="1" dirty="0" smtClean="0">
                <a:ea typeface="+mn-ea"/>
                <a:cs typeface="+mn-cs"/>
              </a:rPr>
              <a:t>b </a:t>
            </a:r>
            <a:r>
              <a:rPr lang="en-US" sz="2400" dirty="0" smtClean="0">
                <a:ea typeface="+mn-ea"/>
                <a:cs typeface="+mn-cs"/>
              </a:rPr>
              <a:t>are </a:t>
            </a:r>
            <a:r>
              <a:rPr lang="en-US" sz="2400" dirty="0" smtClean="0">
                <a:solidFill>
                  <a:srgbClr val="FF0000"/>
                </a:solidFill>
                <a:ea typeface="+mn-ea"/>
                <a:cs typeface="+mn-cs"/>
              </a:rPr>
              <a:t>relatively prime </a:t>
            </a:r>
            <a:r>
              <a:rPr lang="en-US" sz="2400" dirty="0" smtClean="0">
                <a:ea typeface="+mn-ea"/>
                <a:cs typeface="+mn-cs"/>
              </a:rPr>
              <a:t>if their only common positive integer factor is 1; this is equivalent to saying that </a:t>
            </a:r>
            <a:r>
              <a:rPr lang="en-US" sz="2400" i="1" dirty="0" smtClean="0">
                <a:ea typeface="+mn-ea"/>
                <a:cs typeface="+mn-cs"/>
              </a:rPr>
              <a:t>a </a:t>
            </a:r>
            <a:r>
              <a:rPr lang="en-US" sz="2400" dirty="0" smtClean="0">
                <a:ea typeface="+mn-ea"/>
                <a:cs typeface="+mn-cs"/>
              </a:rPr>
              <a:t>and </a:t>
            </a:r>
            <a:r>
              <a:rPr lang="en-US" sz="2400" i="1" dirty="0" smtClean="0">
                <a:ea typeface="+mn-ea"/>
                <a:cs typeface="+mn-cs"/>
              </a:rPr>
              <a:t>b </a:t>
            </a:r>
            <a:r>
              <a:rPr lang="en-US" sz="2400" dirty="0" smtClean="0">
                <a:ea typeface="+mn-ea"/>
                <a:cs typeface="+mn-cs"/>
              </a:rPr>
              <a:t>are relatively prime if gcd(</a:t>
            </a:r>
            <a:r>
              <a:rPr lang="en-US" sz="2400" i="1" dirty="0" smtClean="0">
                <a:ea typeface="+mn-ea"/>
                <a:cs typeface="+mn-cs"/>
              </a:rPr>
              <a:t>a,b) = 1</a:t>
            </a:r>
            <a:endParaRPr lang="en-US" sz="2400" dirty="0"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7664" y="2636912"/>
            <a:ext cx="5328592" cy="4619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Arial" pitchFamily="-1" charset="0"/>
              </a:rPr>
              <a:t>  </a:t>
            </a:r>
            <a:r>
              <a:rPr lang="en-US" sz="2400" dirty="0">
                <a:latin typeface="+mn-lt"/>
              </a:rPr>
              <a:t>gcd(60, 24) =  gcd(60, - 24) =  12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5517232"/>
            <a:ext cx="8928992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 smtClean="0">
                <a:latin typeface="+mn-lt"/>
              </a:rPr>
              <a:t>8 </a:t>
            </a:r>
            <a:r>
              <a:rPr lang="en-US" dirty="0">
                <a:latin typeface="+mn-lt"/>
              </a:rPr>
              <a:t>and 15 are relatively prime because the positive divisors of 8 are 1, 2, 4, and 8, and the positive divisors of 15 are 1, 3, 5, and 15. So 1 is the only integer on both lists.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idx="4294967295"/>
          </p:nvPr>
        </p:nvSpPr>
        <p:spPr>
          <a:xfrm>
            <a:off x="0" y="39688"/>
            <a:ext cx="9144000" cy="1085850"/>
          </a:xfrm>
        </p:spPr>
        <p:txBody>
          <a:bodyPr/>
          <a:lstStyle/>
          <a:p>
            <a:r>
              <a:rPr lang="en-US" sz="3600" dirty="0" smtClean="0"/>
              <a:t>Table 4.1</a:t>
            </a:r>
            <a:br>
              <a:rPr lang="en-US" sz="3600" dirty="0" smtClean="0"/>
            </a:br>
            <a:r>
              <a:rPr lang="en-US" sz="3600" dirty="0" smtClean="0"/>
              <a:t>Euclidean Algorithm Example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9" y="1196752"/>
            <a:ext cx="9014036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131840" y="5586202"/>
            <a:ext cx="3276859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/>
              <a:t>gcd</a:t>
            </a:r>
            <a:r>
              <a:rPr lang="en-US" sz="2000" dirty="0"/>
              <a:t>(</a:t>
            </a:r>
            <a:r>
              <a:rPr lang="en-US" sz="2000" i="1" dirty="0"/>
              <a:t>a</a:t>
            </a:r>
            <a:r>
              <a:rPr lang="en-US" sz="2000" dirty="0"/>
              <a:t>, </a:t>
            </a:r>
            <a:r>
              <a:rPr lang="en-US" sz="2000" i="1" dirty="0"/>
              <a:t>b</a:t>
            </a:r>
            <a:r>
              <a:rPr lang="en-US" sz="2000" dirty="0"/>
              <a:t>) = </a:t>
            </a:r>
            <a:r>
              <a:rPr lang="en-US" sz="2000" dirty="0" err="1"/>
              <a:t>gcd</a:t>
            </a:r>
            <a:r>
              <a:rPr lang="en-US" sz="2000" dirty="0"/>
              <a:t>(</a:t>
            </a:r>
            <a:r>
              <a:rPr lang="en-US" sz="2000" i="1" dirty="0"/>
              <a:t>b</a:t>
            </a:r>
            <a:r>
              <a:rPr lang="en-US" sz="2000" dirty="0"/>
              <a:t>, </a:t>
            </a:r>
            <a:r>
              <a:rPr lang="en-US" sz="2000" i="1" dirty="0"/>
              <a:t>a </a:t>
            </a:r>
            <a:r>
              <a:rPr lang="en-US" sz="2000" dirty="0"/>
              <a:t>mod </a:t>
            </a:r>
            <a:r>
              <a:rPr lang="en-US" sz="2000" i="1" dirty="0"/>
              <a:t>b</a:t>
            </a:r>
            <a:r>
              <a:rPr lang="en-US" sz="2000" dirty="0"/>
              <a:t>)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1443038"/>
            <a:ext cx="8059737" cy="397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791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857250"/>
            <a:ext cx="8135937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0" y="39688"/>
            <a:ext cx="91440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dirty="0" smtClean="0"/>
              <a:t>Euclidean Algorithm</a:t>
            </a:r>
          </a:p>
        </p:txBody>
      </p:sp>
    </p:spTree>
    <p:extLst>
      <p:ext uri="{BB962C8B-B14F-4D97-AF65-F5344CB8AC3E}">
        <p14:creationId xmlns:p14="http://schemas.microsoft.com/office/powerpoint/2010/main" val="72717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Extended Euclidean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given integers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, the extended Euclidean </a:t>
            </a:r>
            <a:r>
              <a:rPr lang="en-US" dirty="0" smtClean="0"/>
              <a:t>algorithm not </a:t>
            </a:r>
            <a:r>
              <a:rPr lang="en-US" dirty="0"/>
              <a:t>only calculates the greatest common divisor </a:t>
            </a:r>
            <a:r>
              <a:rPr lang="en-US" i="1" dirty="0"/>
              <a:t>d</a:t>
            </a:r>
            <a:r>
              <a:rPr lang="en-US" dirty="0"/>
              <a:t> but also two additional integers </a:t>
            </a:r>
            <a:r>
              <a:rPr lang="en-US" i="1" dirty="0" smtClean="0"/>
              <a:t>x</a:t>
            </a:r>
            <a:r>
              <a:rPr lang="en-US" dirty="0" smtClean="0"/>
              <a:t> and </a:t>
            </a:r>
            <a:r>
              <a:rPr lang="en-US" i="1" dirty="0"/>
              <a:t>y</a:t>
            </a:r>
            <a:r>
              <a:rPr lang="en-US" dirty="0"/>
              <a:t> that satisfy the following equation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US" i="1" dirty="0" smtClean="0"/>
              <a:t>a</a:t>
            </a:r>
            <a:r>
              <a:rPr lang="en-US" dirty="0" smtClean="0"/>
              <a:t> = 42, </a:t>
            </a:r>
            <a:r>
              <a:rPr lang="en-US" i="1" dirty="0" smtClean="0"/>
              <a:t>b</a:t>
            </a:r>
            <a:r>
              <a:rPr lang="en-US" dirty="0" smtClean="0"/>
              <a:t> = 30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419872" y="3212976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ax </a:t>
            </a:r>
            <a:r>
              <a:rPr lang="en-US" sz="2000" dirty="0"/>
              <a:t>+ </a:t>
            </a:r>
            <a:r>
              <a:rPr lang="en-US" sz="2000" i="1" dirty="0"/>
              <a:t>by </a:t>
            </a:r>
            <a:r>
              <a:rPr lang="en-US" sz="2000" dirty="0"/>
              <a:t>= </a:t>
            </a:r>
            <a:r>
              <a:rPr lang="en-US" sz="2000" i="1" dirty="0"/>
              <a:t>d </a:t>
            </a:r>
            <a:r>
              <a:rPr lang="en-US" sz="2000" dirty="0"/>
              <a:t>= </a:t>
            </a:r>
            <a:r>
              <a:rPr lang="en-US" sz="2000" dirty="0" err="1"/>
              <a:t>gcd</a:t>
            </a:r>
            <a:r>
              <a:rPr lang="en-US" sz="2000" dirty="0"/>
              <a:t>(</a:t>
            </a:r>
            <a:r>
              <a:rPr lang="en-US" sz="2000" i="1" dirty="0"/>
              <a:t>a</a:t>
            </a:r>
            <a:r>
              <a:rPr lang="en-US" sz="2000" dirty="0"/>
              <a:t>, </a:t>
            </a:r>
            <a:r>
              <a:rPr lang="en-US" sz="2000" i="1" dirty="0"/>
              <a:t>b</a:t>
            </a:r>
            <a:r>
              <a:rPr lang="en-US" sz="2000" dirty="0"/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621" y="4005064"/>
            <a:ext cx="5794760" cy="216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173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Determine gcd(72345, 43215</a:t>
            </a:r>
            <a:r>
              <a:rPr lang="nb-NO" dirty="0" smtClean="0"/>
              <a:t>)</a:t>
            </a:r>
            <a:endParaRPr lang="nb-NO" dirty="0"/>
          </a:p>
          <a:p>
            <a:r>
              <a:rPr lang="nb-NO" dirty="0" smtClean="0"/>
              <a:t>Determine </a:t>
            </a:r>
            <a:r>
              <a:rPr lang="nb-NO" dirty="0"/>
              <a:t>gcd(3486, 10292</a:t>
            </a:r>
            <a:r>
              <a:rPr lang="nb-NO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5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/>
              <a:t>Modular Arithmetic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467544" y="1255166"/>
            <a:ext cx="8229600" cy="4525963"/>
          </a:xfrm>
        </p:spPr>
        <p:txBody>
          <a:bodyPr/>
          <a:lstStyle/>
          <a:p>
            <a:r>
              <a:rPr lang="en-US" sz="2800" dirty="0" smtClean="0"/>
              <a:t>The modulus</a:t>
            </a:r>
          </a:p>
          <a:p>
            <a:pPr lvl="1"/>
            <a:r>
              <a:rPr lang="en-US" sz="2400" dirty="0" smtClean="0"/>
              <a:t>If </a:t>
            </a:r>
            <a:r>
              <a:rPr lang="en-US" sz="2400" i="1" dirty="0" smtClean="0"/>
              <a:t>a </a:t>
            </a:r>
            <a:r>
              <a:rPr lang="en-US" sz="2400" dirty="0" smtClean="0"/>
              <a:t>is an integer and </a:t>
            </a:r>
            <a:r>
              <a:rPr lang="en-US" sz="2400" i="1" dirty="0" smtClean="0"/>
              <a:t>n </a:t>
            </a:r>
            <a:r>
              <a:rPr lang="en-US" sz="2400" dirty="0" smtClean="0"/>
              <a:t>is a positive integer, we define </a:t>
            </a:r>
            <a:r>
              <a:rPr lang="en-US" sz="2400" i="1" dirty="0" smtClean="0"/>
              <a:t>a </a:t>
            </a:r>
            <a:r>
              <a:rPr lang="en-US" sz="2400" dirty="0" smtClean="0"/>
              <a:t>mod </a:t>
            </a:r>
            <a:r>
              <a:rPr lang="en-US" sz="2400" i="1" dirty="0" smtClean="0"/>
              <a:t>n </a:t>
            </a:r>
            <a:r>
              <a:rPr lang="en-US" sz="2400" dirty="0" smtClean="0"/>
              <a:t>to be the remainder when </a:t>
            </a:r>
            <a:r>
              <a:rPr lang="en-US" sz="2400" i="1" dirty="0" smtClean="0"/>
              <a:t>a </a:t>
            </a:r>
            <a:r>
              <a:rPr lang="en-US" sz="2400" dirty="0" smtClean="0"/>
              <a:t>is divided by </a:t>
            </a:r>
            <a:r>
              <a:rPr lang="en-US" sz="2400" i="1" dirty="0" smtClean="0"/>
              <a:t>n; </a:t>
            </a:r>
            <a:r>
              <a:rPr lang="en-US" sz="2400" dirty="0" smtClean="0"/>
              <a:t>the integer </a:t>
            </a:r>
            <a:r>
              <a:rPr lang="en-US" sz="2400" i="1" dirty="0" smtClean="0"/>
              <a:t>n </a:t>
            </a:r>
            <a:r>
              <a:rPr lang="en-US" sz="2400" dirty="0" smtClean="0"/>
              <a:t>is called the </a:t>
            </a:r>
            <a:r>
              <a:rPr lang="en-US" sz="2400" b="1" dirty="0" smtClean="0"/>
              <a:t>modulus</a:t>
            </a:r>
          </a:p>
          <a:p>
            <a:pPr lvl="1"/>
            <a:r>
              <a:rPr lang="en-US" sz="2400" dirty="0" smtClean="0"/>
              <a:t>thus, for any integer </a:t>
            </a:r>
            <a:r>
              <a:rPr lang="en-US" sz="2400" i="1" dirty="0" smtClean="0"/>
              <a:t>a:</a:t>
            </a:r>
          </a:p>
          <a:p>
            <a:pPr lvl="1">
              <a:buFont typeface="Candara" pitchFamily="-84" charset="0"/>
              <a:buNone/>
            </a:pPr>
            <a:r>
              <a:rPr lang="en-US" sz="2400" i="1" dirty="0" smtClean="0"/>
              <a:t>		</a:t>
            </a:r>
            <a:r>
              <a:rPr lang="en-US" sz="2400" dirty="0" smtClean="0"/>
              <a:t> </a:t>
            </a:r>
            <a:r>
              <a:rPr lang="en-US" sz="2400" i="1" dirty="0" smtClean="0"/>
              <a:t>a =  </a:t>
            </a:r>
            <a:r>
              <a:rPr lang="en-US" sz="2400" i="1" dirty="0" err="1" smtClean="0"/>
              <a:t>qn</a:t>
            </a:r>
            <a:r>
              <a:rPr lang="en-US" sz="2400" i="1" dirty="0" smtClean="0"/>
              <a:t> +  r </a:t>
            </a:r>
            <a:r>
              <a:rPr lang="en-US" sz="2400" dirty="0" smtClean="0"/>
              <a:t>	</a:t>
            </a:r>
            <a:r>
              <a:rPr lang="en-US" sz="2400" i="1" dirty="0" smtClean="0"/>
              <a:t> | r | &lt; </a:t>
            </a:r>
            <a:r>
              <a:rPr lang="en-US" sz="2400" i="1" dirty="0"/>
              <a:t>|</a:t>
            </a:r>
            <a:r>
              <a:rPr lang="en-US" sz="2400" i="1" dirty="0" smtClean="0"/>
              <a:t>n|;  q = </a:t>
            </a:r>
            <a:r>
              <a:rPr lang="en-US" sz="2400" dirty="0" smtClean="0">
                <a:sym typeface="Symbol"/>
              </a:rPr>
              <a:t></a:t>
            </a:r>
            <a:r>
              <a:rPr lang="en-US" sz="2400" i="1" dirty="0" smtClean="0"/>
              <a:t>a/ n</a:t>
            </a:r>
            <a:r>
              <a:rPr lang="en-US" sz="2400" dirty="0">
                <a:sym typeface="Symbol"/>
              </a:rPr>
              <a:t></a:t>
            </a:r>
            <a:endParaRPr lang="en-US" sz="2400" dirty="0" smtClean="0"/>
          </a:p>
          <a:p>
            <a:pPr lvl="1">
              <a:buNone/>
            </a:pPr>
            <a:r>
              <a:rPr lang="en-US" sz="2400" dirty="0" smtClean="0"/>
              <a:t>	</a:t>
            </a:r>
            <a:r>
              <a:rPr lang="en-US" sz="2400" i="1" dirty="0" smtClean="0"/>
              <a:t>    a = </a:t>
            </a:r>
            <a:r>
              <a:rPr lang="en-US" sz="2400" dirty="0">
                <a:sym typeface="Symbol"/>
              </a:rPr>
              <a:t></a:t>
            </a:r>
            <a:r>
              <a:rPr lang="en-US" sz="2400" i="1" dirty="0"/>
              <a:t>a/ n</a:t>
            </a:r>
            <a:r>
              <a:rPr lang="en-US" sz="2400" dirty="0" smtClean="0">
                <a:sym typeface="Symbol"/>
              </a:rPr>
              <a:t></a:t>
            </a:r>
            <a:r>
              <a:rPr lang="en-US" sz="2400" i="1" dirty="0" smtClean="0"/>
              <a:t> *  n + ( a </a:t>
            </a:r>
            <a:r>
              <a:rPr lang="en-US" sz="2400" dirty="0" smtClean="0"/>
              <a:t>mod </a:t>
            </a:r>
            <a:r>
              <a:rPr lang="en-US" sz="2400" i="1" dirty="0" smtClean="0"/>
              <a:t>n</a:t>
            </a:r>
            <a:r>
              <a:rPr lang="en-US" sz="2400" dirty="0" smtClean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5736" y="4581128"/>
            <a:ext cx="4464496" cy="10156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Arial" pitchFamily="-1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latin typeface="Arial" pitchFamily="-1" charset="0"/>
              </a:rPr>
              <a:t>11 mod 7 =  4; -  11 mod 7 =  3</a:t>
            </a:r>
          </a:p>
          <a:p>
            <a:pPr algn="ctr">
              <a:defRPr/>
            </a:pPr>
            <a:endParaRPr lang="en-US" sz="2000" dirty="0">
              <a:latin typeface="Arial" pitchFamily="-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-1 mod 5</a:t>
            </a:r>
          </a:p>
          <a:p>
            <a:r>
              <a:rPr lang="en-US" dirty="0" smtClean="0"/>
              <a:t>-11 mod 7</a:t>
            </a:r>
          </a:p>
          <a:p>
            <a:r>
              <a:rPr lang="en-US" dirty="0" smtClean="0"/>
              <a:t>23 mod 21</a:t>
            </a:r>
          </a:p>
          <a:p>
            <a:r>
              <a:rPr lang="en-US" dirty="0" smtClean="0"/>
              <a:t>23 mod -21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7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/>
              <a:t>Modular Arithmetic</a:t>
            </a:r>
          </a:p>
        </p:txBody>
      </p:sp>
      <p:sp>
        <p:nvSpPr>
          <p:cNvPr id="56323" name="Content Placeholder 4"/>
          <p:cNvSpPr>
            <a:spLocks noGrp="1"/>
          </p:cNvSpPr>
          <p:nvPr>
            <p:ph idx="1"/>
          </p:nvPr>
        </p:nvSpPr>
        <p:spPr>
          <a:xfrm>
            <a:off x="971600" y="1340768"/>
            <a:ext cx="7570788" cy="2962275"/>
          </a:xfrm>
        </p:spPr>
        <p:txBody>
          <a:bodyPr/>
          <a:lstStyle/>
          <a:p>
            <a:r>
              <a:rPr lang="en-US" sz="2800" dirty="0" smtClean="0"/>
              <a:t>Congruent modulo </a:t>
            </a:r>
            <a:r>
              <a:rPr lang="en-US" sz="2800" i="1" dirty="0" smtClean="0"/>
              <a:t>n</a:t>
            </a:r>
            <a:endParaRPr lang="en-US" sz="2800" dirty="0" smtClean="0"/>
          </a:p>
          <a:p>
            <a:pPr lvl="1"/>
            <a:r>
              <a:rPr lang="en-US" sz="2400" dirty="0" smtClean="0"/>
              <a:t>Two integers </a:t>
            </a:r>
            <a:r>
              <a:rPr lang="en-US" sz="2400" i="1" dirty="0" smtClean="0"/>
              <a:t>a </a:t>
            </a:r>
            <a:r>
              <a:rPr lang="en-US" sz="2400" dirty="0" smtClean="0"/>
              <a:t>and </a:t>
            </a:r>
            <a:r>
              <a:rPr lang="en-US" sz="2400" i="1" dirty="0" smtClean="0"/>
              <a:t>b </a:t>
            </a:r>
            <a:r>
              <a:rPr lang="en-US" sz="2400" dirty="0" smtClean="0"/>
              <a:t>are said to be </a:t>
            </a:r>
            <a:r>
              <a:rPr lang="en-US" sz="2400" b="1" dirty="0" smtClean="0"/>
              <a:t>congruent modulo </a:t>
            </a:r>
            <a:r>
              <a:rPr lang="en-US" sz="2400" b="1" i="1" dirty="0" smtClean="0"/>
              <a:t>n </a:t>
            </a:r>
            <a:r>
              <a:rPr lang="en-US" sz="2400" dirty="0" smtClean="0"/>
              <a:t>if (</a:t>
            </a:r>
            <a:r>
              <a:rPr lang="en-US" sz="2400" i="1" dirty="0" smtClean="0"/>
              <a:t>a </a:t>
            </a:r>
            <a:r>
              <a:rPr lang="en-US" sz="2400" dirty="0" smtClean="0"/>
              <a:t>mod </a:t>
            </a:r>
            <a:r>
              <a:rPr lang="en-US" sz="2400" i="1" dirty="0" smtClean="0"/>
              <a:t>n</a:t>
            </a:r>
            <a:r>
              <a:rPr lang="en-US" sz="2400" dirty="0" smtClean="0"/>
              <a:t>) = (</a:t>
            </a:r>
            <a:r>
              <a:rPr lang="en-US" sz="2400" i="1" dirty="0" smtClean="0"/>
              <a:t>b </a:t>
            </a:r>
            <a:r>
              <a:rPr lang="en-US" sz="2400" dirty="0" smtClean="0"/>
              <a:t>mod </a:t>
            </a:r>
            <a:r>
              <a:rPr lang="en-US" sz="2400" i="1" dirty="0" smtClean="0"/>
              <a:t>n</a:t>
            </a:r>
            <a:r>
              <a:rPr lang="en-US" sz="2400" dirty="0" smtClean="0"/>
              <a:t>)</a:t>
            </a:r>
          </a:p>
          <a:p>
            <a:pPr lvl="1"/>
            <a:r>
              <a:rPr lang="en-US" sz="2400" dirty="0" smtClean="0"/>
              <a:t>This is written as </a:t>
            </a:r>
            <a:r>
              <a:rPr lang="en-US" sz="2400" i="1" dirty="0" smtClean="0"/>
              <a:t>a </a:t>
            </a:r>
            <a:r>
              <a:rPr lang="en-US" sz="2400" dirty="0" smtClean="0">
                <a:sym typeface="Symbol"/>
              </a:rPr>
              <a:t></a:t>
            </a:r>
            <a:r>
              <a:rPr lang="en-US" sz="2400" i="1" dirty="0" smtClean="0"/>
              <a:t> b (</a:t>
            </a:r>
            <a:r>
              <a:rPr lang="en-US" sz="2400" dirty="0" smtClean="0"/>
              <a:t>mod </a:t>
            </a:r>
            <a:r>
              <a:rPr lang="en-US" sz="2400" i="1" dirty="0" smtClean="0"/>
              <a:t>n)</a:t>
            </a:r>
            <a:endParaRPr lang="en-US" sz="2400" i="1" baseline="30000" dirty="0" smtClean="0"/>
          </a:p>
          <a:p>
            <a:pPr lvl="1"/>
            <a:r>
              <a:rPr lang="en-US" sz="2400" dirty="0" smtClean="0"/>
              <a:t>Note that if </a:t>
            </a:r>
            <a:r>
              <a:rPr lang="en-US" sz="2400" i="1" dirty="0" smtClean="0"/>
              <a:t>a </a:t>
            </a:r>
            <a:r>
              <a:rPr lang="en-US" sz="2400" dirty="0" smtClean="0">
                <a:sym typeface="Symbol"/>
              </a:rPr>
              <a:t></a:t>
            </a:r>
            <a:r>
              <a:rPr lang="en-US" sz="2400" i="1" dirty="0" smtClean="0"/>
              <a:t> 0 </a:t>
            </a:r>
            <a:r>
              <a:rPr lang="en-US" sz="2400" dirty="0" smtClean="0"/>
              <a:t>(mod </a:t>
            </a:r>
            <a:r>
              <a:rPr lang="en-US" sz="2400" i="1" dirty="0" smtClean="0"/>
              <a:t>n</a:t>
            </a:r>
            <a:r>
              <a:rPr lang="en-US" sz="2400" dirty="0" smtClean="0"/>
              <a:t>), then </a:t>
            </a:r>
            <a:r>
              <a:rPr lang="en-US" sz="2400" i="1" dirty="0" smtClean="0"/>
              <a:t>n | a</a:t>
            </a:r>
            <a:endParaRPr lang="en-US" sz="2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974751" y="4149080"/>
            <a:ext cx="4896544" cy="10156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Arial" pitchFamily="-1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latin typeface="Arial" pitchFamily="-1" charset="0"/>
              </a:rPr>
              <a:t>73 = 4 (mod 23);   21 = - 9 (mod 10)</a:t>
            </a:r>
          </a:p>
          <a:p>
            <a:pPr algn="ctr">
              <a:defRPr/>
            </a:pPr>
            <a:endParaRPr lang="en-US" sz="2000" dirty="0">
              <a:latin typeface="Arial" pitchFamily="-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4"/>
          <p:cNvSpPr>
            <a:spLocks noGrp="1"/>
          </p:cNvSpPr>
          <p:nvPr>
            <p:ph type="title"/>
          </p:nvPr>
        </p:nvSpPr>
        <p:spPr>
          <a:xfrm>
            <a:off x="0" y="39689"/>
            <a:ext cx="9144000" cy="941040"/>
          </a:xfrm>
        </p:spPr>
        <p:txBody>
          <a:bodyPr/>
          <a:lstStyle/>
          <a:p>
            <a:r>
              <a:rPr lang="en-US" dirty="0" smtClean="0"/>
              <a:t>Properties of </a:t>
            </a:r>
            <a:r>
              <a:rPr lang="en-US" dirty="0" err="1" smtClean="0"/>
              <a:t>Congruences</a:t>
            </a:r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83568" y="1124744"/>
            <a:ext cx="7772400" cy="428942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 smtClean="0">
                <a:ea typeface="+mn-ea"/>
                <a:cs typeface="+mn-cs"/>
              </a:rPr>
              <a:t>Congruences have the following properties: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2400" dirty="0" smtClean="0">
                <a:ea typeface="+mn-ea"/>
                <a:cs typeface="+mn-cs"/>
              </a:rPr>
              <a:t>		1</a:t>
            </a:r>
            <a:r>
              <a:rPr lang="en-US" sz="2400" i="1" dirty="0" smtClean="0">
                <a:ea typeface="+mn-ea"/>
                <a:cs typeface="+mn-cs"/>
              </a:rPr>
              <a:t>. a </a:t>
            </a:r>
            <a:r>
              <a:rPr lang="en-US" sz="2400" dirty="0" smtClean="0">
                <a:ea typeface="+mn-ea"/>
                <a:cs typeface="+mn-cs"/>
                <a:sym typeface="Symbol"/>
              </a:rPr>
              <a:t></a:t>
            </a:r>
            <a:r>
              <a:rPr lang="en-US" sz="2400" i="1" dirty="0" smtClean="0">
                <a:ea typeface="+mn-ea"/>
                <a:cs typeface="+mn-cs"/>
              </a:rPr>
              <a:t> b (</a:t>
            </a:r>
            <a:r>
              <a:rPr lang="en-US" sz="2400" dirty="0" smtClean="0">
                <a:ea typeface="+mn-ea"/>
                <a:cs typeface="+mn-cs"/>
              </a:rPr>
              <a:t>mod</a:t>
            </a:r>
            <a:r>
              <a:rPr lang="en-US" sz="2400" i="1" dirty="0" smtClean="0">
                <a:ea typeface="+mn-ea"/>
                <a:cs typeface="+mn-cs"/>
              </a:rPr>
              <a:t> n)</a:t>
            </a:r>
            <a:r>
              <a:rPr lang="en-US" sz="2400" dirty="0" smtClean="0">
                <a:ea typeface="+mn-ea"/>
                <a:cs typeface="+mn-cs"/>
              </a:rPr>
              <a:t> if </a:t>
            </a:r>
            <a:r>
              <a:rPr lang="en-US" sz="2400" i="1" dirty="0" smtClean="0">
                <a:ea typeface="+mn-ea"/>
                <a:cs typeface="+mn-cs"/>
              </a:rPr>
              <a:t>n|(a – b)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2400" dirty="0" smtClean="0">
                <a:ea typeface="+mn-ea"/>
                <a:cs typeface="+mn-cs"/>
              </a:rPr>
              <a:t>		2. </a:t>
            </a:r>
            <a:r>
              <a:rPr lang="en-US" sz="2400" i="1" dirty="0" smtClean="0">
                <a:ea typeface="+mn-ea"/>
                <a:cs typeface="+mn-cs"/>
              </a:rPr>
              <a:t>a </a:t>
            </a:r>
            <a:r>
              <a:rPr lang="en-US" sz="2400" dirty="0">
                <a:sym typeface="Symbol"/>
              </a:rPr>
              <a:t></a:t>
            </a:r>
            <a:r>
              <a:rPr lang="en-US" sz="2400" i="1" dirty="0" smtClean="0">
                <a:ea typeface="+mn-ea"/>
                <a:cs typeface="+mn-cs"/>
              </a:rPr>
              <a:t> b </a:t>
            </a:r>
            <a:r>
              <a:rPr lang="en-US" sz="2400" dirty="0" smtClean="0">
                <a:ea typeface="+mn-ea"/>
                <a:cs typeface="+mn-cs"/>
              </a:rPr>
              <a:t>(mod </a:t>
            </a:r>
            <a:r>
              <a:rPr lang="en-US" sz="2400" i="1" dirty="0" smtClean="0">
                <a:ea typeface="+mn-ea"/>
                <a:cs typeface="+mn-cs"/>
              </a:rPr>
              <a:t>n</a:t>
            </a:r>
            <a:r>
              <a:rPr lang="en-US" sz="2400" dirty="0" smtClean="0">
                <a:ea typeface="+mn-ea"/>
                <a:cs typeface="+mn-cs"/>
              </a:rPr>
              <a:t>) implies </a:t>
            </a:r>
            <a:r>
              <a:rPr lang="en-US" sz="2400" i="1" dirty="0" smtClean="0">
                <a:ea typeface="+mn-ea"/>
                <a:cs typeface="+mn-cs"/>
              </a:rPr>
              <a:t>b </a:t>
            </a:r>
            <a:r>
              <a:rPr lang="en-US" sz="2400" dirty="0">
                <a:sym typeface="Symbol"/>
              </a:rPr>
              <a:t></a:t>
            </a:r>
            <a:r>
              <a:rPr lang="en-US" sz="2400" i="1" dirty="0" smtClean="0">
                <a:ea typeface="+mn-ea"/>
                <a:cs typeface="+mn-cs"/>
              </a:rPr>
              <a:t> a </a:t>
            </a:r>
            <a:r>
              <a:rPr lang="en-US" sz="2400" dirty="0" smtClean="0">
                <a:ea typeface="+mn-ea"/>
                <a:cs typeface="+mn-cs"/>
              </a:rPr>
              <a:t>(mod </a:t>
            </a:r>
            <a:r>
              <a:rPr lang="en-US" sz="2400" i="1" dirty="0" smtClean="0">
                <a:ea typeface="+mn-ea"/>
                <a:cs typeface="+mn-cs"/>
              </a:rPr>
              <a:t>n</a:t>
            </a:r>
            <a:r>
              <a:rPr lang="en-US" sz="2400" dirty="0" smtClean="0">
                <a:ea typeface="+mn-ea"/>
                <a:cs typeface="+mn-cs"/>
              </a:rPr>
              <a:t>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2400" dirty="0" smtClean="0">
                <a:ea typeface="+mn-ea"/>
                <a:cs typeface="+mn-cs"/>
              </a:rPr>
              <a:t>		3</a:t>
            </a:r>
            <a:r>
              <a:rPr lang="en-US" sz="2400" i="1" dirty="0" smtClean="0">
                <a:ea typeface="+mn-ea"/>
                <a:cs typeface="+mn-cs"/>
              </a:rPr>
              <a:t>. a </a:t>
            </a:r>
            <a:r>
              <a:rPr lang="en-US" sz="2400" dirty="0">
                <a:sym typeface="Symbol"/>
              </a:rPr>
              <a:t></a:t>
            </a:r>
            <a:r>
              <a:rPr lang="en-US" sz="2400" i="1" dirty="0" smtClean="0">
                <a:ea typeface="+mn-ea"/>
                <a:cs typeface="+mn-cs"/>
              </a:rPr>
              <a:t> b </a:t>
            </a:r>
            <a:r>
              <a:rPr lang="en-US" sz="2400" dirty="0" smtClean="0">
                <a:ea typeface="+mn-ea"/>
                <a:cs typeface="+mn-cs"/>
              </a:rPr>
              <a:t>(mod </a:t>
            </a:r>
            <a:r>
              <a:rPr lang="en-US" sz="2400" i="1" dirty="0" smtClean="0">
                <a:ea typeface="+mn-ea"/>
                <a:cs typeface="+mn-cs"/>
              </a:rPr>
              <a:t>n</a:t>
            </a:r>
            <a:r>
              <a:rPr lang="en-US" sz="2400" dirty="0" smtClean="0">
                <a:ea typeface="+mn-ea"/>
                <a:cs typeface="+mn-cs"/>
              </a:rPr>
              <a:t>) and </a:t>
            </a:r>
            <a:r>
              <a:rPr lang="en-US" sz="2400" i="1" dirty="0" smtClean="0">
                <a:ea typeface="+mn-ea"/>
                <a:cs typeface="+mn-cs"/>
              </a:rPr>
              <a:t>b </a:t>
            </a:r>
            <a:r>
              <a:rPr lang="en-US" sz="2400" dirty="0">
                <a:sym typeface="Symbol"/>
              </a:rPr>
              <a:t> </a:t>
            </a:r>
            <a:r>
              <a:rPr lang="en-US" sz="2400" i="1" dirty="0" smtClean="0">
                <a:ea typeface="+mn-ea"/>
                <a:cs typeface="+mn-cs"/>
              </a:rPr>
              <a:t>c </a:t>
            </a:r>
            <a:r>
              <a:rPr lang="en-US" sz="2400" dirty="0" smtClean="0">
                <a:ea typeface="+mn-ea"/>
                <a:cs typeface="+mn-cs"/>
              </a:rPr>
              <a:t>(mod </a:t>
            </a:r>
            <a:r>
              <a:rPr lang="en-US" sz="2400" i="1" dirty="0" smtClean="0">
                <a:ea typeface="+mn-ea"/>
                <a:cs typeface="+mn-cs"/>
              </a:rPr>
              <a:t>n</a:t>
            </a:r>
            <a:r>
              <a:rPr lang="en-US" sz="2400" dirty="0" smtClean="0">
                <a:ea typeface="+mn-ea"/>
                <a:cs typeface="+mn-cs"/>
              </a:rPr>
              <a:t>) imply </a:t>
            </a:r>
            <a:r>
              <a:rPr lang="en-US" sz="2400" i="1" dirty="0" smtClean="0">
                <a:ea typeface="+mn-ea"/>
                <a:cs typeface="+mn-cs"/>
              </a:rPr>
              <a:t>a </a:t>
            </a:r>
            <a:r>
              <a:rPr lang="en-US" sz="2400" dirty="0">
                <a:sym typeface="Symbol"/>
              </a:rPr>
              <a:t></a:t>
            </a:r>
            <a:r>
              <a:rPr lang="en-US" sz="2400" i="1" dirty="0" smtClean="0">
                <a:ea typeface="+mn-ea"/>
                <a:cs typeface="+mn-cs"/>
              </a:rPr>
              <a:t> c </a:t>
            </a:r>
            <a:r>
              <a:rPr lang="en-US" sz="2400" dirty="0" smtClean="0">
                <a:ea typeface="+mn-ea"/>
                <a:cs typeface="+mn-cs"/>
              </a:rPr>
              <a:t>(mod </a:t>
            </a:r>
            <a:r>
              <a:rPr lang="en-US" sz="2400" i="1" dirty="0" smtClean="0">
                <a:ea typeface="+mn-ea"/>
                <a:cs typeface="+mn-cs"/>
              </a:rPr>
              <a:t>n</a:t>
            </a:r>
            <a:r>
              <a:rPr lang="en-US" sz="2400" dirty="0" smtClean="0">
                <a:ea typeface="+mn-ea"/>
                <a:cs typeface="+mn-cs"/>
              </a:rPr>
              <a:t>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 smtClean="0">
                <a:ea typeface="+mn-ea"/>
                <a:cs typeface="+mn-cs"/>
              </a:rPr>
              <a:t>To demonstrate the first point, if </a:t>
            </a:r>
            <a:r>
              <a:rPr lang="en-US" sz="2400" i="1" dirty="0" smtClean="0">
                <a:ea typeface="+mn-ea"/>
                <a:cs typeface="+mn-cs"/>
              </a:rPr>
              <a:t>n (a - b)</a:t>
            </a:r>
            <a:r>
              <a:rPr lang="en-US" sz="2400" dirty="0" smtClean="0">
                <a:ea typeface="+mn-ea"/>
                <a:cs typeface="+mn-cs"/>
              </a:rPr>
              <a:t>, then </a:t>
            </a:r>
            <a:r>
              <a:rPr lang="en-US" sz="2400" i="1" dirty="0" smtClean="0">
                <a:ea typeface="+mn-ea"/>
                <a:cs typeface="+mn-cs"/>
              </a:rPr>
              <a:t>(a - b) = kn </a:t>
            </a:r>
            <a:r>
              <a:rPr lang="en-US" sz="2400" dirty="0" smtClean="0">
                <a:ea typeface="+mn-ea"/>
                <a:cs typeface="+mn-cs"/>
              </a:rPr>
              <a:t>for some </a:t>
            </a:r>
            <a:r>
              <a:rPr lang="en-US" sz="2400" i="1" dirty="0" smtClean="0">
                <a:ea typeface="+mn-ea"/>
                <a:cs typeface="+mn-cs"/>
              </a:rPr>
              <a:t>k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 smtClean="0">
                <a:ea typeface="+mn-ea"/>
              </a:rPr>
              <a:t>So we can write </a:t>
            </a:r>
            <a:r>
              <a:rPr lang="en-US" sz="2000" i="1" dirty="0" smtClean="0">
                <a:ea typeface="+mn-ea"/>
              </a:rPr>
              <a:t>a = b + kn</a:t>
            </a:r>
            <a:r>
              <a:rPr lang="en-US" sz="2000" dirty="0" smtClean="0">
                <a:ea typeface="+mn-ea"/>
              </a:rPr>
              <a:t> 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000" dirty="0" smtClean="0">
                <a:ea typeface="+mn-ea"/>
              </a:rPr>
              <a:t>Therefore, (</a:t>
            </a:r>
            <a:r>
              <a:rPr lang="en-US" sz="2000" i="1" dirty="0" smtClean="0">
                <a:ea typeface="+mn-ea"/>
              </a:rPr>
              <a:t>a </a:t>
            </a:r>
            <a:r>
              <a:rPr lang="en-US" sz="2000" dirty="0" smtClean="0">
                <a:ea typeface="+mn-ea"/>
              </a:rPr>
              <a:t>mod </a:t>
            </a:r>
            <a:r>
              <a:rPr lang="en-US" sz="2000" i="1" dirty="0" smtClean="0">
                <a:ea typeface="+mn-ea"/>
              </a:rPr>
              <a:t>n</a:t>
            </a:r>
            <a:r>
              <a:rPr lang="en-US" sz="2000" dirty="0" smtClean="0">
                <a:ea typeface="+mn-ea"/>
              </a:rPr>
              <a:t>) = (remainder when </a:t>
            </a:r>
            <a:r>
              <a:rPr lang="en-US" sz="2000" i="1" dirty="0" smtClean="0">
                <a:ea typeface="+mn-ea"/>
              </a:rPr>
              <a:t>b + kn </a:t>
            </a:r>
            <a:r>
              <a:rPr lang="en-US" sz="2000" dirty="0" smtClean="0">
                <a:ea typeface="+mn-ea"/>
              </a:rPr>
              <a:t>is divided by </a:t>
            </a:r>
            <a:r>
              <a:rPr lang="en-US" sz="2000" i="1" dirty="0" smtClean="0">
                <a:ea typeface="+mn-ea"/>
              </a:rPr>
              <a:t>n</a:t>
            </a:r>
            <a:r>
              <a:rPr lang="en-US" sz="2000" dirty="0" smtClean="0">
                <a:ea typeface="+mn-ea"/>
              </a:rPr>
              <a:t>) = (remainder when </a:t>
            </a:r>
            <a:r>
              <a:rPr lang="en-US" sz="2000" i="1" dirty="0" smtClean="0">
                <a:ea typeface="+mn-ea"/>
              </a:rPr>
              <a:t>b</a:t>
            </a:r>
            <a:r>
              <a:rPr lang="en-US" sz="2000" dirty="0" smtClean="0">
                <a:ea typeface="+mn-ea"/>
              </a:rPr>
              <a:t> is divided by </a:t>
            </a:r>
            <a:r>
              <a:rPr lang="en-US" sz="2000" i="1" dirty="0" smtClean="0">
                <a:ea typeface="+mn-ea"/>
              </a:rPr>
              <a:t>n</a:t>
            </a:r>
            <a:r>
              <a:rPr lang="en-US" sz="2000" dirty="0" smtClean="0">
                <a:ea typeface="+mn-ea"/>
              </a:rPr>
              <a:t>) = (</a:t>
            </a:r>
            <a:r>
              <a:rPr lang="en-US" sz="2000" i="1" dirty="0" smtClean="0">
                <a:ea typeface="+mn-ea"/>
              </a:rPr>
              <a:t>b</a:t>
            </a:r>
            <a:r>
              <a:rPr lang="en-US" sz="2000" dirty="0" smtClean="0">
                <a:ea typeface="+mn-ea"/>
              </a:rPr>
              <a:t> mod </a:t>
            </a:r>
            <a:r>
              <a:rPr lang="en-US" sz="2000" i="1" dirty="0" smtClean="0">
                <a:ea typeface="+mn-ea"/>
              </a:rPr>
              <a:t>n</a:t>
            </a:r>
            <a:r>
              <a:rPr lang="en-US" sz="2000" dirty="0" smtClean="0">
                <a:ea typeface="+mn-ea"/>
              </a:rPr>
              <a:t>)</a:t>
            </a:r>
            <a:endParaRPr lang="en-US" sz="2000" dirty="0">
              <a:ea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5656" y="5253037"/>
            <a:ext cx="6096000" cy="9239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Arial" pitchFamily="-1" charset="0"/>
              </a:rPr>
              <a:t>       23</a:t>
            </a:r>
            <a:r>
              <a:rPr lang="en-US" dirty="0" smtClean="0">
                <a:latin typeface="Arial" pitchFamily="-1" charset="0"/>
              </a:rPr>
              <a:t> =  </a:t>
            </a:r>
            <a:r>
              <a:rPr lang="en-US" dirty="0">
                <a:latin typeface="Arial" pitchFamily="-1" charset="0"/>
              </a:rPr>
              <a:t>8 (mod 5) because 23 -  8 =  15 =  5 *  3</a:t>
            </a:r>
          </a:p>
          <a:p>
            <a:pPr>
              <a:defRPr/>
            </a:pPr>
            <a:r>
              <a:rPr lang="en-US" dirty="0">
                <a:latin typeface="Arial" pitchFamily="-1" charset="0"/>
              </a:rPr>
              <a:t>       - 11</a:t>
            </a:r>
            <a:r>
              <a:rPr lang="en-US" dirty="0" smtClean="0">
                <a:latin typeface="Arial" pitchFamily="-1" charset="0"/>
              </a:rPr>
              <a:t> =  </a:t>
            </a:r>
            <a:r>
              <a:rPr lang="en-US" dirty="0">
                <a:latin typeface="Arial" pitchFamily="-1" charset="0"/>
              </a:rPr>
              <a:t>5 (mod 8) because - 11 -  5 = - 16 =  8 *  (- 2)</a:t>
            </a:r>
          </a:p>
          <a:p>
            <a:pPr>
              <a:defRPr/>
            </a:pPr>
            <a:r>
              <a:rPr lang="en-US" dirty="0">
                <a:latin typeface="Arial" pitchFamily="-1" charset="0"/>
              </a:rPr>
              <a:t>       81</a:t>
            </a:r>
            <a:r>
              <a:rPr lang="en-US" dirty="0" smtClean="0">
                <a:latin typeface="Arial" pitchFamily="-1" charset="0"/>
              </a:rPr>
              <a:t> =  </a:t>
            </a:r>
            <a:r>
              <a:rPr lang="en-US" dirty="0">
                <a:latin typeface="Arial" pitchFamily="-1" charset="0"/>
              </a:rPr>
              <a:t>0 (mod 27) because 81 -  0 =  81 =  27 *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4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78098"/>
          </a:xfrm>
        </p:spPr>
        <p:txBody>
          <a:bodyPr/>
          <a:lstStyle/>
          <a:p>
            <a:r>
              <a:rPr lang="en-US" dirty="0" smtClean="0"/>
              <a:t>Modular Arithmetic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5328592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1800" dirty="0" smtClean="0">
                <a:ea typeface="+mn-ea"/>
                <a:cs typeface="+mn-cs"/>
              </a:rPr>
              <a:t>Modular arithmetic exhibits the following properties:</a:t>
            </a:r>
          </a:p>
          <a:p>
            <a:pPr fontAlgn="auto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		1.  [(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a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 mod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n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) + (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b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 mod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n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)] mod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n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= (a + b) 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mod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n</a:t>
            </a:r>
          </a:p>
          <a:p>
            <a:pPr fontAlgn="auto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		2.  [(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a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 mod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n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) - (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b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 mod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n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)] mod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n = (a - b) 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mod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n</a:t>
            </a:r>
          </a:p>
          <a:p>
            <a:pPr fontAlgn="auto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		3.  [(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a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 mod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n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) * (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b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 mod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n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)] mod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n = (a * b) </a:t>
            </a:r>
            <a:r>
              <a:rPr lang="en-US" sz="1800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mod </a:t>
            </a:r>
            <a:r>
              <a:rPr lang="en-US" sz="1800" i="1" dirty="0" smtClean="0">
                <a:ln>
                  <a:solidFill>
                    <a:srgbClr val="C00000"/>
                  </a:solidFill>
                </a:ln>
                <a:ea typeface="+mn-ea"/>
                <a:cs typeface="+mn-cs"/>
              </a:rPr>
              <a:t>n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1800" dirty="0" smtClean="0">
                <a:ea typeface="+mn-ea"/>
                <a:cs typeface="+mn-cs"/>
              </a:rPr>
              <a:t>We demonstrate the first property:</a:t>
            </a:r>
          </a:p>
          <a:p>
            <a:pPr lvl="1" fontAlgn="auto">
              <a:lnSpc>
                <a:spcPct val="120000"/>
              </a:lnSpc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1800" dirty="0" smtClean="0">
                <a:ea typeface="+mn-ea"/>
              </a:rPr>
              <a:t>Define (</a:t>
            </a:r>
            <a:r>
              <a:rPr lang="en-US" sz="1800" i="1" dirty="0" smtClean="0">
                <a:ea typeface="+mn-ea"/>
              </a:rPr>
              <a:t>a</a:t>
            </a:r>
            <a:r>
              <a:rPr lang="en-US" sz="1800" dirty="0" smtClean="0">
                <a:ea typeface="+mn-ea"/>
              </a:rPr>
              <a:t> mod </a:t>
            </a:r>
            <a:r>
              <a:rPr lang="en-US" sz="1800" i="1" dirty="0" smtClean="0">
                <a:ea typeface="+mn-ea"/>
              </a:rPr>
              <a:t>n)</a:t>
            </a:r>
            <a:r>
              <a:rPr lang="en-US" sz="1800" dirty="0" smtClean="0">
                <a:ea typeface="+mn-ea"/>
              </a:rPr>
              <a:t> = </a:t>
            </a:r>
            <a:r>
              <a:rPr lang="en-US" sz="1800" i="1" dirty="0" smtClean="0">
                <a:ea typeface="+mn-ea"/>
              </a:rPr>
              <a:t>r</a:t>
            </a:r>
            <a:r>
              <a:rPr lang="en-US" sz="1800" i="1" baseline="-25000" dirty="0" smtClean="0">
                <a:ea typeface="+mn-ea"/>
              </a:rPr>
              <a:t>a</a:t>
            </a:r>
            <a:r>
              <a:rPr lang="en-US" sz="1800" i="1" dirty="0" smtClean="0">
                <a:ea typeface="+mn-ea"/>
              </a:rPr>
              <a:t> </a:t>
            </a:r>
            <a:r>
              <a:rPr lang="en-US" sz="1800" dirty="0" smtClean="0">
                <a:ea typeface="+mn-ea"/>
              </a:rPr>
              <a:t>and (</a:t>
            </a:r>
            <a:r>
              <a:rPr lang="en-US" sz="1800" i="1" dirty="0" smtClean="0">
                <a:ea typeface="+mn-ea"/>
              </a:rPr>
              <a:t>b</a:t>
            </a:r>
            <a:r>
              <a:rPr lang="en-US" sz="1800" dirty="0" smtClean="0">
                <a:ea typeface="+mn-ea"/>
              </a:rPr>
              <a:t> mod </a:t>
            </a:r>
            <a:r>
              <a:rPr lang="en-US" sz="1800" i="1" dirty="0" smtClean="0">
                <a:ea typeface="+mn-ea"/>
              </a:rPr>
              <a:t>n</a:t>
            </a:r>
            <a:r>
              <a:rPr lang="en-US" sz="1800" dirty="0" smtClean="0">
                <a:ea typeface="+mn-ea"/>
              </a:rPr>
              <a:t>) = </a:t>
            </a:r>
            <a:r>
              <a:rPr lang="en-US" sz="1800" i="1" dirty="0" smtClean="0">
                <a:ea typeface="+mn-ea"/>
              </a:rPr>
              <a:t>r</a:t>
            </a:r>
            <a:r>
              <a:rPr lang="en-US" sz="1800" i="1" baseline="-25000" dirty="0" smtClean="0">
                <a:ea typeface="+mn-ea"/>
              </a:rPr>
              <a:t>b</a:t>
            </a:r>
            <a:r>
              <a:rPr lang="en-US" sz="1800" dirty="0" smtClean="0">
                <a:ea typeface="+mn-ea"/>
              </a:rPr>
              <a:t>. Then we can write </a:t>
            </a:r>
            <a:r>
              <a:rPr lang="en-US" sz="1800" i="1" dirty="0" smtClean="0">
                <a:ea typeface="+mn-ea"/>
              </a:rPr>
              <a:t>a = r</a:t>
            </a:r>
            <a:r>
              <a:rPr lang="en-US" sz="1800" i="1" baseline="-25000" dirty="0" smtClean="0">
                <a:ea typeface="+mn-ea"/>
              </a:rPr>
              <a:t>a</a:t>
            </a:r>
            <a:r>
              <a:rPr lang="en-US" sz="1800" i="1" dirty="0" smtClean="0">
                <a:ea typeface="+mn-ea"/>
              </a:rPr>
              <a:t> </a:t>
            </a:r>
            <a:r>
              <a:rPr lang="en-US" sz="1800" dirty="0" smtClean="0">
                <a:ea typeface="+mn-ea"/>
              </a:rPr>
              <a:t>+ </a:t>
            </a:r>
            <a:r>
              <a:rPr lang="en-US" sz="1800" i="1" dirty="0" smtClean="0">
                <a:ea typeface="+mn-ea"/>
              </a:rPr>
              <a:t>jn</a:t>
            </a:r>
            <a:r>
              <a:rPr lang="en-US" sz="1800" dirty="0" smtClean="0">
                <a:ea typeface="+mn-ea"/>
              </a:rPr>
              <a:t> for some integer</a:t>
            </a:r>
            <a:r>
              <a:rPr lang="en-US" sz="1800" i="1" dirty="0" smtClean="0">
                <a:ea typeface="+mn-ea"/>
              </a:rPr>
              <a:t> j </a:t>
            </a:r>
            <a:r>
              <a:rPr lang="en-US" sz="1800" dirty="0" smtClean="0">
                <a:ea typeface="+mn-ea"/>
              </a:rPr>
              <a:t>and </a:t>
            </a:r>
            <a:r>
              <a:rPr lang="en-US" sz="1800" i="1" dirty="0" smtClean="0">
                <a:ea typeface="+mn-ea"/>
              </a:rPr>
              <a:t>b = r</a:t>
            </a:r>
            <a:r>
              <a:rPr lang="en-US" sz="1800" i="1" baseline="-25000" dirty="0" smtClean="0">
                <a:ea typeface="+mn-ea"/>
              </a:rPr>
              <a:t>b</a:t>
            </a:r>
            <a:r>
              <a:rPr lang="en-US" sz="1800" i="1" dirty="0" smtClean="0">
                <a:ea typeface="+mn-ea"/>
              </a:rPr>
              <a:t> + kn </a:t>
            </a:r>
            <a:r>
              <a:rPr lang="en-US" sz="1800" dirty="0" smtClean="0">
                <a:ea typeface="+mn-ea"/>
              </a:rPr>
              <a:t>for some integer </a:t>
            </a:r>
            <a:r>
              <a:rPr lang="en-US" sz="1800" i="1" dirty="0" smtClean="0">
                <a:ea typeface="+mn-ea"/>
              </a:rPr>
              <a:t>k</a:t>
            </a:r>
            <a:endParaRPr lang="en-US" sz="1800" dirty="0" smtClean="0">
              <a:ea typeface="+mn-ea"/>
            </a:endParaRPr>
          </a:p>
          <a:p>
            <a:pPr lvl="1" fontAlgn="auto">
              <a:lnSpc>
                <a:spcPct val="120000"/>
              </a:lnSpc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1800" dirty="0" smtClean="0">
                <a:ea typeface="+mn-ea"/>
              </a:rPr>
              <a:t>Then: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1800" dirty="0" smtClean="0">
                <a:ea typeface="+mn-ea"/>
                <a:cs typeface="+mn-cs"/>
              </a:rPr>
              <a:t>		(a + b) mod n = (</a:t>
            </a:r>
            <a:r>
              <a:rPr lang="en-US" sz="1800" i="1" dirty="0" err="1"/>
              <a:t>r</a:t>
            </a:r>
            <a:r>
              <a:rPr lang="en-US" sz="1800" i="1" baseline="-25000" dirty="0" err="1"/>
              <a:t>a</a:t>
            </a:r>
            <a:r>
              <a:rPr lang="en-US" sz="1800" dirty="0" smtClean="0">
                <a:ea typeface="+mn-ea"/>
                <a:cs typeface="+mn-cs"/>
              </a:rPr>
              <a:t> + jn + </a:t>
            </a:r>
            <a:r>
              <a:rPr lang="en-US" sz="1800" i="1" dirty="0" err="1"/>
              <a:t>r</a:t>
            </a:r>
            <a:r>
              <a:rPr lang="en-US" sz="1800" i="1" baseline="-25000" dirty="0" err="1"/>
              <a:t>b</a:t>
            </a:r>
            <a:r>
              <a:rPr lang="en-US" sz="1800" dirty="0" smtClean="0">
                <a:ea typeface="+mn-ea"/>
                <a:cs typeface="+mn-cs"/>
              </a:rPr>
              <a:t> + kn) mod n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1800" dirty="0" smtClean="0">
                <a:ea typeface="+mn-ea"/>
                <a:cs typeface="+mn-cs"/>
              </a:rPr>
              <a:t>			        = (</a:t>
            </a:r>
            <a:r>
              <a:rPr lang="en-US" sz="1800" i="1" dirty="0" err="1"/>
              <a:t>r</a:t>
            </a:r>
            <a:r>
              <a:rPr lang="en-US" sz="1800" i="1" baseline="-25000" dirty="0" err="1"/>
              <a:t>a</a:t>
            </a:r>
            <a:r>
              <a:rPr lang="en-US" sz="1800" dirty="0" smtClean="0">
                <a:ea typeface="+mn-ea"/>
                <a:cs typeface="+mn-cs"/>
              </a:rPr>
              <a:t> + </a:t>
            </a:r>
            <a:r>
              <a:rPr lang="en-US" sz="1800" i="1" dirty="0" err="1"/>
              <a:t>r</a:t>
            </a:r>
            <a:r>
              <a:rPr lang="en-US" sz="1800" i="1" baseline="-25000" dirty="0" err="1"/>
              <a:t>b</a:t>
            </a:r>
            <a:r>
              <a:rPr lang="en-US" sz="1800" dirty="0" smtClean="0">
                <a:ea typeface="+mn-ea"/>
                <a:cs typeface="+mn-cs"/>
              </a:rPr>
              <a:t> + (k + j)n) mod n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1800" dirty="0" smtClean="0">
                <a:ea typeface="+mn-ea"/>
                <a:cs typeface="+mn-cs"/>
              </a:rPr>
              <a:t>			        = (</a:t>
            </a:r>
            <a:r>
              <a:rPr lang="en-US" sz="1800" i="1" dirty="0" err="1"/>
              <a:t>r</a:t>
            </a:r>
            <a:r>
              <a:rPr lang="en-US" sz="1800" i="1" baseline="-25000" dirty="0" err="1"/>
              <a:t>a</a:t>
            </a:r>
            <a:r>
              <a:rPr lang="en-US" sz="1800" dirty="0" smtClean="0">
                <a:ea typeface="+mn-ea"/>
                <a:cs typeface="+mn-cs"/>
              </a:rPr>
              <a:t> + </a:t>
            </a:r>
            <a:r>
              <a:rPr lang="en-US" sz="1800" i="1" dirty="0" err="1"/>
              <a:t>r</a:t>
            </a:r>
            <a:r>
              <a:rPr lang="en-US" sz="1800" i="1" baseline="-25000" dirty="0" err="1"/>
              <a:t>b</a:t>
            </a:r>
            <a:r>
              <a:rPr lang="en-US" sz="1800" dirty="0" smtClean="0">
                <a:ea typeface="+mn-ea"/>
                <a:cs typeface="+mn-cs"/>
              </a:rPr>
              <a:t>) mod n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1800" dirty="0" smtClean="0">
                <a:ea typeface="+mn-ea"/>
                <a:cs typeface="+mn-cs"/>
              </a:rPr>
              <a:t>			        = [(a mod n) + (b mod n)] mod 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smtClean="0"/>
              <a:t>4</a:t>
            </a:r>
            <a:r>
              <a:rPr lang="da-DK" i="1" dirty="0" smtClean="0"/>
              <a:t>x </a:t>
            </a:r>
            <a:r>
              <a:rPr lang="da-DK" dirty="0">
                <a:sym typeface="Symbol"/>
              </a:rPr>
              <a:t></a:t>
            </a:r>
            <a:r>
              <a:rPr lang="da-DK" dirty="0" smtClean="0"/>
              <a:t> </a:t>
            </a:r>
            <a:r>
              <a:rPr lang="da-DK" dirty="0"/>
              <a:t>2 (mod 3)</a:t>
            </a:r>
          </a:p>
          <a:p>
            <a:r>
              <a:rPr lang="da-DK" dirty="0" smtClean="0"/>
              <a:t>7</a:t>
            </a:r>
            <a:r>
              <a:rPr lang="da-DK" i="1" dirty="0" smtClean="0"/>
              <a:t>x </a:t>
            </a:r>
            <a:r>
              <a:rPr lang="da-DK" dirty="0">
                <a:sym typeface="Symbol"/>
              </a:rPr>
              <a:t></a:t>
            </a:r>
            <a:r>
              <a:rPr lang="da-DK" dirty="0" smtClean="0"/>
              <a:t> </a:t>
            </a:r>
            <a:r>
              <a:rPr lang="da-DK" dirty="0"/>
              <a:t>4 (mod 9)</a:t>
            </a:r>
          </a:p>
          <a:p>
            <a:r>
              <a:rPr lang="da-DK" dirty="0" smtClean="0"/>
              <a:t>5</a:t>
            </a:r>
            <a:r>
              <a:rPr lang="da-DK" i="1" dirty="0" smtClean="0"/>
              <a:t>x </a:t>
            </a:r>
            <a:r>
              <a:rPr lang="da-DK" dirty="0">
                <a:sym typeface="Symbol"/>
              </a:rPr>
              <a:t></a:t>
            </a:r>
            <a:r>
              <a:rPr lang="da-DK" dirty="0" smtClean="0"/>
              <a:t> </a:t>
            </a:r>
            <a:r>
              <a:rPr lang="da-DK" dirty="0"/>
              <a:t>3 (mod 11)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8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/>
              <a:t>Remaining Properties:</a:t>
            </a:r>
          </a:p>
        </p:txBody>
      </p:sp>
      <p:sp>
        <p:nvSpPr>
          <p:cNvPr id="62467" name="Content Placeholder 5"/>
          <p:cNvSpPr>
            <a:spLocks noGrp="1"/>
          </p:cNvSpPr>
          <p:nvPr>
            <p:ph idx="1"/>
          </p:nvPr>
        </p:nvSpPr>
        <p:spPr>
          <a:xfrm>
            <a:off x="443706" y="1196752"/>
            <a:ext cx="8229600" cy="4525963"/>
          </a:xfrm>
        </p:spPr>
        <p:txBody>
          <a:bodyPr/>
          <a:lstStyle/>
          <a:p>
            <a:r>
              <a:rPr lang="en-US" sz="2800" dirty="0" smtClean="0"/>
              <a:t>Examples of the three remaining properties: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600" y="2132856"/>
            <a:ext cx="7128792" cy="31700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en-US" sz="2000" dirty="0">
                <a:latin typeface="Arial" pitchFamily="-1" charset="0"/>
              </a:rPr>
              <a:t> 11 mod 8 = 3; 15 mod 8 = 7</a:t>
            </a:r>
          </a:p>
          <a:p>
            <a:pPr>
              <a:spcBef>
                <a:spcPts val="1200"/>
              </a:spcBef>
              <a:defRPr/>
            </a:pPr>
            <a:r>
              <a:rPr lang="en-US" sz="2000" dirty="0">
                <a:latin typeface="Arial" pitchFamily="-1" charset="0"/>
              </a:rPr>
              <a:t>[(11 mod 8) + (15 mod 8)] mod 8 = 10 mod 8 = 2</a:t>
            </a:r>
          </a:p>
          <a:p>
            <a:pPr>
              <a:spcBef>
                <a:spcPts val="1200"/>
              </a:spcBef>
              <a:defRPr/>
            </a:pPr>
            <a:r>
              <a:rPr lang="en-US" sz="2000" dirty="0">
                <a:latin typeface="Arial" pitchFamily="-1" charset="0"/>
              </a:rPr>
              <a:t>(11 + 15) mod 8 =  26 mod 8 = 2</a:t>
            </a:r>
          </a:p>
          <a:p>
            <a:pPr>
              <a:spcBef>
                <a:spcPts val="1200"/>
              </a:spcBef>
              <a:defRPr/>
            </a:pPr>
            <a:r>
              <a:rPr lang="en-US" sz="2000" dirty="0">
                <a:latin typeface="Arial" pitchFamily="-1" charset="0"/>
              </a:rPr>
              <a:t>[(11 mod 8) - (15 mod 8)] mod 8 = - 4 mod 8 = 4</a:t>
            </a:r>
          </a:p>
          <a:p>
            <a:pPr>
              <a:spcBef>
                <a:spcPts val="1200"/>
              </a:spcBef>
              <a:defRPr/>
            </a:pPr>
            <a:r>
              <a:rPr lang="en-US" sz="2000" dirty="0">
                <a:latin typeface="Arial" pitchFamily="-1" charset="0"/>
              </a:rPr>
              <a:t>(11 -  15) mod 8 = - 4 mod 8 =  4</a:t>
            </a:r>
          </a:p>
          <a:p>
            <a:pPr>
              <a:spcBef>
                <a:spcPts val="1200"/>
              </a:spcBef>
              <a:defRPr/>
            </a:pPr>
            <a:r>
              <a:rPr lang="en-US" sz="2000" dirty="0">
                <a:latin typeface="Arial" pitchFamily="-1" charset="0"/>
              </a:rPr>
              <a:t>[(11 mod 8) *  (15 mod 8)] mod 8 =  21 mod 8 = 5</a:t>
            </a:r>
          </a:p>
          <a:p>
            <a:pPr>
              <a:spcBef>
                <a:spcPts val="1200"/>
              </a:spcBef>
              <a:defRPr/>
            </a:pPr>
            <a:r>
              <a:rPr lang="en-US" sz="2000" dirty="0">
                <a:latin typeface="Arial" pitchFamily="-1" charset="0"/>
              </a:rPr>
              <a:t>(11 * 15) mod 8 = 165 mod 8 =  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78098"/>
          </a:xfrm>
        </p:spPr>
        <p:txBody>
          <a:bodyPr/>
          <a:lstStyle/>
          <a:p>
            <a:r>
              <a:rPr lang="en-US" sz="3600" dirty="0" smtClean="0"/>
              <a:t>Table 4.2(a) Arithmetic Modulo 8</a:t>
            </a:r>
          </a:p>
        </p:txBody>
      </p:sp>
      <p:pic>
        <p:nvPicPr>
          <p:cNvPr id="64515" name="Picture 2"/>
          <p:cNvPicPr>
            <a:picLocks noChangeAspect="1"/>
          </p:cNvPicPr>
          <p:nvPr/>
        </p:nvPicPr>
        <p:blipFill>
          <a:blip r:embed="rId3"/>
          <a:srcRect r="36000"/>
          <a:stretch>
            <a:fillRect/>
          </a:stretch>
        </p:blipFill>
        <p:spPr bwMode="auto">
          <a:xfrm>
            <a:off x="754485" y="1042535"/>
            <a:ext cx="7633940" cy="4895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Oval 1"/>
          <p:cNvSpPr/>
          <p:nvPr/>
        </p:nvSpPr>
        <p:spPr>
          <a:xfrm>
            <a:off x="971600" y="1051324"/>
            <a:ext cx="432048" cy="433460"/>
          </a:xfrm>
          <a:prstGeom prst="ellipse">
            <a:avLst/>
          </a:prstGeom>
          <a:solidFill>
            <a:srgbClr val="FFFF00">
              <a:alpha val="47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5255" y="8409"/>
            <a:ext cx="9144000" cy="756295"/>
          </a:xfrm>
        </p:spPr>
        <p:txBody>
          <a:bodyPr/>
          <a:lstStyle/>
          <a:p>
            <a:r>
              <a:rPr lang="en-US" sz="3200" dirty="0" smtClean="0"/>
              <a:t>Table 4.2(b) </a:t>
            </a:r>
            <a:r>
              <a:rPr lang="en-US" sz="3600" dirty="0" smtClean="0"/>
              <a:t>Multiplication Modulo 8</a:t>
            </a:r>
            <a:endParaRPr lang="en-US" sz="3200" dirty="0" smtClean="0"/>
          </a:p>
        </p:txBody>
      </p:sp>
      <p:pic>
        <p:nvPicPr>
          <p:cNvPr id="66563" name="Picture 2"/>
          <p:cNvPicPr>
            <a:picLocks noChangeAspect="1"/>
          </p:cNvPicPr>
          <p:nvPr/>
        </p:nvPicPr>
        <p:blipFill>
          <a:blip r:embed="rId3"/>
          <a:srcRect r="36151"/>
          <a:stretch>
            <a:fillRect/>
          </a:stretch>
        </p:blipFill>
        <p:spPr bwMode="auto">
          <a:xfrm>
            <a:off x="813098" y="1026293"/>
            <a:ext cx="7503318" cy="4891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Oval 3"/>
          <p:cNvSpPr/>
          <p:nvPr/>
        </p:nvSpPr>
        <p:spPr>
          <a:xfrm>
            <a:off x="1043608" y="1043110"/>
            <a:ext cx="432048" cy="441674"/>
          </a:xfrm>
          <a:prstGeom prst="ellipse">
            <a:avLst/>
          </a:prstGeom>
          <a:solidFill>
            <a:srgbClr val="FFFF00">
              <a:alpha val="47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3886200" cy="4038600"/>
          </a:xfrm>
        </p:spPr>
        <p:txBody>
          <a:bodyPr/>
          <a:lstStyle/>
          <a:p>
            <a:r>
              <a:rPr lang="en-US" sz="3200" dirty="0" smtClean="0"/>
              <a:t>Table 4.2(c)</a:t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Additive </a:t>
            </a:r>
            <a:br>
              <a:rPr lang="en-US" sz="3200" dirty="0" smtClean="0"/>
            </a:br>
            <a:r>
              <a:rPr lang="en-US" sz="3200" dirty="0" smtClean="0"/>
              <a:t>and </a:t>
            </a:r>
            <a:br>
              <a:rPr lang="en-US" sz="3200" dirty="0" smtClean="0"/>
            </a:br>
            <a:r>
              <a:rPr lang="en-US" sz="3200" dirty="0" smtClean="0"/>
              <a:t>Multiplicative Inverses </a:t>
            </a:r>
            <a:br>
              <a:rPr lang="en-US" sz="3200" dirty="0" smtClean="0"/>
            </a:br>
            <a:r>
              <a:rPr lang="en-US" sz="3200" dirty="0" smtClean="0"/>
              <a:t>Modulo 8</a:t>
            </a:r>
          </a:p>
        </p:txBody>
      </p:sp>
      <p:pic>
        <p:nvPicPr>
          <p:cNvPr id="68611" name="Picture 2"/>
          <p:cNvPicPr>
            <a:picLocks noChangeAspect="1"/>
          </p:cNvPicPr>
          <p:nvPr/>
        </p:nvPicPr>
        <p:blipFill>
          <a:blip r:embed="rId3"/>
          <a:srcRect r="76820"/>
          <a:stretch>
            <a:fillRect/>
          </a:stretch>
        </p:blipFill>
        <p:spPr bwMode="auto">
          <a:xfrm>
            <a:off x="5466644" y="729332"/>
            <a:ext cx="2892250" cy="5219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1691680" y="4581128"/>
            <a:ext cx="1851789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da-DK" dirty="0"/>
              <a:t>a + x ≡ 0 mod m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89952" y="5404574"/>
            <a:ext cx="210185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da-DK" dirty="0"/>
              <a:t>w</a:t>
            </a:r>
            <a:r>
              <a:rPr lang="da-DK" dirty="0" smtClean="0"/>
              <a:t> </a:t>
            </a:r>
            <a:r>
              <a:rPr lang="da-DK" dirty="0"/>
              <a:t>* </a:t>
            </a:r>
            <a:r>
              <a:rPr lang="da-DK" dirty="0" smtClean="0"/>
              <a:t>w</a:t>
            </a:r>
            <a:r>
              <a:rPr lang="da-DK" baseline="30000" dirty="0" smtClean="0"/>
              <a:t>-1</a:t>
            </a:r>
            <a:r>
              <a:rPr lang="da-DK" dirty="0" smtClean="0"/>
              <a:t> </a:t>
            </a:r>
            <a:r>
              <a:rPr lang="da-DK" dirty="0"/>
              <a:t>≡ 1 mod m</a:t>
            </a: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AU" sz="4800" dirty="0" smtClean="0"/>
              <a:t>Table 4.3</a:t>
            </a:r>
            <a:br>
              <a:rPr lang="en-AU" sz="4800" dirty="0" smtClean="0"/>
            </a:br>
            <a:r>
              <a:rPr lang="en-AU" sz="3200" dirty="0" smtClean="0"/>
              <a:t>Properties of Modular Arithmetic for Integers in Z</a:t>
            </a:r>
            <a:r>
              <a:rPr lang="en-AU" sz="3200" baseline="-25000" dirty="0" smtClean="0"/>
              <a:t>n</a:t>
            </a:r>
            <a:endParaRPr lang="en-US" sz="4400" baseline="-25000" dirty="0" smtClean="0"/>
          </a:p>
        </p:txBody>
      </p:sp>
      <p:pic>
        <p:nvPicPr>
          <p:cNvPr id="70659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462" y="1772816"/>
            <a:ext cx="8999537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US" smtClean="0"/>
              <a:t>Table 4.4</a:t>
            </a:r>
            <a:br>
              <a:rPr lang="en-US" smtClean="0"/>
            </a:br>
            <a:r>
              <a:rPr lang="en-US" sz="4000" smtClean="0"/>
              <a:t>Extended Euclidean Algorithm Example</a:t>
            </a:r>
            <a:endParaRPr lang="en-US" smtClean="0"/>
          </a:p>
        </p:txBody>
      </p:sp>
      <p:pic>
        <p:nvPicPr>
          <p:cNvPr id="72707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118" y="2276872"/>
            <a:ext cx="8829675" cy="329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08" name="TextBox 5"/>
          <p:cNvSpPr txBox="1">
            <a:spLocks noChangeArrowheads="1"/>
          </p:cNvSpPr>
          <p:nvPr/>
        </p:nvSpPr>
        <p:spPr bwMode="auto">
          <a:xfrm>
            <a:off x="2476723" y="5639182"/>
            <a:ext cx="41764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Result: </a:t>
            </a:r>
            <a:r>
              <a:rPr lang="en-US" sz="2000" i="1" dirty="0"/>
              <a:t>d</a:t>
            </a:r>
            <a:r>
              <a:rPr lang="en-US" sz="2000" dirty="0"/>
              <a:t> = 1; </a:t>
            </a:r>
            <a:r>
              <a:rPr lang="en-US" sz="2000" i="1" dirty="0"/>
              <a:t>x</a:t>
            </a:r>
            <a:r>
              <a:rPr lang="en-US" sz="2000" dirty="0"/>
              <a:t> = –111; </a:t>
            </a:r>
            <a:r>
              <a:rPr lang="en-US" sz="2000" i="1" dirty="0"/>
              <a:t>y</a:t>
            </a:r>
            <a:r>
              <a:rPr lang="en-US" sz="2000" dirty="0"/>
              <a:t> = </a:t>
            </a:r>
            <a:r>
              <a:rPr lang="en-US" sz="2000" dirty="0" smtClean="0"/>
              <a:t>355 </a:t>
            </a:r>
            <a:endParaRPr lang="en-US" sz="2000" dirty="0"/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150118" y="1628800"/>
            <a:ext cx="87423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dirty="0" smtClean="0"/>
              <a:t>For given integers a and b, find &lt;</a:t>
            </a:r>
            <a:r>
              <a:rPr lang="en-US" sz="2000" dirty="0" err="1" smtClean="0"/>
              <a:t>d,x,y</a:t>
            </a:r>
            <a:r>
              <a:rPr lang="en-US" sz="2000" dirty="0" smtClean="0"/>
              <a:t>&gt; satisfying:   ax + by = d = </a:t>
            </a:r>
            <a:r>
              <a:rPr lang="en-US" sz="2000" dirty="0" err="1" smtClean="0"/>
              <a:t>gcd</a:t>
            </a:r>
            <a:r>
              <a:rPr lang="en-US" sz="2000" dirty="0" smtClean="0"/>
              <a:t>(</a:t>
            </a:r>
            <a:r>
              <a:rPr lang="en-US" sz="2000" dirty="0" err="1" smtClean="0"/>
              <a:t>a,b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1986330" y="27089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a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075" y="30782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Prime Numbers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63867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Prime numbers only have divisors of 1 and itself 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</a:rPr>
              <a:t>They cannot be written as a product of other numbers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Prime numbers are central to number theory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 Any integer a &gt; 1 can be factored in a unique way as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	a = </a:t>
            </a:r>
            <a:r>
              <a:rPr lang="en-US" baseline="-25000" dirty="0" smtClean="0">
                <a:ea typeface="+mn-ea"/>
                <a:cs typeface="+mn-cs"/>
              </a:rPr>
              <a:t>p1</a:t>
            </a:r>
            <a:r>
              <a:rPr lang="en-US" dirty="0" smtClean="0">
                <a:ea typeface="+mn-ea"/>
                <a:cs typeface="+mn-cs"/>
              </a:rPr>
              <a:t> </a:t>
            </a:r>
            <a:r>
              <a:rPr lang="en-US" baseline="30000" dirty="0" smtClean="0">
                <a:ea typeface="+mn-ea"/>
                <a:cs typeface="+mn-cs"/>
              </a:rPr>
              <a:t>a1</a:t>
            </a:r>
            <a:r>
              <a:rPr lang="en-US" dirty="0" smtClean="0">
                <a:ea typeface="+mn-ea"/>
                <a:cs typeface="+mn-cs"/>
              </a:rPr>
              <a:t> * p</a:t>
            </a:r>
            <a:r>
              <a:rPr lang="en-US" baseline="-25000" dirty="0" smtClean="0">
                <a:ea typeface="+mn-ea"/>
                <a:cs typeface="+mn-cs"/>
              </a:rPr>
              <a:t>2</a:t>
            </a:r>
            <a:r>
              <a:rPr lang="en-US" dirty="0" smtClean="0">
                <a:ea typeface="+mn-ea"/>
                <a:cs typeface="+mn-cs"/>
              </a:rPr>
              <a:t> </a:t>
            </a:r>
            <a:r>
              <a:rPr lang="en-US" sz="2857" baseline="30000" dirty="0" smtClean="0">
                <a:ea typeface="+mn-ea"/>
                <a:cs typeface="+mn-cs"/>
              </a:rPr>
              <a:t>a2</a:t>
            </a:r>
            <a:r>
              <a:rPr lang="en-US" dirty="0" smtClean="0">
                <a:ea typeface="+mn-ea"/>
                <a:cs typeface="+mn-cs"/>
              </a:rPr>
              <a:t> * . . . * p</a:t>
            </a:r>
            <a:r>
              <a:rPr lang="en-US" baseline="-25000" dirty="0" smtClean="0">
                <a:ea typeface="+mn-ea"/>
                <a:cs typeface="+mn-cs"/>
              </a:rPr>
              <a:t>p1</a:t>
            </a:r>
            <a:r>
              <a:rPr lang="en-US" dirty="0" smtClean="0">
                <a:ea typeface="+mn-ea"/>
                <a:cs typeface="+mn-cs"/>
              </a:rPr>
              <a:t> </a:t>
            </a:r>
            <a:r>
              <a:rPr lang="en-US" baseline="30000" dirty="0" smtClean="0">
                <a:ea typeface="+mn-ea"/>
                <a:cs typeface="+mn-cs"/>
              </a:rPr>
              <a:t>a1</a:t>
            </a:r>
            <a:r>
              <a:rPr lang="en-US" dirty="0" smtClean="0">
                <a:ea typeface="+mn-ea"/>
                <a:cs typeface="+mn-cs"/>
              </a:rPr>
              <a:t> 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where p</a:t>
            </a:r>
            <a:r>
              <a:rPr lang="en-US" sz="2839" baseline="-25000" dirty="0" smtClean="0">
                <a:ea typeface="+mn-ea"/>
                <a:cs typeface="+mn-cs"/>
              </a:rPr>
              <a:t>1</a:t>
            </a:r>
            <a:r>
              <a:rPr lang="en-US" dirty="0" smtClean="0">
                <a:ea typeface="+mn-ea"/>
                <a:cs typeface="+mn-cs"/>
              </a:rPr>
              <a:t> &lt; p</a:t>
            </a:r>
            <a:r>
              <a:rPr lang="en-US" sz="2839" baseline="-25000" dirty="0" smtClean="0">
                <a:ea typeface="+mn-ea"/>
                <a:cs typeface="+mn-cs"/>
              </a:rPr>
              <a:t>2</a:t>
            </a:r>
            <a:r>
              <a:rPr lang="en-US" dirty="0" smtClean="0">
                <a:ea typeface="+mn-ea"/>
                <a:cs typeface="+mn-cs"/>
              </a:rPr>
              <a:t> &lt; . . .  &lt; p</a:t>
            </a:r>
            <a:r>
              <a:rPr lang="en-US" sz="2839" baseline="-25000" dirty="0" smtClean="0">
                <a:ea typeface="+mn-ea"/>
                <a:cs typeface="+mn-cs"/>
              </a:rPr>
              <a:t>t</a:t>
            </a:r>
            <a:r>
              <a:rPr lang="en-US" dirty="0" smtClean="0">
                <a:ea typeface="+mn-ea"/>
                <a:cs typeface="+mn-cs"/>
              </a:rPr>
              <a:t>  are prime numbers and where each a</a:t>
            </a:r>
            <a:r>
              <a:rPr lang="en-US" sz="2839" baseline="-25000" dirty="0" smtClean="0">
                <a:ea typeface="+mn-ea"/>
                <a:cs typeface="+mn-cs"/>
              </a:rPr>
              <a:t>i</a:t>
            </a:r>
            <a:r>
              <a:rPr lang="en-US" dirty="0" smtClean="0">
                <a:ea typeface="+mn-ea"/>
                <a:cs typeface="+mn-cs"/>
              </a:rPr>
              <a:t>  is a positive integer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This is known as the fundamental theorem of arithmetic</a:t>
            </a:r>
            <a:endParaRPr lang="en-AU" dirty="0" smtClean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4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914400"/>
            <a:ext cx="8369300" cy="577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+mn-lt"/>
              </a:rPr>
              <a:t>Table 8.1  </a:t>
            </a:r>
          </a:p>
          <a:p>
            <a:pPr algn="ctr">
              <a:defRPr/>
            </a:pPr>
            <a:r>
              <a:rPr lang="en-US" sz="2800" dirty="0">
                <a:latin typeface="+mn-lt"/>
              </a:rPr>
              <a:t>Primes Under 2000 </a:t>
            </a:r>
          </a:p>
        </p:txBody>
      </p:sp>
    </p:spTree>
    <p:extLst>
      <p:ext uri="{BB962C8B-B14F-4D97-AF65-F5344CB8AC3E}">
        <p14:creationId xmlns:p14="http://schemas.microsoft.com/office/powerpoint/2010/main" val="4164398594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Fermat's Theorem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340768"/>
            <a:ext cx="7570787" cy="463867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States the following: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</a:rPr>
              <a:t>If </a:t>
            </a:r>
            <a:r>
              <a:rPr lang="en-AU" i="1" dirty="0" smtClean="0">
                <a:ea typeface="+mn-ea"/>
              </a:rPr>
              <a:t>p </a:t>
            </a:r>
            <a:r>
              <a:rPr lang="en-AU" dirty="0" smtClean="0">
                <a:ea typeface="+mn-ea"/>
              </a:rPr>
              <a:t>is prime and </a:t>
            </a:r>
            <a:r>
              <a:rPr lang="en-AU" i="1" dirty="0" smtClean="0">
                <a:ea typeface="+mn-ea"/>
              </a:rPr>
              <a:t>a </a:t>
            </a:r>
            <a:r>
              <a:rPr lang="en-AU" dirty="0" smtClean="0">
                <a:ea typeface="+mn-ea"/>
              </a:rPr>
              <a:t>is a positive integer not divisible by </a:t>
            </a:r>
            <a:r>
              <a:rPr lang="en-AU" i="1" dirty="0" smtClean="0">
                <a:ea typeface="+mn-ea"/>
              </a:rPr>
              <a:t>p </a:t>
            </a:r>
            <a:r>
              <a:rPr lang="en-AU" dirty="0" smtClean="0">
                <a:ea typeface="+mn-ea"/>
              </a:rPr>
              <a:t>then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AU" dirty="0" smtClean="0">
                <a:ea typeface="+mn-ea"/>
                <a:cs typeface="+mn-cs"/>
              </a:rPr>
              <a:t>			a</a:t>
            </a:r>
            <a:r>
              <a:rPr lang="en-AU" baseline="30000" dirty="0" smtClean="0">
                <a:ea typeface="+mn-ea"/>
                <a:cs typeface="+mn-cs"/>
              </a:rPr>
              <a:t>p-1</a:t>
            </a:r>
            <a:r>
              <a:rPr lang="en-AU" dirty="0" smtClean="0">
                <a:ea typeface="+mn-ea"/>
                <a:cs typeface="+mn-cs"/>
              </a:rPr>
              <a:t> </a:t>
            </a:r>
            <a:r>
              <a:rPr lang="en-AU" dirty="0" smtClean="0">
                <a:ea typeface="+mn-ea"/>
                <a:cs typeface="+mn-cs"/>
                <a:sym typeface="Symbol"/>
              </a:rPr>
              <a:t></a:t>
            </a:r>
            <a:r>
              <a:rPr lang="en-AU" dirty="0" smtClean="0">
                <a:ea typeface="+mn-ea"/>
                <a:cs typeface="+mn-cs"/>
              </a:rPr>
              <a:t> 1 (mod </a:t>
            </a:r>
            <a:r>
              <a:rPr lang="en-AU" i="1" dirty="0" smtClean="0">
                <a:ea typeface="+mn-ea"/>
                <a:cs typeface="+mn-cs"/>
              </a:rPr>
              <a:t>p</a:t>
            </a:r>
            <a:r>
              <a:rPr lang="en-AU" dirty="0" smtClean="0">
                <a:ea typeface="+mn-ea"/>
                <a:cs typeface="+mn-cs"/>
              </a:rPr>
              <a:t>)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Sometimes referred to as Fermat’s Little Theorem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An alternate form is: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If </a:t>
            </a:r>
            <a:r>
              <a:rPr lang="en-US" i="1" dirty="0" smtClean="0">
                <a:ea typeface="+mn-ea"/>
              </a:rPr>
              <a:t>p </a:t>
            </a:r>
            <a:r>
              <a:rPr lang="en-US" dirty="0" smtClean="0">
                <a:ea typeface="+mn-ea"/>
              </a:rPr>
              <a:t>is prime and </a:t>
            </a:r>
            <a:r>
              <a:rPr lang="en-US" i="1" dirty="0" smtClean="0">
                <a:ea typeface="+mn-ea"/>
              </a:rPr>
              <a:t>a </a:t>
            </a:r>
            <a:r>
              <a:rPr lang="en-US" dirty="0" smtClean="0">
                <a:ea typeface="+mn-ea"/>
              </a:rPr>
              <a:t>is a positive integer then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			 </a:t>
            </a:r>
            <a:r>
              <a:rPr lang="en-AU" i="1" dirty="0" err="1" smtClean="0">
                <a:ea typeface="+mn-ea"/>
                <a:cs typeface="+mn-cs"/>
              </a:rPr>
              <a:t>a</a:t>
            </a:r>
            <a:r>
              <a:rPr lang="en-AU" baseline="30000" dirty="0" err="1" smtClean="0">
                <a:ea typeface="+mn-ea"/>
                <a:cs typeface="+mn-cs"/>
              </a:rPr>
              <a:t>p</a:t>
            </a:r>
            <a:r>
              <a:rPr lang="en-AU" dirty="0" smtClean="0">
                <a:ea typeface="+mn-ea"/>
                <a:cs typeface="+mn-cs"/>
              </a:rPr>
              <a:t> </a:t>
            </a:r>
            <a:r>
              <a:rPr lang="en-AU" dirty="0" smtClean="0">
                <a:ea typeface="+mn-ea"/>
                <a:cs typeface="+mn-cs"/>
                <a:sym typeface="Symbol"/>
              </a:rPr>
              <a:t></a:t>
            </a:r>
            <a:r>
              <a:rPr lang="en-AU" dirty="0" smtClean="0">
                <a:ea typeface="+mn-ea"/>
                <a:cs typeface="+mn-cs"/>
              </a:rPr>
              <a:t> </a:t>
            </a:r>
            <a:r>
              <a:rPr lang="en-AU" i="1" dirty="0" smtClean="0">
                <a:ea typeface="+mn-ea"/>
                <a:cs typeface="+mn-cs"/>
              </a:rPr>
              <a:t>a</a:t>
            </a:r>
            <a:r>
              <a:rPr lang="en-AU" dirty="0" smtClean="0">
                <a:ea typeface="+mn-ea"/>
                <a:cs typeface="+mn-cs"/>
              </a:rPr>
              <a:t> (mod </a:t>
            </a:r>
            <a:r>
              <a:rPr lang="en-AU" i="1" dirty="0" smtClean="0">
                <a:ea typeface="+mn-ea"/>
                <a:cs typeface="+mn-cs"/>
              </a:rPr>
              <a:t>p</a:t>
            </a:r>
            <a:r>
              <a:rPr lang="en-AU" dirty="0" smtClean="0">
                <a:ea typeface="+mn-ea"/>
                <a:cs typeface="+mn-cs"/>
              </a:rPr>
              <a:t>) </a:t>
            </a:r>
            <a:endParaRPr lang="en-US" dirty="0" smtClean="0"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Plays an important role in public-key cryptography</a:t>
            </a:r>
            <a:endParaRPr lang="en-AU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01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E.g.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2368550"/>
            <a:ext cx="4838700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942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Euler’s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Euler’s totient </a:t>
            </a:r>
            <a:r>
              <a:rPr lang="en-US" dirty="0" smtClean="0"/>
              <a:t>function</a:t>
            </a:r>
          </a:p>
          <a:p>
            <a:pPr lvl="1"/>
            <a:r>
              <a:rPr lang="en-US" dirty="0"/>
              <a:t>This function, written </a:t>
            </a:r>
            <a:r>
              <a:rPr lang="en-US" dirty="0" smtClean="0">
                <a:latin typeface="Symbol" panose="05050102010706020507" pitchFamily="18" charset="2"/>
              </a:rPr>
              <a:t>f(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smtClean="0">
                <a:latin typeface="Symbol" panose="05050102010706020507" pitchFamily="18" charset="2"/>
              </a:rPr>
              <a:t>)</a:t>
            </a:r>
            <a:r>
              <a:rPr lang="en-US" dirty="0" smtClean="0"/>
              <a:t>, is </a:t>
            </a:r>
            <a:r>
              <a:rPr lang="en-US" dirty="0"/>
              <a:t>defined as the number of positive integers less than</a:t>
            </a:r>
            <a:r>
              <a:rPr lang="en-US" i="1" dirty="0"/>
              <a:t> n </a:t>
            </a:r>
            <a:r>
              <a:rPr lang="en-US" dirty="0"/>
              <a:t>and relatively prime to </a:t>
            </a:r>
            <a:r>
              <a:rPr lang="en-US" i="1" dirty="0" smtClean="0"/>
              <a:t>n</a:t>
            </a:r>
            <a:r>
              <a:rPr lang="en-US" dirty="0" smtClean="0"/>
              <a:t>. </a:t>
            </a:r>
          </a:p>
          <a:p>
            <a:pPr lvl="3"/>
            <a:r>
              <a:rPr lang="en-US" dirty="0" smtClean="0"/>
              <a:t>By </a:t>
            </a:r>
            <a:r>
              <a:rPr lang="en-US" dirty="0"/>
              <a:t>convention, </a:t>
            </a:r>
            <a:r>
              <a:rPr lang="en-US" dirty="0">
                <a:latin typeface="Symbol" panose="05050102010706020507" pitchFamily="18" charset="2"/>
              </a:rPr>
              <a:t>f</a:t>
            </a:r>
            <a:r>
              <a:rPr lang="en-US" dirty="0"/>
              <a:t>(1) =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576577"/>
            <a:ext cx="9144001" cy="584775"/>
          </a:xfrm>
          <a:prstGeom prst="rect">
            <a:avLst/>
          </a:prstGeom>
          <a:solidFill>
            <a:schemeClr val="accent5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/>
              <a:t>T</a:t>
            </a:r>
            <a:r>
              <a:rPr lang="en-US" sz="1600" i="1" dirty="0" smtClean="0"/>
              <a:t>wo </a:t>
            </a:r>
            <a:r>
              <a:rPr lang="en-US" sz="1600" i="1" dirty="0"/>
              <a:t>integers a and b are coprime, relatively prime or mutually prime </a:t>
            </a:r>
            <a:r>
              <a:rPr lang="en-US" sz="1600" b="1" i="1" dirty="0"/>
              <a:t>if the only positive integer that is a divisor of both of them is </a:t>
            </a:r>
            <a:r>
              <a:rPr lang="en-US" sz="1600" b="1" i="1" dirty="0" smtClean="0"/>
              <a:t>1</a:t>
            </a:r>
            <a:r>
              <a:rPr lang="en-US" sz="1600" i="1" dirty="0" smtClean="0"/>
              <a:t>. i.e. </a:t>
            </a:r>
            <a:r>
              <a:rPr lang="en-US" sz="1600" i="1" dirty="0" err="1" smtClean="0"/>
              <a:t>gcd</a:t>
            </a:r>
            <a:r>
              <a:rPr lang="en-US" sz="1600" i="1" dirty="0" smtClean="0"/>
              <a:t>(</a:t>
            </a:r>
            <a:r>
              <a:rPr lang="en-US" sz="1600" i="1" dirty="0" err="1" smtClean="0"/>
              <a:t>m,n</a:t>
            </a:r>
            <a:r>
              <a:rPr lang="en-US" sz="1600" i="1" dirty="0" smtClean="0"/>
              <a:t>) = 1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28479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E.g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492896"/>
            <a:ext cx="7344138" cy="2621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6062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pPr>
              <a:lnSpc>
                <a:spcPts val="4800"/>
              </a:lnSpc>
            </a:pPr>
            <a:r>
              <a:rPr lang="en-AU" dirty="0" smtClean="0"/>
              <a:t>Table 8.2</a:t>
            </a:r>
            <a:br>
              <a:rPr lang="en-AU" dirty="0" smtClean="0"/>
            </a:br>
            <a:r>
              <a:rPr lang="en-AU" sz="2800" dirty="0" smtClean="0"/>
              <a:t>Some Values of Euler’s Totient Function </a:t>
            </a:r>
            <a:r>
              <a:rPr lang="en-AU" sz="2800" i="1" dirty="0" smtClean="0"/>
              <a:t>ø(n)</a:t>
            </a:r>
            <a:endParaRPr lang="en-AU" i="1" dirty="0" smtClean="0"/>
          </a:p>
        </p:txBody>
      </p:sp>
      <p:pic>
        <p:nvPicPr>
          <p:cNvPr id="41987" name="Picture 8"/>
          <p:cNvPicPr>
            <a:picLocks noChangeAspect="1"/>
          </p:cNvPicPr>
          <p:nvPr/>
        </p:nvPicPr>
        <p:blipFill>
          <a:blip r:embed="rId3"/>
          <a:srcRect l="13585" t="-2904" r="15094"/>
          <a:stretch>
            <a:fillRect/>
          </a:stretch>
        </p:blipFill>
        <p:spPr bwMode="auto">
          <a:xfrm>
            <a:off x="1953718" y="1340768"/>
            <a:ext cx="5282578" cy="3962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374687" y="5476582"/>
            <a:ext cx="4440639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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- 1) *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- 1)</a:t>
            </a:r>
          </a:p>
        </p:txBody>
      </p:sp>
    </p:spTree>
    <p:extLst>
      <p:ext uri="{BB962C8B-B14F-4D97-AF65-F5344CB8AC3E}">
        <p14:creationId xmlns:p14="http://schemas.microsoft.com/office/powerpoint/2010/main" val="2291756376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Euler's Theorem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209800"/>
            <a:ext cx="7570788" cy="4419600"/>
          </a:xfrm>
        </p:spPr>
        <p:txBody>
          <a:bodyPr/>
          <a:lstStyle/>
          <a:p>
            <a:r>
              <a:rPr lang="en-AU" dirty="0" smtClean="0"/>
              <a:t>States that for every </a:t>
            </a:r>
            <a:r>
              <a:rPr lang="en-AU" i="1" dirty="0" smtClean="0"/>
              <a:t>a </a:t>
            </a:r>
            <a:r>
              <a:rPr lang="en-AU" dirty="0" smtClean="0"/>
              <a:t>and </a:t>
            </a:r>
            <a:r>
              <a:rPr lang="en-AU" i="1" dirty="0" smtClean="0"/>
              <a:t>n </a:t>
            </a:r>
            <a:r>
              <a:rPr lang="en-AU" dirty="0" smtClean="0"/>
              <a:t>that are relatively prime:</a:t>
            </a:r>
          </a:p>
          <a:p>
            <a:pPr>
              <a:buFont typeface="Candara" pitchFamily="-84" charset="0"/>
              <a:buNone/>
            </a:pPr>
            <a:r>
              <a:rPr lang="en-AU" dirty="0" smtClean="0"/>
              <a:t>			</a:t>
            </a:r>
            <a:r>
              <a:rPr lang="en-US" i="1" dirty="0" smtClean="0">
                <a:solidFill>
                  <a:schemeClr val="tx1"/>
                </a:solidFill>
              </a:rPr>
              <a:t>a</a:t>
            </a:r>
            <a:r>
              <a:rPr lang="en-AU" baseline="30000" dirty="0" smtClean="0"/>
              <a:t>ø</a:t>
            </a:r>
            <a:r>
              <a:rPr lang="en-US" baseline="30000" dirty="0" smtClean="0">
                <a:solidFill>
                  <a:schemeClr val="tx1"/>
                </a:solidFill>
              </a:rPr>
              <a:t>(n) </a:t>
            </a:r>
            <a:r>
              <a:rPr lang="en-US" dirty="0" smtClean="0">
                <a:solidFill>
                  <a:schemeClr val="tx1"/>
                </a:solidFill>
                <a:sym typeface="Symbol"/>
              </a:rPr>
              <a:t></a:t>
            </a:r>
            <a:r>
              <a:rPr lang="en-US" dirty="0" smtClean="0">
                <a:solidFill>
                  <a:schemeClr val="tx1"/>
                </a:solidFill>
              </a:rPr>
              <a:t>  1(mod </a:t>
            </a:r>
            <a:r>
              <a:rPr lang="en-US" i="1" dirty="0" smtClean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dirty="0" smtClean="0"/>
              <a:t>An alternative form is:</a:t>
            </a:r>
          </a:p>
          <a:p>
            <a:pPr>
              <a:buFont typeface="Candara" pitchFamily="-84" charset="0"/>
              <a:buNone/>
            </a:pPr>
            <a:r>
              <a:rPr lang="en-US" dirty="0" smtClean="0"/>
              <a:t>			</a:t>
            </a:r>
            <a:r>
              <a:rPr lang="en-US" i="1" dirty="0" smtClean="0">
                <a:solidFill>
                  <a:schemeClr val="tx1"/>
                </a:solidFill>
              </a:rPr>
              <a:t>a</a:t>
            </a:r>
            <a:r>
              <a:rPr lang="en-AU" baseline="30000" dirty="0" smtClean="0"/>
              <a:t>ø</a:t>
            </a:r>
            <a:r>
              <a:rPr lang="en-US" baseline="30000" dirty="0" smtClean="0">
                <a:solidFill>
                  <a:schemeClr val="tx1"/>
                </a:solidFill>
              </a:rPr>
              <a:t>(n)+1 </a:t>
            </a:r>
            <a:r>
              <a:rPr lang="en-US" dirty="0" smtClean="0">
                <a:solidFill>
                  <a:schemeClr val="tx1"/>
                </a:solidFill>
                <a:sym typeface="Symbol"/>
              </a:rPr>
              <a:t></a:t>
            </a:r>
            <a:r>
              <a:rPr lang="en-US" dirty="0" smtClean="0">
                <a:solidFill>
                  <a:schemeClr val="tx1"/>
                </a:solidFill>
              </a:rPr>
              <a:t>  </a:t>
            </a:r>
            <a:r>
              <a:rPr lang="en-US" i="1" dirty="0" smtClean="0">
                <a:solidFill>
                  <a:schemeClr val="tx1"/>
                </a:solidFill>
              </a:rPr>
              <a:t>a</a:t>
            </a:r>
            <a:r>
              <a:rPr lang="en-US" dirty="0" smtClean="0">
                <a:solidFill>
                  <a:schemeClr val="tx1"/>
                </a:solidFill>
              </a:rPr>
              <a:t>(mod </a:t>
            </a:r>
            <a:r>
              <a:rPr lang="en-US" i="1" dirty="0" smtClean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 smtClean="0"/>
          </a:p>
          <a:p>
            <a:pPr>
              <a:buFont typeface="Candara" pitchFamily="-84" charset="0"/>
              <a:buNone/>
            </a:pPr>
            <a:endParaRPr lang="en-AU" dirty="0" smtClean="0"/>
          </a:p>
          <a:p>
            <a:pPr lvl="1"/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</p:txBody>
      </p:sp>
      <p:sp>
        <p:nvSpPr>
          <p:cNvPr id="6" name="Rectangle 5"/>
          <p:cNvSpPr/>
          <p:nvPr/>
        </p:nvSpPr>
        <p:spPr>
          <a:xfrm>
            <a:off x="838200" y="5791200"/>
            <a:ext cx="80010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Plays an important role in public-key cryptography</a:t>
            </a:r>
            <a:endParaRPr lang="en-AU" sz="24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237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Miller-Rabin Algorithm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8001000" cy="227647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Typically used to test a large number for primality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For any </a:t>
            </a:r>
            <a:r>
              <a:rPr lang="en-US" dirty="0">
                <a:ea typeface="+mn-ea"/>
                <a:cs typeface="+mn-cs"/>
              </a:rPr>
              <a:t>positive odd integer </a:t>
            </a:r>
            <a:r>
              <a:rPr lang="en-US" i="1" dirty="0">
                <a:ea typeface="+mn-ea"/>
                <a:cs typeface="+mn-cs"/>
              </a:rPr>
              <a:t>n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dirty="0" smtClean="0">
                <a:ea typeface="+mn-ea"/>
                <a:cs typeface="+mn-cs"/>
              </a:rPr>
              <a:t>≥ </a:t>
            </a:r>
            <a:r>
              <a:rPr lang="en-US" dirty="0">
                <a:ea typeface="+mn-ea"/>
                <a:cs typeface="+mn-cs"/>
              </a:rPr>
              <a:t>3 can be expressed as</a:t>
            </a:r>
            <a:r>
              <a:rPr lang="en-AU" dirty="0" smtClean="0">
                <a:ea typeface="+mn-ea"/>
              </a:rPr>
              <a:t>	</a:t>
            </a:r>
            <a:endParaRPr lang="en-AU" dirty="0">
              <a:ea typeface="+mn-ea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523" y="3763059"/>
            <a:ext cx="4874766" cy="65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83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Tx/>
              <a:buChar char="•"/>
            </a:pPr>
            <a:r>
              <a:rPr lang="en-AU" dirty="0"/>
              <a:t>TEST (</a:t>
            </a:r>
            <a:r>
              <a:rPr lang="en-AU" i="1" dirty="0"/>
              <a:t>n</a:t>
            </a:r>
            <a:r>
              <a:rPr lang="en-AU" dirty="0"/>
              <a:t>) </a:t>
            </a:r>
          </a:p>
          <a:p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015054887"/>
              </p:ext>
            </p:extLst>
          </p:nvPr>
        </p:nvGraphicFramePr>
        <p:xfrm>
          <a:off x="1403648" y="2420888"/>
          <a:ext cx="70866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137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7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US" sz="4800" dirty="0" smtClean="0"/>
              <a:t>Deterministic Primality Algorithm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638675"/>
          </a:xfrm>
        </p:spPr>
        <p:txBody>
          <a:bodyPr rtlCol="0">
            <a:normAutofit/>
          </a:bodyPr>
          <a:lstStyle/>
          <a:p>
            <a:pPr fontAlgn="auto">
              <a:spcBef>
                <a:spcPts val="18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Prior to 2002 there was no known method of efficiently proving the primality of very large numbers</a:t>
            </a:r>
          </a:p>
          <a:p>
            <a:pPr fontAlgn="auto">
              <a:spcBef>
                <a:spcPts val="18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All of the algorithms in use produced a probabilistic result</a:t>
            </a:r>
          </a:p>
          <a:p>
            <a:pPr fontAlgn="auto">
              <a:spcBef>
                <a:spcPts val="18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In 2002 Agrawal, Kayal, and Saxena developed an algorithm that efficiently determines whether a given large number is prime</a:t>
            </a:r>
          </a:p>
          <a:p>
            <a:pPr lvl="1" fontAlgn="auto">
              <a:lnSpc>
                <a:spcPct val="110000"/>
              </a:lnSpc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Known as the AKS algorithm</a:t>
            </a:r>
          </a:p>
          <a:p>
            <a:pPr lvl="1" fontAlgn="auto">
              <a:lnSpc>
                <a:spcPct val="110000"/>
              </a:lnSpc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Does not appear to be as efficient as                         the Miller-Rabin algorithm</a:t>
            </a:r>
            <a:endParaRPr lang="en-US" dirty="0">
              <a:ea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4634205"/>
            <a:ext cx="1981200" cy="222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7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AU" sz="4000" dirty="0" smtClean="0"/>
              <a:t>Chinese Remainder Theorem (CRT)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828800"/>
            <a:ext cx="7570788" cy="2819400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Believed to have been discovered by the Chinese mathematician Sun-Tsu in around 100 A.D.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One of the most useful results of number theory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Says it is possible to reconstruct integers in a certain range from their residues modulo a set of pairwise relatively prime moduli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Can be stated in several ways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AU" dirty="0"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284296"/>
            <a:ext cx="762000" cy="2227384"/>
          </a:xfrm>
          <a:prstGeom prst="rect">
            <a:avLst/>
          </a:prstGeom>
        </p:spPr>
      </p:pic>
      <p:pic>
        <p:nvPicPr>
          <p:cNvPr id="6" name="Picture 2" descr="https://upload.wikimedia.org/wikipedia/commons/thumb/9/9d/Sun_Tzu_Chinese_remainder_theorem.svg/220px-Sun_Tzu_Chinese_remainder_theorem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232074" y="3840247"/>
            <a:ext cx="1776197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92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Chinese Remainder Theorem (CRT)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397863662"/>
              </p:ext>
            </p:extLst>
          </p:nvPr>
        </p:nvGraphicFramePr>
        <p:xfrm>
          <a:off x="1907704" y="4221088"/>
          <a:ext cx="5867400" cy="187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1521" y="1556792"/>
            <a:ext cx="8712968" cy="2308324"/>
          </a:xfrm>
          <a:prstGeom prst="rect">
            <a:avLst/>
          </a:prstGeom>
          <a:solidFill>
            <a:schemeClr val="accent5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Given pairwise coprime positive integers n</a:t>
            </a:r>
            <a:r>
              <a:rPr lang="pt-BR" baseline="-25000" dirty="0"/>
              <a:t>1</a:t>
            </a:r>
            <a:r>
              <a:rPr lang="pt-BR" dirty="0"/>
              <a:t>, n</a:t>
            </a:r>
            <a:r>
              <a:rPr lang="pt-BR" baseline="-25000" dirty="0"/>
              <a:t>2</a:t>
            </a:r>
            <a:r>
              <a:rPr lang="pt-BR" dirty="0"/>
              <a:t>, ..., n</a:t>
            </a:r>
            <a:r>
              <a:rPr lang="pt-BR" baseline="-25000" dirty="0"/>
              <a:t>k</a:t>
            </a:r>
            <a:r>
              <a:rPr lang="pt-BR" dirty="0"/>
              <a:t> and arbitrary </a:t>
            </a:r>
            <a:r>
              <a:rPr lang="pt-BR" dirty="0" smtClean="0"/>
              <a:t>integers a</a:t>
            </a:r>
            <a:r>
              <a:rPr lang="pt-BR" baseline="-25000" dirty="0" smtClean="0"/>
              <a:t>1</a:t>
            </a:r>
            <a:r>
              <a:rPr lang="pt-BR" dirty="0" smtClean="0"/>
              <a:t>, a</a:t>
            </a:r>
            <a:r>
              <a:rPr lang="pt-BR" baseline="-25000" dirty="0" smtClean="0"/>
              <a:t>2</a:t>
            </a:r>
            <a:r>
              <a:rPr lang="pt-BR" dirty="0" smtClean="0"/>
              <a:t>, ..., a</a:t>
            </a:r>
            <a:r>
              <a:rPr lang="pt-BR" baseline="-25000" dirty="0" smtClean="0"/>
              <a:t>k</a:t>
            </a:r>
            <a:r>
              <a:rPr lang="pt-BR" dirty="0" smtClean="0"/>
              <a:t>, </a:t>
            </a:r>
            <a:r>
              <a:rPr lang="en-US" dirty="0"/>
              <a:t>the system of simultaneous </a:t>
            </a:r>
            <a:r>
              <a:rPr lang="en-US" dirty="0" err="1" smtClean="0"/>
              <a:t>congruences</a:t>
            </a:r>
            <a:endParaRPr lang="en-US" dirty="0" smtClean="0"/>
          </a:p>
          <a:p>
            <a:pPr algn="ctr"/>
            <a:r>
              <a:rPr lang="en-US" dirty="0" smtClean="0"/>
              <a:t>x  </a:t>
            </a:r>
            <a:r>
              <a:rPr lang="en-US" dirty="0" smtClean="0">
                <a:sym typeface="Symbol"/>
              </a:rPr>
              <a:t> a</a:t>
            </a:r>
            <a:r>
              <a:rPr lang="en-US" baseline="-25000" dirty="0" smtClean="0">
                <a:sym typeface="Symbol"/>
              </a:rPr>
              <a:t>1</a:t>
            </a:r>
            <a:r>
              <a:rPr lang="en-US" dirty="0" smtClean="0">
                <a:sym typeface="Symbol"/>
              </a:rPr>
              <a:t> (mod n</a:t>
            </a:r>
            <a:r>
              <a:rPr lang="en-US" baseline="-25000" dirty="0" smtClean="0">
                <a:sym typeface="Symbol"/>
              </a:rPr>
              <a:t>1</a:t>
            </a:r>
            <a:r>
              <a:rPr lang="en-US" dirty="0" smtClean="0">
                <a:sym typeface="Symbol"/>
              </a:rPr>
              <a:t>)</a:t>
            </a:r>
          </a:p>
          <a:p>
            <a:pPr algn="ctr"/>
            <a:r>
              <a:rPr lang="en-US" dirty="0"/>
              <a:t>x  </a:t>
            </a:r>
            <a:r>
              <a:rPr lang="en-US" dirty="0">
                <a:sym typeface="Symbol"/>
              </a:rPr>
              <a:t> </a:t>
            </a:r>
            <a:r>
              <a:rPr lang="en-US" dirty="0" smtClean="0">
                <a:sym typeface="Symbol"/>
              </a:rPr>
              <a:t>a</a:t>
            </a:r>
            <a:r>
              <a:rPr lang="en-US" baseline="-25000" dirty="0" smtClean="0">
                <a:sym typeface="Symbol"/>
              </a:rPr>
              <a:t>2</a:t>
            </a:r>
            <a:r>
              <a:rPr lang="en-US" dirty="0" smtClean="0">
                <a:sym typeface="Symbol"/>
              </a:rPr>
              <a:t> </a:t>
            </a:r>
            <a:r>
              <a:rPr lang="en-US" dirty="0">
                <a:sym typeface="Symbol"/>
              </a:rPr>
              <a:t>(mod </a:t>
            </a:r>
            <a:r>
              <a:rPr lang="en-US" dirty="0" smtClean="0">
                <a:sym typeface="Symbol"/>
              </a:rPr>
              <a:t>n</a:t>
            </a:r>
            <a:r>
              <a:rPr lang="en-US" baseline="-25000" dirty="0" smtClean="0">
                <a:sym typeface="Symbol"/>
              </a:rPr>
              <a:t>2</a:t>
            </a:r>
            <a:r>
              <a:rPr lang="en-US" dirty="0" smtClean="0">
                <a:sym typeface="Symbol"/>
              </a:rPr>
              <a:t>)</a:t>
            </a:r>
          </a:p>
          <a:p>
            <a:pPr algn="ctr"/>
            <a:r>
              <a:rPr lang="en-US" dirty="0" smtClean="0">
                <a:sym typeface="Symbol"/>
              </a:rPr>
              <a:t>…….</a:t>
            </a:r>
            <a:endParaRPr lang="en-US" dirty="0">
              <a:sym typeface="Symbol"/>
            </a:endParaRPr>
          </a:p>
          <a:p>
            <a:pPr algn="ctr"/>
            <a:r>
              <a:rPr lang="en-US" dirty="0" smtClean="0">
                <a:sym typeface="Symbol"/>
              </a:rPr>
              <a:t>…….</a:t>
            </a:r>
          </a:p>
          <a:p>
            <a:pPr algn="ctr"/>
            <a:r>
              <a:rPr lang="en-US" dirty="0"/>
              <a:t>x  </a:t>
            </a:r>
            <a:r>
              <a:rPr lang="en-US" dirty="0">
                <a:sym typeface="Symbol"/>
              </a:rPr>
              <a:t> </a:t>
            </a:r>
            <a:r>
              <a:rPr lang="en-US" dirty="0" err="1" smtClean="0">
                <a:sym typeface="Symbol"/>
              </a:rPr>
              <a:t>a</a:t>
            </a:r>
            <a:r>
              <a:rPr lang="en-US" baseline="-25000" dirty="0" err="1" smtClean="0">
                <a:sym typeface="Symbol"/>
              </a:rPr>
              <a:t>k</a:t>
            </a:r>
            <a:r>
              <a:rPr lang="en-US" dirty="0" smtClean="0">
                <a:sym typeface="Symbol"/>
              </a:rPr>
              <a:t> </a:t>
            </a:r>
            <a:r>
              <a:rPr lang="en-US" dirty="0">
                <a:sym typeface="Symbol"/>
              </a:rPr>
              <a:t>(mod </a:t>
            </a:r>
            <a:r>
              <a:rPr lang="en-US" dirty="0" err="1" smtClean="0">
                <a:sym typeface="Symbol"/>
              </a:rPr>
              <a:t>n</a:t>
            </a:r>
            <a:r>
              <a:rPr lang="en-US" baseline="-25000" dirty="0" err="1" smtClean="0">
                <a:sym typeface="Symbol"/>
              </a:rPr>
              <a:t>k</a:t>
            </a:r>
            <a:r>
              <a:rPr lang="en-US" dirty="0" smtClean="0">
                <a:sym typeface="Symbol"/>
              </a:rPr>
              <a:t>)</a:t>
            </a:r>
          </a:p>
          <a:p>
            <a:r>
              <a:rPr lang="en-US" dirty="0"/>
              <a:t>has a solution, and the solution is unique modulo </a:t>
            </a:r>
            <a:r>
              <a:rPr lang="en-US" dirty="0" smtClean="0"/>
              <a:t>N = n</a:t>
            </a:r>
            <a:r>
              <a:rPr lang="en-US" baseline="-25000" dirty="0" smtClean="0"/>
              <a:t>1</a:t>
            </a:r>
            <a:r>
              <a:rPr lang="en-US" dirty="0" smtClean="0"/>
              <a:t>n</a:t>
            </a:r>
            <a:r>
              <a:rPr lang="en-US" baseline="-25000" dirty="0" smtClean="0"/>
              <a:t>2</a:t>
            </a:r>
            <a:r>
              <a:rPr lang="en-US" dirty="0" smtClean="0"/>
              <a:t>….</a:t>
            </a:r>
            <a:r>
              <a:rPr lang="en-US" dirty="0" err="1" smtClean="0"/>
              <a:t>n</a:t>
            </a:r>
            <a:r>
              <a:rPr lang="en-US" baseline="-25000" dirty="0" err="1" smtClean="0"/>
              <a:t>k</a:t>
            </a:r>
            <a:r>
              <a:rPr lang="en-US" dirty="0" smtClean="0"/>
              <a:t>, or:  x </a:t>
            </a:r>
            <a:r>
              <a:rPr lang="en-US" dirty="0">
                <a:sym typeface="Symbol"/>
              </a:rPr>
              <a:t></a:t>
            </a:r>
            <a:r>
              <a:rPr lang="en-US" dirty="0" smtClean="0"/>
              <a:t> a (mod N)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58729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691680" y="2723681"/>
            <a:ext cx="5846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https://</a:t>
            </a:r>
            <a:r>
              <a:rPr lang="en-US" sz="2400" dirty="0" smtClean="0"/>
              <a:t>doc.sagemath.org/html/en/tutorial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701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logarithms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Discrete logarithms are fundamental to a number of public-key algorithms, </a:t>
            </a:r>
            <a:r>
              <a:rPr lang="en-US" sz="2800" dirty="0" smtClean="0"/>
              <a:t>including </a:t>
            </a:r>
            <a:r>
              <a:rPr lang="en-US" sz="2800" dirty="0" err="1" smtClean="0"/>
              <a:t>Diffie</a:t>
            </a:r>
            <a:r>
              <a:rPr lang="en-US" sz="2800" dirty="0" smtClean="0"/>
              <a:t>–Hellman </a:t>
            </a:r>
            <a:r>
              <a:rPr lang="en-US" sz="2800" dirty="0"/>
              <a:t>key exchange and the digital signature algorithm (DSA</a:t>
            </a:r>
            <a:r>
              <a:rPr lang="en-US" sz="2800" dirty="0" smtClean="0"/>
              <a:t>).</a:t>
            </a:r>
          </a:p>
          <a:p>
            <a:pPr marL="0" indent="0">
              <a:buNone/>
            </a:pPr>
            <a:r>
              <a:rPr lang="en-US" sz="2800" b="1" dirty="0"/>
              <a:t>The Powers of an Integer, Modulo </a:t>
            </a:r>
            <a:r>
              <a:rPr lang="en-US" sz="2800" b="1" i="1" dirty="0" smtClean="0"/>
              <a:t>n</a:t>
            </a:r>
          </a:p>
          <a:p>
            <a:r>
              <a:rPr lang="en-US" sz="2800" dirty="0"/>
              <a:t>Euler’s </a:t>
            </a:r>
            <a:r>
              <a:rPr lang="en-US" sz="2800" dirty="0" smtClean="0"/>
              <a:t>theorem</a:t>
            </a:r>
          </a:p>
          <a:p>
            <a:r>
              <a:rPr lang="en-US" sz="2800" dirty="0"/>
              <a:t>M</a:t>
            </a:r>
            <a:r>
              <a:rPr lang="en-US" sz="2800" dirty="0" smtClean="0"/>
              <a:t>ore </a:t>
            </a:r>
            <a:r>
              <a:rPr lang="en-US" sz="2800" dirty="0"/>
              <a:t>general </a:t>
            </a:r>
            <a:r>
              <a:rPr lang="en-US" sz="2800" dirty="0" smtClean="0"/>
              <a:t>expression</a:t>
            </a:r>
          </a:p>
          <a:p>
            <a:pPr lvl="2"/>
            <a:r>
              <a:rPr lang="en-US" sz="2000" i="1" dirty="0"/>
              <a:t>a</a:t>
            </a:r>
            <a:r>
              <a:rPr lang="en-US" sz="2000" dirty="0" smtClean="0"/>
              <a:t> and </a:t>
            </a:r>
            <a:r>
              <a:rPr lang="en-US" sz="2000" i="1" dirty="0" smtClean="0"/>
              <a:t>n</a:t>
            </a:r>
            <a:r>
              <a:rPr lang="en-US" sz="2000" dirty="0" smtClean="0"/>
              <a:t> are relative prime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211960" y="3933056"/>
            <a:ext cx="2371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i="1" dirty="0"/>
              <a:t>a</a:t>
            </a:r>
            <a:r>
              <a:rPr lang="da-DK" sz="2400" baseline="30000" dirty="0">
                <a:latin typeface="Symbol" panose="05050102010706020507" pitchFamily="18" charset="2"/>
              </a:rPr>
              <a:t>f</a:t>
            </a:r>
            <a:r>
              <a:rPr lang="da-DK" sz="2400" baseline="30000" dirty="0"/>
              <a:t>(</a:t>
            </a:r>
            <a:r>
              <a:rPr lang="da-DK" sz="2400" i="1" baseline="30000" dirty="0"/>
              <a:t>n</a:t>
            </a:r>
            <a:r>
              <a:rPr lang="da-DK" sz="2400" baseline="30000" dirty="0"/>
              <a:t>)</a:t>
            </a:r>
            <a:r>
              <a:rPr lang="da-DK" sz="2400" dirty="0"/>
              <a:t> </a:t>
            </a:r>
            <a:r>
              <a:rPr lang="da-DK" sz="2400" dirty="0" smtClean="0">
                <a:latin typeface="Symbol" panose="05050102010706020507" pitchFamily="18" charset="2"/>
                <a:sym typeface="Symbol"/>
              </a:rPr>
              <a:t></a:t>
            </a:r>
            <a:r>
              <a:rPr lang="da-DK" sz="2400" dirty="0" smtClean="0"/>
              <a:t> </a:t>
            </a:r>
            <a:r>
              <a:rPr lang="da-DK" sz="2400" dirty="0"/>
              <a:t>1 (mod </a:t>
            </a:r>
            <a:r>
              <a:rPr lang="da-DK" sz="2400" i="1" dirty="0"/>
              <a:t>n</a:t>
            </a:r>
            <a:r>
              <a:rPr lang="da-DK" sz="2400" dirty="0"/>
              <a:t>)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004048" y="4419573"/>
            <a:ext cx="2252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i="1" dirty="0" smtClean="0"/>
              <a:t>a</a:t>
            </a:r>
            <a:r>
              <a:rPr lang="da-DK" sz="2400" i="1" baseline="30000" dirty="0" smtClean="0"/>
              <a:t>m</a:t>
            </a:r>
            <a:r>
              <a:rPr lang="da-DK" sz="2400" dirty="0" smtClean="0"/>
              <a:t> </a:t>
            </a:r>
            <a:r>
              <a:rPr lang="da-DK" sz="2400" dirty="0" smtClean="0">
                <a:latin typeface="Symbol" panose="05050102010706020507" pitchFamily="18" charset="2"/>
                <a:sym typeface="Symbol"/>
              </a:rPr>
              <a:t></a:t>
            </a:r>
            <a:r>
              <a:rPr lang="da-DK" sz="2400" dirty="0" smtClean="0"/>
              <a:t> </a:t>
            </a:r>
            <a:r>
              <a:rPr lang="da-DK" sz="2400" dirty="0"/>
              <a:t>1 (mod </a:t>
            </a:r>
            <a:r>
              <a:rPr lang="da-DK" sz="2400" i="1" dirty="0"/>
              <a:t>n</a:t>
            </a:r>
            <a:r>
              <a:rPr lang="da-DK" sz="2400" dirty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60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logarithms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E.g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204864"/>
            <a:ext cx="7631260" cy="380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437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384300"/>
            <a:ext cx="8356600" cy="54737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485900" y="0"/>
            <a:ext cx="6132513" cy="1323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44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Table 8.3  </a:t>
            </a:r>
          </a:p>
          <a:p>
            <a:pPr algn="ctr">
              <a:defRPr/>
            </a:pPr>
            <a:r>
              <a:rPr lang="en-US" sz="360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Powers of Integers, Modulo 19 </a:t>
            </a:r>
          </a:p>
        </p:txBody>
      </p:sp>
    </p:spTree>
    <p:extLst>
      <p:ext uri="{BB962C8B-B14F-4D97-AF65-F5344CB8AC3E}">
        <p14:creationId xmlns:p14="http://schemas.microsoft.com/office/powerpoint/2010/main" val="1897508232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6"/>
          <p:cNvPicPr>
            <a:picLocks noChangeAspect="1"/>
          </p:cNvPicPr>
          <p:nvPr/>
        </p:nvPicPr>
        <p:blipFill>
          <a:blip r:embed="rId3"/>
          <a:srcRect b="4726"/>
          <a:stretch>
            <a:fillRect/>
          </a:stretch>
        </p:blipFill>
        <p:spPr bwMode="auto">
          <a:xfrm>
            <a:off x="0" y="0"/>
            <a:ext cx="9067800" cy="600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5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5943600"/>
            <a:ext cx="83439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640196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logarithms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Logarithms for Modular Arithmetic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35896" y="2420888"/>
            <a:ext cx="1672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y </a:t>
            </a:r>
            <a:r>
              <a:rPr lang="en-US" sz="2800" dirty="0"/>
              <a:t>= </a:t>
            </a:r>
            <a:r>
              <a:rPr lang="en-US" sz="2800" i="1" dirty="0" err="1"/>
              <a:t>x</a:t>
            </a:r>
            <a:r>
              <a:rPr lang="en-US" sz="2800" baseline="30000" dirty="0" err="1"/>
              <a:t>log</a:t>
            </a:r>
            <a:r>
              <a:rPr lang="en-US" sz="2800" i="1" baseline="30000" dirty="0" err="1"/>
              <a:t>x</a:t>
            </a:r>
            <a:r>
              <a:rPr lang="en-US" sz="2800" baseline="30000" dirty="0"/>
              <a:t>(</a:t>
            </a:r>
            <a:r>
              <a:rPr lang="en-US" sz="2800" i="1" baseline="30000" dirty="0"/>
              <a:t>y</a:t>
            </a:r>
            <a:r>
              <a:rPr lang="en-US" sz="2800" baseline="30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7962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emeUWindsor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Crypto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Mnementh:Users:lpb:admin:consult:Prentice-Hall:Slides:ch01.ppt</Template>
  <TotalTime>12916</TotalTime>
  <Words>4809</Words>
  <Application>Microsoft Office PowerPoint</Application>
  <PresentationFormat>On-screen Show (4:3)</PresentationFormat>
  <Paragraphs>528</Paragraphs>
  <Slides>48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ch01</vt:lpstr>
      <vt:lpstr>ThemeUWindsor</vt:lpstr>
      <vt:lpstr>Crypto</vt:lpstr>
      <vt:lpstr>Cryptography</vt:lpstr>
      <vt:lpstr>Chapter 2</vt:lpstr>
      <vt:lpstr>Chapter 2: Outline</vt:lpstr>
      <vt:lpstr>Introduction</vt:lpstr>
      <vt:lpstr>Divisibility</vt:lpstr>
      <vt:lpstr>Properties of Divisibility</vt:lpstr>
      <vt:lpstr>Properties of Divisibility</vt:lpstr>
      <vt:lpstr>Division Algorithm</vt:lpstr>
      <vt:lpstr>PowerPoint Presentation</vt:lpstr>
      <vt:lpstr>Euclidean Algorithm</vt:lpstr>
      <vt:lpstr>Greatest Common Divisor (GCD)</vt:lpstr>
      <vt:lpstr>GCD</vt:lpstr>
      <vt:lpstr>Table 4.1 Euclidean Algorithm Example</vt:lpstr>
      <vt:lpstr>PowerPoint Presentation</vt:lpstr>
      <vt:lpstr>PowerPoint Presentation</vt:lpstr>
      <vt:lpstr>The Extended Euclidean Algorithm</vt:lpstr>
      <vt:lpstr>Exercise</vt:lpstr>
      <vt:lpstr>Modular Arithmetic</vt:lpstr>
      <vt:lpstr>Exercise</vt:lpstr>
      <vt:lpstr>Modular Arithmetic</vt:lpstr>
      <vt:lpstr>Properties of Congruences</vt:lpstr>
      <vt:lpstr>Modular Arithmetic</vt:lpstr>
      <vt:lpstr>Exercise</vt:lpstr>
      <vt:lpstr>Remaining Properties:</vt:lpstr>
      <vt:lpstr>Table 4.2(a) Arithmetic Modulo 8</vt:lpstr>
      <vt:lpstr>Table 4.2(b) Multiplication Modulo 8</vt:lpstr>
      <vt:lpstr>Table 4.2(c)  Additive  and  Multiplicative Inverses  Modulo 8</vt:lpstr>
      <vt:lpstr>Table 4.3 Properties of Modular Arithmetic for Integers in Zn</vt:lpstr>
      <vt:lpstr>Table 4.4 Extended Euclidean Algorithm Example</vt:lpstr>
      <vt:lpstr>Prime Numbers</vt:lpstr>
      <vt:lpstr>PowerPoint Presentation</vt:lpstr>
      <vt:lpstr>Fermat's Theorem</vt:lpstr>
      <vt:lpstr>PowerPoint Presentation</vt:lpstr>
      <vt:lpstr>Euler’s theorem</vt:lpstr>
      <vt:lpstr>PowerPoint Presentation</vt:lpstr>
      <vt:lpstr>Table 8.2 Some Values of Euler’s Totient Function ø(n)</vt:lpstr>
      <vt:lpstr>Euler's Theorem</vt:lpstr>
      <vt:lpstr>Miller-Rabin Algorithm</vt:lpstr>
      <vt:lpstr>PowerPoint Presentation</vt:lpstr>
      <vt:lpstr>Deterministic Primality Algorithm</vt:lpstr>
      <vt:lpstr>Chinese Remainder Theorem (CRT)</vt:lpstr>
      <vt:lpstr>Chinese Remainder Theorem (CRT)</vt:lpstr>
      <vt:lpstr>Examples</vt:lpstr>
      <vt:lpstr>Discrete logarithms</vt:lpstr>
      <vt:lpstr>Discrete logarithms</vt:lpstr>
      <vt:lpstr>PowerPoint Presentation</vt:lpstr>
      <vt:lpstr>PowerPoint Presentation</vt:lpstr>
      <vt:lpstr>Discrete logarithms</vt:lpstr>
    </vt:vector>
  </TitlesOfParts>
  <Manager/>
  <Company>School of Eng &amp; IT, UNSW@ADFA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4</dc:subject>
  <dc:creator>Dr Lawrie Brown</dc:creator>
  <cp:keywords/>
  <dc:description/>
  <cp:lastModifiedBy>tran the son</cp:lastModifiedBy>
  <cp:revision>197</cp:revision>
  <cp:lastPrinted>2014-09-29T19:06:58Z</cp:lastPrinted>
  <dcterms:created xsi:type="dcterms:W3CDTF">2013-02-04T18:58:23Z</dcterms:created>
  <dcterms:modified xsi:type="dcterms:W3CDTF">2023-02-10T08:51:54Z</dcterms:modified>
  <cp:category/>
</cp:coreProperties>
</file>