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749" r:id="rId2"/>
    <p:sldMasterId id="2147483762" r:id="rId3"/>
  </p:sldMasterIdLst>
  <p:notesMasterIdLst>
    <p:notesMasterId r:id="rId47"/>
  </p:notesMasterIdLst>
  <p:handoutMasterIdLst>
    <p:handoutMasterId r:id="rId48"/>
  </p:handoutMasterIdLst>
  <p:sldIdLst>
    <p:sldId id="324" r:id="rId4"/>
    <p:sldId id="407" r:id="rId5"/>
    <p:sldId id="408" r:id="rId6"/>
    <p:sldId id="319" r:id="rId7"/>
    <p:sldId id="409" r:id="rId8"/>
    <p:sldId id="320" r:id="rId9"/>
    <p:sldId id="321" r:id="rId10"/>
    <p:sldId id="342" r:id="rId11"/>
    <p:sldId id="322" r:id="rId12"/>
    <p:sldId id="410" r:id="rId13"/>
    <p:sldId id="323" r:id="rId14"/>
    <p:sldId id="421" r:id="rId15"/>
    <p:sldId id="411" r:id="rId16"/>
    <p:sldId id="289" r:id="rId17"/>
    <p:sldId id="416" r:id="rId18"/>
    <p:sldId id="412" r:id="rId19"/>
    <p:sldId id="290" r:id="rId20"/>
    <p:sldId id="346" r:id="rId21"/>
    <p:sldId id="347" r:id="rId22"/>
    <p:sldId id="419" r:id="rId23"/>
    <p:sldId id="417" r:id="rId24"/>
    <p:sldId id="420" r:id="rId25"/>
    <p:sldId id="294" r:id="rId26"/>
    <p:sldId id="295" r:id="rId27"/>
    <p:sldId id="349" r:id="rId28"/>
    <p:sldId id="296" r:id="rId29"/>
    <p:sldId id="297" r:id="rId30"/>
    <p:sldId id="413" r:id="rId31"/>
    <p:sldId id="350" r:id="rId32"/>
    <p:sldId id="298" r:id="rId33"/>
    <p:sldId id="414" r:id="rId34"/>
    <p:sldId id="415" r:id="rId35"/>
    <p:sldId id="351" r:id="rId36"/>
    <p:sldId id="354" r:id="rId37"/>
    <p:sldId id="355" r:id="rId38"/>
    <p:sldId id="300" r:id="rId39"/>
    <p:sldId id="418" r:id="rId40"/>
    <p:sldId id="356" r:id="rId41"/>
    <p:sldId id="301" r:id="rId42"/>
    <p:sldId id="303" r:id="rId43"/>
    <p:sldId id="357" r:id="rId44"/>
    <p:sldId id="359" r:id="rId45"/>
    <p:sldId id="327" r:id="rId46"/>
  </p:sldIdLst>
  <p:sldSz cx="9144000" cy="6858000" type="screen4x3"/>
  <p:notesSz cx="6934200" cy="92202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51" autoAdjust="0"/>
  </p:normalViewPr>
  <p:slideViewPr>
    <p:cSldViewPr>
      <p:cViewPr>
        <p:scale>
          <a:sx n="75" d="100"/>
          <a:sy n="75" d="100"/>
        </p:scale>
        <p:origin x="-5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7" d="100"/>
          <a:sy n="127" d="100"/>
        </p:scale>
        <p:origin x="-1496" y="-120"/>
      </p:cViewPr>
      <p:guideLst>
        <p:guide orient="horz" pos="2904"/>
        <p:guide pos="218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B137B5-3EFC-9441-8BB8-B173C1E68AAA}"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62736F95-5696-D745-A65D-C9041739C766}">
      <dgm:prSet phldrT="[Text]"/>
      <dgm:spPr>
        <a:gradFill rotWithShape="0">
          <a:gsLst>
            <a:gs pos="0">
              <a:srgbClr val="000000"/>
            </a:gs>
            <a:gs pos="39999">
              <a:srgbClr val="0A128C"/>
            </a:gs>
            <a:gs pos="70000">
              <a:srgbClr val="181CC7"/>
            </a:gs>
            <a:gs pos="88000">
              <a:srgbClr val="7005D4"/>
            </a:gs>
            <a:gs pos="100000">
              <a:srgbClr val="8C3D91"/>
            </a:gs>
          </a:gsLst>
          <a:lin ang="16200000" scaled="0"/>
        </a:gradFill>
      </dgm:spPr>
      <dgm:t>
        <a:bodyPr/>
        <a:lstStyle/>
        <a:p>
          <a:r>
            <a:rPr lang="en-US" dirty="0" smtClean="0">
              <a:effectLst>
                <a:outerShdw blurRad="38100" dist="38100" dir="2700000" algn="tl">
                  <a:srgbClr val="000000">
                    <a:alpha val="43137"/>
                  </a:srgbClr>
                </a:outerShdw>
              </a:effectLst>
              <a:ea typeface="+mn-ea"/>
              <a:cs typeface="+mn-cs"/>
            </a:rPr>
            <a:t>•  Ordinary polynomial arithmetic, using the basic   	rules of algebra</a:t>
          </a:r>
          <a:endParaRPr lang="en-US" dirty="0">
            <a:effectLst>
              <a:outerShdw blurRad="38100" dist="38100" dir="2700000" algn="tl">
                <a:srgbClr val="000000">
                  <a:alpha val="43137"/>
                </a:srgbClr>
              </a:outerShdw>
            </a:effectLst>
          </a:endParaRPr>
        </a:p>
      </dgm:t>
    </dgm:pt>
    <dgm:pt modelId="{27845420-008E-A242-A244-B4B466E54A69}" type="parTrans" cxnId="{4BD1414A-834E-5849-834D-A161D0254225}">
      <dgm:prSet/>
      <dgm:spPr/>
      <dgm:t>
        <a:bodyPr/>
        <a:lstStyle/>
        <a:p>
          <a:endParaRPr lang="en-US"/>
        </a:p>
      </dgm:t>
    </dgm:pt>
    <dgm:pt modelId="{52858632-05E7-AE43-A05F-8522E8CC0285}" type="sibTrans" cxnId="{4BD1414A-834E-5849-834D-A161D0254225}">
      <dgm:prSet/>
      <dgm:spPr/>
      <dgm:t>
        <a:bodyPr/>
        <a:lstStyle/>
        <a:p>
          <a:endParaRPr lang="en-US"/>
        </a:p>
      </dgm:t>
    </dgm:pt>
    <dgm:pt modelId="{53DA55F5-3A8D-984B-A9DD-904E914B9E97}">
      <dgm:prSet/>
      <dgm:spPr>
        <a:gradFill rotWithShape="0">
          <a:gsLst>
            <a:gs pos="0">
              <a:srgbClr val="000000"/>
            </a:gs>
            <a:gs pos="39999">
              <a:srgbClr val="0A128C"/>
            </a:gs>
            <a:gs pos="70000">
              <a:srgbClr val="181CC7"/>
            </a:gs>
            <a:gs pos="88000">
              <a:srgbClr val="7005D4"/>
            </a:gs>
            <a:gs pos="100000">
              <a:srgbClr val="8C3D91"/>
            </a:gs>
          </a:gsLst>
          <a:lin ang="16200000" scaled="0"/>
        </a:gradFill>
      </dgm:spPr>
      <dgm:t>
        <a:bodyPr/>
        <a:lstStyle/>
        <a:p>
          <a:r>
            <a:rPr lang="en-US" dirty="0" smtClean="0">
              <a:ea typeface="+mn-ea"/>
              <a:cs typeface="+mn-cs"/>
            </a:rPr>
            <a:t>•</a:t>
          </a:r>
          <a:r>
            <a:rPr lang="en-US" dirty="0" smtClean="0">
              <a:effectLst>
                <a:outerShdw blurRad="38100" dist="38100" dir="2700000" algn="tl">
                  <a:srgbClr val="000000">
                    <a:alpha val="43137"/>
                  </a:srgbClr>
                </a:outerShdw>
              </a:effectLst>
              <a:ea typeface="+mn-ea"/>
              <a:cs typeface="+mn-cs"/>
            </a:rPr>
            <a:t>  Polynomial arithmetic in which the arithmetic on the 	coefficients is performed modulo </a:t>
          </a:r>
          <a:r>
            <a:rPr lang="en-US" i="1" dirty="0" smtClean="0">
              <a:effectLst>
                <a:outerShdw blurRad="38100" dist="38100" dir="2700000" algn="tl">
                  <a:srgbClr val="000000">
                    <a:alpha val="43137"/>
                  </a:srgbClr>
                </a:outerShdw>
              </a:effectLst>
              <a:ea typeface="+mn-ea"/>
              <a:cs typeface="+mn-cs"/>
            </a:rPr>
            <a:t>p</a:t>
          </a:r>
          <a:r>
            <a:rPr lang="en-US" dirty="0" smtClean="0">
              <a:effectLst>
                <a:outerShdw blurRad="38100" dist="38100" dir="2700000" algn="tl">
                  <a:srgbClr val="000000">
                    <a:alpha val="43137"/>
                  </a:srgbClr>
                </a:outerShdw>
              </a:effectLst>
              <a:ea typeface="+mn-ea"/>
              <a:cs typeface="+mn-cs"/>
            </a:rPr>
            <a:t>; that is, the 	coefficients are in GF(</a:t>
          </a:r>
          <a:r>
            <a:rPr lang="en-US" i="1" dirty="0" smtClean="0">
              <a:effectLst>
                <a:outerShdw blurRad="38100" dist="38100" dir="2700000" algn="tl">
                  <a:srgbClr val="000000">
                    <a:alpha val="43137"/>
                  </a:srgbClr>
                </a:outerShdw>
              </a:effectLst>
              <a:ea typeface="+mn-ea"/>
              <a:cs typeface="+mn-cs"/>
            </a:rPr>
            <a:t>p</a:t>
          </a:r>
          <a:r>
            <a:rPr lang="en-US" dirty="0" smtClean="0">
              <a:effectLst>
                <a:outerShdw blurRad="38100" dist="38100" dir="2700000" algn="tl">
                  <a:srgbClr val="000000">
                    <a:alpha val="43137"/>
                  </a:srgbClr>
                </a:outerShdw>
              </a:effectLst>
              <a:ea typeface="+mn-ea"/>
              <a:cs typeface="+mn-cs"/>
            </a:rPr>
            <a:t>)</a:t>
          </a:r>
        </a:p>
      </dgm:t>
    </dgm:pt>
    <dgm:pt modelId="{D51613E1-E386-0047-8BE9-F281C9C08661}" type="parTrans" cxnId="{F831FC0F-284B-DC40-BA97-48DAEC557260}">
      <dgm:prSet/>
      <dgm:spPr/>
      <dgm:t>
        <a:bodyPr/>
        <a:lstStyle/>
        <a:p>
          <a:endParaRPr lang="en-US"/>
        </a:p>
      </dgm:t>
    </dgm:pt>
    <dgm:pt modelId="{C86B65A8-07D1-304C-9F9B-361FEB95791F}" type="sibTrans" cxnId="{F831FC0F-284B-DC40-BA97-48DAEC557260}">
      <dgm:prSet/>
      <dgm:spPr/>
      <dgm:t>
        <a:bodyPr/>
        <a:lstStyle/>
        <a:p>
          <a:endParaRPr lang="en-US"/>
        </a:p>
      </dgm:t>
    </dgm:pt>
    <dgm:pt modelId="{0FC1A31C-A6BA-3042-97C6-5D788778D5D9}">
      <dgm:prSet/>
      <dgm:spPr>
        <a:gradFill rotWithShape="0">
          <a:gsLst>
            <a:gs pos="0">
              <a:srgbClr val="000000"/>
            </a:gs>
            <a:gs pos="39999">
              <a:srgbClr val="0A128C"/>
            </a:gs>
            <a:gs pos="70000">
              <a:srgbClr val="181CC7"/>
            </a:gs>
            <a:gs pos="88000">
              <a:srgbClr val="7005D4"/>
            </a:gs>
            <a:gs pos="100000">
              <a:srgbClr val="8C3D91"/>
            </a:gs>
          </a:gsLst>
          <a:lin ang="16200000" scaled="0"/>
        </a:gradFill>
      </dgm:spPr>
      <dgm:t>
        <a:bodyPr/>
        <a:lstStyle/>
        <a:p>
          <a:r>
            <a:rPr lang="en-US" dirty="0" smtClean="0">
              <a:effectLst>
                <a:outerShdw blurRad="38100" dist="38100" dir="2700000" algn="tl">
                  <a:srgbClr val="000000">
                    <a:alpha val="43137"/>
                  </a:srgbClr>
                </a:outerShdw>
              </a:effectLst>
              <a:ea typeface="+mn-ea"/>
              <a:cs typeface="+mn-cs"/>
            </a:rPr>
            <a:t>•  Polynomial arithmetic in which the coefficients are in GF(</a:t>
          </a:r>
          <a:r>
            <a:rPr lang="en-US" i="1" dirty="0" smtClean="0">
              <a:effectLst>
                <a:outerShdw blurRad="38100" dist="38100" dir="2700000" algn="tl">
                  <a:srgbClr val="000000">
                    <a:alpha val="43137"/>
                  </a:srgbClr>
                </a:outerShdw>
              </a:effectLst>
              <a:ea typeface="+mn-ea"/>
              <a:cs typeface="+mn-cs"/>
            </a:rPr>
            <a:t>p</a:t>
          </a:r>
          <a:r>
            <a:rPr lang="en-US" dirty="0" smtClean="0">
              <a:effectLst>
                <a:outerShdw blurRad="38100" dist="38100" dir="2700000" algn="tl">
                  <a:srgbClr val="000000">
                    <a:alpha val="43137"/>
                  </a:srgbClr>
                </a:outerShdw>
              </a:effectLst>
              <a:ea typeface="+mn-ea"/>
              <a:cs typeface="+mn-cs"/>
            </a:rPr>
            <a:t>), and the polynomials are defined modulo a polynomial </a:t>
          </a:r>
          <a:r>
            <a:rPr lang="en-US" i="1" dirty="0" smtClean="0">
              <a:effectLst>
                <a:outerShdw blurRad="38100" dist="38100" dir="2700000" algn="tl">
                  <a:srgbClr val="000000">
                    <a:alpha val="43137"/>
                  </a:srgbClr>
                </a:outerShdw>
              </a:effectLst>
              <a:ea typeface="+mn-ea"/>
              <a:cs typeface="+mn-cs"/>
            </a:rPr>
            <a:t>m (x ) </a:t>
          </a:r>
          <a:r>
            <a:rPr lang="en-US" dirty="0" smtClean="0">
              <a:effectLst>
                <a:outerShdw blurRad="38100" dist="38100" dir="2700000" algn="tl">
                  <a:srgbClr val="000000">
                    <a:alpha val="43137"/>
                  </a:srgbClr>
                </a:outerShdw>
              </a:effectLst>
              <a:ea typeface="+mn-ea"/>
              <a:cs typeface="+mn-cs"/>
            </a:rPr>
            <a:t>whose highest power is some integer </a:t>
          </a:r>
          <a:r>
            <a:rPr lang="en-US" i="1" dirty="0" smtClean="0">
              <a:effectLst>
                <a:outerShdw blurRad="38100" dist="38100" dir="2700000" algn="tl">
                  <a:srgbClr val="000000">
                    <a:alpha val="43137"/>
                  </a:srgbClr>
                </a:outerShdw>
              </a:effectLst>
              <a:ea typeface="+mn-ea"/>
              <a:cs typeface="+mn-cs"/>
            </a:rPr>
            <a:t>n</a:t>
          </a:r>
          <a:r>
            <a:rPr lang="en-US" dirty="0" smtClean="0">
              <a:effectLst>
                <a:outerShdw blurRad="38100" dist="38100" dir="2700000" algn="tl">
                  <a:srgbClr val="000000">
                    <a:alpha val="43137"/>
                  </a:srgbClr>
                </a:outerShdw>
              </a:effectLst>
              <a:ea typeface="+mn-ea"/>
              <a:cs typeface="+mn-cs"/>
            </a:rPr>
            <a:t> </a:t>
          </a:r>
          <a:endParaRPr lang="en-AU" dirty="0">
            <a:effectLst>
              <a:outerShdw blurRad="38100" dist="38100" dir="2700000" algn="tl">
                <a:srgbClr val="000000">
                  <a:alpha val="43137"/>
                </a:srgbClr>
              </a:outerShdw>
            </a:effectLst>
            <a:ea typeface="+mn-ea"/>
            <a:cs typeface="+mn-cs"/>
          </a:endParaRPr>
        </a:p>
      </dgm:t>
    </dgm:pt>
    <dgm:pt modelId="{AABE1B89-81C8-6E43-87A4-1531746F911E}" type="parTrans" cxnId="{5A987F76-50CB-3940-8146-967DC18E9027}">
      <dgm:prSet/>
      <dgm:spPr/>
      <dgm:t>
        <a:bodyPr/>
        <a:lstStyle/>
        <a:p>
          <a:endParaRPr lang="en-US"/>
        </a:p>
      </dgm:t>
    </dgm:pt>
    <dgm:pt modelId="{469E2DD4-E851-A04C-B7C7-3BD0E22018CD}" type="sibTrans" cxnId="{5A987F76-50CB-3940-8146-967DC18E9027}">
      <dgm:prSet/>
      <dgm:spPr/>
      <dgm:t>
        <a:bodyPr/>
        <a:lstStyle/>
        <a:p>
          <a:endParaRPr lang="en-US"/>
        </a:p>
      </dgm:t>
    </dgm:pt>
    <dgm:pt modelId="{53B78249-FFA2-684E-9BAC-450DC7CB7615}" type="pres">
      <dgm:prSet presAssocID="{88B137B5-3EFC-9441-8BB8-B173C1E68AAA}" presName="linear" presStyleCnt="0">
        <dgm:presLayoutVars>
          <dgm:animLvl val="lvl"/>
          <dgm:resizeHandles val="exact"/>
        </dgm:presLayoutVars>
      </dgm:prSet>
      <dgm:spPr/>
      <dgm:t>
        <a:bodyPr/>
        <a:lstStyle/>
        <a:p>
          <a:endParaRPr lang="en-US"/>
        </a:p>
      </dgm:t>
    </dgm:pt>
    <dgm:pt modelId="{765927A2-4965-FF4A-B9BC-680C7E35F48F}" type="pres">
      <dgm:prSet presAssocID="{62736F95-5696-D745-A65D-C9041739C766}" presName="parentText" presStyleLbl="node1" presStyleIdx="0" presStyleCnt="3">
        <dgm:presLayoutVars>
          <dgm:chMax val="0"/>
          <dgm:bulletEnabled val="1"/>
        </dgm:presLayoutVars>
      </dgm:prSet>
      <dgm:spPr/>
      <dgm:t>
        <a:bodyPr/>
        <a:lstStyle/>
        <a:p>
          <a:endParaRPr lang="en-US"/>
        </a:p>
      </dgm:t>
    </dgm:pt>
    <dgm:pt modelId="{D94B0FD4-15B2-DF4B-8F8F-5A9390D5A904}" type="pres">
      <dgm:prSet presAssocID="{52858632-05E7-AE43-A05F-8522E8CC0285}" presName="spacer" presStyleCnt="0"/>
      <dgm:spPr/>
    </dgm:pt>
    <dgm:pt modelId="{0CD1B4F1-1C5E-9A4B-B398-5481155A2C83}" type="pres">
      <dgm:prSet presAssocID="{53DA55F5-3A8D-984B-A9DD-904E914B9E97}" presName="parentText" presStyleLbl="node1" presStyleIdx="1" presStyleCnt="3">
        <dgm:presLayoutVars>
          <dgm:chMax val="0"/>
          <dgm:bulletEnabled val="1"/>
        </dgm:presLayoutVars>
      </dgm:prSet>
      <dgm:spPr/>
      <dgm:t>
        <a:bodyPr/>
        <a:lstStyle/>
        <a:p>
          <a:endParaRPr lang="en-US"/>
        </a:p>
      </dgm:t>
    </dgm:pt>
    <dgm:pt modelId="{E0D2EEF3-6A26-794F-952E-DE369664F5D8}" type="pres">
      <dgm:prSet presAssocID="{C86B65A8-07D1-304C-9F9B-361FEB95791F}" presName="spacer" presStyleCnt="0"/>
      <dgm:spPr/>
    </dgm:pt>
    <dgm:pt modelId="{41F183BE-7340-2448-93DB-6FB07317A55B}" type="pres">
      <dgm:prSet presAssocID="{0FC1A31C-A6BA-3042-97C6-5D788778D5D9}" presName="parentText" presStyleLbl="node1" presStyleIdx="2" presStyleCnt="3">
        <dgm:presLayoutVars>
          <dgm:chMax val="0"/>
          <dgm:bulletEnabled val="1"/>
        </dgm:presLayoutVars>
      </dgm:prSet>
      <dgm:spPr/>
      <dgm:t>
        <a:bodyPr/>
        <a:lstStyle/>
        <a:p>
          <a:endParaRPr lang="en-US"/>
        </a:p>
      </dgm:t>
    </dgm:pt>
  </dgm:ptLst>
  <dgm:cxnLst>
    <dgm:cxn modelId="{82CD2061-F798-2B42-AD2A-250AAD76333D}" type="presOf" srcId="{53DA55F5-3A8D-984B-A9DD-904E914B9E97}" destId="{0CD1B4F1-1C5E-9A4B-B398-5481155A2C83}" srcOrd="0" destOrd="0" presId="urn:microsoft.com/office/officeart/2005/8/layout/vList2"/>
    <dgm:cxn modelId="{4BD1414A-834E-5849-834D-A161D0254225}" srcId="{88B137B5-3EFC-9441-8BB8-B173C1E68AAA}" destId="{62736F95-5696-D745-A65D-C9041739C766}" srcOrd="0" destOrd="0" parTransId="{27845420-008E-A242-A244-B4B466E54A69}" sibTransId="{52858632-05E7-AE43-A05F-8522E8CC0285}"/>
    <dgm:cxn modelId="{384452CF-7B2B-7045-9783-C06974792E98}" type="presOf" srcId="{0FC1A31C-A6BA-3042-97C6-5D788778D5D9}" destId="{41F183BE-7340-2448-93DB-6FB07317A55B}" srcOrd="0" destOrd="0" presId="urn:microsoft.com/office/officeart/2005/8/layout/vList2"/>
    <dgm:cxn modelId="{5A987F76-50CB-3940-8146-967DC18E9027}" srcId="{88B137B5-3EFC-9441-8BB8-B173C1E68AAA}" destId="{0FC1A31C-A6BA-3042-97C6-5D788778D5D9}" srcOrd="2" destOrd="0" parTransId="{AABE1B89-81C8-6E43-87A4-1531746F911E}" sibTransId="{469E2DD4-E851-A04C-B7C7-3BD0E22018CD}"/>
    <dgm:cxn modelId="{ACD46E8F-B60E-964B-B4BB-50A5F0C787BF}" type="presOf" srcId="{88B137B5-3EFC-9441-8BB8-B173C1E68AAA}" destId="{53B78249-FFA2-684E-9BAC-450DC7CB7615}" srcOrd="0" destOrd="0" presId="urn:microsoft.com/office/officeart/2005/8/layout/vList2"/>
    <dgm:cxn modelId="{F831FC0F-284B-DC40-BA97-48DAEC557260}" srcId="{88B137B5-3EFC-9441-8BB8-B173C1E68AAA}" destId="{53DA55F5-3A8D-984B-A9DD-904E914B9E97}" srcOrd="1" destOrd="0" parTransId="{D51613E1-E386-0047-8BE9-F281C9C08661}" sibTransId="{C86B65A8-07D1-304C-9F9B-361FEB95791F}"/>
    <dgm:cxn modelId="{9A66F94D-2035-0149-B10A-B17CBDA9FB06}" type="presOf" srcId="{62736F95-5696-D745-A65D-C9041739C766}" destId="{765927A2-4965-FF4A-B9BC-680C7E35F48F}" srcOrd="0" destOrd="0" presId="urn:microsoft.com/office/officeart/2005/8/layout/vList2"/>
    <dgm:cxn modelId="{E7DC979A-C34B-6E48-BC48-714B7027D574}" type="presParOf" srcId="{53B78249-FFA2-684E-9BAC-450DC7CB7615}" destId="{765927A2-4965-FF4A-B9BC-680C7E35F48F}" srcOrd="0" destOrd="0" presId="urn:microsoft.com/office/officeart/2005/8/layout/vList2"/>
    <dgm:cxn modelId="{A49FA503-5626-BA4A-AEA5-D8A1A7F9A15D}" type="presParOf" srcId="{53B78249-FFA2-684E-9BAC-450DC7CB7615}" destId="{D94B0FD4-15B2-DF4B-8F8F-5A9390D5A904}" srcOrd="1" destOrd="0" presId="urn:microsoft.com/office/officeart/2005/8/layout/vList2"/>
    <dgm:cxn modelId="{A154BF4E-C4F5-224B-BEE3-A6F3153D4E03}" type="presParOf" srcId="{53B78249-FFA2-684E-9BAC-450DC7CB7615}" destId="{0CD1B4F1-1C5E-9A4B-B398-5481155A2C83}" srcOrd="2" destOrd="0" presId="urn:microsoft.com/office/officeart/2005/8/layout/vList2"/>
    <dgm:cxn modelId="{528D2AF1-CD6F-8D4A-A81D-FF551E75B0CC}" type="presParOf" srcId="{53B78249-FFA2-684E-9BAC-450DC7CB7615}" destId="{E0D2EEF3-6A26-794F-952E-DE369664F5D8}" srcOrd="3" destOrd="0" presId="urn:microsoft.com/office/officeart/2005/8/layout/vList2"/>
    <dgm:cxn modelId="{60FF7DAE-B8F4-0040-A607-FE31F0440385}" type="presParOf" srcId="{53B78249-FFA2-684E-9BAC-450DC7CB7615}" destId="{41F183BE-7340-2448-93DB-6FB07317A55B}"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04820" cy="461010"/>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84995" name="Rectangle 3"/>
          <p:cNvSpPr>
            <a:spLocks noGrp="1" noChangeArrowheads="1"/>
          </p:cNvSpPr>
          <p:nvPr>
            <p:ph type="dt" sz="quarter" idx="1"/>
          </p:nvPr>
        </p:nvSpPr>
        <p:spPr bwMode="auto">
          <a:xfrm>
            <a:off x="3927775" y="0"/>
            <a:ext cx="3004820" cy="461010"/>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84996" name="Rectangle 4"/>
          <p:cNvSpPr>
            <a:spLocks noGrp="1" noChangeArrowheads="1"/>
          </p:cNvSpPr>
          <p:nvPr>
            <p:ph type="ftr" sz="quarter" idx="2"/>
          </p:nvPr>
        </p:nvSpPr>
        <p:spPr bwMode="auto">
          <a:xfrm>
            <a:off x="0" y="8757590"/>
            <a:ext cx="3004820" cy="461010"/>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84997" name="Rectangle 5"/>
          <p:cNvSpPr>
            <a:spLocks noGrp="1" noChangeArrowheads="1"/>
          </p:cNvSpPr>
          <p:nvPr>
            <p:ph type="sldNum" sz="quarter" idx="3"/>
          </p:nvPr>
        </p:nvSpPr>
        <p:spPr bwMode="auto">
          <a:xfrm>
            <a:off x="3927775" y="8757590"/>
            <a:ext cx="3004820" cy="461010"/>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lgn="r">
              <a:defRPr sz="1200">
                <a:latin typeface="Arial" pitchFamily="-107" charset="0"/>
              </a:defRPr>
            </a:lvl1pPr>
          </a:lstStyle>
          <a:p>
            <a:pPr>
              <a:defRPr/>
            </a:pPr>
            <a:fld id="{F217DA43-F7AE-7641-96F9-03D7730E69DC}" type="slidenum">
              <a:rPr lang="en-AU"/>
              <a:pPr>
                <a:defRPr/>
              </a:pPr>
              <a:t>‹#›</a:t>
            </a:fld>
            <a:endParaRPr lang="en-AU" dirty="0"/>
          </a:p>
        </p:txBody>
      </p:sp>
    </p:spTree>
    <p:extLst>
      <p:ext uri="{BB962C8B-B14F-4D97-AF65-F5344CB8AC3E}">
        <p14:creationId xmlns:p14="http://schemas.microsoft.com/office/powerpoint/2010/main" val="18122803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3004820" cy="461010"/>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22531" name="Rectangle 3"/>
          <p:cNvSpPr>
            <a:spLocks noGrp="1" noChangeArrowheads="1"/>
          </p:cNvSpPr>
          <p:nvPr>
            <p:ph type="dt" idx="1"/>
          </p:nvPr>
        </p:nvSpPr>
        <p:spPr bwMode="auto">
          <a:xfrm>
            <a:off x="3927775" y="0"/>
            <a:ext cx="3004820" cy="461010"/>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93420" y="4379595"/>
            <a:ext cx="5547360" cy="4149090"/>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757590"/>
            <a:ext cx="3004820" cy="461010"/>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22535" name="Rectangle 7"/>
          <p:cNvSpPr>
            <a:spLocks noGrp="1" noChangeArrowheads="1"/>
          </p:cNvSpPr>
          <p:nvPr>
            <p:ph type="sldNum" sz="quarter" idx="5"/>
          </p:nvPr>
        </p:nvSpPr>
        <p:spPr bwMode="auto">
          <a:xfrm>
            <a:off x="3927775" y="8757590"/>
            <a:ext cx="3004820" cy="461010"/>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lgn="r">
              <a:defRPr sz="1200">
                <a:latin typeface="Arial" pitchFamily="-107" charset="0"/>
              </a:defRPr>
            </a:lvl1pPr>
          </a:lstStyle>
          <a:p>
            <a:pPr>
              <a:defRPr/>
            </a:pPr>
            <a:fld id="{B1B765E1-EB55-3F42-96E6-9BC39CDD5E78}" type="slidenum">
              <a:rPr lang="en-AU"/>
              <a:pPr>
                <a:defRPr/>
              </a:pPr>
              <a:t>‹#›</a:t>
            </a:fld>
            <a:endParaRPr lang="en-AU" dirty="0"/>
          </a:p>
        </p:txBody>
      </p:sp>
    </p:spTree>
    <p:extLst>
      <p:ext uri="{BB962C8B-B14F-4D97-AF65-F5344CB8AC3E}">
        <p14:creationId xmlns:p14="http://schemas.microsoft.com/office/powerpoint/2010/main" val="870456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F8213168-CBB8-004E-B161-E3C8E26BC09B}" type="slidenum">
              <a:rPr lang="en-AU">
                <a:latin typeface="Arial" pitchFamily="-84" charset="0"/>
              </a:rPr>
              <a:pPr/>
              <a:t>1</a:t>
            </a:fld>
            <a:endParaRPr lang="en-AU">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smtClean="0">
                <a:latin typeface="Arial" pitchFamily="-84" charset="0"/>
                <a:ea typeface="ＭＳ Ｐゴシック" pitchFamily="-84" charset="-128"/>
                <a:cs typeface="ＭＳ Ｐゴシック" pitchFamily="-84" charset="-128"/>
              </a:rPr>
              <a:t>, Chapter 4 – “Basic Concepts in Number Theory and Finite Fields”.</a:t>
            </a:r>
            <a:endParaRPr lang="en-AU" smtClean="0">
              <a:latin typeface="Times New Roman" pitchFamily="-84" charset="0"/>
              <a:ea typeface="ＭＳ Ｐゴシック" pitchFamily="-84" charset="-128"/>
              <a:cs typeface="ＭＳ Ｐゴシック" pitchFamily="-84" charset="-128"/>
            </a:endParaRPr>
          </a:p>
          <a:p>
            <a:pPr eaLnBrk="1" hangingPunct="1"/>
            <a:endParaRPr lang="en-US"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The Advanced Encryption Standard (AES) was published by the National Institute</a:t>
            </a:r>
          </a:p>
          <a:p>
            <a:r>
              <a:rPr lang="en-US" smtClean="0">
                <a:latin typeface="Arial" pitchFamily="-84" charset="0"/>
                <a:ea typeface="ＭＳ Ｐゴシック" pitchFamily="-84" charset="-128"/>
                <a:cs typeface="ＭＳ Ｐゴシック" pitchFamily="-84" charset="-128"/>
              </a:rPr>
              <a:t>of Standards and Technology (NIST) in 2001. AES is a symmetric block cipher that</a:t>
            </a:r>
          </a:p>
          <a:p>
            <a:r>
              <a:rPr lang="en-US" smtClean="0">
                <a:latin typeface="Arial" pitchFamily="-84" charset="0"/>
                <a:ea typeface="ＭＳ Ｐゴシック" pitchFamily="-84" charset="-128"/>
                <a:cs typeface="ＭＳ Ｐゴシック" pitchFamily="-84" charset="-128"/>
              </a:rPr>
              <a:t>is intended to replace DES as the approved standard for a wide range of applications.</a:t>
            </a:r>
          </a:p>
          <a:p>
            <a:r>
              <a:rPr lang="en-US" smtClean="0">
                <a:latin typeface="Arial" pitchFamily="-84" charset="0"/>
                <a:ea typeface="ＭＳ Ｐゴシック" pitchFamily="-84" charset="-128"/>
                <a:cs typeface="ＭＳ Ｐゴシック" pitchFamily="-84" charset="-128"/>
              </a:rPr>
              <a:t>Compared to public-key ciphers such as RSA, the structure of AES and most symmetric</a:t>
            </a:r>
          </a:p>
          <a:p>
            <a:r>
              <a:rPr lang="en-US" smtClean="0">
                <a:latin typeface="Arial" pitchFamily="-84" charset="0"/>
                <a:ea typeface="ＭＳ Ｐゴシック" pitchFamily="-84" charset="-128"/>
                <a:cs typeface="ＭＳ Ｐゴシック" pitchFamily="-84" charset="-128"/>
              </a:rPr>
              <a:t>ciphers is quite complex and cannot be explained as easily as many other cryptographic</a:t>
            </a:r>
          </a:p>
          <a:p>
            <a:r>
              <a:rPr lang="en-US" smtClean="0">
                <a:latin typeface="Arial" pitchFamily="-84" charset="0"/>
                <a:ea typeface="ＭＳ Ｐゴシック" pitchFamily="-84" charset="-128"/>
                <a:cs typeface="ＭＳ Ｐゴシック" pitchFamily="-84" charset="-128"/>
              </a:rPr>
              <a:t>algorithms. Accordingly, the reader may wish to begin with a simplified version</a:t>
            </a:r>
          </a:p>
          <a:p>
            <a:r>
              <a:rPr lang="en-US" smtClean="0">
                <a:latin typeface="Arial" pitchFamily="-84" charset="0"/>
                <a:ea typeface="ＭＳ Ｐゴシック" pitchFamily="-84" charset="-128"/>
                <a:cs typeface="ＭＳ Ｐゴシック" pitchFamily="-84" charset="-128"/>
              </a:rPr>
              <a:t>of AES, which is described in Appendix 5B. This version allows the reader to perform</a:t>
            </a:r>
          </a:p>
          <a:p>
            <a:r>
              <a:rPr lang="en-US" smtClean="0">
                <a:latin typeface="Arial" pitchFamily="-84" charset="0"/>
                <a:ea typeface="ＭＳ Ｐゴシック" pitchFamily="-84" charset="-128"/>
                <a:cs typeface="ＭＳ Ｐゴシック" pitchFamily="-84" charset="-128"/>
              </a:rPr>
              <a:t>encryption and decryption by hand and gain a good understanding of the working of</a:t>
            </a:r>
          </a:p>
          <a:p>
            <a:r>
              <a:rPr lang="en-US" smtClean="0">
                <a:latin typeface="Arial" pitchFamily="-84" charset="0"/>
                <a:ea typeface="ＭＳ Ｐゴシック" pitchFamily="-84" charset="-128"/>
                <a:cs typeface="ＭＳ Ｐゴシック" pitchFamily="-84" charset="-128"/>
              </a:rPr>
              <a:t>the algorithm details. Classroom experience indicates that a study of this simplified</a:t>
            </a:r>
          </a:p>
          <a:p>
            <a:r>
              <a:rPr lang="en-US" smtClean="0">
                <a:latin typeface="Arial" pitchFamily="-84" charset="0"/>
                <a:ea typeface="ＭＳ Ｐゴシック" pitchFamily="-84" charset="-128"/>
                <a:cs typeface="ＭＳ Ｐゴシック" pitchFamily="-84" charset="-128"/>
              </a:rPr>
              <a:t>version enhances understanding of AES.  One possible approach is to read the chapter</a:t>
            </a:r>
          </a:p>
          <a:p>
            <a:r>
              <a:rPr lang="en-US" smtClean="0">
                <a:latin typeface="Arial" pitchFamily="-84" charset="0"/>
                <a:ea typeface="ＭＳ Ｐゴシック" pitchFamily="-84" charset="-128"/>
                <a:cs typeface="ＭＳ Ｐゴシック" pitchFamily="-84" charset="-128"/>
              </a:rPr>
              <a:t>first, then carefully read Appendix 5B, and then re-read the main body of the chapter.</a:t>
            </a:r>
          </a:p>
          <a:p>
            <a:endParaRPr lang="en-US"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2215C305-00C5-CE4B-9FC2-6AC8B787271B}" type="slidenum">
              <a:rPr lang="en-AU">
                <a:latin typeface="Arial" pitchFamily="-84" charset="0"/>
              </a:rPr>
              <a:pPr/>
              <a:t>4</a:t>
            </a:fld>
            <a:endParaRPr lang="en-AU">
              <a:latin typeface="Arial" pitchFamily="-84" charset="0"/>
            </a:endParaRPr>
          </a:p>
        </p:txBody>
      </p:sp>
      <p:sp>
        <p:nvSpPr>
          <p:cNvPr id="7577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ln/>
        </p:spPr>
        <p:txBody>
          <a:bodyPr/>
          <a:lstStyle/>
          <a:p>
            <a:pPr>
              <a:defRPr/>
            </a:pPr>
            <a:r>
              <a:rPr lang="en-US" dirty="0" smtClean="0"/>
              <a:t>Groups, rings, and fields are the fundamental elements of a branch of mathematics</a:t>
            </a:r>
          </a:p>
          <a:p>
            <a:pPr>
              <a:defRPr/>
            </a:pPr>
            <a:r>
              <a:rPr lang="en-US" dirty="0" smtClean="0"/>
              <a:t>known as abstract algebra, or modern algebra. In abstract algebra, we are concerned</a:t>
            </a:r>
          </a:p>
          <a:p>
            <a:pPr>
              <a:defRPr/>
            </a:pPr>
            <a:r>
              <a:rPr lang="en-US" dirty="0" smtClean="0"/>
              <a:t>with sets on whose elements we can operate algebraically; that is, we can combine</a:t>
            </a:r>
          </a:p>
          <a:p>
            <a:pPr>
              <a:defRPr/>
            </a:pPr>
            <a:r>
              <a:rPr lang="en-US" dirty="0" smtClean="0"/>
              <a:t>two elements of the set, perhaps in several ways, to obtain a third element of the set.</a:t>
            </a:r>
          </a:p>
          <a:p>
            <a:pPr>
              <a:defRPr/>
            </a:pPr>
            <a:r>
              <a:rPr lang="en-US" dirty="0" smtClean="0"/>
              <a:t>These operations are subject to specific rules, which define the nature of the set. By</a:t>
            </a:r>
          </a:p>
          <a:p>
            <a:pPr>
              <a:defRPr/>
            </a:pPr>
            <a:r>
              <a:rPr lang="en-US" dirty="0" smtClean="0"/>
              <a:t>convention, the notation for the two principal classes of operations</a:t>
            </a:r>
          </a:p>
          <a:p>
            <a:pPr>
              <a:defRPr/>
            </a:pPr>
            <a:r>
              <a:rPr lang="en-US" dirty="0" smtClean="0"/>
              <a:t>on set elements is usually the same as the notation for addition and multiplication on ordinary numbers.</a:t>
            </a:r>
          </a:p>
          <a:p>
            <a:pPr>
              <a:defRPr/>
            </a:pPr>
            <a:r>
              <a:rPr lang="en-US" dirty="0" smtClean="0"/>
              <a:t>However, it is important to note that, in abstract algebra, we are not limited to</a:t>
            </a:r>
          </a:p>
          <a:p>
            <a:pPr>
              <a:defRPr/>
            </a:pPr>
            <a:r>
              <a:rPr lang="en-US" dirty="0" smtClean="0"/>
              <a:t>ordinary arithmetical operations. All this should become clear as we proceed.</a:t>
            </a:r>
          </a:p>
          <a:p>
            <a:pPr>
              <a:defRPr/>
            </a:pPr>
            <a:endParaRPr lang="en-US" dirty="0" smtClean="0"/>
          </a:p>
          <a:p>
            <a:pPr>
              <a:defRPr/>
            </a:pPr>
            <a:r>
              <a:rPr lang="en-US" dirty="0" smtClean="0"/>
              <a:t> A group G , sometimes denoted by {G , * }, is a set of elements with a binary operation</a:t>
            </a:r>
          </a:p>
          <a:p>
            <a:pPr>
              <a:defRPr/>
            </a:pPr>
            <a:r>
              <a:rPr lang="en-US" dirty="0" smtClean="0"/>
              <a:t>denoted by *  that associates to each ordered pair (a, b ) of elements in G  an element</a:t>
            </a:r>
          </a:p>
          <a:p>
            <a:pPr>
              <a:defRPr/>
            </a:pPr>
            <a:r>
              <a:rPr lang="en-US" dirty="0" smtClean="0"/>
              <a:t>(a ~ b ) in G , such that the following axioms are obeyed:</a:t>
            </a:r>
          </a:p>
          <a:p>
            <a:pPr>
              <a:defRPr/>
            </a:pPr>
            <a:endParaRPr lang="en-US" dirty="0" smtClean="0"/>
          </a:p>
          <a:p>
            <a:pPr lvl="1">
              <a:spcBef>
                <a:spcPts val="1312"/>
              </a:spcBef>
              <a:defRPr/>
            </a:pPr>
            <a:r>
              <a:rPr lang="en-US" dirty="0" smtClean="0"/>
              <a:t>(A1) Closure: </a:t>
            </a:r>
          </a:p>
          <a:p>
            <a:pPr lvl="2">
              <a:spcBef>
                <a:spcPts val="1312"/>
              </a:spcBef>
              <a:defRPr/>
            </a:pPr>
            <a:r>
              <a:rPr lang="en-US" dirty="0" smtClean="0"/>
              <a:t>If </a:t>
            </a:r>
            <a:r>
              <a:rPr lang="en-US" i="1" dirty="0" smtClean="0"/>
              <a:t>a</a:t>
            </a:r>
            <a:r>
              <a:rPr lang="en-US" dirty="0" smtClean="0"/>
              <a:t> and </a:t>
            </a:r>
            <a:r>
              <a:rPr lang="en-US" i="1" dirty="0" smtClean="0"/>
              <a:t>b</a:t>
            </a:r>
            <a:r>
              <a:rPr lang="en-US" dirty="0" smtClean="0"/>
              <a:t> belong to </a:t>
            </a:r>
            <a:r>
              <a:rPr lang="en-US" i="1" dirty="0" smtClean="0"/>
              <a:t>G</a:t>
            </a:r>
            <a:r>
              <a:rPr lang="en-US" dirty="0" smtClean="0"/>
              <a:t>, then </a:t>
            </a:r>
            <a:r>
              <a:rPr lang="en-US" i="1" dirty="0" smtClean="0"/>
              <a:t>a * b</a:t>
            </a:r>
            <a:r>
              <a:rPr lang="en-US" dirty="0" smtClean="0"/>
              <a:t> is also in </a:t>
            </a:r>
            <a:r>
              <a:rPr lang="en-US" i="1" dirty="0" smtClean="0"/>
              <a:t>G</a:t>
            </a:r>
          </a:p>
          <a:p>
            <a:pPr lvl="1">
              <a:spcBef>
                <a:spcPts val="1312"/>
              </a:spcBef>
              <a:defRPr/>
            </a:pPr>
            <a:r>
              <a:rPr lang="en-US" dirty="0" smtClean="0"/>
              <a:t>(A2) Associative: </a:t>
            </a:r>
          </a:p>
          <a:p>
            <a:pPr lvl="2">
              <a:spcBef>
                <a:spcPts val="1312"/>
              </a:spcBef>
              <a:defRPr/>
            </a:pPr>
            <a:r>
              <a:rPr lang="en-US" i="1" dirty="0" smtClean="0"/>
              <a:t>a * (b * c) = (a * b) * c </a:t>
            </a:r>
            <a:r>
              <a:rPr lang="en-US" dirty="0" smtClean="0"/>
              <a:t>for all </a:t>
            </a:r>
            <a:r>
              <a:rPr lang="en-US" i="1" dirty="0" smtClean="0"/>
              <a:t>a, b, c </a:t>
            </a:r>
            <a:r>
              <a:rPr lang="en-US" dirty="0" smtClean="0"/>
              <a:t>in </a:t>
            </a:r>
            <a:r>
              <a:rPr lang="en-US" i="1" dirty="0" smtClean="0"/>
              <a:t>G</a:t>
            </a:r>
          </a:p>
          <a:p>
            <a:pPr lvl="1">
              <a:spcBef>
                <a:spcPts val="1312"/>
              </a:spcBef>
              <a:defRPr/>
            </a:pPr>
            <a:r>
              <a:rPr lang="en-US" dirty="0" smtClean="0"/>
              <a:t>(A3) Identity element: </a:t>
            </a:r>
          </a:p>
          <a:p>
            <a:pPr lvl="2">
              <a:spcBef>
                <a:spcPts val="1312"/>
              </a:spcBef>
              <a:defRPr/>
            </a:pPr>
            <a:r>
              <a:rPr lang="en-US" dirty="0" smtClean="0"/>
              <a:t>There is an element </a:t>
            </a:r>
            <a:r>
              <a:rPr lang="en-US" i="1" dirty="0" smtClean="0"/>
              <a:t>e</a:t>
            </a:r>
            <a:r>
              <a:rPr lang="en-US" dirty="0" smtClean="0"/>
              <a:t> in </a:t>
            </a:r>
            <a:r>
              <a:rPr lang="en-US" i="1" dirty="0" smtClean="0"/>
              <a:t>G</a:t>
            </a:r>
            <a:r>
              <a:rPr lang="en-US" dirty="0" smtClean="0"/>
              <a:t> such that </a:t>
            </a:r>
            <a:r>
              <a:rPr lang="en-US" i="1" dirty="0" smtClean="0"/>
              <a:t>a * e = e * a = a </a:t>
            </a:r>
            <a:r>
              <a:rPr lang="en-US" dirty="0" smtClean="0"/>
              <a:t>for all </a:t>
            </a:r>
            <a:r>
              <a:rPr lang="en-US" i="1" dirty="0" smtClean="0"/>
              <a:t>a</a:t>
            </a:r>
            <a:r>
              <a:rPr lang="en-US" dirty="0" smtClean="0"/>
              <a:t> in </a:t>
            </a:r>
            <a:r>
              <a:rPr lang="en-US" i="1" dirty="0" smtClean="0"/>
              <a:t>G</a:t>
            </a:r>
          </a:p>
          <a:p>
            <a:pPr lvl="1">
              <a:spcBef>
                <a:spcPts val="1312"/>
              </a:spcBef>
              <a:defRPr/>
            </a:pPr>
            <a:r>
              <a:rPr lang="en-US" dirty="0" smtClean="0"/>
              <a:t>(A4) Inverse element: </a:t>
            </a:r>
          </a:p>
          <a:p>
            <a:pPr lvl="2">
              <a:defRPr/>
            </a:pPr>
            <a:r>
              <a:rPr lang="en-US" dirty="0" smtClean="0"/>
              <a:t>For each </a:t>
            </a:r>
            <a:r>
              <a:rPr lang="en-US" i="1" dirty="0" smtClean="0"/>
              <a:t>a</a:t>
            </a:r>
            <a:r>
              <a:rPr lang="en-US" dirty="0" smtClean="0"/>
              <a:t> in </a:t>
            </a:r>
            <a:r>
              <a:rPr lang="en-US" i="1" dirty="0" smtClean="0"/>
              <a:t>G</a:t>
            </a:r>
            <a:r>
              <a:rPr lang="en-US" dirty="0" smtClean="0"/>
              <a:t>, there is an element </a:t>
            </a:r>
            <a:r>
              <a:rPr lang="en-US" i="1" dirty="0" smtClean="0"/>
              <a:t>a</a:t>
            </a:r>
            <a:r>
              <a:rPr lang="en-US" dirty="0" smtClean="0"/>
              <a:t> in </a:t>
            </a:r>
            <a:r>
              <a:rPr lang="en-US" i="1" dirty="0" smtClean="0"/>
              <a:t>G </a:t>
            </a:r>
            <a:r>
              <a:rPr lang="en-US" dirty="0" smtClean="0"/>
              <a:t>such that </a:t>
            </a:r>
            <a:r>
              <a:rPr lang="en-US" i="1" dirty="0" smtClean="0"/>
              <a:t>a*a = a * a = e</a:t>
            </a:r>
          </a:p>
          <a:p>
            <a:pPr lvl="1">
              <a:spcBef>
                <a:spcPts val="1312"/>
              </a:spcBef>
              <a:defRPr/>
            </a:pPr>
            <a:r>
              <a:rPr lang="en-US" sz="2600" dirty="0"/>
              <a:t>(A5) Commutative: </a:t>
            </a:r>
          </a:p>
          <a:p>
            <a:pPr lvl="2">
              <a:defRPr/>
            </a:pPr>
            <a:r>
              <a:rPr lang="en-US" i="1" dirty="0" smtClean="0"/>
              <a:t>a * b = b * a </a:t>
            </a:r>
            <a:r>
              <a:rPr lang="en-US" dirty="0" smtClean="0"/>
              <a:t>for all </a:t>
            </a:r>
            <a:r>
              <a:rPr lang="en-US" i="1" dirty="0" smtClean="0"/>
              <a:t>a, b </a:t>
            </a:r>
            <a:r>
              <a:rPr lang="en-US" dirty="0" smtClean="0"/>
              <a:t>in </a:t>
            </a:r>
            <a:r>
              <a:rPr lang="en-US" i="1" dirty="0" smtClean="0"/>
              <a:t>G</a:t>
            </a:r>
          </a:p>
          <a:p>
            <a:pPr lvl="2">
              <a:defRPr/>
            </a:pPr>
            <a:endParaRPr lang="en-US" i="1" dirty="0" smtClean="0"/>
          </a:p>
          <a:p>
            <a:pPr>
              <a:defRPr/>
            </a:pPr>
            <a:endParaRPr lang="en-AU"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3728D505-0565-2344-8E61-EAF171809637}" type="slidenum">
              <a:rPr lang="en-AU">
                <a:latin typeface="Arial" pitchFamily="-84" charset="0"/>
              </a:rPr>
              <a:pPr/>
              <a:t>6</a:t>
            </a:fld>
            <a:endParaRPr lang="en-AU">
              <a:latin typeface="Arial" pitchFamily="-84" charset="0"/>
            </a:endParaRPr>
          </a:p>
        </p:txBody>
      </p:sp>
      <p:sp>
        <p:nvSpPr>
          <p:cNvPr id="77827" name="Rectangle 1026"/>
          <p:cNvSpPr>
            <a:spLocks noGrp="1" noRot="1" noChangeAspect="1" noChangeArrowheads="1" noTextEdit="1"/>
          </p:cNvSpPr>
          <p:nvPr>
            <p:ph type="sldImg"/>
          </p:nvPr>
        </p:nvSpPr>
        <p:spPr>
          <a:ln/>
        </p:spPr>
      </p:sp>
      <p:sp>
        <p:nvSpPr>
          <p:cNvPr id="77828" name="Rectangle 1027"/>
          <p:cNvSpPr>
            <a:spLocks noGrp="1" noChangeArrowheads="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Define exponentiation in a group as the repeated use of the group operator. Note that we are most familiar with it being applied to multiplication, but it is more general than that. If the repeated use of the operator on some value a in the group results in every possible value being created, then the group is said to be cyclic, and a is a generator of (or generates) the group 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52157904-C6CC-5240-98EA-AECAE7FDAA7E}" type="slidenum">
              <a:rPr lang="en-AU">
                <a:latin typeface="Arial" pitchFamily="-84" charset="0"/>
              </a:rPr>
              <a:pPr/>
              <a:t>7</a:t>
            </a:fld>
            <a:endParaRPr lang="en-AU">
              <a:latin typeface="Arial" pitchFamily="-84" charset="0"/>
            </a:endParaRPr>
          </a:p>
        </p:txBody>
      </p:sp>
      <p:sp>
        <p:nvSpPr>
          <p:cNvPr id="7987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ln/>
        </p:spPr>
        <p:txBody>
          <a:bodyPr/>
          <a:lstStyle/>
          <a:p>
            <a:pPr>
              <a:lnSpc>
                <a:spcPct val="140000"/>
              </a:lnSpc>
              <a:defRPr/>
            </a:pPr>
            <a:r>
              <a:rPr lang="en-US" dirty="0" smtClean="0"/>
              <a:t>A </a:t>
            </a:r>
            <a:r>
              <a:rPr lang="en-US" b="1" dirty="0" smtClean="0"/>
              <a:t>ring</a:t>
            </a:r>
            <a:r>
              <a:rPr lang="en-US" dirty="0" smtClean="0"/>
              <a:t> </a:t>
            </a:r>
            <a:r>
              <a:rPr lang="en-US" i="1" dirty="0" smtClean="0"/>
              <a:t>R</a:t>
            </a:r>
            <a:r>
              <a:rPr lang="en-US" dirty="0" smtClean="0"/>
              <a:t> , sometimes denoted by {R , + , * }, is a set of elements with two binary operations, called </a:t>
            </a:r>
            <a:r>
              <a:rPr lang="en-US" i="1" dirty="0" smtClean="0"/>
              <a:t>addition</a:t>
            </a:r>
            <a:r>
              <a:rPr lang="en-US" dirty="0" smtClean="0"/>
              <a:t> and </a:t>
            </a:r>
            <a:r>
              <a:rPr lang="en-US" i="1" dirty="0" smtClean="0"/>
              <a:t>multiplication</a:t>
            </a:r>
            <a:r>
              <a:rPr lang="en-US" dirty="0" smtClean="0"/>
              <a:t>,  such that for all </a:t>
            </a:r>
            <a:r>
              <a:rPr lang="en-US" i="1" dirty="0" smtClean="0"/>
              <a:t>a , b , c  </a:t>
            </a:r>
            <a:r>
              <a:rPr lang="en-US" dirty="0" smtClean="0"/>
              <a:t>in </a:t>
            </a:r>
            <a:r>
              <a:rPr lang="en-US" i="1" dirty="0" smtClean="0"/>
              <a:t>R</a:t>
            </a:r>
            <a:r>
              <a:rPr lang="en-US" dirty="0" smtClean="0"/>
              <a:t>  the following axioms are obeyed: </a:t>
            </a:r>
          </a:p>
          <a:p>
            <a:pPr>
              <a:defRPr/>
            </a:pPr>
            <a:r>
              <a:rPr lang="en-US" dirty="0" smtClean="0"/>
              <a:t>	</a:t>
            </a:r>
            <a:r>
              <a:rPr lang="en-US" b="1" dirty="0" smtClean="0"/>
              <a:t>(A1–A5) </a:t>
            </a:r>
          </a:p>
          <a:p>
            <a:pPr lvl="1">
              <a:lnSpc>
                <a:spcPct val="140000"/>
              </a:lnSpc>
              <a:spcBef>
                <a:spcPts val="1211"/>
              </a:spcBef>
              <a:defRPr/>
            </a:pPr>
            <a:r>
              <a:rPr lang="en-US" i="1" dirty="0" smtClean="0"/>
              <a:t>	R</a:t>
            </a:r>
            <a:r>
              <a:rPr lang="en-US" dirty="0" smtClean="0"/>
              <a:t>  is an abelian group with respect to addition; that is, </a:t>
            </a:r>
            <a:r>
              <a:rPr lang="en-US" i="1" dirty="0" smtClean="0"/>
              <a:t>R </a:t>
            </a:r>
            <a:r>
              <a:rPr lang="en-US" dirty="0" smtClean="0"/>
              <a:t>satisfies axioms A1 through A5. For the case of an additive group, we denote the identity element as 0 and the inverse of </a:t>
            </a:r>
            <a:r>
              <a:rPr lang="en-US" i="1" dirty="0" smtClean="0"/>
              <a:t>a</a:t>
            </a:r>
            <a:r>
              <a:rPr lang="en-US" dirty="0" smtClean="0"/>
              <a:t>  as </a:t>
            </a:r>
            <a:r>
              <a:rPr lang="en-US" i="1" dirty="0" smtClean="0"/>
              <a:t>–a </a:t>
            </a:r>
          </a:p>
          <a:p>
            <a:pPr lvl="1">
              <a:spcBef>
                <a:spcPts val="1211"/>
              </a:spcBef>
              <a:defRPr/>
            </a:pPr>
            <a:r>
              <a:rPr lang="en-US" sz="2900" b="1" i="1" dirty="0"/>
              <a:t> (M1) Closure under multiplication:  </a:t>
            </a:r>
          </a:p>
          <a:p>
            <a:pPr lvl="1">
              <a:spcBef>
                <a:spcPts val="1211"/>
              </a:spcBef>
              <a:defRPr/>
            </a:pPr>
            <a:r>
              <a:rPr lang="en-US" sz="2600" dirty="0"/>
              <a:t>	If</a:t>
            </a:r>
            <a:r>
              <a:rPr lang="en-US" sz="2600" i="1" dirty="0"/>
              <a:t> a  </a:t>
            </a:r>
            <a:r>
              <a:rPr lang="en-US" sz="2600" dirty="0"/>
              <a:t>and </a:t>
            </a:r>
            <a:r>
              <a:rPr lang="en-US" sz="2600" i="1" dirty="0"/>
              <a:t>b  </a:t>
            </a:r>
            <a:r>
              <a:rPr lang="en-US" sz="2600" dirty="0"/>
              <a:t>belong</a:t>
            </a:r>
            <a:r>
              <a:rPr lang="en-US" sz="2600" i="1" dirty="0"/>
              <a:t> </a:t>
            </a:r>
            <a:r>
              <a:rPr lang="en-US" sz="2600" dirty="0"/>
              <a:t>to</a:t>
            </a:r>
            <a:r>
              <a:rPr lang="en-US" sz="2600" i="1" dirty="0"/>
              <a:t> R , </a:t>
            </a:r>
            <a:r>
              <a:rPr lang="en-US" sz="2600" dirty="0"/>
              <a:t>then</a:t>
            </a:r>
            <a:r>
              <a:rPr lang="en-US" sz="2600" i="1" dirty="0"/>
              <a:t> ab  </a:t>
            </a:r>
            <a:r>
              <a:rPr lang="en-US" sz="2600" dirty="0"/>
              <a:t>is also in </a:t>
            </a:r>
            <a:r>
              <a:rPr lang="en-US" sz="2600" i="1" dirty="0"/>
              <a:t>R </a:t>
            </a:r>
          </a:p>
          <a:p>
            <a:pPr>
              <a:spcBef>
                <a:spcPts val="1211"/>
              </a:spcBef>
              <a:defRPr/>
            </a:pPr>
            <a:r>
              <a:rPr lang="en-US" dirty="0" smtClean="0"/>
              <a:t>	</a:t>
            </a:r>
            <a:r>
              <a:rPr lang="en-US" b="1" dirty="0" smtClean="0"/>
              <a:t>(M2) Associativity of multiplication: </a:t>
            </a:r>
          </a:p>
          <a:p>
            <a:pPr>
              <a:spcBef>
                <a:spcPts val="1211"/>
              </a:spcBef>
              <a:defRPr/>
            </a:pPr>
            <a:r>
              <a:rPr lang="en-US" sz="2600" dirty="0"/>
              <a:t>	         </a:t>
            </a:r>
            <a:r>
              <a:rPr lang="en-US" sz="2600" i="1" dirty="0"/>
              <a:t>a (bc ) =  (ab)c  </a:t>
            </a:r>
            <a:r>
              <a:rPr lang="en-US" sz="2600" dirty="0"/>
              <a:t>for all </a:t>
            </a:r>
            <a:r>
              <a:rPr lang="en-US" sz="2600" i="1" dirty="0"/>
              <a:t>a , b , c  in R </a:t>
            </a:r>
          </a:p>
          <a:p>
            <a:pPr>
              <a:spcBef>
                <a:spcPts val="1211"/>
              </a:spcBef>
              <a:defRPr/>
            </a:pPr>
            <a:r>
              <a:rPr lang="en-US" sz="2800" dirty="0"/>
              <a:t>	</a:t>
            </a:r>
            <a:r>
              <a:rPr lang="en-US" sz="2800" b="1" dirty="0"/>
              <a:t>(M3) Distributive laws: </a:t>
            </a:r>
          </a:p>
          <a:p>
            <a:pPr>
              <a:spcBef>
                <a:spcPts val="1211"/>
              </a:spcBef>
              <a:defRPr/>
            </a:pPr>
            <a:r>
              <a:rPr lang="en-US" sz="2800" dirty="0"/>
              <a:t>	       </a:t>
            </a:r>
            <a:r>
              <a:rPr lang="en-US" sz="2800" i="1" dirty="0"/>
              <a:t>a (b + c ) = ab + ac  </a:t>
            </a:r>
            <a:r>
              <a:rPr lang="en-US" sz="2800" dirty="0"/>
              <a:t>for all </a:t>
            </a:r>
            <a:r>
              <a:rPr lang="en-US" sz="2800" i="1" dirty="0"/>
              <a:t>a , b , c  </a:t>
            </a:r>
            <a:r>
              <a:rPr lang="en-US" sz="2800" dirty="0"/>
              <a:t>in </a:t>
            </a:r>
            <a:r>
              <a:rPr lang="en-US" sz="2800" i="1" dirty="0"/>
              <a:t>R</a:t>
            </a:r>
            <a:r>
              <a:rPr lang="en-US" sz="2800" dirty="0"/>
              <a:t> </a:t>
            </a:r>
          </a:p>
          <a:p>
            <a:pPr marL="346158" lvl="1" indent="-346158">
              <a:spcBef>
                <a:spcPts val="1211"/>
              </a:spcBef>
              <a:buClr>
                <a:schemeClr val="accent1">
                  <a:lumMod val="60000"/>
                  <a:lumOff val="40000"/>
                </a:schemeClr>
              </a:buClr>
              <a:defRPr/>
            </a:pPr>
            <a:r>
              <a:rPr lang="en-US" sz="2600" dirty="0"/>
              <a:t>	       </a:t>
            </a:r>
            <a:r>
              <a:rPr lang="en-US" sz="2600" i="1" dirty="0"/>
              <a:t> (a + b )c = ac + bc  </a:t>
            </a:r>
            <a:r>
              <a:rPr lang="en-US" sz="2600" dirty="0"/>
              <a:t>for all </a:t>
            </a:r>
            <a:r>
              <a:rPr lang="en-US" sz="2600" i="1" dirty="0"/>
              <a:t>a , b , c  </a:t>
            </a:r>
            <a:r>
              <a:rPr lang="en-US" sz="2600" dirty="0"/>
              <a:t>in </a:t>
            </a:r>
            <a:r>
              <a:rPr lang="en-US" sz="2600" i="1" dirty="0"/>
              <a:t>R</a:t>
            </a:r>
            <a:r>
              <a:rPr lang="en-US" sz="2800" i="1" dirty="0"/>
              <a:t> </a:t>
            </a:r>
          </a:p>
          <a:p>
            <a:pPr>
              <a:lnSpc>
                <a:spcPct val="150000"/>
              </a:lnSpc>
              <a:spcBef>
                <a:spcPts val="1211"/>
              </a:spcBef>
              <a:defRPr/>
            </a:pPr>
            <a:r>
              <a:rPr lang="en-US" dirty="0" smtClean="0"/>
              <a:t>In essence, a ring is a set in which we can do addition, subtraction </a:t>
            </a:r>
            <a:r>
              <a:rPr lang="en-US" i="1" dirty="0" smtClean="0"/>
              <a:t>[a - b = a +  (-b )]</a:t>
            </a:r>
            <a:r>
              <a:rPr lang="en-US" dirty="0" smtClean="0"/>
              <a:t>, and multiplication without leaving the set</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p:cNvSpPr>
          <p:nvPr>
            <p:ph type="sldImg"/>
          </p:nvPr>
        </p:nvSpPr>
        <p:spPr>
          <a:ln/>
        </p:spPr>
      </p:sp>
      <p:sp>
        <p:nvSpPr>
          <p:cNvPr id="81923" name="Notes Placeholder 2"/>
          <p:cNvSpPr>
            <a:spLocks noGrp="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A ring is said to be commutative if it satisfies the following additional condition:</a:t>
            </a:r>
          </a:p>
          <a:p>
            <a:pPr>
              <a:spcBef>
                <a:spcPts val="808"/>
              </a:spcBef>
            </a:pPr>
            <a:r>
              <a:rPr lang="en-US" smtClean="0">
                <a:latin typeface="Arial" pitchFamily="-84" charset="0"/>
                <a:ea typeface="ＭＳ Ｐゴシック" pitchFamily="-84" charset="-128"/>
                <a:cs typeface="ＭＳ Ｐゴシック" pitchFamily="-84" charset="-128"/>
              </a:rPr>
              <a:t>		</a:t>
            </a:r>
            <a:r>
              <a:rPr lang="en-US" b="1" smtClean="0">
                <a:latin typeface="Arial" pitchFamily="-84" charset="0"/>
                <a:ea typeface="ＭＳ Ｐゴシック" pitchFamily="-84" charset="-128"/>
                <a:cs typeface="ＭＳ Ｐゴシック" pitchFamily="-84" charset="-128"/>
              </a:rPr>
              <a:t>(M4) Commutativity of multiplication: </a:t>
            </a:r>
          </a:p>
          <a:p>
            <a:pPr>
              <a:spcBef>
                <a:spcPts val="808"/>
              </a:spcBef>
            </a:pPr>
            <a:r>
              <a:rPr lang="en-US" smtClean="0">
                <a:latin typeface="Arial" pitchFamily="-84" charset="0"/>
                <a:ea typeface="ＭＳ Ｐゴシック" pitchFamily="-84" charset="-128"/>
                <a:cs typeface="ＭＳ Ｐゴシック" pitchFamily="-84" charset="-128"/>
              </a:rPr>
              <a:t>		          ab = ba for all a, b in R</a:t>
            </a:r>
          </a:p>
          <a:p>
            <a:r>
              <a:rPr lang="en-US" smtClean="0">
                <a:latin typeface="Arial" pitchFamily="-84" charset="0"/>
                <a:ea typeface="ＭＳ Ｐゴシック" pitchFamily="-84" charset="-128"/>
                <a:cs typeface="ＭＳ Ｐゴシック" pitchFamily="-84" charset="-128"/>
              </a:rPr>
              <a:t> An integral domain  is a commutative ring that obeys the following axioms.</a:t>
            </a:r>
          </a:p>
          <a:p>
            <a:pPr>
              <a:spcBef>
                <a:spcPts val="808"/>
              </a:spcBef>
            </a:pPr>
            <a:r>
              <a:rPr lang="en-US" smtClean="0">
                <a:latin typeface="Arial" pitchFamily="-84" charset="0"/>
                <a:ea typeface="ＭＳ Ｐゴシック" pitchFamily="-84" charset="-128"/>
                <a:cs typeface="ＭＳ Ｐゴシック" pitchFamily="-84" charset="-128"/>
              </a:rPr>
              <a:t>		</a:t>
            </a:r>
            <a:r>
              <a:rPr lang="en-US" b="1" smtClean="0">
                <a:latin typeface="Arial" pitchFamily="-84" charset="0"/>
                <a:ea typeface="ＭＳ Ｐゴシック" pitchFamily="-84" charset="-128"/>
                <a:cs typeface="ＭＳ Ｐゴシック" pitchFamily="-84" charset="-128"/>
              </a:rPr>
              <a:t>(M5) Multiplicative identity:  </a:t>
            </a:r>
          </a:p>
          <a:p>
            <a:pPr>
              <a:spcBef>
                <a:spcPts val="808"/>
              </a:spcBef>
            </a:pPr>
            <a:r>
              <a:rPr lang="en-US" smtClean="0">
                <a:latin typeface="Arial" pitchFamily="-84" charset="0"/>
                <a:ea typeface="ＭＳ Ｐゴシック" pitchFamily="-84" charset="-128"/>
                <a:cs typeface="ＭＳ Ｐゴシック" pitchFamily="-84" charset="-128"/>
              </a:rPr>
              <a:t>		        There is an element 1 in </a:t>
            </a:r>
            <a:r>
              <a:rPr lang="en-US" i="1" smtClean="0">
                <a:latin typeface="Arial" pitchFamily="-84" charset="0"/>
                <a:ea typeface="ＭＳ Ｐゴシック" pitchFamily="-84" charset="-128"/>
                <a:cs typeface="ＭＳ Ｐゴシック" pitchFamily="-84" charset="-128"/>
              </a:rPr>
              <a:t>R</a:t>
            </a:r>
            <a:r>
              <a:rPr lang="en-US" smtClean="0">
                <a:latin typeface="Arial" pitchFamily="-84" charset="0"/>
                <a:ea typeface="ＭＳ Ｐゴシック" pitchFamily="-84" charset="-128"/>
                <a:cs typeface="ＭＳ Ｐゴシック" pitchFamily="-84" charset="-128"/>
              </a:rPr>
              <a:t>  such that </a:t>
            </a:r>
            <a:r>
              <a:rPr lang="en-US" i="1" smtClean="0">
                <a:latin typeface="Arial" pitchFamily="-84" charset="0"/>
                <a:ea typeface="ＭＳ Ｐゴシック" pitchFamily="-84" charset="-128"/>
                <a:cs typeface="ＭＳ Ｐゴシック" pitchFamily="-84" charset="-128"/>
              </a:rPr>
              <a:t>a 1 =  1a = a  </a:t>
            </a:r>
            <a:r>
              <a:rPr lang="en-US" smtClean="0">
                <a:latin typeface="Arial" pitchFamily="-84" charset="0"/>
                <a:ea typeface="ＭＳ Ｐゴシック" pitchFamily="-84" charset="-128"/>
                <a:cs typeface="ＭＳ Ｐゴシック" pitchFamily="-84" charset="-128"/>
              </a:rPr>
              <a:t>for all </a:t>
            </a:r>
            <a:r>
              <a:rPr lang="en-US" i="1" smtClean="0">
                <a:latin typeface="Arial" pitchFamily="-84" charset="0"/>
                <a:ea typeface="ＭＳ Ｐゴシック" pitchFamily="-84" charset="-128"/>
                <a:cs typeface="ＭＳ Ｐゴシック" pitchFamily="-84" charset="-128"/>
              </a:rPr>
              <a:t>a</a:t>
            </a:r>
            <a:r>
              <a:rPr lang="en-US" smtClean="0">
                <a:latin typeface="Arial" pitchFamily="-84" charset="0"/>
                <a:ea typeface="ＭＳ Ｐゴシック" pitchFamily="-84" charset="-128"/>
                <a:cs typeface="ＭＳ Ｐゴシック" pitchFamily="-84" charset="-128"/>
              </a:rPr>
              <a:t>  in </a:t>
            </a:r>
            <a:r>
              <a:rPr lang="en-US" i="1" smtClean="0">
                <a:latin typeface="Arial" pitchFamily="-84" charset="0"/>
                <a:ea typeface="ＭＳ Ｐゴシック" pitchFamily="-84" charset="-128"/>
                <a:cs typeface="ＭＳ Ｐゴシック" pitchFamily="-84" charset="-128"/>
              </a:rPr>
              <a:t>R </a:t>
            </a:r>
          </a:p>
          <a:p>
            <a:pPr>
              <a:spcBef>
                <a:spcPts val="808"/>
              </a:spcBef>
            </a:pPr>
            <a:r>
              <a:rPr lang="en-US" smtClean="0">
                <a:latin typeface="Arial" pitchFamily="-84" charset="0"/>
                <a:ea typeface="ＭＳ Ｐゴシック" pitchFamily="-84" charset="-128"/>
                <a:cs typeface="ＭＳ Ｐゴシック" pitchFamily="-84" charset="-128"/>
              </a:rPr>
              <a:t>		</a:t>
            </a:r>
            <a:r>
              <a:rPr lang="en-US" b="1" smtClean="0">
                <a:latin typeface="Arial" pitchFamily="-84" charset="0"/>
                <a:ea typeface="ＭＳ Ｐゴシック" pitchFamily="-84" charset="-128"/>
                <a:cs typeface="ＭＳ Ｐゴシック" pitchFamily="-84" charset="-128"/>
              </a:rPr>
              <a:t>(M6) No zero divisors:  </a:t>
            </a:r>
          </a:p>
          <a:p>
            <a:pPr>
              <a:spcBef>
                <a:spcPts val="808"/>
              </a:spcBef>
            </a:pPr>
            <a:r>
              <a:rPr lang="en-US" smtClean="0">
                <a:latin typeface="Arial" pitchFamily="-84" charset="0"/>
                <a:ea typeface="ＭＳ Ｐゴシック" pitchFamily="-84" charset="-128"/>
                <a:cs typeface="ＭＳ Ｐゴシック" pitchFamily="-84" charset="-128"/>
              </a:rPr>
              <a:t>		         If </a:t>
            </a:r>
            <a:r>
              <a:rPr lang="en-US" i="1" smtClean="0">
                <a:latin typeface="Arial" pitchFamily="-84" charset="0"/>
                <a:ea typeface="ＭＳ Ｐゴシック" pitchFamily="-84" charset="-128"/>
                <a:cs typeface="ＭＳ Ｐゴシック" pitchFamily="-84" charset="-128"/>
              </a:rPr>
              <a:t>a , b  </a:t>
            </a:r>
            <a:r>
              <a:rPr lang="en-US" smtClean="0">
                <a:latin typeface="Arial" pitchFamily="-84" charset="0"/>
                <a:ea typeface="ＭＳ Ｐゴシック" pitchFamily="-84" charset="-128"/>
                <a:cs typeface="ＭＳ Ｐゴシック" pitchFamily="-84" charset="-128"/>
              </a:rPr>
              <a:t>in </a:t>
            </a:r>
            <a:r>
              <a:rPr lang="en-US" i="1" smtClean="0">
                <a:latin typeface="Arial" pitchFamily="-84" charset="0"/>
                <a:ea typeface="ＭＳ Ｐゴシック" pitchFamily="-84" charset="-128"/>
                <a:cs typeface="ＭＳ Ｐゴシック" pitchFamily="-84" charset="-128"/>
              </a:rPr>
              <a:t>R</a:t>
            </a:r>
            <a:r>
              <a:rPr lang="en-US" smtClean="0">
                <a:latin typeface="Arial" pitchFamily="-84" charset="0"/>
                <a:ea typeface="ＭＳ Ｐゴシック" pitchFamily="-84" charset="-128"/>
                <a:cs typeface="ＭＳ Ｐゴシック" pitchFamily="-84" charset="-128"/>
              </a:rPr>
              <a:t>  and </a:t>
            </a:r>
            <a:r>
              <a:rPr lang="en-US" i="1" smtClean="0">
                <a:latin typeface="Arial" pitchFamily="-84" charset="0"/>
                <a:ea typeface="ＭＳ Ｐゴシック" pitchFamily="-84" charset="-128"/>
                <a:cs typeface="ＭＳ Ｐゴシック" pitchFamily="-84" charset="-128"/>
              </a:rPr>
              <a:t>ab =  0, </a:t>
            </a:r>
            <a:r>
              <a:rPr lang="en-US" smtClean="0">
                <a:latin typeface="Arial" pitchFamily="-84" charset="0"/>
                <a:ea typeface="ＭＳ Ｐゴシック" pitchFamily="-84" charset="-128"/>
                <a:cs typeface="ＭＳ Ｐゴシック" pitchFamily="-84" charset="-128"/>
              </a:rPr>
              <a:t>then either </a:t>
            </a:r>
            <a:r>
              <a:rPr lang="en-US" i="1" smtClean="0">
                <a:latin typeface="Arial" pitchFamily="-84" charset="0"/>
                <a:ea typeface="ＭＳ Ｐゴシック" pitchFamily="-84" charset="-128"/>
                <a:cs typeface="ＭＳ Ｐゴシック" pitchFamily="-84" charset="-128"/>
              </a:rPr>
              <a:t>a = 0 </a:t>
            </a:r>
            <a:r>
              <a:rPr lang="en-US" smtClean="0">
                <a:latin typeface="Arial" pitchFamily="-84" charset="0"/>
                <a:ea typeface="ＭＳ Ｐゴシック" pitchFamily="-84" charset="-128"/>
                <a:cs typeface="ＭＳ Ｐゴシック" pitchFamily="-84" charset="-128"/>
              </a:rPr>
              <a:t> or </a:t>
            </a:r>
            <a:r>
              <a:rPr lang="en-US" i="1" smtClean="0">
                <a:latin typeface="Arial" pitchFamily="-84" charset="0"/>
                <a:ea typeface="ＭＳ Ｐゴシック" pitchFamily="-84" charset="-128"/>
                <a:cs typeface="ＭＳ Ｐゴシック" pitchFamily="-84" charset="-128"/>
              </a:rPr>
              <a:t>b =  0</a:t>
            </a:r>
          </a:p>
          <a:p>
            <a:endParaRPr lang="en-US" smtClean="0">
              <a:latin typeface="Arial" pitchFamily="-84" charset="0"/>
              <a:ea typeface="ＭＳ Ｐゴシック" pitchFamily="-84" charset="-128"/>
              <a:cs typeface="ＭＳ Ｐゴシック" pitchFamily="-84" charset="-128"/>
            </a:endParaRPr>
          </a:p>
        </p:txBody>
      </p:sp>
      <p:sp>
        <p:nvSpPr>
          <p:cNvPr id="81924" name="Slide Number Placeholder 3"/>
          <p:cNvSpPr>
            <a:spLocks noGrp="1"/>
          </p:cNvSpPr>
          <p:nvPr>
            <p:ph type="sldNum" sz="quarter" idx="5"/>
          </p:nvPr>
        </p:nvSpPr>
        <p:spPr>
          <a:noFill/>
        </p:spPr>
        <p:txBody>
          <a:bodyPr/>
          <a:lstStyle/>
          <a:p>
            <a:fld id="{9DB690A8-F4EC-E447-9ED8-F82E70EDA88D}" type="slidenum">
              <a:rPr lang="en-AU" smtClean="0">
                <a:latin typeface="Arial" pitchFamily="-84" charset="0"/>
              </a:rPr>
              <a:pPr/>
              <a:t>8</a:t>
            </a:fld>
            <a:endParaRPr lang="en-AU" smtClean="0">
              <a:latin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5878854A-33D3-A44E-B858-B1C07C7B7475}" type="slidenum">
              <a:rPr lang="en-AU">
                <a:latin typeface="Arial" pitchFamily="-84" charset="0"/>
              </a:rPr>
              <a:pPr/>
              <a:t>9</a:t>
            </a:fld>
            <a:endParaRPr lang="en-AU">
              <a:latin typeface="Arial" pitchFamily="-8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A field F , sometimes denoted by {F , + , * }, is a set of elements with two binary operations,</a:t>
            </a:r>
          </a:p>
          <a:p>
            <a:r>
              <a:rPr lang="en-US" smtClean="0">
                <a:latin typeface="Arial" pitchFamily="-84" charset="0"/>
                <a:ea typeface="ＭＳ Ｐゴシック" pitchFamily="-84" charset="-128"/>
                <a:cs typeface="ＭＳ Ｐゴシック" pitchFamily="-84" charset="-128"/>
              </a:rPr>
              <a:t>called addition  and multiplication , such that for all a , b , c  in F  the following</a:t>
            </a:r>
          </a:p>
          <a:p>
            <a:r>
              <a:rPr lang="en-US" smtClean="0">
                <a:latin typeface="Arial" pitchFamily="-84" charset="0"/>
                <a:ea typeface="ＭＳ Ｐゴシック" pitchFamily="-84" charset="-128"/>
                <a:cs typeface="ＭＳ Ｐゴシック" pitchFamily="-84" charset="-128"/>
              </a:rPr>
              <a:t>axioms are obeyed.</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(A1–M6) F  is an integral domain; that is, F  satisfies axioms A1 through A5 and</a:t>
            </a:r>
          </a:p>
          <a:p>
            <a:r>
              <a:rPr lang="en-US" smtClean="0">
                <a:latin typeface="Arial" pitchFamily="-84" charset="0"/>
                <a:ea typeface="ＭＳ Ｐゴシック" pitchFamily="-84" charset="-128"/>
                <a:cs typeface="ＭＳ Ｐゴシック" pitchFamily="-84" charset="-128"/>
              </a:rPr>
              <a:t>M1 through M6.</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(M7) Multiplicative inverse:  For each a  in F , except 0, there is an element</a:t>
            </a:r>
          </a:p>
          <a:p>
            <a:r>
              <a:rPr lang="en-US" smtClean="0">
                <a:latin typeface="Arial" pitchFamily="-84" charset="0"/>
                <a:ea typeface="ＭＳ Ｐゴシック" pitchFamily="-84" charset="-128"/>
                <a:cs typeface="ＭＳ Ｐゴシック" pitchFamily="-84" charset="-128"/>
              </a:rPr>
              <a:t>a</a:t>
            </a:r>
            <a:r>
              <a:rPr lang="en-US" baseline="30000" smtClean="0">
                <a:latin typeface="Arial" pitchFamily="-84" charset="0"/>
                <a:ea typeface="ＭＳ Ｐゴシック" pitchFamily="-84" charset="-128"/>
                <a:cs typeface="ＭＳ Ｐゴシック" pitchFamily="-84" charset="-128"/>
              </a:rPr>
              <a:t>-1</a:t>
            </a:r>
            <a:r>
              <a:rPr lang="en-US" smtClean="0">
                <a:latin typeface="Arial" pitchFamily="-84" charset="0"/>
                <a:ea typeface="ＭＳ Ｐゴシック" pitchFamily="-84" charset="-128"/>
                <a:cs typeface="ＭＳ Ｐゴシック" pitchFamily="-84" charset="-128"/>
              </a:rPr>
              <a:t>  in F  such that aa</a:t>
            </a:r>
            <a:r>
              <a:rPr lang="en-US" baseline="30000" smtClean="0">
                <a:latin typeface="Arial" pitchFamily="-84" charset="0"/>
                <a:ea typeface="ＭＳ Ｐゴシック" pitchFamily="-84" charset="-128"/>
                <a:cs typeface="ＭＳ Ｐゴシック" pitchFamily="-84" charset="-128"/>
              </a:rPr>
              <a:t>-1</a:t>
            </a:r>
            <a:r>
              <a:rPr lang="en-US" smtClean="0">
                <a:latin typeface="Arial" pitchFamily="-84" charset="0"/>
                <a:ea typeface="ＭＳ Ｐゴシック" pitchFamily="-84" charset="-128"/>
                <a:cs typeface="ＭＳ Ｐゴシック" pitchFamily="-84" charset="-128"/>
              </a:rPr>
              <a:t> =  (a</a:t>
            </a:r>
            <a:r>
              <a:rPr lang="en-US" baseline="30000" smtClean="0">
                <a:latin typeface="Arial" pitchFamily="-84" charset="0"/>
                <a:ea typeface="ＭＳ Ｐゴシック" pitchFamily="-84" charset="-128"/>
                <a:cs typeface="ＭＳ Ｐゴシック" pitchFamily="-84" charset="-128"/>
              </a:rPr>
              <a:t>-1</a:t>
            </a:r>
            <a:r>
              <a:rPr lang="en-US" smtClean="0">
                <a:latin typeface="Arial" pitchFamily="-84" charset="0"/>
                <a:ea typeface="ＭＳ Ｐゴシック" pitchFamily="-84" charset="-128"/>
                <a:cs typeface="ＭＳ Ｐゴシック" pitchFamily="-84" charset="-128"/>
              </a:rPr>
              <a:t> )a =  1.</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In essence, a field is a set in which we can do addition, subtraction, multiplication,</a:t>
            </a:r>
          </a:p>
          <a:p>
            <a:r>
              <a:rPr lang="en-US" smtClean="0">
                <a:latin typeface="Arial" pitchFamily="-84" charset="0"/>
                <a:ea typeface="ＭＳ Ｐゴシック" pitchFamily="-84" charset="-128"/>
                <a:cs typeface="ＭＳ Ｐゴシック" pitchFamily="-84" charset="-128"/>
              </a:rPr>
              <a:t>and division without leaving the set. Division is defined with the following rule:a /b = a (b</a:t>
            </a:r>
            <a:r>
              <a:rPr lang="en-US" baseline="30000" smtClean="0">
                <a:latin typeface="Arial" pitchFamily="-84" charset="0"/>
                <a:ea typeface="ＭＳ Ｐゴシック" pitchFamily="-84" charset="-128"/>
                <a:cs typeface="ＭＳ Ｐゴシック" pitchFamily="-84" charset="-128"/>
              </a:rPr>
              <a:t>-1</a:t>
            </a:r>
            <a:r>
              <a:rPr lang="en-US" smtClean="0">
                <a:latin typeface="Arial" pitchFamily="-84" charset="0"/>
                <a:ea typeface="ＭＳ Ｐゴシック" pitchFamily="-84" charset="-128"/>
                <a:cs typeface="ＭＳ Ｐゴシック" pitchFamily="-84" charset="-128"/>
              </a:rPr>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p:cNvSpPr>
          <p:nvPr>
            <p:ph type="sldImg"/>
          </p:nvPr>
        </p:nvSpPr>
        <p:spPr>
          <a:ln/>
        </p:spPr>
      </p:sp>
      <p:sp>
        <p:nvSpPr>
          <p:cNvPr id="86019"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 Figure 4.2 summarizes the axioms that define groups, rings, and fields.</a:t>
            </a:r>
          </a:p>
        </p:txBody>
      </p:sp>
      <p:sp>
        <p:nvSpPr>
          <p:cNvPr id="86020" name="Slide Number Placeholder 3"/>
          <p:cNvSpPr>
            <a:spLocks noGrp="1"/>
          </p:cNvSpPr>
          <p:nvPr>
            <p:ph type="sldNum" sz="quarter" idx="5"/>
          </p:nvPr>
        </p:nvSpPr>
        <p:spPr>
          <a:noFill/>
        </p:spPr>
        <p:txBody>
          <a:bodyPr/>
          <a:lstStyle/>
          <a:p>
            <a:fld id="{02F9C099-20F3-4A4C-9125-27C7DCADA5EC}" type="slidenum">
              <a:rPr lang="en-AU" smtClean="0">
                <a:latin typeface="Arial" pitchFamily="-84" charset="0"/>
              </a:rPr>
              <a:pPr/>
              <a:t>11</a:t>
            </a:fld>
            <a:endParaRPr lang="en-AU" smtClean="0">
              <a:latin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DA368F6D-1967-6F4C-B546-1461B740D02F}" type="slidenum">
              <a:rPr lang="en-AU">
                <a:latin typeface="Arial" pitchFamily="-84" charset="0"/>
              </a:rPr>
              <a:pPr/>
              <a:t>14</a:t>
            </a:fld>
            <a:endParaRPr lang="en-AU">
              <a:latin typeface="Arial" pitchFamily="-84" charset="0"/>
            </a:endParaRPr>
          </a:p>
        </p:txBody>
      </p:sp>
      <p:sp>
        <p:nvSpPr>
          <p:cNvPr id="88067" name="Rectangle 1026"/>
          <p:cNvSpPr>
            <a:spLocks noGrp="1" noRot="1" noChangeAspect="1" noChangeArrowheads="1" noTextEdit="1"/>
          </p:cNvSpPr>
          <p:nvPr>
            <p:ph type="sldImg"/>
          </p:nvPr>
        </p:nvSpPr>
        <p:spPr>
          <a:ln/>
        </p:spPr>
      </p:sp>
      <p:sp>
        <p:nvSpPr>
          <p:cNvPr id="88068" name="Rectangle 1027"/>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In Section 4.4, we defined a field as a set that obeys all of the axioms of Figure 4.2</a:t>
            </a:r>
          </a:p>
          <a:p>
            <a:r>
              <a:rPr lang="en-US" dirty="0" smtClean="0">
                <a:latin typeface="Arial" pitchFamily="-84" charset="0"/>
                <a:ea typeface="ＭＳ Ｐゴシック" pitchFamily="-84" charset="-128"/>
                <a:cs typeface="ＭＳ Ｐゴシック" pitchFamily="-84" charset="-128"/>
              </a:rPr>
              <a:t>and gave some examples of infinite fields. Infinite fields are not of particular interest</a:t>
            </a:r>
          </a:p>
          <a:p>
            <a:r>
              <a:rPr lang="en-US" dirty="0" smtClean="0">
                <a:latin typeface="Arial" pitchFamily="-84" charset="0"/>
                <a:ea typeface="ＭＳ Ｐゴシック" pitchFamily="-84" charset="-128"/>
                <a:cs typeface="ＭＳ Ｐゴシック" pitchFamily="-84" charset="-128"/>
              </a:rPr>
              <a:t>in the context of cryptography. However, finite fields play a crucial role in many</a:t>
            </a:r>
          </a:p>
          <a:p>
            <a:r>
              <a:rPr lang="en-US" dirty="0" smtClean="0">
                <a:latin typeface="Arial" pitchFamily="-84" charset="0"/>
                <a:ea typeface="ＭＳ Ｐゴシック" pitchFamily="-84" charset="-128"/>
                <a:cs typeface="ＭＳ Ｐゴシック" pitchFamily="-84" charset="-128"/>
              </a:rPr>
              <a:t>cryptographic algorithms. It can be shown that the order of a finite field (number of</a:t>
            </a:r>
          </a:p>
          <a:p>
            <a:r>
              <a:rPr lang="en-US" dirty="0" smtClean="0">
                <a:latin typeface="Arial" pitchFamily="-84" charset="0"/>
                <a:ea typeface="ＭＳ Ｐゴシック" pitchFamily="-84" charset="-128"/>
                <a:cs typeface="ＭＳ Ｐゴシック" pitchFamily="-84" charset="-128"/>
              </a:rPr>
              <a:t>elements in the field) must be a power of a prime </a:t>
            </a:r>
            <a:r>
              <a:rPr lang="en-US" dirty="0" err="1" smtClean="0">
                <a:latin typeface="Arial" pitchFamily="-84" charset="0"/>
                <a:ea typeface="ＭＳ Ｐゴシック" pitchFamily="-84" charset="-128"/>
                <a:cs typeface="ＭＳ Ｐゴシック" pitchFamily="-84" charset="-128"/>
              </a:rPr>
              <a:t>p</a:t>
            </a:r>
            <a:r>
              <a:rPr lang="en-US" baseline="30000"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 where </a:t>
            </a:r>
            <a:r>
              <a:rPr lang="en-US" i="1"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is a positive integer.</a:t>
            </a:r>
          </a:p>
          <a:p>
            <a:r>
              <a:rPr lang="en-US" dirty="0" smtClean="0">
                <a:latin typeface="Arial" pitchFamily="-84" charset="0"/>
                <a:ea typeface="ＭＳ Ｐゴシック" pitchFamily="-84" charset="-128"/>
                <a:cs typeface="ＭＳ Ｐゴシック" pitchFamily="-84" charset="-128"/>
              </a:rPr>
              <a:t>We discuss prime numbers in detail in Chapter 8. Here, we need only say that a</a:t>
            </a:r>
          </a:p>
          <a:p>
            <a:r>
              <a:rPr lang="en-US" dirty="0" smtClean="0">
                <a:latin typeface="Arial" pitchFamily="-84" charset="0"/>
                <a:ea typeface="ＭＳ Ｐゴシック" pitchFamily="-84" charset="-128"/>
                <a:cs typeface="ＭＳ Ｐゴシック" pitchFamily="-84" charset="-128"/>
              </a:rPr>
              <a:t>prime number is an integer whose only positive integer factors are itself and 1. That</a:t>
            </a:r>
          </a:p>
          <a:p>
            <a:r>
              <a:rPr lang="en-US" dirty="0" smtClean="0">
                <a:latin typeface="Arial" pitchFamily="-84" charset="0"/>
                <a:ea typeface="ＭＳ Ｐゴシック" pitchFamily="-84" charset="-128"/>
                <a:cs typeface="ＭＳ Ｐゴシック" pitchFamily="-84" charset="-128"/>
              </a:rPr>
              <a:t>is, the only positive integers that are divisors of </a:t>
            </a:r>
            <a:r>
              <a:rPr lang="en-US" i="1" dirty="0" smtClean="0">
                <a:latin typeface="Arial" pitchFamily="-84" charset="0"/>
                <a:ea typeface="ＭＳ Ｐゴシック" pitchFamily="-84" charset="-128"/>
                <a:cs typeface="ＭＳ Ｐゴシック" pitchFamily="-84" charset="-128"/>
              </a:rPr>
              <a:t>p</a:t>
            </a:r>
            <a:r>
              <a:rPr lang="en-US" dirty="0" smtClean="0">
                <a:latin typeface="Arial" pitchFamily="-84" charset="0"/>
                <a:ea typeface="ＭＳ Ｐゴシック" pitchFamily="-84" charset="-128"/>
                <a:cs typeface="ＭＳ Ｐゴシック" pitchFamily="-84" charset="-128"/>
              </a:rPr>
              <a:t> are </a:t>
            </a:r>
            <a:r>
              <a:rPr lang="en-US" i="1" dirty="0" smtClean="0">
                <a:latin typeface="Arial" pitchFamily="-84" charset="0"/>
                <a:ea typeface="ＭＳ Ｐゴシック" pitchFamily="-84" charset="-128"/>
                <a:cs typeface="ＭＳ Ｐゴシック" pitchFamily="-84" charset="-128"/>
              </a:rPr>
              <a:t>p </a:t>
            </a:r>
            <a:r>
              <a:rPr lang="en-US" dirty="0" smtClean="0">
                <a:latin typeface="Arial" pitchFamily="-84" charset="0"/>
                <a:ea typeface="ＭＳ Ｐゴシック" pitchFamily="-84" charset="-128"/>
                <a:cs typeface="ＭＳ Ｐゴシック" pitchFamily="-84" charset="-128"/>
              </a:rPr>
              <a:t>and 1.</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The finite field of order </a:t>
            </a:r>
            <a:r>
              <a:rPr lang="en-US" dirty="0" err="1" smtClean="0">
                <a:latin typeface="Arial" pitchFamily="-84" charset="0"/>
                <a:ea typeface="ＭＳ Ｐゴシック" pitchFamily="-84" charset="-128"/>
                <a:cs typeface="ＭＳ Ｐゴシック" pitchFamily="-84" charset="-128"/>
              </a:rPr>
              <a:t>p</a:t>
            </a:r>
            <a:r>
              <a:rPr lang="en-US" baseline="30000"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is generally written GF(</a:t>
            </a:r>
            <a:r>
              <a:rPr lang="en-US" dirty="0" err="1" smtClean="0">
                <a:latin typeface="Arial" pitchFamily="-84" charset="0"/>
                <a:ea typeface="ＭＳ Ｐゴシック" pitchFamily="-84" charset="-128"/>
                <a:cs typeface="ＭＳ Ｐゴシック" pitchFamily="-84" charset="-128"/>
              </a:rPr>
              <a:t>p</a:t>
            </a:r>
            <a:r>
              <a:rPr lang="en-US" baseline="30000"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GF stands for Galois</a:t>
            </a:r>
          </a:p>
          <a:p>
            <a:r>
              <a:rPr lang="en-US" dirty="0" smtClean="0">
                <a:latin typeface="Arial" pitchFamily="-84" charset="0"/>
                <a:ea typeface="ＭＳ Ｐゴシック" pitchFamily="-84" charset="-128"/>
                <a:cs typeface="ＭＳ Ｐゴシック" pitchFamily="-84" charset="-128"/>
              </a:rPr>
              <a:t>field, in honor of the mathematician who first studied finite fields. Two special cases</a:t>
            </a:r>
          </a:p>
          <a:p>
            <a:r>
              <a:rPr lang="en-US" dirty="0" smtClean="0">
                <a:latin typeface="Arial" pitchFamily="-84" charset="0"/>
                <a:ea typeface="ＭＳ Ｐゴシック" pitchFamily="-84" charset="-128"/>
                <a:cs typeface="ＭＳ Ｐゴシック" pitchFamily="-84" charset="-128"/>
              </a:rPr>
              <a:t>are of interest for our purposes. For </a:t>
            </a:r>
            <a:r>
              <a:rPr lang="en-US" i="1"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  1, we have the finite field GF(</a:t>
            </a:r>
            <a:r>
              <a:rPr lang="en-US" i="1" dirty="0" smtClean="0">
                <a:latin typeface="Arial" pitchFamily="-84" charset="0"/>
                <a:ea typeface="ＭＳ Ｐゴシック" pitchFamily="-84" charset="-128"/>
                <a:cs typeface="ＭＳ Ｐゴシック" pitchFamily="-84" charset="-128"/>
              </a:rPr>
              <a:t>p</a:t>
            </a:r>
            <a:r>
              <a:rPr lang="en-US" dirty="0" smtClean="0">
                <a:latin typeface="Arial" pitchFamily="-84" charset="0"/>
                <a:ea typeface="ＭＳ Ｐゴシック" pitchFamily="-84" charset="-128"/>
                <a:cs typeface="ＭＳ Ｐゴシック" pitchFamily="-84" charset="-128"/>
              </a:rPr>
              <a:t>); this finite</a:t>
            </a:r>
          </a:p>
          <a:p>
            <a:r>
              <a:rPr lang="en-US" dirty="0" smtClean="0">
                <a:latin typeface="Arial" pitchFamily="-84" charset="0"/>
                <a:ea typeface="ＭＳ Ｐゴシック" pitchFamily="-84" charset="-128"/>
                <a:cs typeface="ＭＳ Ｐゴシック" pitchFamily="-84" charset="-128"/>
              </a:rPr>
              <a:t>field has a different structure than that for finite fields with </a:t>
            </a:r>
            <a:r>
              <a:rPr lang="en-US" i="1"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&gt; 1 and is studied in</a:t>
            </a:r>
          </a:p>
          <a:p>
            <a:r>
              <a:rPr lang="en-US" dirty="0" smtClean="0">
                <a:latin typeface="Arial" pitchFamily="-84" charset="0"/>
                <a:ea typeface="ＭＳ Ｐゴシック" pitchFamily="-84" charset="-128"/>
                <a:cs typeface="ＭＳ Ｐゴシック" pitchFamily="-84" charset="-128"/>
              </a:rPr>
              <a:t>this section. In Section 4.7, we look at finite fields of the form GF(2</a:t>
            </a:r>
            <a:r>
              <a:rPr lang="en-US" baseline="30000"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spcBef>
                <a:spcPts val="1817"/>
              </a:spcBef>
              <a:defRPr/>
            </a:pPr>
            <a:r>
              <a:rPr lang="en-US" dirty="0" smtClean="0"/>
              <a:t>In this section, we have shown how to construct a finite field of order </a:t>
            </a:r>
            <a:r>
              <a:rPr lang="en-US" i="1" dirty="0" smtClean="0"/>
              <a:t>p</a:t>
            </a:r>
            <a:r>
              <a:rPr lang="en-US" dirty="0" smtClean="0"/>
              <a:t>, where </a:t>
            </a:r>
            <a:r>
              <a:rPr lang="en-US" i="1" dirty="0" smtClean="0"/>
              <a:t>p</a:t>
            </a:r>
            <a:r>
              <a:rPr lang="en-US" dirty="0" smtClean="0"/>
              <a:t>  is prime. </a:t>
            </a:r>
            <a:br>
              <a:rPr lang="en-US" dirty="0" smtClean="0"/>
            </a:br>
            <a:r>
              <a:rPr lang="en-US" dirty="0" smtClean="0"/>
              <a:t>GF(</a:t>
            </a:r>
            <a:r>
              <a:rPr lang="en-US" i="1" dirty="0" smtClean="0"/>
              <a:t>p</a:t>
            </a:r>
            <a:r>
              <a:rPr lang="en-US" dirty="0" smtClean="0"/>
              <a:t>) is defined with the following properties:</a:t>
            </a:r>
          </a:p>
          <a:p>
            <a:pPr>
              <a:spcBef>
                <a:spcPts val="1817"/>
              </a:spcBef>
              <a:defRPr/>
            </a:pPr>
            <a:endParaRPr lang="en-US" dirty="0" smtClean="0"/>
          </a:p>
          <a:p>
            <a:pPr marL="230772" indent="-230772">
              <a:buFontTx/>
              <a:buAutoNum type="arabicPeriod"/>
              <a:defRPr/>
            </a:pPr>
            <a:r>
              <a:rPr lang="en-US" dirty="0" smtClean="0"/>
              <a:t>GF(</a:t>
            </a:r>
            <a:r>
              <a:rPr lang="en-US" i="1" dirty="0" smtClean="0"/>
              <a:t>p</a:t>
            </a:r>
            <a:r>
              <a:rPr lang="en-US" dirty="0" smtClean="0"/>
              <a:t>) consists of </a:t>
            </a:r>
            <a:r>
              <a:rPr lang="en-US" i="1" dirty="0" smtClean="0"/>
              <a:t>p</a:t>
            </a:r>
            <a:r>
              <a:rPr lang="en-US" dirty="0" smtClean="0"/>
              <a:t> elements</a:t>
            </a:r>
          </a:p>
          <a:p>
            <a:pPr marL="230772" indent="-230772">
              <a:defRPr/>
            </a:pPr>
            <a:endParaRPr lang="en-US" dirty="0" smtClean="0"/>
          </a:p>
          <a:p>
            <a:pPr>
              <a:defRPr/>
            </a:pPr>
            <a:r>
              <a:rPr lang="en-US" dirty="0" smtClean="0"/>
              <a:t>2. The binary operations + and * are defined over the set. The operations of addition, subtraction, multiplication, and division can be performed without leaving the set. Each element of the set other than 0 has a multiplicative inverse</a:t>
            </a:r>
          </a:p>
          <a:p>
            <a:pPr>
              <a:defRPr/>
            </a:pPr>
            <a:endParaRPr lang="en-US" dirty="0" smtClean="0"/>
          </a:p>
          <a:p>
            <a:pPr>
              <a:defRPr/>
            </a:pPr>
            <a:r>
              <a:rPr lang="en-US" dirty="0" smtClean="0"/>
              <a:t>We have shown that the elements of GF(</a:t>
            </a:r>
            <a:r>
              <a:rPr lang="en-US" i="1" dirty="0" smtClean="0"/>
              <a:t>p</a:t>
            </a:r>
            <a:r>
              <a:rPr lang="en-US" dirty="0" smtClean="0"/>
              <a:t>) are the integers {0, 1, . . . , </a:t>
            </a:r>
            <a:r>
              <a:rPr lang="en-US" i="1" dirty="0" smtClean="0"/>
              <a:t>p</a:t>
            </a:r>
            <a:r>
              <a:rPr lang="en-US" dirty="0" smtClean="0"/>
              <a:t> – 1} and that the arithmetic operations are addition and multiplication mod </a:t>
            </a:r>
            <a:r>
              <a:rPr lang="en-US" i="1" dirty="0" smtClean="0"/>
              <a:t>p</a:t>
            </a:r>
            <a:endParaRPr lang="en-US" dirty="0" smtClean="0"/>
          </a:p>
          <a:p>
            <a:pPr>
              <a:spcBef>
                <a:spcPts val="1817"/>
              </a:spcBef>
              <a:defRPr/>
            </a:pPr>
            <a:endParaRPr lang="en-US" dirty="0"/>
          </a:p>
        </p:txBody>
      </p:sp>
      <p:sp>
        <p:nvSpPr>
          <p:cNvPr id="96260" name="Slide Number Placeholder 3"/>
          <p:cNvSpPr>
            <a:spLocks noGrp="1"/>
          </p:cNvSpPr>
          <p:nvPr>
            <p:ph type="sldNum" sz="quarter" idx="5"/>
          </p:nvPr>
        </p:nvSpPr>
        <p:spPr>
          <a:noFill/>
        </p:spPr>
        <p:txBody>
          <a:bodyPr/>
          <a:lstStyle/>
          <a:p>
            <a:fld id="{7C2DDFC6-BFF4-B345-9357-CD07D4DE3BCB}" type="slidenum">
              <a:rPr lang="en-AU" smtClean="0">
                <a:latin typeface="Arial" pitchFamily="-84" charset="0"/>
              </a:rPr>
              <a:pPr/>
              <a:t>15</a:t>
            </a:fld>
            <a:endParaRPr lang="en-AU" smtClean="0">
              <a:latin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29246D56-2848-6043-BB9F-DD9DD59DA805}" type="slidenum">
              <a:rPr lang="en-AU">
                <a:latin typeface="Arial" pitchFamily="-84" charset="0"/>
              </a:rPr>
              <a:pPr/>
              <a:t>17</a:t>
            </a:fld>
            <a:endParaRPr lang="en-AU">
              <a:latin typeface="Arial" pitchFamily="-8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Table 4.5 shows arithmetic operations in GF(7). This is a field of order 7 using</a:t>
            </a:r>
          </a:p>
          <a:p>
            <a:r>
              <a:rPr lang="en-US" dirty="0" smtClean="0">
                <a:latin typeface="Arial" pitchFamily="-84" charset="0"/>
                <a:ea typeface="ＭＳ Ｐゴシック" pitchFamily="-84" charset="-128"/>
                <a:cs typeface="ＭＳ Ｐゴシック" pitchFamily="-84" charset="-128"/>
              </a:rPr>
              <a:t>modular arithmetic modulo 7. As can be seen, it satisfies all of the properties required</a:t>
            </a:r>
          </a:p>
          <a:p>
            <a:r>
              <a:rPr lang="en-US" dirty="0" smtClean="0">
                <a:latin typeface="Arial" pitchFamily="-84" charset="0"/>
                <a:ea typeface="ＭＳ Ｐゴシック" pitchFamily="-84" charset="-128"/>
                <a:cs typeface="ＭＳ Ｐゴシック" pitchFamily="-84" charset="-128"/>
              </a:rPr>
              <a:t>of a field (Figure 4.2). Compare this table with Table 4.2. In the latter case,</a:t>
            </a:r>
          </a:p>
          <a:p>
            <a:r>
              <a:rPr lang="en-US" dirty="0" smtClean="0">
                <a:latin typeface="Arial" pitchFamily="-84" charset="0"/>
                <a:ea typeface="ＭＳ Ｐゴシック" pitchFamily="-84" charset="-128"/>
                <a:cs typeface="ＭＳ Ｐゴシック" pitchFamily="-84" charset="-128"/>
              </a:rPr>
              <a:t>we see that the set Z</a:t>
            </a:r>
            <a:r>
              <a:rPr lang="en-US" baseline="-25000" dirty="0" smtClean="0">
                <a:latin typeface="Arial" pitchFamily="-84" charset="0"/>
                <a:ea typeface="ＭＳ Ｐゴシック" pitchFamily="-84" charset="-128"/>
                <a:cs typeface="ＭＳ Ｐゴシック" pitchFamily="-84" charset="-128"/>
              </a:rPr>
              <a:t>8</a:t>
            </a:r>
            <a:r>
              <a:rPr lang="en-US" dirty="0" smtClean="0">
                <a:latin typeface="Arial" pitchFamily="-84" charset="0"/>
                <a:ea typeface="ＭＳ Ｐゴシック" pitchFamily="-84" charset="-128"/>
                <a:cs typeface="ＭＳ Ｐゴシック" pitchFamily="-84" charset="-128"/>
              </a:rPr>
              <a:t> , using modular arithmetic modulo 8, is not a field. Later in</a:t>
            </a:r>
          </a:p>
          <a:p>
            <a:r>
              <a:rPr lang="en-US" dirty="0" smtClean="0">
                <a:latin typeface="Arial" pitchFamily="-84" charset="0"/>
                <a:ea typeface="ＭＳ Ｐゴシック" pitchFamily="-84" charset="-128"/>
                <a:cs typeface="ＭＳ Ｐゴシック" pitchFamily="-84" charset="-128"/>
              </a:rPr>
              <a:t>this chapter, we show how to define addition and multiplication operations on Z</a:t>
            </a:r>
            <a:r>
              <a:rPr lang="en-US" baseline="-25000" dirty="0" smtClean="0">
                <a:latin typeface="Arial" pitchFamily="-84" charset="0"/>
                <a:ea typeface="ＭＳ Ｐゴシック" pitchFamily="-84" charset="-128"/>
                <a:cs typeface="ＭＳ Ｐゴシック" pitchFamily="-84" charset="-128"/>
              </a:rPr>
              <a:t>8</a:t>
            </a:r>
          </a:p>
          <a:p>
            <a:r>
              <a:rPr lang="en-US" dirty="0" smtClean="0">
                <a:latin typeface="Arial" pitchFamily="-84" charset="0"/>
                <a:ea typeface="ＭＳ Ｐゴシック" pitchFamily="-84" charset="-128"/>
                <a:cs typeface="ＭＳ Ｐゴシック" pitchFamily="-84" charset="-128"/>
              </a:rPr>
              <a:t> in such a way as to form a finite field.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3C1F7544-5EA6-234C-BB01-8F9DADCBA431}" type="slidenum">
              <a:rPr lang="en-AU">
                <a:latin typeface="Arial" pitchFamily="-84" charset="0"/>
              </a:rPr>
              <a:pPr/>
              <a:t>18</a:t>
            </a:fld>
            <a:endParaRPr lang="en-AU">
              <a:latin typeface="Arial" pitchFamily="-8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Table 4.5 shows arithmetic operations in GF(7).</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98E843BA-6482-EB4C-A278-AE4FA5444F98}" type="slidenum">
              <a:rPr lang="en-AU">
                <a:latin typeface="Arial" pitchFamily="-84" charset="0"/>
              </a:rPr>
              <a:pPr/>
              <a:t>19</a:t>
            </a:fld>
            <a:endParaRPr lang="en-AU">
              <a:latin typeface="Arial" pitchFamily="-8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Table 4.5 shows arithmetic operations in GF(7).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D16B76F1-CE66-AF48-814A-0E2CCE42D630}" type="slidenum">
              <a:rPr lang="en-AU">
                <a:latin typeface="Arial" pitchFamily="-84" charset="0"/>
              </a:rPr>
              <a:pPr/>
              <a:t>23</a:t>
            </a:fld>
            <a:endParaRPr lang="en-AU">
              <a:latin typeface="Arial" pitchFamily="-8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Before continuing our discussion of finite fields, we need to introduce the interesting</a:t>
            </a:r>
          </a:p>
          <a:p>
            <a:r>
              <a:rPr lang="en-US" dirty="0" smtClean="0">
                <a:latin typeface="Arial" pitchFamily="-84" charset="0"/>
                <a:ea typeface="ＭＳ Ｐゴシック" pitchFamily="-84" charset="-128"/>
                <a:cs typeface="ＭＳ Ｐゴシック" pitchFamily="-84" charset="-128"/>
              </a:rPr>
              <a:t>subject of polynomial arithmetic. We are concerned with polynomials in a single</a:t>
            </a:r>
          </a:p>
          <a:p>
            <a:r>
              <a:rPr lang="en-US" dirty="0" smtClean="0">
                <a:latin typeface="Arial" pitchFamily="-84" charset="0"/>
                <a:ea typeface="ＭＳ Ｐゴシック" pitchFamily="-84" charset="-128"/>
                <a:cs typeface="ＭＳ Ｐゴシック" pitchFamily="-84" charset="-128"/>
              </a:rPr>
              <a:t>variable x , and we can distinguish three classes of polynomial arithmetic.</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Ordinary polynomial arithmetic, using the basic rules of algebra.</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Polynomial arithmetic in which the arithmetic on the coefficients is performed</a:t>
            </a:r>
          </a:p>
          <a:p>
            <a:r>
              <a:rPr lang="en-US" dirty="0" smtClean="0">
                <a:latin typeface="Arial" pitchFamily="-84" charset="0"/>
                <a:ea typeface="ＭＳ Ｐゴシック" pitchFamily="-84" charset="-128"/>
                <a:cs typeface="ＭＳ Ｐゴシック" pitchFamily="-84" charset="-128"/>
              </a:rPr>
              <a:t>modulo p ; that is, the coefficients are in GF(p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Polynomial arithmetic in which the coefficients are in GF(p ), and the polynomials</a:t>
            </a:r>
          </a:p>
          <a:p>
            <a:r>
              <a:rPr lang="en-US" dirty="0" smtClean="0">
                <a:latin typeface="Arial" pitchFamily="-84" charset="0"/>
                <a:ea typeface="ＭＳ Ｐゴシック" pitchFamily="-84" charset="-128"/>
                <a:cs typeface="ＭＳ Ｐゴシック" pitchFamily="-84" charset="-128"/>
              </a:rPr>
              <a:t>are defined modulo a polynomial m (x ) whose highest power is some integer n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42839037-E741-0D46-8406-A8B04FE5E51E}" type="slidenum">
              <a:rPr lang="en-AU">
                <a:latin typeface="Arial" pitchFamily="-84" charset="0"/>
              </a:rPr>
              <a:pPr/>
              <a:t>24</a:t>
            </a:fld>
            <a:endParaRPr lang="en-AU">
              <a:latin typeface="Arial" pitchFamily="-84" charset="0"/>
            </a:endParaRPr>
          </a:p>
        </p:txBody>
      </p:sp>
      <p:sp>
        <p:nvSpPr>
          <p:cNvPr id="100355" name="Rectangle 1026"/>
          <p:cNvSpPr>
            <a:spLocks noGrp="1" noRot="1" noChangeAspect="1" noChangeArrowheads="1" noTextEdit="1"/>
          </p:cNvSpPr>
          <p:nvPr>
            <p:ph type="sldImg"/>
          </p:nvPr>
        </p:nvSpPr>
        <p:spPr>
          <a:ln/>
        </p:spPr>
      </p:sp>
      <p:sp>
        <p:nvSpPr>
          <p:cNvPr id="100356" name="Rectangle 1027"/>
          <p:cNvSpPr>
            <a:spLocks noGrp="1" noChangeArrowheads="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Polynomial arithmetic includes the operations of addition, subtraction, and multiplication, defined in the usual way, ie add or subtract corresponding coefficients, or multiply all terms by each other.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p:cNvSpPr>
          <p:nvPr>
            <p:ph type="sldImg"/>
          </p:nvPr>
        </p:nvSpPr>
        <p:spPr>
          <a:ln/>
        </p:spPr>
      </p:sp>
      <p:sp>
        <p:nvSpPr>
          <p:cNvPr id="102403" name="Notes Placeholder 2"/>
          <p:cNvSpPr>
            <a:spLocks noGrp="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Examples of Polynomial Arithmetic</a:t>
            </a:r>
          </a:p>
        </p:txBody>
      </p:sp>
      <p:sp>
        <p:nvSpPr>
          <p:cNvPr id="102404" name="Slide Number Placeholder 3"/>
          <p:cNvSpPr>
            <a:spLocks noGrp="1"/>
          </p:cNvSpPr>
          <p:nvPr>
            <p:ph type="sldNum" sz="quarter" idx="5"/>
          </p:nvPr>
        </p:nvSpPr>
        <p:spPr>
          <a:noFill/>
        </p:spPr>
        <p:txBody>
          <a:bodyPr/>
          <a:lstStyle/>
          <a:p>
            <a:fld id="{24B8884A-E331-D241-A123-0A9BF055A4A2}" type="slidenum">
              <a:rPr lang="en-AU" smtClean="0">
                <a:latin typeface="Arial" pitchFamily="-84" charset="0"/>
              </a:rPr>
              <a:pPr/>
              <a:t>25</a:t>
            </a:fld>
            <a:endParaRPr lang="en-AU" smtClean="0">
              <a:latin typeface="Arial" pitchFamily="-8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9171186E-E6FF-D24F-86F0-B1F99332E6AF}" type="slidenum">
              <a:rPr lang="en-AU">
                <a:latin typeface="Arial" pitchFamily="-84" charset="0"/>
              </a:rPr>
              <a:pPr/>
              <a:t>26</a:t>
            </a:fld>
            <a:endParaRPr lang="en-AU">
              <a:latin typeface="Arial" pitchFamily="-84" charset="0"/>
            </a:endParaRPr>
          </a:p>
        </p:txBody>
      </p:sp>
      <p:sp>
        <p:nvSpPr>
          <p:cNvPr id="104451" name="Rectangle 1026"/>
          <p:cNvSpPr>
            <a:spLocks noGrp="1" noRot="1" noChangeAspect="1" noChangeArrowheads="1" noTextEdit="1"/>
          </p:cNvSpPr>
          <p:nvPr>
            <p:ph type="sldImg"/>
          </p:nvPr>
        </p:nvSpPr>
        <p:spPr>
          <a:ln/>
        </p:spPr>
      </p:sp>
      <p:sp>
        <p:nvSpPr>
          <p:cNvPr id="104452" name="Rectangle 1027"/>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Let us now consider polynomials in which the coefficients are elements of some</a:t>
            </a:r>
          </a:p>
          <a:p>
            <a:r>
              <a:rPr lang="en-US" dirty="0" smtClean="0">
                <a:latin typeface="Arial" pitchFamily="-84" charset="0"/>
                <a:ea typeface="ＭＳ Ｐゴシック" pitchFamily="-84" charset="-128"/>
                <a:cs typeface="ＭＳ Ｐゴシック" pitchFamily="-84" charset="-128"/>
              </a:rPr>
              <a:t>field F; we refer to this as a polynomial over the field F. In that case, it is easy to</a:t>
            </a:r>
          </a:p>
          <a:p>
            <a:r>
              <a:rPr lang="en-US" dirty="0" smtClean="0">
                <a:latin typeface="Arial" pitchFamily="-84" charset="0"/>
                <a:ea typeface="ＭＳ Ｐゴシック" pitchFamily="-84" charset="-128"/>
                <a:cs typeface="ＭＳ Ｐゴシック" pitchFamily="-84" charset="-128"/>
              </a:rPr>
              <a:t>show that the set of such polynomials is a ring, referred to as a polynomial ring .</a:t>
            </a:r>
          </a:p>
          <a:p>
            <a:r>
              <a:rPr lang="en-US" dirty="0" smtClean="0">
                <a:latin typeface="Arial" pitchFamily="-84" charset="0"/>
                <a:ea typeface="ＭＳ Ｐゴシック" pitchFamily="-84" charset="-128"/>
                <a:cs typeface="ＭＳ Ｐゴシック" pitchFamily="-84" charset="-128"/>
              </a:rPr>
              <a:t>That is, if we consider each distinct polynomial to be an element of the set, then</a:t>
            </a:r>
          </a:p>
          <a:p>
            <a:r>
              <a:rPr lang="en-US" dirty="0" smtClean="0">
                <a:latin typeface="Arial" pitchFamily="-84" charset="0"/>
                <a:ea typeface="ＭＳ Ｐゴシック" pitchFamily="-84" charset="-128"/>
                <a:cs typeface="ＭＳ Ｐゴシック" pitchFamily="-84" charset="-128"/>
              </a:rPr>
              <a:t>that set is a ring.</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When polynomial arithmetic is performed on polynomials over a field, then</a:t>
            </a:r>
          </a:p>
          <a:p>
            <a:r>
              <a:rPr lang="en-US" dirty="0" smtClean="0">
                <a:latin typeface="Arial" pitchFamily="-84" charset="0"/>
                <a:ea typeface="ＭＳ Ｐゴシック" pitchFamily="-84" charset="-128"/>
                <a:cs typeface="ＭＳ Ｐゴシック" pitchFamily="-84" charset="-128"/>
              </a:rPr>
              <a:t>division is possible. Note that this does not mean that exact division  is possible.</a:t>
            </a:r>
          </a:p>
          <a:p>
            <a:r>
              <a:rPr lang="en-US" dirty="0" smtClean="0">
                <a:latin typeface="Arial" pitchFamily="-84" charset="0"/>
                <a:ea typeface="ＭＳ Ｐゴシック" pitchFamily="-84" charset="-128"/>
                <a:cs typeface="ＭＳ Ｐゴシック" pitchFamily="-84" charset="-128"/>
              </a:rPr>
              <a:t>Let us clarify this distinction. Within a field, given two elements a  and b , the</a:t>
            </a:r>
          </a:p>
          <a:p>
            <a:r>
              <a:rPr lang="en-US" dirty="0" smtClean="0">
                <a:latin typeface="Arial" pitchFamily="-84" charset="0"/>
                <a:ea typeface="ＭＳ Ｐゴシック" pitchFamily="-84" charset="-128"/>
                <a:cs typeface="ＭＳ Ｐゴシック" pitchFamily="-84" charset="-128"/>
              </a:rPr>
              <a:t>quotient a /b  is also an element of the field. However, given a ring R  that is not a</a:t>
            </a:r>
          </a:p>
          <a:p>
            <a:r>
              <a:rPr lang="en-US" dirty="0" smtClean="0">
                <a:latin typeface="Arial" pitchFamily="-84" charset="0"/>
                <a:ea typeface="ＭＳ Ｐゴシック" pitchFamily="-84" charset="-128"/>
                <a:cs typeface="ＭＳ Ｐゴシック" pitchFamily="-84" charset="-128"/>
              </a:rPr>
              <a:t>field, in general, division will result in both a quotient and a remainder; this is not</a:t>
            </a:r>
          </a:p>
          <a:p>
            <a:r>
              <a:rPr lang="en-US" dirty="0" smtClean="0">
                <a:latin typeface="Arial" pitchFamily="-84" charset="0"/>
                <a:ea typeface="ＭＳ Ｐゴシック" pitchFamily="-84" charset="-128"/>
                <a:cs typeface="ＭＳ Ｐゴシック" pitchFamily="-84" charset="-128"/>
              </a:rPr>
              <a:t>exact division.</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Now, if we attempt to perform polynomial division over a coefficient set that</a:t>
            </a:r>
          </a:p>
          <a:p>
            <a:r>
              <a:rPr lang="en-US" dirty="0" smtClean="0">
                <a:latin typeface="Arial" pitchFamily="-84" charset="0"/>
                <a:ea typeface="ＭＳ Ｐゴシック" pitchFamily="-84" charset="-128"/>
                <a:cs typeface="ＭＳ Ｐゴシック" pitchFamily="-84" charset="-128"/>
              </a:rPr>
              <a:t>is not a field, we find that division is not always defined.</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However, as we demonstrate presently, even if the coefficient set is a field,</a:t>
            </a:r>
          </a:p>
          <a:p>
            <a:r>
              <a:rPr lang="en-US" dirty="0" smtClean="0">
                <a:latin typeface="Arial" pitchFamily="-84" charset="0"/>
                <a:ea typeface="ＭＳ Ｐゴシック" pitchFamily="-84" charset="-128"/>
                <a:cs typeface="ＭＳ Ｐゴシック" pitchFamily="-84" charset="-128"/>
              </a:rPr>
              <a:t>polynomial division is not necessarily exact. In general, division will produce a quotient</a:t>
            </a:r>
          </a:p>
          <a:p>
            <a:r>
              <a:rPr lang="en-US" dirty="0" smtClean="0">
                <a:latin typeface="Arial" pitchFamily="-84" charset="0"/>
                <a:ea typeface="ＭＳ Ｐゴシック" pitchFamily="-84" charset="-128"/>
                <a:cs typeface="ＭＳ Ｐゴシック" pitchFamily="-84" charset="-128"/>
              </a:rPr>
              <a:t>and a remainder.</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With the understanding that remainders are allowed, we can say that polynomial</a:t>
            </a:r>
          </a:p>
          <a:p>
            <a:r>
              <a:rPr lang="en-US" dirty="0" smtClean="0">
                <a:latin typeface="Arial" pitchFamily="-84" charset="0"/>
                <a:ea typeface="ＭＳ Ｐゴシック" pitchFamily="-84" charset="-128"/>
                <a:cs typeface="ＭＳ Ｐゴシック" pitchFamily="-84" charset="-128"/>
              </a:rPr>
              <a:t>division is possible if the coefficient set is a field.</a:t>
            </a:r>
          </a:p>
          <a:p>
            <a:endParaRPr lang="en-US" dirty="0" smtClean="0">
              <a:latin typeface="Arial" pitchFamily="-84" charset="0"/>
              <a:ea typeface="ＭＳ Ｐゴシック" pitchFamily="-84" charset="-128"/>
              <a:cs typeface="ＭＳ Ｐゴシック" pitchFamily="-84" charset="-128"/>
            </a:endParaRPr>
          </a:p>
          <a:p>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1DC982EB-7DD1-C04B-9FAA-A6E4C7F33760}" type="slidenum">
              <a:rPr lang="en-AU">
                <a:latin typeface="Arial" pitchFamily="-84" charset="0"/>
              </a:rPr>
              <a:pPr/>
              <a:t>27</a:t>
            </a:fld>
            <a:endParaRPr lang="en-AU">
              <a:latin typeface="Arial" pitchFamily="-84" charset="0"/>
            </a:endParaRPr>
          </a:p>
        </p:txBody>
      </p:sp>
      <p:sp>
        <p:nvSpPr>
          <p:cNvPr id="106499" name="Rectangle 1026"/>
          <p:cNvSpPr>
            <a:spLocks noGrp="1" noRot="1" noChangeAspect="1" noChangeArrowheads="1" noTextEdit="1"/>
          </p:cNvSpPr>
          <p:nvPr>
            <p:ph type="sldImg"/>
          </p:nvPr>
        </p:nvSpPr>
        <p:spPr>
          <a:ln/>
        </p:spPr>
      </p:sp>
      <p:sp>
        <p:nvSpPr>
          <p:cNvPr id="106500" name="Rectangle 1027"/>
          <p:cNvSpPr>
            <a:spLocks noGrp="1" noChangeArrowheads="1"/>
          </p:cNvSpPr>
          <p:nvPr>
            <p:ph type="body" idx="1"/>
          </p:nvPr>
        </p:nvSpPr>
        <p:spPr>
          <a:noFill/>
          <a:ln/>
        </p:spPr>
        <p:txBody>
          <a:bodyPr/>
          <a:lstStyle/>
          <a:p>
            <a:pPr eaLnBrk="1" hangingPunct="1"/>
            <a:r>
              <a:rPr lang="en-US">
                <a:latin typeface="Arial" pitchFamily="-84" charset="0"/>
                <a:ea typeface="Arial" pitchFamily="-84" charset="0"/>
                <a:cs typeface="Arial" pitchFamily="-84" charset="0"/>
              </a:rPr>
              <a:t>Note that we can write any polynomial in the form of </a:t>
            </a:r>
            <a:r>
              <a:rPr lang="en-AU" i="1">
                <a:latin typeface="Arial" pitchFamily="-84" charset="0"/>
                <a:ea typeface="Arial" pitchFamily="-84" charset="0"/>
                <a:cs typeface="Arial" pitchFamily="-84" charset="0"/>
              </a:rPr>
              <a:t>f</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 </a:t>
            </a:r>
            <a:r>
              <a:rPr lang="en-AU" i="1">
                <a:latin typeface="Arial" pitchFamily="-84" charset="0"/>
                <a:ea typeface="Arial" pitchFamily="-84" charset="0"/>
                <a:cs typeface="Arial" pitchFamily="-84" charset="0"/>
              </a:rPr>
              <a:t>q</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a:t>
            </a:r>
            <a:r>
              <a:rPr lang="en-AU" i="1">
                <a:latin typeface="Arial" pitchFamily="-84" charset="0"/>
                <a:ea typeface="Arial" pitchFamily="-84" charset="0"/>
                <a:cs typeface="Arial" pitchFamily="-84" charset="0"/>
              </a:rPr>
              <a:t>g</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 </a:t>
            </a:r>
            <a:r>
              <a:rPr lang="en-AU" i="1">
                <a:latin typeface="Arial" pitchFamily="-84" charset="0"/>
                <a:ea typeface="Arial" pitchFamily="-84" charset="0"/>
                <a:cs typeface="Arial" pitchFamily="-84" charset="0"/>
              </a:rPr>
              <a:t>r</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where division of f(x) by g(x) results in a quotient q(x) and remainder r(x). Can then extend the concept of divisors from the integer case, and show </a:t>
            </a:r>
            <a:r>
              <a:rPr lang="en-US">
                <a:latin typeface="Arial" pitchFamily="-84" charset="0"/>
                <a:ea typeface="Arial" pitchFamily="-84" charset="0"/>
                <a:cs typeface="Arial" pitchFamily="-84" charset="0"/>
              </a:rPr>
              <a:t>that the Euclidean algorithm can be extended to find the greatest common divisor of two polynomials whose coefficients are elements of a field. </a:t>
            </a:r>
            <a:endParaRPr lang="en-AU">
              <a:latin typeface="Arial" pitchFamily="-84" charset="0"/>
              <a:ea typeface="Arial" pitchFamily="-84" charset="0"/>
              <a:cs typeface="Arial" pitchFamily="-84" charset="0"/>
            </a:endParaRPr>
          </a:p>
          <a:p>
            <a:pPr eaLnBrk="1" hangingPunct="1"/>
            <a:r>
              <a:rPr lang="en-AU">
                <a:latin typeface="Arial" pitchFamily="-84" charset="0"/>
                <a:ea typeface="Arial" pitchFamily="-84" charset="0"/>
                <a:cs typeface="Arial" pitchFamily="-84" charset="0"/>
              </a:rPr>
              <a:t>Define an </a:t>
            </a:r>
            <a:r>
              <a:rPr lang="en-AU" b="1">
                <a:latin typeface="Arial" pitchFamily="-84" charset="0"/>
                <a:ea typeface="Arial" pitchFamily="-84" charset="0"/>
                <a:cs typeface="Arial" pitchFamily="-84" charset="0"/>
              </a:rPr>
              <a:t>irreducible</a:t>
            </a:r>
            <a:r>
              <a:rPr lang="en-AU">
                <a:latin typeface="Arial" pitchFamily="-84" charset="0"/>
                <a:ea typeface="Arial" pitchFamily="-84" charset="0"/>
                <a:cs typeface="Arial" pitchFamily="-84" charset="0"/>
              </a:rPr>
              <a:t> (or prime) polynomial as one with no divisors other than itself &amp; 1. If compute polynomial arithmetic </a:t>
            </a:r>
            <a:r>
              <a:rPr lang="en-US">
                <a:latin typeface="Arial" pitchFamily="-84" charset="0"/>
                <a:ea typeface="Arial" pitchFamily="-84" charset="0"/>
                <a:cs typeface="Arial" pitchFamily="-84" charset="0"/>
              </a:rPr>
              <a:t>modulo an irreducible polynomial, this forms a finite field, and the GCD &amp; Inverse algorithms can be adapted for it.</a:t>
            </a:r>
            <a:endParaRPr lang="en-AU">
              <a:latin typeface="Arial" pitchFamily="-84" charset="0"/>
              <a:ea typeface="Arial" pitchFamily="-84" charset="0"/>
              <a:cs typeface="Arial" pitchFamily="-84" charset="0"/>
            </a:endParaRPr>
          </a:p>
          <a:p>
            <a:pPr lvl="1" eaLnBrk="1" hangingPunct="1"/>
            <a:endParaRPr lang="en-US">
              <a:latin typeface="Arial" pitchFamily="-84" charset="0"/>
              <a:ea typeface="Arial" pitchFamily="-84" charset="0"/>
              <a:cs typeface="Arial" pitchFamily="-8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p:cNvSpPr>
          <p:nvPr>
            <p:ph type="sldImg"/>
          </p:nvPr>
        </p:nvSpPr>
        <p:spPr>
          <a:ln/>
        </p:spPr>
      </p:sp>
      <p:sp>
        <p:nvSpPr>
          <p:cNvPr id="108547" name="Notes Placeholder 2"/>
          <p:cNvSpPr>
            <a:spLocks noGrp="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Figure 4.4 shows an example of polynomial arithmetic over GF(2).</a:t>
            </a:r>
          </a:p>
        </p:txBody>
      </p:sp>
      <p:sp>
        <p:nvSpPr>
          <p:cNvPr id="108548" name="Slide Number Placeholder 3"/>
          <p:cNvSpPr>
            <a:spLocks noGrp="1"/>
          </p:cNvSpPr>
          <p:nvPr>
            <p:ph type="sldNum" sz="quarter" idx="5"/>
          </p:nvPr>
        </p:nvSpPr>
        <p:spPr>
          <a:noFill/>
        </p:spPr>
        <p:txBody>
          <a:bodyPr/>
          <a:lstStyle/>
          <a:p>
            <a:fld id="{1D1DFB27-208B-3143-9320-9B1D05A7A8BB}" type="slidenum">
              <a:rPr lang="en-AU" smtClean="0">
                <a:latin typeface="Arial" pitchFamily="-84" charset="0"/>
              </a:rPr>
              <a:pPr/>
              <a:t>29</a:t>
            </a:fld>
            <a:endParaRPr lang="en-AU" smtClean="0">
              <a:latin typeface="Arial" pitchFamily="-8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7FE35048-A550-DE44-9335-3A0BB6BECD82}" type="slidenum">
              <a:rPr lang="en-AU">
                <a:latin typeface="Arial" pitchFamily="-84" charset="0"/>
              </a:rPr>
              <a:pPr/>
              <a:t>30</a:t>
            </a:fld>
            <a:endParaRPr lang="en-AU">
              <a:latin typeface="Arial" pitchFamily="-84" charset="0"/>
            </a:endParaRPr>
          </a:p>
        </p:txBody>
      </p:sp>
      <p:sp>
        <p:nvSpPr>
          <p:cNvPr id="110595" name="Rectangle 1026"/>
          <p:cNvSpPr>
            <a:spLocks noGrp="1" noRot="1" noChangeAspect="1" noChangeArrowheads="1" noTextEdit="1"/>
          </p:cNvSpPr>
          <p:nvPr>
            <p:ph type="sldImg"/>
          </p:nvPr>
        </p:nvSpPr>
        <p:spPr>
          <a:ln/>
        </p:spPr>
      </p:sp>
      <p:sp>
        <p:nvSpPr>
          <p:cNvPr id="110596" name="Rectangle 1027"/>
          <p:cNvSpPr>
            <a:spLocks noGrp="1" noChangeArrowheads="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We can extend the analogy between polynomial arithmetic over a field and integer</a:t>
            </a:r>
          </a:p>
          <a:p>
            <a:r>
              <a:rPr lang="en-US" smtClean="0">
                <a:latin typeface="Arial" pitchFamily="-84" charset="0"/>
                <a:ea typeface="ＭＳ Ｐゴシック" pitchFamily="-84" charset="-128"/>
                <a:cs typeface="ＭＳ Ｐゴシック" pitchFamily="-84" charset="-128"/>
              </a:rPr>
              <a:t>arithmetic by defining the greatest common divisor as follows. The polynomial </a:t>
            </a:r>
            <a:r>
              <a:rPr lang="en-US" i="1" smtClean="0">
                <a:latin typeface="Arial" pitchFamily="-84" charset="0"/>
                <a:ea typeface="ＭＳ Ｐゴシック" pitchFamily="-84" charset="-128"/>
                <a:cs typeface="ＭＳ Ｐゴシック" pitchFamily="-84" charset="-128"/>
              </a:rPr>
              <a:t>c(x)</a:t>
            </a:r>
          </a:p>
          <a:p>
            <a:r>
              <a:rPr lang="en-US" smtClean="0">
                <a:latin typeface="Arial" pitchFamily="-84" charset="0"/>
                <a:ea typeface="ＭＳ Ｐゴシック" pitchFamily="-84" charset="-128"/>
                <a:cs typeface="ＭＳ Ｐゴシック" pitchFamily="-84" charset="-128"/>
              </a:rPr>
              <a:t>is said to be the greatest common divisor of </a:t>
            </a:r>
            <a:r>
              <a:rPr lang="en-US" i="1" smtClean="0">
                <a:latin typeface="Arial" pitchFamily="-84" charset="0"/>
                <a:ea typeface="ＭＳ Ｐゴシック" pitchFamily="-84" charset="-128"/>
                <a:cs typeface="ＭＳ Ｐゴシック" pitchFamily="-84" charset="-128"/>
              </a:rPr>
              <a:t>a(x)</a:t>
            </a:r>
            <a:r>
              <a:rPr lang="en-US" smtClean="0">
                <a:latin typeface="Arial" pitchFamily="-84" charset="0"/>
                <a:ea typeface="ＭＳ Ｐゴシック" pitchFamily="-84" charset="-128"/>
                <a:cs typeface="ＭＳ Ｐゴシック" pitchFamily="-84" charset="-128"/>
              </a:rPr>
              <a:t> and </a:t>
            </a:r>
            <a:r>
              <a:rPr lang="en-US" i="1" smtClean="0">
                <a:latin typeface="Arial" pitchFamily="-84" charset="0"/>
                <a:ea typeface="ＭＳ Ｐゴシック" pitchFamily="-84" charset="-128"/>
                <a:cs typeface="ＭＳ Ｐゴシック" pitchFamily="-84" charset="-128"/>
              </a:rPr>
              <a:t>b(x) </a:t>
            </a:r>
            <a:r>
              <a:rPr lang="en-US" smtClean="0">
                <a:latin typeface="Arial" pitchFamily="-84" charset="0"/>
                <a:ea typeface="ＭＳ Ｐゴシック" pitchFamily="-84" charset="-128"/>
                <a:cs typeface="ＭＳ Ｐゴシック" pitchFamily="-84" charset="-128"/>
              </a:rPr>
              <a:t>if the following are true.</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1.</a:t>
            </a:r>
            <a:r>
              <a:rPr lang="en-US" i="1" smtClean="0">
                <a:latin typeface="Arial" pitchFamily="-84" charset="0"/>
                <a:ea typeface="ＭＳ Ｐゴシック" pitchFamily="-84" charset="-128"/>
                <a:cs typeface="ＭＳ Ｐゴシック" pitchFamily="-84" charset="-128"/>
              </a:rPr>
              <a:t> c(x) </a:t>
            </a:r>
            <a:r>
              <a:rPr lang="en-US" smtClean="0">
                <a:latin typeface="Arial" pitchFamily="-84" charset="0"/>
                <a:ea typeface="ＭＳ Ｐゴシック" pitchFamily="-84" charset="-128"/>
                <a:cs typeface="ＭＳ Ｐゴシック" pitchFamily="-84" charset="-128"/>
              </a:rPr>
              <a:t>divides both </a:t>
            </a:r>
            <a:r>
              <a:rPr lang="en-US" i="1" smtClean="0">
                <a:latin typeface="Arial" pitchFamily="-84" charset="0"/>
                <a:ea typeface="ＭＳ Ｐゴシック" pitchFamily="-84" charset="-128"/>
                <a:cs typeface="ＭＳ Ｐゴシック" pitchFamily="-84" charset="-128"/>
              </a:rPr>
              <a:t>a(x) </a:t>
            </a:r>
            <a:r>
              <a:rPr lang="en-US" smtClean="0">
                <a:latin typeface="Arial" pitchFamily="-84" charset="0"/>
                <a:ea typeface="ＭＳ Ｐゴシック" pitchFamily="-84" charset="-128"/>
                <a:cs typeface="ＭＳ Ｐゴシック" pitchFamily="-84" charset="-128"/>
              </a:rPr>
              <a:t>and </a:t>
            </a:r>
            <a:r>
              <a:rPr lang="en-US" i="1" smtClean="0">
                <a:latin typeface="Arial" pitchFamily="-84" charset="0"/>
                <a:ea typeface="ＭＳ Ｐゴシック" pitchFamily="-84" charset="-128"/>
                <a:cs typeface="ＭＳ Ｐゴシック" pitchFamily="-84" charset="-128"/>
              </a:rPr>
              <a:t>b(x)</a:t>
            </a:r>
            <a:r>
              <a:rPr lang="en-US" smtClean="0">
                <a:latin typeface="Arial" pitchFamily="-84" charset="0"/>
                <a:ea typeface="ＭＳ Ｐゴシック" pitchFamily="-84" charset="-128"/>
                <a:cs typeface="ＭＳ Ｐゴシック" pitchFamily="-84" charset="-128"/>
              </a:rPr>
              <a:t>.</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2.  Any divisor of </a:t>
            </a:r>
            <a:r>
              <a:rPr lang="en-US" i="1" smtClean="0">
                <a:latin typeface="Arial" pitchFamily="-84" charset="0"/>
                <a:ea typeface="ＭＳ Ｐゴシック" pitchFamily="-84" charset="-128"/>
                <a:cs typeface="ＭＳ Ｐゴシック" pitchFamily="-84" charset="-128"/>
              </a:rPr>
              <a:t>a(x) </a:t>
            </a:r>
            <a:r>
              <a:rPr lang="en-US" smtClean="0">
                <a:latin typeface="Arial" pitchFamily="-84" charset="0"/>
                <a:ea typeface="ＭＳ Ｐゴシック" pitchFamily="-84" charset="-128"/>
                <a:cs typeface="ＭＳ Ｐゴシック" pitchFamily="-84" charset="-128"/>
              </a:rPr>
              <a:t>and </a:t>
            </a:r>
            <a:r>
              <a:rPr lang="en-US" i="1" smtClean="0">
                <a:latin typeface="Arial" pitchFamily="-84" charset="0"/>
                <a:ea typeface="ＭＳ Ｐゴシック" pitchFamily="-84" charset="-128"/>
                <a:cs typeface="ＭＳ Ｐゴシック" pitchFamily="-84" charset="-128"/>
              </a:rPr>
              <a:t>b(x) </a:t>
            </a:r>
            <a:r>
              <a:rPr lang="en-US" smtClean="0">
                <a:latin typeface="Arial" pitchFamily="-84" charset="0"/>
                <a:ea typeface="ＭＳ Ｐゴシック" pitchFamily="-84" charset="-128"/>
                <a:cs typeface="ＭＳ Ｐゴシック" pitchFamily="-84" charset="-128"/>
              </a:rPr>
              <a:t>is a divisor of</a:t>
            </a:r>
            <a:r>
              <a:rPr lang="en-US" i="1" smtClean="0">
                <a:latin typeface="Arial" pitchFamily="-84" charset="0"/>
                <a:ea typeface="ＭＳ Ｐゴシック" pitchFamily="-84" charset="-128"/>
                <a:cs typeface="ＭＳ Ｐゴシック" pitchFamily="-84" charset="-128"/>
              </a:rPr>
              <a:t> c(x)</a:t>
            </a:r>
            <a:r>
              <a:rPr lang="en-US" smtClean="0">
                <a:latin typeface="Arial" pitchFamily="-84" charset="0"/>
                <a:ea typeface="ＭＳ Ｐゴシック" pitchFamily="-84" charset="-128"/>
                <a:cs typeface="ＭＳ Ｐゴシック" pitchFamily="-84" charset="-128"/>
              </a:rPr>
              <a:t>.</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An equivalent definition is the following: gcd[a (x ), b (x )] is the polynomial of</a:t>
            </a:r>
          </a:p>
          <a:p>
            <a:r>
              <a:rPr lang="en-US" smtClean="0">
                <a:latin typeface="Arial" pitchFamily="-84" charset="0"/>
                <a:ea typeface="ＭＳ Ｐゴシック" pitchFamily="-84" charset="-128"/>
                <a:cs typeface="ＭＳ Ｐゴシック" pitchFamily="-84" charset="-128"/>
              </a:rPr>
              <a:t>maximum degree that divides both a (x ) and b (x ).</a:t>
            </a:r>
          </a:p>
          <a:p>
            <a:endParaRPr lang="en-US" smtClean="0">
              <a:latin typeface="Arial" pitchFamily="-84" charset="0"/>
              <a:ea typeface="ＭＳ Ｐゴシック" pitchFamily="-84" charset="-128"/>
              <a:cs typeface="ＭＳ Ｐゴシック" pitchFamily="-84" charset="-128"/>
            </a:endParaRPr>
          </a:p>
          <a:p>
            <a:r>
              <a:rPr lang="en-US" smtClean="0">
                <a:latin typeface="Arial" pitchFamily="-84" charset="0"/>
                <a:ea typeface="ＭＳ Ｐゴシック" pitchFamily="-84" charset="-128"/>
                <a:cs typeface="ＭＳ Ｐゴシック" pitchFamily="-84" charset="-128"/>
              </a:rPr>
              <a:t>We can adapt the Euclidean algorithm to compute the greatest common</a:t>
            </a:r>
          </a:p>
          <a:p>
            <a:r>
              <a:rPr lang="en-US" smtClean="0">
                <a:latin typeface="Arial" pitchFamily="-84" charset="0"/>
                <a:ea typeface="ＭＳ Ｐゴシック" pitchFamily="-84" charset="-128"/>
                <a:cs typeface="ＭＳ Ｐゴシック" pitchFamily="-84" charset="-128"/>
              </a:rPr>
              <a:t>Divisor of two polynomials.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p:cNvSpPr>
          <p:nvPr>
            <p:ph type="sldImg"/>
          </p:nvPr>
        </p:nvSpPr>
        <p:spPr>
          <a:ln/>
        </p:spPr>
      </p:sp>
      <p:sp>
        <p:nvSpPr>
          <p:cNvPr id="112643" name="Notes Placeholder 2"/>
          <p:cNvSpPr>
            <a:spLocks noGrp="1"/>
          </p:cNvSpPr>
          <p:nvPr>
            <p:ph type="body" idx="1"/>
          </p:nvPr>
        </p:nvSpPr>
        <p:spPr>
          <a:noFill/>
          <a:ln/>
        </p:spPr>
        <p:txBody>
          <a:bodyPr/>
          <a:lstStyle/>
          <a:p>
            <a:r>
              <a:rPr lang="en-US" b="1" smtClean="0">
                <a:latin typeface="Arial" pitchFamily="-84" charset="0"/>
                <a:ea typeface="ＭＳ Ｐゴシック" pitchFamily="-84" charset="-128"/>
                <a:cs typeface="ＭＳ Ｐゴシック" pitchFamily="-84" charset="-128"/>
              </a:rPr>
              <a:t>Table 4.6 Arithmetic in GF(23)</a:t>
            </a:r>
            <a:r>
              <a:rPr lang="en-US" smtClean="0">
                <a:latin typeface="Arial" pitchFamily="-84" charset="0"/>
                <a:ea typeface="ＭＳ Ｐゴシック" pitchFamily="-84" charset="-128"/>
                <a:cs typeface="ＭＳ Ｐゴシック" pitchFamily="-84" charset="-128"/>
              </a:rPr>
              <a:t> </a:t>
            </a:r>
          </a:p>
        </p:txBody>
      </p:sp>
      <p:sp>
        <p:nvSpPr>
          <p:cNvPr id="112644" name="Slide Number Placeholder 3"/>
          <p:cNvSpPr>
            <a:spLocks noGrp="1"/>
          </p:cNvSpPr>
          <p:nvPr>
            <p:ph type="sldNum" sz="quarter" idx="5"/>
          </p:nvPr>
        </p:nvSpPr>
        <p:spPr>
          <a:noFill/>
        </p:spPr>
        <p:txBody>
          <a:bodyPr/>
          <a:lstStyle/>
          <a:p>
            <a:fld id="{6ECCF356-10BB-A043-8E3A-2CBE6DFFB3B6}" type="slidenum">
              <a:rPr lang="en-AU" smtClean="0">
                <a:latin typeface="Arial" pitchFamily="-84" charset="0"/>
              </a:rPr>
              <a:pPr/>
              <a:t>33</a:t>
            </a:fld>
            <a:endParaRPr lang="en-AU" smtClean="0">
              <a:latin typeface="Arial" pitchFamily="-8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p:cNvSpPr>
          <p:nvPr>
            <p:ph type="sldImg"/>
          </p:nvPr>
        </p:nvSpPr>
        <p:spPr>
          <a:ln/>
        </p:spPr>
      </p:sp>
      <p:sp>
        <p:nvSpPr>
          <p:cNvPr id="114691" name="Notes Placeholder 2"/>
          <p:cNvSpPr>
            <a:spLocks noGrp="1"/>
          </p:cNvSpPr>
          <p:nvPr>
            <p:ph type="body" idx="1"/>
          </p:nvPr>
        </p:nvSpPr>
        <p:spPr>
          <a:noFill/>
          <a:ln/>
        </p:spPr>
        <p:txBody>
          <a:bodyPr/>
          <a:lstStyle/>
          <a:p>
            <a:r>
              <a:rPr lang="en-US" b="1" smtClean="0">
                <a:latin typeface="Arial" pitchFamily="-84" charset="0"/>
                <a:ea typeface="ＭＳ Ｐゴシック" pitchFamily="-84" charset="-128"/>
                <a:cs typeface="ＭＳ Ｐゴシック" pitchFamily="-84" charset="-128"/>
              </a:rPr>
              <a:t>Table 4.6 Arithmetic in GF(23)</a:t>
            </a:r>
            <a:r>
              <a:rPr lang="en-US" smtClean="0">
                <a:latin typeface="Arial" pitchFamily="-84" charset="0"/>
                <a:ea typeface="ＭＳ Ｐゴシック" pitchFamily="-84" charset="-128"/>
                <a:cs typeface="ＭＳ Ｐゴシック" pitchFamily="-84" charset="-128"/>
              </a:rPr>
              <a:t> </a:t>
            </a:r>
          </a:p>
        </p:txBody>
      </p:sp>
      <p:sp>
        <p:nvSpPr>
          <p:cNvPr id="114692" name="Slide Number Placeholder 3"/>
          <p:cNvSpPr>
            <a:spLocks noGrp="1"/>
          </p:cNvSpPr>
          <p:nvPr>
            <p:ph type="sldNum" sz="quarter" idx="5"/>
          </p:nvPr>
        </p:nvSpPr>
        <p:spPr>
          <a:noFill/>
        </p:spPr>
        <p:txBody>
          <a:bodyPr/>
          <a:lstStyle/>
          <a:p>
            <a:fld id="{679A2572-04EC-1242-B8E0-CC58853D6BB1}" type="slidenum">
              <a:rPr lang="en-AU" smtClean="0">
                <a:latin typeface="Arial" pitchFamily="-84" charset="0"/>
              </a:rPr>
              <a:pPr/>
              <a:t>34</a:t>
            </a:fld>
            <a:endParaRPr lang="en-AU"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p:cNvSpPr>
          <p:nvPr>
            <p:ph type="sldImg"/>
          </p:nvPr>
        </p:nvSpPr>
        <p:spPr>
          <a:ln/>
        </p:spPr>
      </p:sp>
      <p:sp>
        <p:nvSpPr>
          <p:cNvPr id="116739" name="Notes Placeholder 2"/>
          <p:cNvSpPr>
            <a:spLocks noGrp="1"/>
          </p:cNvSpPr>
          <p:nvPr>
            <p:ph type="body" idx="1"/>
          </p:nvPr>
        </p:nvSpPr>
        <p:spPr>
          <a:noFill/>
          <a:ln/>
        </p:spPr>
        <p:txBody>
          <a:bodyPr/>
          <a:lstStyle/>
          <a:p>
            <a:r>
              <a:rPr lang="en-US" b="1" smtClean="0">
                <a:latin typeface="Arial" pitchFamily="-84" charset="0"/>
                <a:ea typeface="ＭＳ Ｐゴシック" pitchFamily="-84" charset="-128"/>
                <a:cs typeface="ＭＳ Ｐゴシック" pitchFamily="-84" charset="-128"/>
              </a:rPr>
              <a:t>Table 4.6 Arithmetic in GF(23)</a:t>
            </a:r>
            <a:r>
              <a:rPr lang="en-US" smtClean="0">
                <a:latin typeface="Arial" pitchFamily="-84" charset="0"/>
                <a:ea typeface="ＭＳ Ｐゴシック" pitchFamily="-84" charset="-128"/>
                <a:cs typeface="ＭＳ Ｐゴシック" pitchFamily="-84" charset="-128"/>
              </a:rPr>
              <a:t> </a:t>
            </a:r>
          </a:p>
        </p:txBody>
      </p:sp>
      <p:sp>
        <p:nvSpPr>
          <p:cNvPr id="116740" name="Slide Number Placeholder 3"/>
          <p:cNvSpPr>
            <a:spLocks noGrp="1"/>
          </p:cNvSpPr>
          <p:nvPr>
            <p:ph type="sldNum" sz="quarter" idx="5"/>
          </p:nvPr>
        </p:nvSpPr>
        <p:spPr>
          <a:noFill/>
        </p:spPr>
        <p:txBody>
          <a:bodyPr/>
          <a:lstStyle/>
          <a:p>
            <a:fld id="{29811626-CB7D-2644-A5AB-9D5D635EC205}" type="slidenum">
              <a:rPr lang="en-AU" smtClean="0">
                <a:latin typeface="Arial" pitchFamily="-84" charset="0"/>
              </a:rPr>
              <a:pPr/>
              <a:t>35</a:t>
            </a:fld>
            <a:endParaRPr lang="en-AU"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14D5552C-633F-FC4C-B7EF-FDD3B9D579C6}" type="slidenum">
              <a:rPr lang="en-AU">
                <a:latin typeface="Arial" pitchFamily="-84" charset="0"/>
              </a:rPr>
              <a:pPr/>
              <a:t>36</a:t>
            </a:fld>
            <a:endParaRPr lang="en-AU">
              <a:latin typeface="Arial" pitchFamily="-84"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Example shows addition &amp; multiplication in GF(2</a:t>
            </a:r>
            <a:r>
              <a:rPr lang="en-US" baseline="30000">
                <a:latin typeface="Arial" pitchFamily="-84" charset="0"/>
                <a:ea typeface="ＭＳ Ｐゴシック" pitchFamily="-84" charset="-128"/>
                <a:cs typeface="ＭＳ Ｐゴシック" pitchFamily="-84" charset="-128"/>
              </a:rPr>
              <a:t>3</a:t>
            </a:r>
            <a:r>
              <a:rPr lang="en-US">
                <a:latin typeface="Arial" pitchFamily="-84" charset="0"/>
                <a:ea typeface="ＭＳ Ｐゴシック" pitchFamily="-84" charset="-128"/>
                <a:cs typeface="ＭＳ Ｐゴシック" pitchFamily="-84" charset="-128"/>
              </a:rPr>
              <a:t>) modulo (x</a:t>
            </a:r>
            <a:r>
              <a:rPr lang="en-US" baseline="30000">
                <a:latin typeface="Arial" pitchFamily="-84" charset="0"/>
                <a:ea typeface="ＭＳ Ｐゴシック" pitchFamily="-84" charset="-128"/>
                <a:cs typeface="ＭＳ Ｐゴシック" pitchFamily="-84" charset="-128"/>
              </a:rPr>
              <a:t>3</a:t>
            </a:r>
            <a:r>
              <a:rPr lang="en-US">
                <a:latin typeface="Arial" pitchFamily="-84" charset="0"/>
                <a:ea typeface="ＭＳ Ｐゴシック" pitchFamily="-84" charset="-128"/>
                <a:cs typeface="ＭＳ Ｐゴシック" pitchFamily="-84" charset="-128"/>
              </a:rPr>
              <a:t>+x+1)</a:t>
            </a:r>
            <a:endParaRPr lang="en-AU">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3E6017CB-0F3A-254B-853F-DCCF09004C51}" type="slidenum">
              <a:rPr lang="en-AU">
                <a:latin typeface="Arial" pitchFamily="-84" charset="0"/>
              </a:rPr>
              <a:pPr/>
              <a:t>38</a:t>
            </a:fld>
            <a:endParaRPr lang="en-AU">
              <a:latin typeface="Arial" pitchFamily="-84"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r>
              <a:rPr lang="en-US" b="1" smtClean="0">
                <a:latin typeface="Arial" pitchFamily="-84" charset="0"/>
                <a:ea typeface="ＭＳ Ｐゴシック" pitchFamily="-84" charset="-128"/>
                <a:cs typeface="ＭＳ Ｐゴシック" pitchFamily="-84" charset="-128"/>
              </a:rPr>
              <a:t>Table 4.8  Extended Euclid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8 +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4 +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3 +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 + 1),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7 +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 + 1)]</a:t>
            </a:r>
            <a:r>
              <a:rPr lang="en-US" smtClean="0">
                <a:latin typeface="Arial" pitchFamily="-84" charset="0"/>
                <a:ea typeface="ＭＳ Ｐゴシック" pitchFamily="-84" charset="-128"/>
                <a:cs typeface="ＭＳ Ｐゴシック" pitchFamily="-84" charset="-128"/>
              </a:rPr>
              <a:t> </a:t>
            </a:r>
            <a:endParaRPr lang="en-AU"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F63EBC7A-ABAF-5B4E-B809-310BE65D983B}" type="slidenum">
              <a:rPr lang="en-AU">
                <a:latin typeface="Arial" pitchFamily="-84" charset="0"/>
              </a:rPr>
              <a:pPr/>
              <a:t>39</a:t>
            </a:fld>
            <a:endParaRPr lang="en-AU">
              <a:latin typeface="Arial" pitchFamily="-84"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A key motivation for using polynomial arithmetic in GF(2</a:t>
            </a:r>
            <a:r>
              <a:rPr lang="en-US" baseline="30000">
                <a:latin typeface="Arial" pitchFamily="-84" charset="0"/>
                <a:ea typeface="ＭＳ Ｐゴシック" pitchFamily="-84" charset="-128"/>
                <a:cs typeface="ＭＳ Ｐゴシック" pitchFamily="-84" charset="-128"/>
              </a:rPr>
              <a:t>n</a:t>
            </a:r>
            <a:r>
              <a:rPr lang="en-US">
                <a:latin typeface="Arial" pitchFamily="-84" charset="0"/>
                <a:ea typeface="ＭＳ Ｐゴシック" pitchFamily="-84" charset="-128"/>
                <a:cs typeface="ＭＳ Ｐゴシック" pitchFamily="-84" charset="-128"/>
              </a:rPr>
              <a:t>) is that the polynomials can be represented as a bit string, using all possible bit values, and the calculations only use simple common machine instructions - addition is just XOR, and multiplication is shifts &amp; </a:t>
            </a:r>
            <a:r>
              <a:rPr lang="en-US" dirty="0" err="1">
                <a:latin typeface="Arial" pitchFamily="-84" charset="0"/>
                <a:ea typeface="ＭＳ Ｐゴシック" pitchFamily="-84" charset="-128"/>
                <a:cs typeface="ＭＳ Ｐゴシック" pitchFamily="-84" charset="-128"/>
              </a:rPr>
              <a:t>XOR’s</a:t>
            </a:r>
            <a:r>
              <a:rPr lang="en-US" dirty="0">
                <a:latin typeface="Arial" pitchFamily="-84" charset="0"/>
                <a:ea typeface="ＭＳ Ｐゴシック" pitchFamily="-84" charset="-128"/>
                <a:cs typeface="ＭＳ Ｐゴシック" pitchFamily="-84" charset="-128"/>
              </a:rPr>
              <a:t>. See text for additional discussion. The shortcut for polynomial reduction comes from the observation that if in GF(2</a:t>
            </a:r>
            <a:r>
              <a:rPr lang="en-US" baseline="30000" dirty="0">
                <a:latin typeface="Arial" pitchFamily="-84" charset="0"/>
                <a:ea typeface="ＭＳ Ｐゴシック" pitchFamily="-84" charset="-128"/>
                <a:cs typeface="ＭＳ Ｐゴシック" pitchFamily="-84" charset="-128"/>
              </a:rPr>
              <a:t>n</a:t>
            </a:r>
            <a:r>
              <a:rPr lang="en-US" dirty="0">
                <a:latin typeface="Arial" pitchFamily="-84" charset="0"/>
                <a:ea typeface="ＭＳ Ｐゴシック" pitchFamily="-84" charset="-128"/>
                <a:cs typeface="ＭＳ Ｐゴシック" pitchFamily="-84" charset="-128"/>
              </a:rPr>
              <a:t>) then irreducible poly </a:t>
            </a:r>
            <a:r>
              <a:rPr lang="en-US" dirty="0" err="1">
                <a:latin typeface="Arial" pitchFamily="-84" charset="0"/>
                <a:ea typeface="ＭＳ Ｐゴシック" pitchFamily="-84" charset="-128"/>
                <a:cs typeface="ＭＳ Ｐゴシック" pitchFamily="-84" charset="-128"/>
              </a:rPr>
              <a:t>g(x</a:t>
            </a:r>
            <a:r>
              <a:rPr lang="en-US" dirty="0">
                <a:latin typeface="Arial" pitchFamily="-84" charset="0"/>
                <a:ea typeface="ＭＳ Ｐゴシック" pitchFamily="-84" charset="-128"/>
                <a:cs typeface="ＭＳ Ｐゴシック" pitchFamily="-84" charset="-128"/>
              </a:rPr>
              <a:t>) has highest term </a:t>
            </a:r>
            <a:r>
              <a:rPr lang="en-US" dirty="0" err="1">
                <a:latin typeface="Arial" pitchFamily="-84" charset="0"/>
                <a:ea typeface="ＭＳ Ｐゴシック" pitchFamily="-84" charset="-128"/>
                <a:cs typeface="ＭＳ Ｐゴシック" pitchFamily="-84" charset="-128"/>
              </a:rPr>
              <a:t>x</a:t>
            </a:r>
            <a:r>
              <a:rPr lang="en-US" baseline="30000" dirty="0" err="1">
                <a:latin typeface="Arial" pitchFamily="-84" charset="0"/>
                <a:ea typeface="ＭＳ Ｐゴシック" pitchFamily="-84" charset="-128"/>
                <a:cs typeface="ＭＳ Ｐゴシック" pitchFamily="-84" charset="-128"/>
              </a:rPr>
              <a:t>n</a:t>
            </a:r>
            <a:r>
              <a:rPr lang="en-US" dirty="0">
                <a:latin typeface="Arial" pitchFamily="-84" charset="0"/>
                <a:ea typeface="ＭＳ Ｐゴシック" pitchFamily="-84" charset="-128"/>
                <a:cs typeface="ＭＳ Ｐゴシック" pitchFamily="-84" charset="-128"/>
              </a:rPr>
              <a:t> , and if compute </a:t>
            </a:r>
            <a:r>
              <a:rPr lang="en-US" dirty="0" err="1">
                <a:latin typeface="Arial" pitchFamily="-84" charset="0"/>
                <a:ea typeface="ＭＳ Ｐゴシック" pitchFamily="-84" charset="-128"/>
                <a:cs typeface="ＭＳ Ｐゴシック" pitchFamily="-84" charset="-128"/>
              </a:rPr>
              <a:t>x</a:t>
            </a:r>
            <a:r>
              <a:rPr lang="en-US" baseline="30000" dirty="0" err="1">
                <a:latin typeface="Arial" pitchFamily="-84" charset="0"/>
                <a:ea typeface="ＭＳ Ｐゴシック" pitchFamily="-84" charset="-128"/>
                <a:cs typeface="ＭＳ Ｐゴシック" pitchFamily="-84" charset="-128"/>
              </a:rPr>
              <a:t>n</a:t>
            </a:r>
            <a:r>
              <a:rPr lang="en-US" dirty="0">
                <a:latin typeface="Arial" pitchFamily="-84" charset="0"/>
                <a:ea typeface="ＭＳ Ｐゴシック" pitchFamily="-84" charset="-128"/>
                <a:cs typeface="ＭＳ Ｐゴシック" pitchFamily="-84" charset="-128"/>
              </a:rPr>
              <a:t> mod </a:t>
            </a:r>
            <a:r>
              <a:rPr lang="en-US" dirty="0" err="1">
                <a:latin typeface="Arial" pitchFamily="-84" charset="0"/>
                <a:ea typeface="ＭＳ Ｐゴシック" pitchFamily="-84" charset="-128"/>
                <a:cs typeface="ＭＳ Ｐゴシック" pitchFamily="-84" charset="-128"/>
              </a:rPr>
              <a:t>g(x</a:t>
            </a:r>
            <a:r>
              <a:rPr lang="en-US" dirty="0">
                <a:latin typeface="Arial" pitchFamily="-84" charset="0"/>
                <a:ea typeface="ＭＳ Ｐゴシック" pitchFamily="-84" charset="-128"/>
                <a:cs typeface="ＭＳ Ｐゴシック" pitchFamily="-84" charset="-128"/>
              </a:rPr>
              <a:t>) answer is </a:t>
            </a:r>
            <a:r>
              <a:rPr lang="en-US" dirty="0" err="1">
                <a:latin typeface="Arial" pitchFamily="-84" charset="0"/>
                <a:ea typeface="ＭＳ Ｐゴシック" pitchFamily="-84" charset="-128"/>
                <a:cs typeface="ＭＳ Ｐゴシック" pitchFamily="-84" charset="-128"/>
              </a:rPr>
              <a:t>g(x</a:t>
            </a:r>
            <a:r>
              <a:rPr lang="en-US" dirty="0">
                <a:latin typeface="Arial" pitchFamily="-84" charset="0"/>
                <a:ea typeface="ＭＳ Ｐゴシック" pitchFamily="-84" charset="-128"/>
                <a:cs typeface="ＭＳ Ｐゴシック" pitchFamily="-84" charset="-128"/>
              </a:rPr>
              <a:t>)- </a:t>
            </a:r>
            <a:r>
              <a:rPr lang="en-US" dirty="0" err="1">
                <a:latin typeface="Arial" pitchFamily="-84" charset="0"/>
                <a:ea typeface="ＭＳ Ｐゴシック" pitchFamily="-84" charset="-128"/>
                <a:cs typeface="ＭＳ Ｐゴシック" pitchFamily="-84" charset="-128"/>
              </a:rPr>
              <a:t>x</a:t>
            </a:r>
            <a:r>
              <a:rPr lang="en-US" baseline="30000" dirty="0" err="1">
                <a:latin typeface="Arial" pitchFamily="-84" charset="0"/>
                <a:ea typeface="ＭＳ Ｐゴシック" pitchFamily="-84" charset="-128"/>
                <a:cs typeface="ＭＳ Ｐゴシック" pitchFamily="-84" charset="-128"/>
              </a:rPr>
              <a:t>n</a:t>
            </a:r>
            <a:endParaRPr lang="en-AU" baseline="3000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0453EBDF-61BC-EF46-9339-2CE0106CD1A8}" type="slidenum">
              <a:rPr lang="en-AU">
                <a:latin typeface="Arial" pitchFamily="-84" charset="0"/>
              </a:rPr>
              <a:pPr/>
              <a:t>40</a:t>
            </a:fld>
            <a:endParaRPr lang="en-AU">
              <a:latin typeface="Arial" pitchFamily="-84" charset="0"/>
            </a:endParaRPr>
          </a:p>
        </p:txBody>
      </p:sp>
      <p:sp>
        <p:nvSpPr>
          <p:cNvPr id="124931" name="Rectangle 1026"/>
          <p:cNvSpPr>
            <a:spLocks noGrp="1" noRot="1" noChangeAspect="1" noChangeArrowheads="1" noTextEdit="1"/>
          </p:cNvSpPr>
          <p:nvPr>
            <p:ph type="sldImg"/>
          </p:nvPr>
        </p:nvSpPr>
        <p:spPr>
          <a:solidFill>
            <a:srgbClr val="FFFFFF"/>
          </a:solidFill>
          <a:ln/>
        </p:spPr>
      </p:sp>
      <p:sp>
        <p:nvSpPr>
          <p:cNvPr id="124932" name="Rectangle 1027"/>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An equivalent technique for defining a finite field of the form GF(2</a:t>
            </a:r>
            <a:r>
              <a:rPr lang="en-US" baseline="30000"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 using the</a:t>
            </a:r>
          </a:p>
          <a:p>
            <a:r>
              <a:rPr lang="en-US" dirty="0" smtClean="0">
                <a:latin typeface="Arial" pitchFamily="-84" charset="0"/>
                <a:ea typeface="ＭＳ Ｐゴシック" pitchFamily="-84" charset="-128"/>
                <a:cs typeface="ＭＳ Ｐゴシック" pitchFamily="-84" charset="-128"/>
              </a:rPr>
              <a:t>same irreducible polynomial, is sometimes more convenient. To begin, we need two</a:t>
            </a:r>
          </a:p>
          <a:p>
            <a:r>
              <a:rPr lang="en-US" dirty="0" smtClean="0">
                <a:latin typeface="Arial" pitchFamily="-84" charset="0"/>
                <a:ea typeface="ＭＳ Ｐゴシック" pitchFamily="-84" charset="-128"/>
                <a:cs typeface="ＭＳ Ｐゴシック" pitchFamily="-84" charset="-128"/>
              </a:rPr>
              <a:t>definitions: A generator </a:t>
            </a:r>
            <a:r>
              <a:rPr lang="en-US" i="1" dirty="0" smtClean="0">
                <a:latin typeface="Arial" pitchFamily="-84" charset="0"/>
                <a:ea typeface="ＭＳ Ｐゴシック" pitchFamily="-84" charset="-128"/>
                <a:cs typeface="ＭＳ Ｐゴシック" pitchFamily="-84" charset="-128"/>
              </a:rPr>
              <a:t>g</a:t>
            </a:r>
            <a:r>
              <a:rPr lang="en-US" dirty="0" smtClean="0">
                <a:latin typeface="Arial" pitchFamily="-84" charset="0"/>
                <a:ea typeface="ＭＳ Ｐゴシック" pitchFamily="-84" charset="-128"/>
                <a:cs typeface="ＭＳ Ｐゴシック" pitchFamily="-84" charset="-128"/>
              </a:rPr>
              <a:t>  of a finite field F of order </a:t>
            </a:r>
            <a:r>
              <a:rPr lang="en-US" i="1" dirty="0" smtClean="0">
                <a:latin typeface="Arial" pitchFamily="-84" charset="0"/>
                <a:ea typeface="ＭＳ Ｐゴシック" pitchFamily="-84" charset="-128"/>
                <a:cs typeface="ＭＳ Ｐゴシック" pitchFamily="-84" charset="-128"/>
              </a:rPr>
              <a:t>q</a:t>
            </a:r>
            <a:r>
              <a:rPr lang="en-US" dirty="0" smtClean="0">
                <a:latin typeface="Arial" pitchFamily="-84" charset="0"/>
                <a:ea typeface="ＭＳ Ｐゴシック" pitchFamily="-84" charset="-128"/>
                <a:cs typeface="ＭＳ Ｐゴシック" pitchFamily="-84" charset="-128"/>
              </a:rPr>
              <a:t>  (contains </a:t>
            </a:r>
            <a:r>
              <a:rPr lang="en-US" i="1" dirty="0" smtClean="0">
                <a:latin typeface="Arial" pitchFamily="-84" charset="0"/>
                <a:ea typeface="ＭＳ Ｐゴシック" pitchFamily="-84" charset="-128"/>
                <a:cs typeface="ＭＳ Ｐゴシック" pitchFamily="-84" charset="-128"/>
              </a:rPr>
              <a:t>q</a:t>
            </a:r>
            <a:r>
              <a:rPr lang="en-US" dirty="0" smtClean="0">
                <a:latin typeface="Arial" pitchFamily="-84" charset="0"/>
                <a:ea typeface="ＭＳ Ｐゴシック" pitchFamily="-84" charset="-128"/>
                <a:cs typeface="ＭＳ Ｐゴシック" pitchFamily="-84" charset="-128"/>
              </a:rPr>
              <a:t>  elements) is an</a:t>
            </a:r>
          </a:p>
          <a:p>
            <a:r>
              <a:rPr lang="en-US" dirty="0" smtClean="0">
                <a:latin typeface="Arial" pitchFamily="-84" charset="0"/>
                <a:ea typeface="ＭＳ Ｐゴシック" pitchFamily="-84" charset="-128"/>
                <a:cs typeface="ＭＳ Ｐゴシック" pitchFamily="-84" charset="-128"/>
              </a:rPr>
              <a:t>element whose first </a:t>
            </a:r>
            <a:r>
              <a:rPr lang="en-US" i="1" dirty="0" smtClean="0">
                <a:latin typeface="Arial" pitchFamily="-84" charset="0"/>
                <a:ea typeface="ＭＳ Ｐゴシック" pitchFamily="-84" charset="-128"/>
                <a:cs typeface="ＭＳ Ｐゴシック" pitchFamily="-84" charset="-128"/>
              </a:rPr>
              <a:t>q -  1 </a:t>
            </a:r>
            <a:r>
              <a:rPr lang="en-US" dirty="0" smtClean="0">
                <a:latin typeface="Arial" pitchFamily="-84" charset="0"/>
                <a:ea typeface="ＭＳ Ｐゴシック" pitchFamily="-84" charset="-128"/>
                <a:cs typeface="ＭＳ Ｐゴシック" pitchFamily="-84" charset="-128"/>
              </a:rPr>
              <a:t>powers generate all the nonzero elements of F. That is, the</a:t>
            </a:r>
          </a:p>
          <a:p>
            <a:r>
              <a:rPr lang="en-US" dirty="0" smtClean="0">
                <a:latin typeface="Arial" pitchFamily="-84" charset="0"/>
                <a:ea typeface="ＭＳ Ｐゴシック" pitchFamily="-84" charset="-128"/>
                <a:cs typeface="ＭＳ Ｐゴシック" pitchFamily="-84" charset="-128"/>
              </a:rPr>
              <a:t>elements of F consist of 0, g</a:t>
            </a:r>
            <a:r>
              <a:rPr lang="en-US" baseline="30000" dirty="0" smtClean="0">
                <a:latin typeface="Arial" pitchFamily="-84" charset="0"/>
                <a:ea typeface="ＭＳ Ｐゴシック" pitchFamily="-84" charset="-128"/>
                <a:cs typeface="ＭＳ Ｐゴシック" pitchFamily="-84" charset="-128"/>
              </a:rPr>
              <a:t>0</a:t>
            </a:r>
            <a:r>
              <a:rPr lang="en-US" dirty="0" smtClean="0">
                <a:latin typeface="Arial" pitchFamily="-84" charset="0"/>
                <a:ea typeface="ＭＳ Ｐゴシック" pitchFamily="-84" charset="-128"/>
                <a:cs typeface="ＭＳ Ｐゴシック" pitchFamily="-84" charset="-128"/>
              </a:rPr>
              <a:t> , g</a:t>
            </a:r>
            <a:r>
              <a:rPr lang="en-US" baseline="30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 c , g</a:t>
            </a:r>
            <a:r>
              <a:rPr lang="en-US" baseline="30000" dirty="0" smtClean="0">
                <a:latin typeface="Arial" pitchFamily="-84" charset="0"/>
                <a:ea typeface="ＭＳ Ｐゴシック" pitchFamily="-84" charset="-128"/>
                <a:cs typeface="ＭＳ Ｐゴシック" pitchFamily="-84" charset="-128"/>
              </a:rPr>
              <a:t>q-2 </a:t>
            </a:r>
            <a:r>
              <a:rPr lang="en-US" dirty="0" smtClean="0">
                <a:latin typeface="Arial" pitchFamily="-84" charset="0"/>
                <a:ea typeface="ＭＳ Ｐゴシック" pitchFamily="-84" charset="-128"/>
                <a:cs typeface="ＭＳ Ｐゴシック" pitchFamily="-84" charset="-128"/>
              </a:rPr>
              <a:t>. Consider a field F defined by a polynomial</a:t>
            </a:r>
          </a:p>
          <a:p>
            <a:r>
              <a:rPr lang="en-US" i="1" dirty="0" smtClean="0">
                <a:latin typeface="Arial" pitchFamily="-84" charset="0"/>
                <a:ea typeface="ＭＳ Ｐゴシック" pitchFamily="-84" charset="-128"/>
                <a:cs typeface="ＭＳ Ｐゴシック" pitchFamily="-84" charset="-128"/>
              </a:rPr>
              <a:t>f (x </a:t>
            </a:r>
            <a:r>
              <a:rPr lang="en-US" dirty="0" smtClean="0">
                <a:latin typeface="Arial" pitchFamily="-84" charset="0"/>
                <a:ea typeface="ＭＳ Ｐゴシック" pitchFamily="-84" charset="-128"/>
                <a:cs typeface="ＭＳ Ｐゴシック" pitchFamily="-84" charset="-128"/>
              </a:rPr>
              <a:t>). An element </a:t>
            </a:r>
            <a:r>
              <a:rPr lang="en-US" i="1" dirty="0"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contained in F is called a root  of the polynomial if </a:t>
            </a:r>
            <a:r>
              <a:rPr lang="en-US" i="1" dirty="0" smtClean="0">
                <a:latin typeface="Arial" pitchFamily="-84" charset="0"/>
                <a:ea typeface="ＭＳ Ｐゴシック" pitchFamily="-84" charset="-128"/>
                <a:cs typeface="ＭＳ Ｐゴシック" pitchFamily="-84" charset="-128"/>
              </a:rPr>
              <a:t>f (b ) =  0.</a:t>
            </a:r>
          </a:p>
          <a:p>
            <a:r>
              <a:rPr lang="en-US" dirty="0" smtClean="0">
                <a:latin typeface="Arial" pitchFamily="-84" charset="0"/>
                <a:ea typeface="ＭＳ Ｐゴシック" pitchFamily="-84" charset="-128"/>
                <a:cs typeface="ＭＳ Ｐゴシック" pitchFamily="-84" charset="-128"/>
              </a:rPr>
              <a:t>Finally, it can be shown that a root </a:t>
            </a:r>
            <a:r>
              <a:rPr lang="en-US" i="1" dirty="0" smtClean="0">
                <a:latin typeface="Arial" pitchFamily="-84" charset="0"/>
                <a:ea typeface="ＭＳ Ｐゴシック" pitchFamily="-84" charset="-128"/>
                <a:cs typeface="ＭＳ Ｐゴシック" pitchFamily="-84" charset="-128"/>
              </a:rPr>
              <a:t>g</a:t>
            </a:r>
            <a:r>
              <a:rPr lang="en-US" dirty="0" smtClean="0">
                <a:latin typeface="Arial" pitchFamily="-84" charset="0"/>
                <a:ea typeface="ＭＳ Ｐゴシック" pitchFamily="-84" charset="-128"/>
                <a:cs typeface="ＭＳ Ｐゴシック" pitchFamily="-84" charset="-128"/>
              </a:rPr>
              <a:t>  of an irreducible polynomial is a generator of the</a:t>
            </a:r>
          </a:p>
          <a:p>
            <a:r>
              <a:rPr lang="en-US" dirty="0" smtClean="0">
                <a:latin typeface="Arial" pitchFamily="-84" charset="0"/>
                <a:ea typeface="ＭＳ Ｐゴシック" pitchFamily="-84" charset="-128"/>
                <a:cs typeface="ＭＳ Ｐゴシック" pitchFamily="-84" charset="-128"/>
              </a:rPr>
              <a:t>finite field defined on that polynomial.</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p:cNvSpPr>
          <p:nvPr>
            <p:ph type="sldImg"/>
          </p:nvPr>
        </p:nvSpPr>
        <p:spPr>
          <a:ln/>
        </p:spPr>
      </p:sp>
      <p:sp>
        <p:nvSpPr>
          <p:cNvPr id="126979" name="Notes Placeholder 2"/>
          <p:cNvSpPr>
            <a:spLocks noGrp="1"/>
          </p:cNvSpPr>
          <p:nvPr>
            <p:ph type="body" idx="1"/>
          </p:nvPr>
        </p:nvSpPr>
        <p:spPr>
          <a:noFill/>
          <a:ln/>
        </p:spPr>
        <p:txBody>
          <a:bodyPr/>
          <a:lstStyle/>
          <a:p>
            <a:r>
              <a:rPr lang="en-US" b="1" dirty="0" smtClean="0">
                <a:latin typeface="Arial" pitchFamily="-84" charset="0"/>
                <a:ea typeface="ＭＳ Ｐゴシック" pitchFamily="-84" charset="-128"/>
                <a:cs typeface="ＭＳ Ｐゴシック" pitchFamily="-84" charset="-128"/>
              </a:rPr>
              <a:t>Table 4.9   Generator for GF(2</a:t>
            </a:r>
            <a:r>
              <a:rPr lang="en-US" b="1" baseline="30000" dirty="0" smtClean="0">
                <a:latin typeface="Arial" pitchFamily="-84" charset="0"/>
                <a:ea typeface="ＭＳ Ｐゴシック" pitchFamily="-84" charset="-128"/>
                <a:cs typeface="ＭＳ Ｐゴシック" pitchFamily="-84" charset="-128"/>
              </a:rPr>
              <a:t>3</a:t>
            </a:r>
            <a:r>
              <a:rPr lang="en-US" b="1" dirty="0" smtClean="0">
                <a:latin typeface="Arial" pitchFamily="-84" charset="0"/>
                <a:ea typeface="ＭＳ Ｐゴシック" pitchFamily="-84" charset="-128"/>
                <a:cs typeface="ＭＳ Ｐゴシック" pitchFamily="-84" charset="-128"/>
              </a:rPr>
              <a:t>) using x</a:t>
            </a:r>
            <a:r>
              <a:rPr lang="en-US" b="1" baseline="30000" dirty="0" smtClean="0">
                <a:latin typeface="Arial" pitchFamily="-84" charset="0"/>
                <a:ea typeface="ＭＳ Ｐゴシック" pitchFamily="-84" charset="-128"/>
                <a:cs typeface="ＭＳ Ｐゴシック" pitchFamily="-84" charset="-128"/>
              </a:rPr>
              <a:t>3</a:t>
            </a:r>
            <a:r>
              <a:rPr lang="en-US" b="1" dirty="0" smtClean="0">
                <a:latin typeface="Arial" pitchFamily="-84" charset="0"/>
                <a:ea typeface="ＭＳ Ｐゴシック" pitchFamily="-84" charset="-128"/>
                <a:cs typeface="ＭＳ Ｐゴシック" pitchFamily="-84" charset="-128"/>
              </a:rPr>
              <a:t> + x + 1</a:t>
            </a:r>
            <a:r>
              <a:rPr lang="en-US" dirty="0" smtClean="0">
                <a:latin typeface="Arial" pitchFamily="-84" charset="0"/>
                <a:ea typeface="ＭＳ Ｐゴシック" pitchFamily="-84" charset="-128"/>
                <a:cs typeface="ＭＳ Ｐゴシック" pitchFamily="-84" charset="-128"/>
              </a:rPr>
              <a:t> </a:t>
            </a:r>
          </a:p>
        </p:txBody>
      </p:sp>
      <p:sp>
        <p:nvSpPr>
          <p:cNvPr id="126980" name="Slide Number Placeholder 3"/>
          <p:cNvSpPr>
            <a:spLocks noGrp="1"/>
          </p:cNvSpPr>
          <p:nvPr>
            <p:ph type="sldNum" sz="quarter" idx="5"/>
          </p:nvPr>
        </p:nvSpPr>
        <p:spPr>
          <a:noFill/>
        </p:spPr>
        <p:txBody>
          <a:bodyPr/>
          <a:lstStyle/>
          <a:p>
            <a:fld id="{E3B66948-2982-6F49-B22A-D07F1F789481}" type="slidenum">
              <a:rPr lang="en-AU" smtClean="0">
                <a:latin typeface="Arial" pitchFamily="-84" charset="0"/>
              </a:rPr>
              <a:pPr/>
              <a:t>41</a:t>
            </a:fld>
            <a:endParaRPr lang="en-AU" smtClean="0">
              <a:latin typeface="Arial" pitchFamily="-8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7B6153C5-3BDB-654E-AF82-B1F7F7E99A10}" type="slidenum">
              <a:rPr lang="en-AU">
                <a:latin typeface="Arial" pitchFamily="-84" charset="0"/>
              </a:rPr>
              <a:pPr/>
              <a:t>42</a:t>
            </a:fld>
            <a:endParaRPr lang="en-AU">
              <a:latin typeface="Arial" pitchFamily="-8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pPr eaLnBrk="1" hangingPunct="1"/>
            <a:r>
              <a:rPr lang="en-US" b="1" smtClean="0">
                <a:latin typeface="Arial" pitchFamily="-84" charset="0"/>
                <a:ea typeface="ＭＳ Ｐゴシック" pitchFamily="-84" charset="-128"/>
                <a:cs typeface="ＭＳ Ｐゴシック" pitchFamily="-84" charset="-128"/>
              </a:rPr>
              <a:t>Table 4.10   GF(2</a:t>
            </a:r>
            <a:r>
              <a:rPr lang="en-US" b="1" baseline="30000" smtClean="0">
                <a:latin typeface="Arial" pitchFamily="-84" charset="0"/>
                <a:ea typeface="ＭＳ Ｐゴシック" pitchFamily="-84" charset="-128"/>
                <a:cs typeface="ＭＳ Ｐゴシック" pitchFamily="-84" charset="-128"/>
              </a:rPr>
              <a:t>3</a:t>
            </a:r>
            <a:r>
              <a:rPr lang="en-US" b="1" smtClean="0">
                <a:latin typeface="Arial" pitchFamily="-84" charset="0"/>
                <a:ea typeface="ＭＳ Ｐゴシック" pitchFamily="-84" charset="-128"/>
                <a:cs typeface="ＭＳ Ｐゴシック" pitchFamily="-84" charset="-128"/>
              </a:rPr>
              <a:t>) Arithmetic Using Generator for the Polynomial (</a:t>
            </a:r>
            <a:r>
              <a:rPr lang="en-US" b="1" i="1" smtClean="0">
                <a:latin typeface="Arial" pitchFamily="-84" charset="0"/>
                <a:ea typeface="ＭＳ Ｐゴシック" pitchFamily="-84" charset="-128"/>
                <a:cs typeface="ＭＳ Ｐゴシック" pitchFamily="-84" charset="-128"/>
              </a:rPr>
              <a:t>x</a:t>
            </a:r>
            <a:r>
              <a:rPr lang="en-US" b="1" baseline="30000" smtClean="0">
                <a:latin typeface="Arial" pitchFamily="-84" charset="0"/>
                <a:ea typeface="ＭＳ Ｐゴシック" pitchFamily="-84" charset="-128"/>
                <a:cs typeface="ＭＳ Ｐゴシック" pitchFamily="-84" charset="-128"/>
              </a:rPr>
              <a:t>3</a:t>
            </a:r>
            <a:r>
              <a:rPr lang="en-US" b="1" smtClean="0">
                <a:latin typeface="Arial" pitchFamily="-84" charset="0"/>
                <a:ea typeface="ＭＳ Ｐゴシック" pitchFamily="-84" charset="-128"/>
                <a:cs typeface="ＭＳ Ｐゴシック" pitchFamily="-84" charset="-128"/>
              </a:rPr>
              <a:t> + </a:t>
            </a:r>
            <a:r>
              <a:rPr lang="en-US" b="1" i="1" smtClean="0">
                <a:latin typeface="Arial" pitchFamily="-84" charset="0"/>
                <a:ea typeface="ＭＳ Ｐゴシック" pitchFamily="-84" charset="-128"/>
                <a:cs typeface="ＭＳ Ｐゴシック" pitchFamily="-84" charset="-128"/>
              </a:rPr>
              <a:t>x</a:t>
            </a:r>
            <a:r>
              <a:rPr lang="en-US" b="1" smtClean="0">
                <a:latin typeface="Arial" pitchFamily="-84" charset="0"/>
                <a:ea typeface="ＭＳ Ｐゴシック" pitchFamily="-84" charset="-128"/>
                <a:cs typeface="ＭＳ Ｐゴシック" pitchFamily="-84" charset="-128"/>
              </a:rPr>
              <a:t> + 1)</a:t>
            </a:r>
            <a:r>
              <a:rPr lang="en-US" smtClean="0">
                <a:latin typeface="Arial" pitchFamily="-84" charset="0"/>
                <a:ea typeface="ＭＳ Ｐゴシック" pitchFamily="-84" charset="-128"/>
                <a:cs typeface="ＭＳ Ｐゴシック" pitchFamily="-84" charset="-128"/>
              </a:rPr>
              <a:t> </a:t>
            </a:r>
            <a:endParaRPr lang="en-AU"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31"/>
          <p:cNvSpPr>
            <a:spLocks noGrp="1" noChangeArrowheads="1"/>
          </p:cNvSpPr>
          <p:nvPr>
            <p:ph type="sldNum" sz="quarter" idx="5"/>
          </p:nvPr>
        </p:nvSpPr>
        <p:spPr>
          <a:noFill/>
        </p:spPr>
        <p:txBody>
          <a:bodyPr/>
          <a:lstStyle/>
          <a:p>
            <a:fld id="{800FD7ED-C008-874C-A44A-6FBCC1FFE7C2}" type="slidenum">
              <a:rPr lang="en-AU">
                <a:latin typeface="Arial" pitchFamily="-84" charset="0"/>
              </a:rPr>
              <a:pPr/>
              <a:t>43</a:t>
            </a:fld>
            <a:endParaRPr lang="en-AU">
              <a:latin typeface="Arial" pitchFamily="-8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Chapter 4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90178"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90179" name="Rectangle 67"/>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dirty="0"/>
            </a:lvl1pPr>
          </a:lstStyle>
          <a:p>
            <a:pPr>
              <a:defRPr/>
            </a:pPr>
            <a:endParaRPr lang="en-US"/>
          </a:p>
        </p:txBody>
      </p:sp>
      <p:sp>
        <p:nvSpPr>
          <p:cNvPr id="69" name="Rectangle 69"/>
          <p:cNvSpPr>
            <a:spLocks noGrp="1" noChangeArrowheads="1"/>
          </p:cNvSpPr>
          <p:nvPr>
            <p:ph type="ftr" sz="quarter" idx="11"/>
          </p:nvPr>
        </p:nvSpPr>
        <p:spPr/>
        <p:txBody>
          <a:bodyPr/>
          <a:lstStyle>
            <a:lvl1pPr>
              <a:defRPr dirty="0"/>
            </a:lvl1pPr>
          </a:lstStyle>
          <a:p>
            <a:pPr>
              <a:defRPr/>
            </a:pPr>
            <a:endParaRPr lang="en-US"/>
          </a:p>
        </p:txBody>
      </p:sp>
      <p:sp>
        <p:nvSpPr>
          <p:cNvPr id="70" name="Rectangle 70"/>
          <p:cNvSpPr>
            <a:spLocks noGrp="1" noChangeArrowheads="1"/>
          </p:cNvSpPr>
          <p:nvPr>
            <p:ph type="sldNum" sz="quarter" idx="12"/>
          </p:nvPr>
        </p:nvSpPr>
        <p:spPr/>
        <p:txBody>
          <a:bodyPr/>
          <a:lstStyle>
            <a:lvl1pPr>
              <a:defRPr/>
            </a:lvl1pPr>
          </a:lstStyle>
          <a:p>
            <a:pPr>
              <a:defRPr/>
            </a:pPr>
            <a:fld id="{795EF581-0E8B-1644-973A-58ABAC7E08A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15BB294C-D295-9A41-A644-AA4385FA015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D60B9FC7-6686-5347-9CB0-1546F2BC5E3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a:p>
        </p:txBody>
      </p:sp>
      <p:sp>
        <p:nvSpPr>
          <p:cNvPr id="6" name="Rectangle 68"/>
          <p:cNvSpPr>
            <a:spLocks noGrp="1" noChangeArrowheads="1"/>
          </p:cNvSpPr>
          <p:nvPr>
            <p:ph type="ftr" sz="quarter" idx="11"/>
          </p:nvPr>
        </p:nvSpPr>
        <p:spPr>
          <a:ln/>
        </p:spPr>
        <p:txBody>
          <a:bodyPr/>
          <a:lstStyle>
            <a:lvl1pPr>
              <a:defRPr/>
            </a:lvl1pPr>
          </a:lstStyle>
          <a:p>
            <a:pPr>
              <a:defRPr/>
            </a:pPr>
            <a:endParaRPr lang="en-US"/>
          </a:p>
        </p:txBody>
      </p:sp>
      <p:sp>
        <p:nvSpPr>
          <p:cNvPr id="7" name="Rectangle 69"/>
          <p:cNvSpPr>
            <a:spLocks noGrp="1" noChangeArrowheads="1"/>
          </p:cNvSpPr>
          <p:nvPr>
            <p:ph type="sldNum" sz="quarter" idx="12"/>
          </p:nvPr>
        </p:nvSpPr>
        <p:spPr>
          <a:ln/>
        </p:spPr>
        <p:txBody>
          <a:bodyPr/>
          <a:lstStyle>
            <a:lvl1pPr>
              <a:defRPr/>
            </a:lvl1pPr>
          </a:lstStyle>
          <a:p>
            <a:pPr>
              <a:defRPr/>
            </a:pPr>
            <a:fld id="{92B5C8B5-2ACE-8D46-AC11-C6D02B882DB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a:p>
        </p:txBody>
      </p:sp>
      <p:sp>
        <p:nvSpPr>
          <p:cNvPr id="8" name="Rectangle 68"/>
          <p:cNvSpPr>
            <a:spLocks noGrp="1" noChangeArrowheads="1"/>
          </p:cNvSpPr>
          <p:nvPr>
            <p:ph type="ftr" sz="quarter" idx="11"/>
          </p:nvPr>
        </p:nvSpPr>
        <p:spPr>
          <a:ln/>
        </p:spPr>
        <p:txBody>
          <a:bodyPr/>
          <a:lstStyle>
            <a:lvl1pPr>
              <a:defRPr/>
            </a:lvl1pPr>
          </a:lstStyle>
          <a:p>
            <a:pPr>
              <a:defRPr/>
            </a:pPr>
            <a:endParaRPr lang="en-US"/>
          </a:p>
        </p:txBody>
      </p:sp>
      <p:sp>
        <p:nvSpPr>
          <p:cNvPr id="9" name="Rectangle 69"/>
          <p:cNvSpPr>
            <a:spLocks noGrp="1" noChangeArrowheads="1"/>
          </p:cNvSpPr>
          <p:nvPr>
            <p:ph type="sldNum" sz="quarter" idx="12"/>
          </p:nvPr>
        </p:nvSpPr>
        <p:spPr>
          <a:ln/>
        </p:spPr>
        <p:txBody>
          <a:bodyPr/>
          <a:lstStyle>
            <a:lvl1pPr>
              <a:defRPr/>
            </a:lvl1pPr>
          </a:lstStyle>
          <a:p>
            <a:pPr>
              <a:defRPr/>
            </a:pPr>
            <a:fld id="{DA9E763C-3782-2941-8360-E3F03AEA7D09}"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a:p>
        </p:txBody>
      </p:sp>
      <p:sp>
        <p:nvSpPr>
          <p:cNvPr id="4" name="Rectangle 68"/>
          <p:cNvSpPr>
            <a:spLocks noGrp="1" noChangeArrowheads="1"/>
          </p:cNvSpPr>
          <p:nvPr>
            <p:ph type="ftr" sz="quarter" idx="11"/>
          </p:nvPr>
        </p:nvSpPr>
        <p:spPr>
          <a:ln/>
        </p:spPr>
        <p:txBody>
          <a:bodyPr/>
          <a:lstStyle>
            <a:lvl1pPr>
              <a:defRPr/>
            </a:lvl1pPr>
          </a:lstStyle>
          <a:p>
            <a:pPr>
              <a:defRPr/>
            </a:pPr>
            <a:endParaRPr lang="en-US"/>
          </a:p>
        </p:txBody>
      </p:sp>
      <p:sp>
        <p:nvSpPr>
          <p:cNvPr id="5" name="Rectangle 69"/>
          <p:cNvSpPr>
            <a:spLocks noGrp="1" noChangeArrowheads="1"/>
          </p:cNvSpPr>
          <p:nvPr>
            <p:ph type="sldNum" sz="quarter" idx="12"/>
          </p:nvPr>
        </p:nvSpPr>
        <p:spPr>
          <a:ln/>
        </p:spPr>
        <p:txBody>
          <a:bodyPr/>
          <a:lstStyle>
            <a:lvl1pPr>
              <a:defRPr/>
            </a:lvl1pPr>
          </a:lstStyle>
          <a:p>
            <a:pPr>
              <a:defRPr/>
            </a:pPr>
            <a:fld id="{1E240AA3-233B-FB4A-9F8F-C96C5A6CF6E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a:p>
        </p:txBody>
      </p:sp>
      <p:sp>
        <p:nvSpPr>
          <p:cNvPr id="3" name="Rectangle 68"/>
          <p:cNvSpPr>
            <a:spLocks noGrp="1" noChangeArrowheads="1"/>
          </p:cNvSpPr>
          <p:nvPr>
            <p:ph type="ftr" sz="quarter" idx="11"/>
          </p:nvPr>
        </p:nvSpPr>
        <p:spPr>
          <a:ln/>
        </p:spPr>
        <p:txBody>
          <a:bodyPr/>
          <a:lstStyle>
            <a:lvl1pPr>
              <a:defRPr/>
            </a:lvl1pPr>
          </a:lstStyle>
          <a:p>
            <a:pPr>
              <a:defRPr/>
            </a:pPr>
            <a:endParaRPr lang="en-US"/>
          </a:p>
        </p:txBody>
      </p:sp>
      <p:sp>
        <p:nvSpPr>
          <p:cNvPr id="4" name="Rectangle 69"/>
          <p:cNvSpPr>
            <a:spLocks noGrp="1" noChangeArrowheads="1"/>
          </p:cNvSpPr>
          <p:nvPr>
            <p:ph type="sldNum" sz="quarter" idx="12"/>
          </p:nvPr>
        </p:nvSpPr>
        <p:spPr>
          <a:ln/>
        </p:spPr>
        <p:txBody>
          <a:bodyPr/>
          <a:lstStyle>
            <a:lvl1pPr>
              <a:defRPr/>
            </a:lvl1pPr>
          </a:lstStyle>
          <a:p>
            <a:pPr>
              <a:defRPr/>
            </a:pPr>
            <a:fld id="{D15D372B-D420-C54D-8767-D73AC5A101C8}"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a:p>
        </p:txBody>
      </p:sp>
      <p:sp>
        <p:nvSpPr>
          <p:cNvPr id="6" name="Rectangle 68"/>
          <p:cNvSpPr>
            <a:spLocks noGrp="1" noChangeArrowheads="1"/>
          </p:cNvSpPr>
          <p:nvPr>
            <p:ph type="ftr" sz="quarter" idx="11"/>
          </p:nvPr>
        </p:nvSpPr>
        <p:spPr>
          <a:ln/>
        </p:spPr>
        <p:txBody>
          <a:bodyPr/>
          <a:lstStyle>
            <a:lvl1pPr>
              <a:defRPr/>
            </a:lvl1pPr>
          </a:lstStyle>
          <a:p>
            <a:pPr>
              <a:defRPr/>
            </a:pPr>
            <a:endParaRPr lang="en-US"/>
          </a:p>
        </p:txBody>
      </p:sp>
      <p:sp>
        <p:nvSpPr>
          <p:cNvPr id="7" name="Rectangle 69"/>
          <p:cNvSpPr>
            <a:spLocks noGrp="1" noChangeArrowheads="1"/>
          </p:cNvSpPr>
          <p:nvPr>
            <p:ph type="sldNum" sz="quarter" idx="12"/>
          </p:nvPr>
        </p:nvSpPr>
        <p:spPr>
          <a:ln/>
        </p:spPr>
        <p:txBody>
          <a:bodyPr/>
          <a:lstStyle>
            <a:lvl1pPr>
              <a:defRPr/>
            </a:lvl1pPr>
          </a:lstStyle>
          <a:p>
            <a:pPr>
              <a:defRPr/>
            </a:pPr>
            <a:fld id="{1B9642DF-26EE-714A-A24A-028B6D176270}"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a:p>
        </p:txBody>
      </p:sp>
      <p:sp>
        <p:nvSpPr>
          <p:cNvPr id="6" name="Rectangle 68"/>
          <p:cNvSpPr>
            <a:spLocks noGrp="1" noChangeArrowheads="1"/>
          </p:cNvSpPr>
          <p:nvPr>
            <p:ph type="ftr" sz="quarter" idx="11"/>
          </p:nvPr>
        </p:nvSpPr>
        <p:spPr>
          <a:ln/>
        </p:spPr>
        <p:txBody>
          <a:bodyPr/>
          <a:lstStyle>
            <a:lvl1pPr>
              <a:defRPr/>
            </a:lvl1pPr>
          </a:lstStyle>
          <a:p>
            <a:pPr>
              <a:defRPr/>
            </a:pPr>
            <a:endParaRPr lang="en-US"/>
          </a:p>
        </p:txBody>
      </p:sp>
      <p:sp>
        <p:nvSpPr>
          <p:cNvPr id="7" name="Rectangle 69"/>
          <p:cNvSpPr>
            <a:spLocks noGrp="1" noChangeArrowheads="1"/>
          </p:cNvSpPr>
          <p:nvPr>
            <p:ph type="sldNum" sz="quarter" idx="12"/>
          </p:nvPr>
        </p:nvSpPr>
        <p:spPr>
          <a:ln/>
        </p:spPr>
        <p:txBody>
          <a:bodyPr/>
          <a:lstStyle>
            <a:lvl1pPr>
              <a:defRPr/>
            </a:lvl1pPr>
          </a:lstStyle>
          <a:p>
            <a:pPr>
              <a:defRPr/>
            </a:pPr>
            <a:fld id="{D207D039-DE9B-EB48-B3A9-EAE8E52898D0}"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71E571F1-141D-9947-B89B-C71570E7C7A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C39F3187-063D-B44F-AB3F-7977ABF9E09B}"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3.pn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89091"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89094"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5"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6"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7"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8"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9"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0"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1"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9102"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3"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4"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5"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6"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7"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08"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09"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0"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1"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2"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3"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4"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5"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6"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7"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8"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9"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0"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1"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2"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3"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4"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5"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6"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7"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8"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9"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0"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1"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2"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3"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4"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5"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6"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7"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8"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9"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40"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41"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89143"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4"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5"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6"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7"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8"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891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9154"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9155"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dirty="0">
                <a:effectLst>
                  <a:outerShdw blurRad="38100" dist="38100" dir="2700000" algn="tl">
                    <a:srgbClr val="000000"/>
                  </a:outerShdw>
                </a:effectLst>
                <a:latin typeface="Arial" pitchFamily="-107" charset="0"/>
              </a:defRPr>
            </a:lvl1pPr>
          </a:lstStyle>
          <a:p>
            <a:pPr>
              <a:defRPr/>
            </a:pPr>
            <a:endParaRPr lang="en-US"/>
          </a:p>
        </p:txBody>
      </p:sp>
      <p:sp>
        <p:nvSpPr>
          <p:cNvPr id="89156"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dirty="0">
                <a:effectLst>
                  <a:outerShdw blurRad="38100" dist="38100" dir="2700000" algn="tl">
                    <a:srgbClr val="000000"/>
                  </a:outerShdw>
                </a:effectLst>
                <a:latin typeface="Arial" pitchFamily="-107" charset="0"/>
              </a:defRPr>
            </a:lvl1pPr>
          </a:lstStyle>
          <a:p>
            <a:pPr>
              <a:defRPr/>
            </a:pPr>
            <a:endParaRPr lang="en-US"/>
          </a:p>
        </p:txBody>
      </p:sp>
      <p:sp>
        <p:nvSpPr>
          <p:cNvPr id="89157"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6D4DF42E-3762-4049-AE2C-F3CF68EA27A4}" type="slidenum">
              <a:rPr lang="en-US"/>
              <a:pPr>
                <a:defRPr/>
              </a:pPr>
              <a:t>‹#›</a:t>
            </a:fld>
            <a:endParaRPr lang="en-US" dirty="0"/>
          </a:p>
        </p:txBody>
      </p:sp>
      <p:sp>
        <p:nvSpPr>
          <p:cNvPr id="89158"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35"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200775"/>
            <a:ext cx="91440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UW_Logo_1L_horz.jp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323850" y="6269038"/>
            <a:ext cx="2301875"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Lst>
  <p:txStyles>
    <p:titleStyle>
      <a:lvl1pPr algn="ctr" rtl="0" eaLnBrk="1" fontAlgn="base" hangingPunct="1">
        <a:spcBef>
          <a:spcPct val="0"/>
        </a:spcBef>
        <a:spcAft>
          <a:spcPct val="0"/>
        </a:spcAft>
        <a:defRPr sz="44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Lst>
  <p:timing>
    <p:tnLst>
      <p:par>
        <p:cTn id="1" dur="indefinite" restart="never" nodeType="tmRoot"/>
      </p:par>
    </p:tnLst>
  </p:timing>
  <p:txStyles>
    <p:titleStyle>
      <a:lvl1pPr algn="ctr" rtl="0" eaLnBrk="1" fontAlgn="base" hangingPunct="1">
        <a:spcBef>
          <a:spcPct val="0"/>
        </a:spcBef>
        <a:spcAft>
          <a:spcPct val="0"/>
        </a:spcAft>
        <a:defRPr sz="32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24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0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18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16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16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1.xml"/><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0.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30.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smtClean="0">
                <a:ea typeface="+mj-ea"/>
                <a:cs typeface="+mj-cs"/>
              </a:rPr>
              <a:t>Cryptography</a:t>
            </a:r>
            <a:endParaRPr lang="en-AU" dirty="0">
              <a:ea typeface="+mj-ea"/>
              <a:cs typeface="+mj-cs"/>
            </a:endParaRPr>
          </a:p>
        </p:txBody>
      </p:sp>
      <p:sp>
        <p:nvSpPr>
          <p:cNvPr id="29699" name="Rectangle 3"/>
          <p:cNvSpPr>
            <a:spLocks noGrp="1" noChangeArrowheads="1"/>
          </p:cNvSpPr>
          <p:nvPr>
            <p:ph type="subTitle" idx="1"/>
          </p:nvPr>
        </p:nvSpPr>
        <p:spPr/>
        <p:txBody>
          <a:bodyPr/>
          <a:lstStyle/>
          <a:p>
            <a:pPr>
              <a:buFont typeface="Wingdings" pitchFamily="-84" charset="2"/>
              <a:buNone/>
            </a:pPr>
            <a:r>
              <a:rPr lang="en-US" dirty="0" smtClean="0"/>
              <a:t>Dr. Tran The Son</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 5</a:t>
            </a:r>
            <a:endParaRPr lang="en-US" dirty="0">
              <a:ea typeface="+mj-ea"/>
              <a:cs typeface="+mj-cs"/>
            </a:endParaRPr>
          </a:p>
        </p:txBody>
      </p:sp>
      <p:sp>
        <p:nvSpPr>
          <p:cNvPr id="30723" name="Subtitle 13"/>
          <p:cNvSpPr>
            <a:spLocks noGrp="1"/>
          </p:cNvSpPr>
          <p:nvPr>
            <p:ph type="subTitle" idx="1"/>
          </p:nvPr>
        </p:nvSpPr>
        <p:spPr>
          <a:xfrm>
            <a:off x="1524000" y="5203825"/>
            <a:ext cx="6096000" cy="852488"/>
          </a:xfrm>
        </p:spPr>
        <p:txBody>
          <a:bodyPr>
            <a:normAutofit/>
          </a:bodyPr>
          <a:lstStyle/>
          <a:p>
            <a:r>
              <a:rPr lang="en-US" sz="3600" dirty="0" smtClean="0"/>
              <a:t>Finite Fields</a:t>
            </a:r>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extLst>
      <p:ext uri="{BB962C8B-B14F-4D97-AF65-F5344CB8AC3E}">
        <p14:creationId xmlns:p14="http://schemas.microsoft.com/office/powerpoint/2010/main" val="15910895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5: Outline</a:t>
            </a:r>
            <a:endParaRPr lang="en-US" dirty="0"/>
          </a:p>
        </p:txBody>
      </p:sp>
      <p:sp>
        <p:nvSpPr>
          <p:cNvPr id="3" name="Content Placeholder 2"/>
          <p:cNvSpPr>
            <a:spLocks noGrp="1"/>
          </p:cNvSpPr>
          <p:nvPr>
            <p:ph idx="1"/>
          </p:nvPr>
        </p:nvSpPr>
        <p:spPr/>
        <p:txBody>
          <a:bodyPr/>
          <a:lstStyle/>
          <a:p>
            <a:r>
              <a:rPr lang="en-US" dirty="0" smtClean="0"/>
              <a:t>Groups</a:t>
            </a:r>
          </a:p>
          <a:p>
            <a:r>
              <a:rPr lang="en-US" dirty="0" smtClean="0"/>
              <a:t>Rings</a:t>
            </a:r>
          </a:p>
          <a:p>
            <a:r>
              <a:rPr lang="en-US" dirty="0" smtClean="0"/>
              <a:t>Fields</a:t>
            </a:r>
          </a:p>
          <a:p>
            <a:r>
              <a:rPr lang="en-US" dirty="0" smtClean="0"/>
              <a:t>Finite Fields of the Form GF(p)</a:t>
            </a:r>
          </a:p>
          <a:p>
            <a:r>
              <a:rPr lang="en-US" dirty="0" err="1" smtClean="0"/>
              <a:t>Polynominal</a:t>
            </a:r>
            <a:r>
              <a:rPr lang="en-US" dirty="0" smtClean="0"/>
              <a:t> Arithmetic</a:t>
            </a:r>
          </a:p>
          <a:p>
            <a:r>
              <a:rPr lang="en-US" dirty="0" smtClean="0"/>
              <a:t>Finite Fields of the Form GF(2</a:t>
            </a:r>
            <a:r>
              <a:rPr lang="en-US" baseline="30000" dirty="0" smtClean="0"/>
              <a:t>n</a:t>
            </a:r>
            <a:r>
              <a:rPr lang="en-US" dirty="0" smtClean="0"/>
              <a:t>)</a:t>
            </a:r>
            <a:endParaRPr lang="en-US" dirty="0"/>
          </a:p>
        </p:txBody>
      </p:sp>
    </p:spTree>
    <p:extLst>
      <p:ext uri="{BB962C8B-B14F-4D97-AF65-F5344CB8AC3E}">
        <p14:creationId xmlns:p14="http://schemas.microsoft.com/office/powerpoint/2010/main" val="34364843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457200" y="274638"/>
            <a:ext cx="8229600" cy="634082"/>
          </a:xfrm>
        </p:spPr>
        <p:txBody>
          <a:bodyPr/>
          <a:lstStyle/>
          <a:p>
            <a:r>
              <a:rPr lang="en-US" dirty="0" smtClean="0"/>
              <a:t>Groups</a:t>
            </a:r>
            <a:endParaRPr lang="en-AU" dirty="0" smtClean="0"/>
          </a:p>
        </p:txBody>
      </p:sp>
      <p:sp>
        <p:nvSpPr>
          <p:cNvPr id="47107" name="Rectangle 3"/>
          <p:cNvSpPr>
            <a:spLocks noGrp="1" noChangeArrowheads="1"/>
          </p:cNvSpPr>
          <p:nvPr>
            <p:ph idx="1"/>
          </p:nvPr>
        </p:nvSpPr>
        <p:spPr>
          <a:xfrm>
            <a:off x="683568" y="1124744"/>
            <a:ext cx="7894637" cy="4867275"/>
          </a:xfrm>
        </p:spPr>
        <p:txBody>
          <a:bodyPr rtlCol="0">
            <a:normAutofit fontScale="85000" lnSpcReduction="20000"/>
          </a:bodyPr>
          <a:lstStyle/>
          <a:p>
            <a:pPr fontAlgn="auto">
              <a:lnSpc>
                <a:spcPct val="110000"/>
              </a:lnSpc>
              <a:spcBef>
                <a:spcPts val="1300"/>
              </a:spcBef>
              <a:spcAft>
                <a:spcPts val="0"/>
              </a:spcAft>
              <a:buClr>
                <a:schemeClr val="accent1">
                  <a:lumMod val="60000"/>
                  <a:lumOff val="40000"/>
                </a:schemeClr>
              </a:buClr>
              <a:buFont typeface="Candara" pitchFamily="34" charset="0"/>
              <a:buChar char="•"/>
              <a:defRPr/>
            </a:pPr>
            <a:r>
              <a:rPr lang="en-US" dirty="0" smtClean="0">
                <a:ea typeface="+mn-ea"/>
                <a:cs typeface="+mn-cs"/>
              </a:rPr>
              <a:t> A set of elements with a binary operation denoted by </a:t>
            </a:r>
            <a:r>
              <a:rPr lang="en-US" dirty="0" smtClean="0">
                <a:latin typeface="Wingdings"/>
                <a:ea typeface="Wingdings"/>
                <a:cs typeface="Wingdings"/>
              </a:rPr>
              <a:t></a:t>
            </a:r>
            <a:r>
              <a:rPr lang="en-US" dirty="0" smtClean="0">
                <a:ea typeface="+mn-ea"/>
                <a:cs typeface="+mn-cs"/>
              </a:rPr>
              <a:t>  that associates to each ordered pair (</a:t>
            </a:r>
            <a:r>
              <a:rPr lang="en-US" i="1" dirty="0" smtClean="0">
                <a:ea typeface="+mn-ea"/>
                <a:cs typeface="+mn-cs"/>
              </a:rPr>
              <a:t>a,b</a:t>
            </a:r>
            <a:r>
              <a:rPr lang="en-US" dirty="0" smtClean="0">
                <a:ea typeface="+mn-ea"/>
                <a:cs typeface="+mn-cs"/>
              </a:rPr>
              <a:t>) of elements in </a:t>
            </a:r>
            <a:r>
              <a:rPr lang="en-US" i="1" dirty="0" smtClean="0">
                <a:ea typeface="+mn-ea"/>
                <a:cs typeface="+mn-cs"/>
              </a:rPr>
              <a:t>G</a:t>
            </a:r>
            <a:r>
              <a:rPr lang="en-US" dirty="0" smtClean="0">
                <a:ea typeface="+mn-ea"/>
                <a:cs typeface="+mn-cs"/>
              </a:rPr>
              <a:t> an element     (</a:t>
            </a:r>
            <a:r>
              <a:rPr lang="en-US" i="1" dirty="0" smtClean="0">
                <a:ea typeface="+mn-ea"/>
                <a:cs typeface="+mn-cs"/>
              </a:rPr>
              <a:t>a </a:t>
            </a:r>
            <a:r>
              <a:rPr lang="en-US" dirty="0" smtClean="0">
                <a:latin typeface="Wingdings"/>
                <a:ea typeface="Wingdings"/>
                <a:cs typeface="Wingdings"/>
              </a:rPr>
              <a:t></a:t>
            </a:r>
            <a:r>
              <a:rPr lang="en-US" i="1" dirty="0" smtClean="0">
                <a:ea typeface="+mn-ea"/>
                <a:cs typeface="+mn-cs"/>
              </a:rPr>
              <a:t> b </a:t>
            </a:r>
            <a:r>
              <a:rPr lang="en-US" dirty="0" smtClean="0">
                <a:ea typeface="+mn-ea"/>
                <a:cs typeface="+mn-cs"/>
              </a:rPr>
              <a:t>) in </a:t>
            </a:r>
            <a:r>
              <a:rPr lang="en-US" i="1" dirty="0" smtClean="0">
                <a:ea typeface="+mn-ea"/>
                <a:cs typeface="+mn-cs"/>
              </a:rPr>
              <a:t>G</a:t>
            </a:r>
            <a:r>
              <a:rPr lang="en-US" dirty="0" smtClean="0">
                <a:ea typeface="+mn-ea"/>
                <a:cs typeface="+mn-cs"/>
              </a:rPr>
              <a:t> , such that the following axioms are obeyed:</a:t>
            </a:r>
          </a:p>
          <a:p>
            <a:pPr lvl="1" fontAlgn="auto">
              <a:spcBef>
                <a:spcPts val="1300"/>
              </a:spcBef>
              <a:spcAft>
                <a:spcPts val="0"/>
              </a:spcAft>
              <a:buFont typeface="Candara" pitchFamily="34" charset="0"/>
              <a:buChar char="•"/>
              <a:defRPr/>
            </a:pPr>
            <a:r>
              <a:rPr lang="en-US" dirty="0" smtClean="0">
                <a:ea typeface="+mn-ea"/>
              </a:rPr>
              <a:t>(A1) Closure: </a:t>
            </a:r>
          </a:p>
          <a:p>
            <a:pPr lvl="2" fontAlgn="auto">
              <a:spcBef>
                <a:spcPts val="1300"/>
              </a:spcBef>
              <a:spcAft>
                <a:spcPts val="0"/>
              </a:spcAft>
              <a:buClr>
                <a:schemeClr val="accent1">
                  <a:lumMod val="60000"/>
                  <a:lumOff val="40000"/>
                </a:schemeClr>
              </a:buClr>
              <a:buFont typeface="Candara" pitchFamily="34" charset="0"/>
              <a:buChar char="•"/>
              <a:defRPr/>
            </a:pPr>
            <a:r>
              <a:rPr lang="en-US" dirty="0" smtClean="0">
                <a:ea typeface="+mn-ea"/>
              </a:rPr>
              <a:t>If </a:t>
            </a:r>
            <a:r>
              <a:rPr lang="en-US" i="1" dirty="0" smtClean="0">
                <a:ea typeface="+mn-ea"/>
              </a:rPr>
              <a:t>a</a:t>
            </a:r>
            <a:r>
              <a:rPr lang="en-US" dirty="0" smtClean="0">
                <a:ea typeface="+mn-ea"/>
              </a:rPr>
              <a:t> and </a:t>
            </a:r>
            <a:r>
              <a:rPr lang="en-US" i="1" dirty="0" smtClean="0">
                <a:ea typeface="+mn-ea"/>
              </a:rPr>
              <a:t>b</a:t>
            </a:r>
            <a:r>
              <a:rPr lang="en-US" dirty="0" smtClean="0">
                <a:ea typeface="+mn-ea"/>
              </a:rPr>
              <a:t> belong to </a:t>
            </a:r>
            <a:r>
              <a:rPr lang="en-US" i="1" dirty="0" smtClean="0">
                <a:ea typeface="+mn-ea"/>
              </a:rPr>
              <a:t>G</a:t>
            </a:r>
            <a:r>
              <a:rPr lang="en-US" dirty="0" smtClean="0">
                <a:ea typeface="+mn-ea"/>
              </a:rPr>
              <a:t>, then </a:t>
            </a:r>
            <a:r>
              <a:rPr lang="en-US" i="1" dirty="0" smtClean="0">
                <a:ea typeface="+mn-ea"/>
              </a:rPr>
              <a:t>a </a:t>
            </a:r>
            <a:r>
              <a:rPr lang="en-US" dirty="0" smtClean="0">
                <a:latin typeface="Wingdings"/>
                <a:ea typeface="Wingdings"/>
                <a:cs typeface="Wingdings"/>
              </a:rPr>
              <a:t></a:t>
            </a:r>
            <a:r>
              <a:rPr lang="en-US" i="1" dirty="0" smtClean="0">
                <a:ea typeface="+mn-ea"/>
              </a:rPr>
              <a:t> b</a:t>
            </a:r>
            <a:r>
              <a:rPr lang="en-US" dirty="0" smtClean="0">
                <a:ea typeface="+mn-ea"/>
              </a:rPr>
              <a:t> is also in </a:t>
            </a:r>
            <a:r>
              <a:rPr lang="en-US" i="1" dirty="0" smtClean="0">
                <a:ea typeface="+mn-ea"/>
              </a:rPr>
              <a:t>G</a:t>
            </a:r>
          </a:p>
          <a:p>
            <a:pPr lvl="1" fontAlgn="auto">
              <a:spcBef>
                <a:spcPts val="1300"/>
              </a:spcBef>
              <a:spcAft>
                <a:spcPts val="0"/>
              </a:spcAft>
              <a:buFont typeface="Candara" pitchFamily="34" charset="0"/>
              <a:buChar char="•"/>
              <a:defRPr/>
            </a:pPr>
            <a:r>
              <a:rPr lang="en-US" dirty="0" smtClean="0">
                <a:ea typeface="+mn-ea"/>
              </a:rPr>
              <a:t>(A2) Associative: </a:t>
            </a:r>
          </a:p>
          <a:p>
            <a:pPr lvl="2" fontAlgn="auto">
              <a:spcBef>
                <a:spcPts val="1300"/>
              </a:spcBef>
              <a:spcAft>
                <a:spcPts val="0"/>
              </a:spcAft>
              <a:buClr>
                <a:schemeClr val="accent1">
                  <a:lumMod val="60000"/>
                  <a:lumOff val="40000"/>
                </a:schemeClr>
              </a:buClr>
              <a:buFont typeface="Candara" pitchFamily="34" charset="0"/>
              <a:buChar char="•"/>
              <a:defRPr/>
            </a:pPr>
            <a:r>
              <a:rPr lang="en-US" i="1" dirty="0" smtClean="0">
                <a:ea typeface="+mn-ea"/>
              </a:rPr>
              <a:t>a </a:t>
            </a:r>
            <a:r>
              <a:rPr lang="en-US" dirty="0" smtClean="0">
                <a:latin typeface="Wingdings"/>
                <a:ea typeface="Wingdings"/>
                <a:cs typeface="Wingdings"/>
              </a:rPr>
              <a:t></a:t>
            </a:r>
            <a:r>
              <a:rPr lang="en-US" i="1" dirty="0" smtClean="0">
                <a:ea typeface="+mn-ea"/>
              </a:rPr>
              <a:t> (b </a:t>
            </a:r>
            <a:r>
              <a:rPr lang="en-US" dirty="0" smtClean="0">
                <a:latin typeface="Wingdings"/>
                <a:ea typeface="Wingdings"/>
                <a:cs typeface="Wingdings"/>
              </a:rPr>
              <a:t></a:t>
            </a:r>
            <a:r>
              <a:rPr lang="en-US" i="1" dirty="0" smtClean="0">
                <a:ea typeface="+mn-ea"/>
              </a:rPr>
              <a:t> c) = (a </a:t>
            </a:r>
            <a:r>
              <a:rPr lang="en-US" dirty="0" smtClean="0">
                <a:latin typeface="Wingdings"/>
                <a:ea typeface="Wingdings"/>
                <a:cs typeface="Wingdings"/>
              </a:rPr>
              <a:t></a:t>
            </a:r>
            <a:r>
              <a:rPr lang="en-US" i="1" dirty="0" smtClean="0">
                <a:ea typeface="+mn-ea"/>
              </a:rPr>
              <a:t> b) </a:t>
            </a:r>
            <a:r>
              <a:rPr lang="en-US" dirty="0" smtClean="0">
                <a:latin typeface="Wingdings"/>
                <a:ea typeface="Wingdings"/>
                <a:cs typeface="Wingdings"/>
              </a:rPr>
              <a:t></a:t>
            </a:r>
            <a:r>
              <a:rPr lang="en-US" i="1" dirty="0" smtClean="0">
                <a:ea typeface="+mn-ea"/>
              </a:rPr>
              <a:t> c </a:t>
            </a:r>
            <a:r>
              <a:rPr lang="en-US" dirty="0" smtClean="0">
                <a:ea typeface="+mn-ea"/>
              </a:rPr>
              <a:t>for all </a:t>
            </a:r>
            <a:r>
              <a:rPr lang="en-US" i="1" dirty="0" smtClean="0">
                <a:ea typeface="+mn-ea"/>
              </a:rPr>
              <a:t>a, b, c </a:t>
            </a:r>
            <a:r>
              <a:rPr lang="en-US" dirty="0" smtClean="0">
                <a:ea typeface="+mn-ea"/>
              </a:rPr>
              <a:t>in </a:t>
            </a:r>
            <a:r>
              <a:rPr lang="en-US" i="1" dirty="0" smtClean="0">
                <a:ea typeface="+mn-ea"/>
              </a:rPr>
              <a:t>G</a:t>
            </a:r>
          </a:p>
          <a:p>
            <a:pPr lvl="1" fontAlgn="auto">
              <a:spcBef>
                <a:spcPts val="1300"/>
              </a:spcBef>
              <a:spcAft>
                <a:spcPts val="0"/>
              </a:spcAft>
              <a:buFont typeface="Candara" pitchFamily="34" charset="0"/>
              <a:buChar char="•"/>
              <a:defRPr/>
            </a:pPr>
            <a:r>
              <a:rPr lang="en-US" dirty="0" smtClean="0">
                <a:ea typeface="+mn-ea"/>
              </a:rPr>
              <a:t>(A3) Identity element: </a:t>
            </a:r>
          </a:p>
          <a:p>
            <a:pPr lvl="2" fontAlgn="auto">
              <a:spcBef>
                <a:spcPts val="1300"/>
              </a:spcBef>
              <a:spcAft>
                <a:spcPts val="0"/>
              </a:spcAft>
              <a:buClr>
                <a:schemeClr val="accent1">
                  <a:lumMod val="60000"/>
                  <a:lumOff val="40000"/>
                </a:schemeClr>
              </a:buClr>
              <a:buFont typeface="Candara" pitchFamily="34" charset="0"/>
              <a:buChar char="•"/>
              <a:defRPr/>
            </a:pPr>
            <a:r>
              <a:rPr lang="en-US" dirty="0" smtClean="0">
                <a:ea typeface="+mn-ea"/>
              </a:rPr>
              <a:t>There is an element </a:t>
            </a:r>
            <a:r>
              <a:rPr lang="en-US" i="1" dirty="0" smtClean="0">
                <a:ea typeface="+mn-ea"/>
              </a:rPr>
              <a:t>e</a:t>
            </a:r>
            <a:r>
              <a:rPr lang="en-US" dirty="0" smtClean="0">
                <a:ea typeface="+mn-ea"/>
              </a:rPr>
              <a:t> in </a:t>
            </a:r>
            <a:r>
              <a:rPr lang="en-US" i="1" dirty="0" smtClean="0">
                <a:ea typeface="+mn-ea"/>
              </a:rPr>
              <a:t>G</a:t>
            </a:r>
            <a:r>
              <a:rPr lang="en-US" dirty="0" smtClean="0">
                <a:ea typeface="+mn-ea"/>
              </a:rPr>
              <a:t> such that </a:t>
            </a:r>
            <a:r>
              <a:rPr lang="en-US" i="1" dirty="0" smtClean="0">
                <a:ea typeface="+mn-ea"/>
              </a:rPr>
              <a:t>a </a:t>
            </a:r>
            <a:r>
              <a:rPr lang="en-US" dirty="0" smtClean="0">
                <a:latin typeface="Wingdings"/>
                <a:ea typeface="Wingdings"/>
                <a:cs typeface="Wingdings"/>
              </a:rPr>
              <a:t></a:t>
            </a:r>
            <a:r>
              <a:rPr lang="en-US" i="1" dirty="0" smtClean="0">
                <a:ea typeface="+mn-ea"/>
              </a:rPr>
              <a:t> e = e </a:t>
            </a:r>
            <a:r>
              <a:rPr lang="en-US" dirty="0" smtClean="0">
                <a:latin typeface="Wingdings"/>
                <a:ea typeface="Wingdings"/>
                <a:cs typeface="Wingdings"/>
              </a:rPr>
              <a:t></a:t>
            </a:r>
            <a:r>
              <a:rPr lang="en-US" i="1" dirty="0" smtClean="0">
                <a:ea typeface="+mn-ea"/>
              </a:rPr>
              <a:t> a = a </a:t>
            </a:r>
            <a:r>
              <a:rPr lang="en-US" dirty="0" smtClean="0">
                <a:ea typeface="+mn-ea"/>
              </a:rPr>
              <a:t>for all </a:t>
            </a:r>
            <a:r>
              <a:rPr lang="en-US" i="1" dirty="0" smtClean="0">
                <a:ea typeface="+mn-ea"/>
              </a:rPr>
              <a:t>a</a:t>
            </a:r>
            <a:r>
              <a:rPr lang="en-US" dirty="0" smtClean="0">
                <a:ea typeface="+mn-ea"/>
              </a:rPr>
              <a:t> in </a:t>
            </a:r>
            <a:r>
              <a:rPr lang="en-US" i="1" dirty="0" smtClean="0">
                <a:ea typeface="+mn-ea"/>
              </a:rPr>
              <a:t>G</a:t>
            </a:r>
          </a:p>
          <a:p>
            <a:pPr lvl="1" fontAlgn="auto">
              <a:spcBef>
                <a:spcPts val="1300"/>
              </a:spcBef>
              <a:spcAft>
                <a:spcPts val="0"/>
              </a:spcAft>
              <a:buFont typeface="Candara" pitchFamily="34" charset="0"/>
              <a:buChar char="•"/>
              <a:defRPr/>
            </a:pPr>
            <a:r>
              <a:rPr lang="en-US" dirty="0" smtClean="0">
                <a:ea typeface="+mn-ea"/>
              </a:rPr>
              <a:t>(A4) Inverse element: </a:t>
            </a:r>
          </a:p>
          <a:p>
            <a:pPr lvl="2" fontAlgn="auto">
              <a:spcAft>
                <a:spcPts val="0"/>
              </a:spcAft>
              <a:buClr>
                <a:schemeClr val="accent1">
                  <a:lumMod val="60000"/>
                  <a:lumOff val="40000"/>
                </a:schemeClr>
              </a:buClr>
              <a:buFont typeface="Candara" pitchFamily="34" charset="0"/>
              <a:buChar char="•"/>
              <a:defRPr/>
            </a:pPr>
            <a:r>
              <a:rPr lang="en-US" dirty="0" smtClean="0">
                <a:ea typeface="+mn-ea"/>
              </a:rPr>
              <a:t>For each </a:t>
            </a:r>
            <a:r>
              <a:rPr lang="en-US" i="1" dirty="0" smtClean="0">
                <a:ea typeface="+mn-ea"/>
              </a:rPr>
              <a:t>a</a:t>
            </a:r>
            <a:r>
              <a:rPr lang="en-US" dirty="0" smtClean="0">
                <a:ea typeface="+mn-ea"/>
              </a:rPr>
              <a:t> in </a:t>
            </a:r>
            <a:r>
              <a:rPr lang="en-US" i="1" dirty="0" smtClean="0">
                <a:ea typeface="+mn-ea"/>
              </a:rPr>
              <a:t>G</a:t>
            </a:r>
            <a:r>
              <a:rPr lang="en-US" dirty="0" smtClean="0">
                <a:ea typeface="+mn-ea"/>
              </a:rPr>
              <a:t>, there is an element </a:t>
            </a:r>
            <a:r>
              <a:rPr lang="en-US" i="1" dirty="0" smtClean="0">
                <a:ea typeface="+mn-ea"/>
              </a:rPr>
              <a:t>a</a:t>
            </a:r>
            <a:r>
              <a:rPr lang="en-US" dirty="0" smtClean="0">
                <a:ea typeface="+mn-ea"/>
              </a:rPr>
              <a:t> in </a:t>
            </a:r>
            <a:r>
              <a:rPr lang="en-US" i="1" dirty="0" smtClean="0">
                <a:ea typeface="+mn-ea"/>
              </a:rPr>
              <a:t>G </a:t>
            </a:r>
            <a:r>
              <a:rPr lang="en-US" dirty="0" smtClean="0">
                <a:ea typeface="+mn-ea"/>
              </a:rPr>
              <a:t>such that </a:t>
            </a:r>
            <a:r>
              <a:rPr lang="en-US" i="1" dirty="0" err="1" smtClean="0">
                <a:ea typeface="+mn-ea"/>
              </a:rPr>
              <a:t>a</a:t>
            </a:r>
            <a:r>
              <a:rPr lang="en-US" dirty="0" err="1" smtClean="0">
                <a:latin typeface="Wingdings"/>
                <a:ea typeface="Wingdings"/>
                <a:cs typeface="Wingdings"/>
              </a:rPr>
              <a:t></a:t>
            </a:r>
            <a:r>
              <a:rPr lang="en-US" i="1" dirty="0" err="1" smtClean="0">
                <a:ea typeface="+mn-ea"/>
              </a:rPr>
              <a:t>a</a:t>
            </a:r>
            <a:r>
              <a:rPr lang="en-US" i="1" dirty="0" smtClean="0">
                <a:ea typeface="+mn-ea"/>
              </a:rPr>
              <a:t> = a </a:t>
            </a:r>
            <a:r>
              <a:rPr lang="en-US" dirty="0" smtClean="0">
                <a:latin typeface="Wingdings"/>
                <a:ea typeface="Wingdings"/>
                <a:cs typeface="Wingdings"/>
              </a:rPr>
              <a:t></a:t>
            </a:r>
            <a:r>
              <a:rPr lang="en-US" i="1" dirty="0" smtClean="0">
                <a:ea typeface="+mn-ea"/>
              </a:rPr>
              <a:t> a = e</a:t>
            </a:r>
          </a:p>
          <a:p>
            <a:pPr lvl="1" fontAlgn="auto">
              <a:spcBef>
                <a:spcPts val="1300"/>
              </a:spcBef>
              <a:spcAft>
                <a:spcPts val="0"/>
              </a:spcAft>
              <a:buFont typeface="Candara" pitchFamily="34" charset="0"/>
              <a:buChar char="•"/>
              <a:defRPr/>
            </a:pPr>
            <a:r>
              <a:rPr lang="en-US" sz="2571" dirty="0" smtClean="0">
                <a:ea typeface="+mn-ea"/>
              </a:rPr>
              <a:t>(A5) Commutative: </a:t>
            </a:r>
          </a:p>
          <a:p>
            <a:pPr lvl="2" fontAlgn="auto">
              <a:spcAft>
                <a:spcPts val="0"/>
              </a:spcAft>
              <a:buClr>
                <a:schemeClr val="accent1">
                  <a:lumMod val="60000"/>
                  <a:lumOff val="40000"/>
                </a:schemeClr>
              </a:buClr>
              <a:buFont typeface="Candara" pitchFamily="34" charset="0"/>
              <a:buChar char="•"/>
              <a:defRPr/>
            </a:pPr>
            <a:r>
              <a:rPr lang="en-US" i="1" dirty="0" smtClean="0">
                <a:ea typeface="+mn-ea"/>
              </a:rPr>
              <a:t>a </a:t>
            </a:r>
            <a:r>
              <a:rPr lang="en-US" dirty="0" smtClean="0">
                <a:latin typeface="Wingdings"/>
                <a:ea typeface="Wingdings"/>
                <a:cs typeface="Wingdings"/>
              </a:rPr>
              <a:t></a:t>
            </a:r>
            <a:r>
              <a:rPr lang="en-US" i="1" dirty="0" smtClean="0">
                <a:ea typeface="+mn-ea"/>
              </a:rPr>
              <a:t> b = b </a:t>
            </a:r>
            <a:r>
              <a:rPr lang="en-US" dirty="0" smtClean="0">
                <a:latin typeface="Wingdings"/>
                <a:ea typeface="Wingdings"/>
                <a:cs typeface="Wingdings"/>
              </a:rPr>
              <a:t></a:t>
            </a:r>
            <a:r>
              <a:rPr lang="en-US" i="1" dirty="0" smtClean="0">
                <a:ea typeface="+mn-ea"/>
              </a:rPr>
              <a:t> a </a:t>
            </a:r>
            <a:r>
              <a:rPr lang="en-US" dirty="0" smtClean="0">
                <a:ea typeface="+mn-ea"/>
              </a:rPr>
              <a:t>for all </a:t>
            </a:r>
            <a:r>
              <a:rPr lang="en-US" i="1" dirty="0" smtClean="0">
                <a:ea typeface="+mn-ea"/>
              </a:rPr>
              <a:t>a, b </a:t>
            </a:r>
            <a:r>
              <a:rPr lang="en-US" dirty="0" smtClean="0">
                <a:ea typeface="+mn-ea"/>
              </a:rPr>
              <a:t>in </a:t>
            </a:r>
            <a:r>
              <a:rPr lang="en-US" i="1" dirty="0" smtClean="0">
                <a:ea typeface="+mn-ea"/>
              </a:rPr>
              <a:t>G</a:t>
            </a:r>
          </a:p>
          <a:p>
            <a:pPr lvl="2" fontAlgn="auto">
              <a:spcAft>
                <a:spcPts val="0"/>
              </a:spcAft>
              <a:buClr>
                <a:schemeClr val="accent1">
                  <a:lumMod val="60000"/>
                  <a:lumOff val="40000"/>
                </a:schemeClr>
              </a:buClr>
              <a:buFont typeface="Candara" pitchFamily="34" charset="0"/>
              <a:buNone/>
              <a:defRPr/>
            </a:pPr>
            <a:endParaRPr lang="en-AU" i="1" dirty="0" smtClean="0">
              <a:ea typeface="+mn-ea"/>
            </a:endParaRPr>
          </a:p>
        </p:txBody>
      </p:sp>
      <p:sp>
        <p:nvSpPr>
          <p:cNvPr id="2" name="Left Brace 1"/>
          <p:cNvSpPr/>
          <p:nvPr/>
        </p:nvSpPr>
        <p:spPr>
          <a:xfrm>
            <a:off x="827584" y="2420888"/>
            <a:ext cx="360040" cy="244827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Right Brace 2"/>
          <p:cNvSpPr/>
          <p:nvPr/>
        </p:nvSpPr>
        <p:spPr>
          <a:xfrm>
            <a:off x="7740352" y="2276872"/>
            <a:ext cx="288032" cy="345638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p:cNvSpPr txBox="1"/>
          <p:nvPr/>
        </p:nvSpPr>
        <p:spPr>
          <a:xfrm>
            <a:off x="8172400" y="3645024"/>
            <a:ext cx="825867" cy="646331"/>
          </a:xfrm>
          <a:prstGeom prst="rect">
            <a:avLst/>
          </a:prstGeom>
          <a:noFill/>
        </p:spPr>
        <p:txBody>
          <a:bodyPr wrap="none" rtlCol="0">
            <a:spAutoFit/>
          </a:bodyPr>
          <a:lstStyle/>
          <a:p>
            <a:r>
              <a:rPr lang="en-US" dirty="0"/>
              <a:t>Abel </a:t>
            </a:r>
            <a:endParaRPr lang="en-US" dirty="0" smtClean="0"/>
          </a:p>
          <a:p>
            <a:r>
              <a:rPr lang="en-US" dirty="0" smtClean="0"/>
              <a:t>Group</a:t>
            </a:r>
            <a:endParaRPr lang="en-US" dirty="0"/>
          </a:p>
        </p:txBody>
      </p:sp>
      <p:sp>
        <p:nvSpPr>
          <p:cNvPr id="7" name="TextBox 6"/>
          <p:cNvSpPr txBox="1"/>
          <p:nvPr/>
        </p:nvSpPr>
        <p:spPr>
          <a:xfrm>
            <a:off x="107504" y="3783523"/>
            <a:ext cx="825867" cy="369332"/>
          </a:xfrm>
          <a:prstGeom prst="rect">
            <a:avLst/>
          </a:prstGeom>
          <a:noFill/>
        </p:spPr>
        <p:txBody>
          <a:bodyPr wrap="none" rtlCol="0">
            <a:spAutoFit/>
          </a:bodyPr>
          <a:lstStyle/>
          <a:p>
            <a:r>
              <a:rPr lang="en-US" dirty="0" smtClean="0"/>
              <a:t>Group</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Abel Group</a:t>
            </a:r>
            <a:endParaRPr lang="en-US" dirty="0"/>
          </a:p>
        </p:txBody>
      </p:sp>
      <p:sp>
        <p:nvSpPr>
          <p:cNvPr id="3" name="Content Placeholder 2"/>
          <p:cNvSpPr>
            <a:spLocks noGrp="1"/>
          </p:cNvSpPr>
          <p:nvPr>
            <p:ph idx="1"/>
          </p:nvPr>
        </p:nvSpPr>
        <p:spPr/>
        <p:txBody>
          <a:bodyPr/>
          <a:lstStyle/>
          <a:p>
            <a:r>
              <a:rPr lang="en-US" dirty="0"/>
              <a:t>A group is said to be </a:t>
            </a:r>
            <a:r>
              <a:rPr lang="en-US" dirty="0" smtClean="0">
                <a:solidFill>
                  <a:srgbClr val="FF0000"/>
                </a:solidFill>
              </a:rPr>
              <a:t>Abelian</a:t>
            </a:r>
            <a:r>
              <a:rPr lang="en-US" dirty="0" smtClean="0"/>
              <a:t> </a:t>
            </a:r>
            <a:r>
              <a:rPr lang="en-US" dirty="0"/>
              <a:t>if it satisfies the following additional condition</a:t>
            </a:r>
            <a:r>
              <a:rPr lang="en-US" dirty="0" smtClean="0"/>
              <a:t>:</a:t>
            </a:r>
          </a:p>
          <a:p>
            <a:pPr lvl="1"/>
            <a:r>
              <a:rPr lang="en-US" sz="1800" dirty="0"/>
              <a:t>(A5) Commutative: </a:t>
            </a:r>
            <a:r>
              <a:rPr lang="en-US" sz="1800" i="1" dirty="0"/>
              <a:t>a</a:t>
            </a:r>
            <a:r>
              <a:rPr lang="en-US" sz="1800" dirty="0"/>
              <a:t> </a:t>
            </a:r>
            <a:r>
              <a:rPr lang="en-US" sz="1800" dirty="0">
                <a:latin typeface="Wingdings"/>
                <a:ea typeface="Wingdings"/>
                <a:cs typeface="Wingdings"/>
              </a:rPr>
              <a:t></a:t>
            </a:r>
            <a:r>
              <a:rPr lang="en-US" sz="1800" dirty="0" smtClean="0"/>
              <a:t> </a:t>
            </a:r>
            <a:r>
              <a:rPr lang="en-US" sz="1800" i="1" dirty="0"/>
              <a:t>b</a:t>
            </a:r>
            <a:r>
              <a:rPr lang="en-US" sz="1800" dirty="0"/>
              <a:t> = </a:t>
            </a:r>
            <a:r>
              <a:rPr lang="en-US" sz="1800" i="1" dirty="0"/>
              <a:t>b</a:t>
            </a:r>
            <a:r>
              <a:rPr lang="en-US" sz="1800" dirty="0"/>
              <a:t> </a:t>
            </a:r>
            <a:r>
              <a:rPr lang="en-US" sz="1800" dirty="0">
                <a:latin typeface="Wingdings"/>
                <a:ea typeface="Wingdings"/>
                <a:cs typeface="Wingdings"/>
              </a:rPr>
              <a:t></a:t>
            </a:r>
            <a:r>
              <a:rPr lang="en-US" sz="1800" dirty="0" smtClean="0"/>
              <a:t> </a:t>
            </a:r>
            <a:r>
              <a:rPr lang="en-US" sz="1800" i="1" dirty="0"/>
              <a:t>a</a:t>
            </a:r>
            <a:r>
              <a:rPr lang="en-US" sz="1800" dirty="0"/>
              <a:t> for all a, b in 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077072"/>
            <a:ext cx="8785423" cy="111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09496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57200" y="274638"/>
            <a:ext cx="8229600" cy="778098"/>
          </a:xfrm>
        </p:spPr>
        <p:txBody>
          <a:bodyPr/>
          <a:lstStyle/>
          <a:p>
            <a:r>
              <a:rPr lang="en-US" dirty="0" smtClean="0"/>
              <a:t>Cyclic Group</a:t>
            </a:r>
            <a:endParaRPr lang="en-AU" dirty="0" smtClean="0"/>
          </a:p>
        </p:txBody>
      </p:sp>
      <p:sp>
        <p:nvSpPr>
          <p:cNvPr id="49155" name="Rectangle 3"/>
          <p:cNvSpPr>
            <a:spLocks noGrp="1" noChangeArrowheads="1"/>
          </p:cNvSpPr>
          <p:nvPr>
            <p:ph idx="1"/>
          </p:nvPr>
        </p:nvSpPr>
        <p:spPr>
          <a:xfrm>
            <a:off x="539552" y="1268760"/>
            <a:ext cx="7570787" cy="4638675"/>
          </a:xfrm>
        </p:spPr>
        <p:txBody>
          <a:bodyPr rtlCol="0">
            <a:noAutofit/>
          </a:bodyPr>
          <a:lstStyle/>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Exponentiation is defined within a group as a repeated application of the group operator, so that </a:t>
            </a:r>
            <a:r>
              <a:rPr lang="en-US" sz="2400" i="1" dirty="0" smtClean="0">
                <a:ea typeface="+mn-ea"/>
                <a:cs typeface="+mn-cs"/>
              </a:rPr>
              <a:t>a</a:t>
            </a:r>
            <a:r>
              <a:rPr lang="en-US" sz="2400" i="1" baseline="30000" dirty="0" smtClean="0">
                <a:ea typeface="+mn-ea"/>
                <a:cs typeface="+mn-cs"/>
              </a:rPr>
              <a:t>3</a:t>
            </a:r>
            <a:r>
              <a:rPr lang="en-US" sz="2400" i="1" dirty="0" smtClean="0">
                <a:ea typeface="+mn-ea"/>
                <a:cs typeface="+mn-cs"/>
              </a:rPr>
              <a:t> = </a:t>
            </a:r>
            <a:r>
              <a:rPr lang="en-US" sz="2400" i="1" dirty="0" err="1" smtClean="0">
                <a:ea typeface="+mn-ea"/>
                <a:cs typeface="+mn-cs"/>
              </a:rPr>
              <a:t>a</a:t>
            </a:r>
            <a:r>
              <a:rPr lang="en-US" sz="2400" dirty="0" err="1" smtClean="0">
                <a:latin typeface="Wingdings"/>
                <a:ea typeface="Wingdings"/>
                <a:cs typeface="Wingdings"/>
              </a:rPr>
              <a:t></a:t>
            </a:r>
            <a:r>
              <a:rPr lang="en-US" sz="2400" i="1" dirty="0" err="1" smtClean="0">
                <a:ea typeface="+mn-ea"/>
                <a:cs typeface="+mn-cs"/>
              </a:rPr>
              <a:t>a</a:t>
            </a:r>
            <a:r>
              <a:rPr lang="en-US" sz="2400" dirty="0" err="1" smtClean="0">
                <a:latin typeface="Wingdings"/>
                <a:ea typeface="Wingdings"/>
                <a:cs typeface="Wingdings"/>
              </a:rPr>
              <a:t></a:t>
            </a:r>
            <a:r>
              <a:rPr lang="en-US" sz="2400" i="1" dirty="0" err="1" smtClean="0">
                <a:ea typeface="+mn-ea"/>
                <a:cs typeface="+mn-cs"/>
              </a:rPr>
              <a:t>a</a:t>
            </a:r>
            <a:endParaRPr lang="en-AU" sz="2400" i="1"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We define </a:t>
            </a:r>
            <a:r>
              <a:rPr lang="en-US" sz="2400" i="1" dirty="0" smtClean="0">
                <a:ea typeface="+mn-ea"/>
                <a:cs typeface="+mn-cs"/>
              </a:rPr>
              <a:t>a</a:t>
            </a:r>
            <a:r>
              <a:rPr lang="en-US" sz="2400" i="1" baseline="30000" dirty="0" smtClean="0">
                <a:ea typeface="+mn-ea"/>
                <a:cs typeface="+mn-cs"/>
              </a:rPr>
              <a:t>0</a:t>
            </a:r>
            <a:r>
              <a:rPr lang="en-US" sz="2400" i="1" dirty="0" smtClean="0">
                <a:ea typeface="+mn-ea"/>
                <a:cs typeface="+mn-cs"/>
              </a:rPr>
              <a:t> =  e </a:t>
            </a:r>
            <a:r>
              <a:rPr lang="en-US" sz="2400" dirty="0" smtClean="0">
                <a:ea typeface="+mn-ea"/>
                <a:cs typeface="+mn-cs"/>
              </a:rPr>
              <a:t>as the identity element, and </a:t>
            </a:r>
            <a:r>
              <a:rPr lang="en-US" sz="2400" i="1" dirty="0" smtClean="0">
                <a:ea typeface="+mn-ea"/>
                <a:cs typeface="+mn-cs"/>
              </a:rPr>
              <a:t>a</a:t>
            </a:r>
            <a:r>
              <a:rPr lang="en-US" sz="2400" i="1" baseline="30000" dirty="0" smtClean="0">
                <a:ea typeface="+mn-ea"/>
                <a:cs typeface="+mn-cs"/>
              </a:rPr>
              <a:t>-n</a:t>
            </a:r>
            <a:r>
              <a:rPr lang="en-US" sz="2400" i="1" dirty="0" smtClean="0">
                <a:ea typeface="+mn-ea"/>
                <a:cs typeface="+mn-cs"/>
              </a:rPr>
              <a:t> =  (a</a:t>
            </a:r>
            <a:r>
              <a:rPr lang="en-US" sz="2400" baseline="30000" dirty="0" smtClean="0">
                <a:ea typeface="+mn-ea"/>
                <a:cs typeface="+mn-cs"/>
              </a:rPr>
              <a:t>’</a:t>
            </a:r>
            <a:r>
              <a:rPr lang="en-US" sz="2400" dirty="0" smtClean="0">
                <a:ea typeface="+mn-ea"/>
                <a:cs typeface="+mn-cs"/>
              </a:rPr>
              <a:t>)</a:t>
            </a:r>
            <a:r>
              <a:rPr lang="en-US" sz="2400" i="1" baseline="30000" dirty="0" smtClean="0">
                <a:ea typeface="+mn-ea"/>
                <a:cs typeface="+mn-cs"/>
              </a:rPr>
              <a:t>n</a:t>
            </a:r>
            <a:r>
              <a:rPr lang="en-US" sz="2400" dirty="0" smtClean="0">
                <a:ea typeface="+mn-ea"/>
                <a:cs typeface="+mn-cs"/>
              </a:rPr>
              <a:t> , where </a:t>
            </a:r>
            <a:r>
              <a:rPr lang="en-US" sz="2400" i="1" dirty="0" smtClean="0">
                <a:ea typeface="+mn-ea"/>
                <a:cs typeface="+mn-cs"/>
              </a:rPr>
              <a:t>a</a:t>
            </a:r>
            <a:r>
              <a:rPr lang="en-US" sz="2400" i="1" baseline="30000" dirty="0" smtClean="0">
                <a:ea typeface="+mn-ea"/>
                <a:cs typeface="+mn-cs"/>
              </a:rPr>
              <a:t>’</a:t>
            </a:r>
            <a:r>
              <a:rPr lang="en-US" sz="2400" dirty="0" smtClean="0">
                <a:ea typeface="+mn-ea"/>
                <a:cs typeface="+mn-cs"/>
              </a:rPr>
              <a:t> is the inverse element of </a:t>
            </a:r>
            <a:r>
              <a:rPr lang="en-US" sz="2400" i="1" dirty="0" smtClean="0">
                <a:ea typeface="+mn-ea"/>
                <a:cs typeface="+mn-cs"/>
              </a:rPr>
              <a:t>a</a:t>
            </a:r>
            <a:r>
              <a:rPr lang="en-US" sz="2400" dirty="0" smtClean="0">
                <a:ea typeface="+mn-ea"/>
                <a:cs typeface="+mn-cs"/>
              </a:rPr>
              <a:t>  within the group</a:t>
            </a:r>
          </a:p>
          <a:p>
            <a:pPr fontAlgn="auto">
              <a:spcAft>
                <a:spcPts val="0"/>
              </a:spcAft>
              <a:buClr>
                <a:schemeClr val="accent1">
                  <a:lumMod val="60000"/>
                  <a:lumOff val="40000"/>
                </a:schemeClr>
              </a:buClr>
              <a:buFont typeface="Candara" pitchFamily="34" charset="0"/>
              <a:buChar char="•"/>
              <a:defRPr/>
            </a:pPr>
            <a:endParaRPr lang="en-US" sz="2400"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A group </a:t>
            </a:r>
            <a:r>
              <a:rPr lang="en-US" sz="2400" i="1" dirty="0" smtClean="0">
                <a:ea typeface="+mn-ea"/>
                <a:cs typeface="+mn-cs"/>
              </a:rPr>
              <a:t>G</a:t>
            </a:r>
            <a:r>
              <a:rPr lang="en-US" sz="2400" dirty="0" smtClean="0">
                <a:ea typeface="+mn-ea"/>
                <a:cs typeface="+mn-cs"/>
              </a:rPr>
              <a:t> is </a:t>
            </a:r>
            <a:r>
              <a:rPr lang="en-US" sz="2400" b="1" dirty="0" smtClean="0">
                <a:ea typeface="+mn-ea"/>
                <a:cs typeface="+mn-cs"/>
              </a:rPr>
              <a:t>cyclic</a:t>
            </a:r>
            <a:r>
              <a:rPr lang="en-US" sz="2400" dirty="0" smtClean="0">
                <a:ea typeface="+mn-ea"/>
                <a:cs typeface="+mn-cs"/>
              </a:rPr>
              <a:t> if every element of </a:t>
            </a:r>
            <a:r>
              <a:rPr lang="en-US" sz="2400" i="1" dirty="0" smtClean="0">
                <a:ea typeface="+mn-ea"/>
                <a:cs typeface="+mn-cs"/>
              </a:rPr>
              <a:t>G</a:t>
            </a:r>
            <a:r>
              <a:rPr lang="en-US" sz="2400" dirty="0" smtClean="0">
                <a:ea typeface="+mn-ea"/>
                <a:cs typeface="+mn-cs"/>
              </a:rPr>
              <a:t> is a power </a:t>
            </a:r>
            <a:r>
              <a:rPr lang="en-US" sz="2400" i="1" dirty="0" smtClean="0">
                <a:ea typeface="+mn-ea"/>
                <a:cs typeface="+mn-cs"/>
              </a:rPr>
              <a:t>a</a:t>
            </a:r>
            <a:r>
              <a:rPr lang="en-US" sz="2400" i="1" baseline="30000" dirty="0" smtClean="0">
                <a:ea typeface="+mn-ea"/>
                <a:cs typeface="+mn-cs"/>
              </a:rPr>
              <a:t>k</a:t>
            </a:r>
            <a:r>
              <a:rPr lang="en-US" sz="2400" dirty="0" smtClean="0">
                <a:ea typeface="+mn-ea"/>
                <a:cs typeface="+mn-cs"/>
              </a:rPr>
              <a:t> (</a:t>
            </a:r>
            <a:r>
              <a:rPr lang="en-US" sz="2400" i="1" dirty="0" smtClean="0">
                <a:ea typeface="+mn-ea"/>
                <a:cs typeface="+mn-cs"/>
              </a:rPr>
              <a:t>k </a:t>
            </a:r>
            <a:r>
              <a:rPr lang="en-US" sz="2400" dirty="0" smtClean="0">
                <a:ea typeface="+mn-ea"/>
                <a:cs typeface="+mn-cs"/>
              </a:rPr>
              <a:t>is an integer) of a fixed element</a:t>
            </a:r>
          </a:p>
          <a:p>
            <a:pPr lvl="1" fontAlgn="auto">
              <a:spcAft>
                <a:spcPts val="0"/>
              </a:spcAft>
              <a:buClr>
                <a:schemeClr val="accent1">
                  <a:lumMod val="60000"/>
                  <a:lumOff val="40000"/>
                </a:schemeClr>
              </a:buClr>
              <a:buFont typeface="Candara" pitchFamily="34" charset="0"/>
              <a:buChar char="•"/>
              <a:defRPr/>
            </a:pPr>
            <a:r>
              <a:rPr lang="en-US" sz="1800" dirty="0" smtClean="0">
                <a:ea typeface="+mn-ea"/>
                <a:cs typeface="+mn-cs"/>
              </a:rPr>
              <a:t>The element </a:t>
            </a:r>
            <a:r>
              <a:rPr lang="en-US" sz="1800" i="1" dirty="0" smtClean="0">
                <a:ea typeface="+mn-ea"/>
                <a:cs typeface="+mn-cs"/>
              </a:rPr>
              <a:t>a</a:t>
            </a:r>
            <a:r>
              <a:rPr lang="en-US" sz="1800" dirty="0" smtClean="0">
                <a:ea typeface="+mn-ea"/>
                <a:cs typeface="+mn-cs"/>
              </a:rPr>
              <a:t> is said to </a:t>
            </a:r>
            <a:r>
              <a:rPr lang="en-US" sz="1800" b="1" dirty="0" smtClean="0">
                <a:ea typeface="+mn-ea"/>
                <a:cs typeface="+mn-cs"/>
              </a:rPr>
              <a:t>generate</a:t>
            </a:r>
            <a:r>
              <a:rPr lang="en-US" sz="1800" dirty="0" smtClean="0">
                <a:ea typeface="+mn-ea"/>
                <a:cs typeface="+mn-cs"/>
              </a:rPr>
              <a:t> the group </a:t>
            </a:r>
            <a:r>
              <a:rPr lang="en-US" sz="1800" i="1" dirty="0" smtClean="0">
                <a:ea typeface="+mn-ea"/>
                <a:cs typeface="+mn-cs"/>
              </a:rPr>
              <a:t>G</a:t>
            </a:r>
            <a:r>
              <a:rPr lang="en-US" sz="1800" dirty="0" smtClean="0">
                <a:ea typeface="+mn-ea"/>
                <a:cs typeface="+mn-cs"/>
              </a:rPr>
              <a:t> or to be a </a:t>
            </a:r>
            <a:r>
              <a:rPr lang="en-US" sz="1800" b="1" dirty="0" smtClean="0">
                <a:ea typeface="+mn-ea"/>
                <a:cs typeface="+mn-cs"/>
              </a:rPr>
              <a:t>generator </a:t>
            </a:r>
            <a:r>
              <a:rPr lang="en-US" sz="1800" dirty="0" smtClean="0">
                <a:ea typeface="+mn-ea"/>
                <a:cs typeface="+mn-cs"/>
              </a:rPr>
              <a:t>of G</a:t>
            </a:r>
          </a:p>
          <a:p>
            <a:pPr lvl="1" fontAlgn="auto">
              <a:spcAft>
                <a:spcPts val="0"/>
              </a:spcAft>
              <a:buClr>
                <a:schemeClr val="accent1">
                  <a:lumMod val="60000"/>
                  <a:lumOff val="40000"/>
                </a:schemeClr>
              </a:buClr>
              <a:buFont typeface="Candara" pitchFamily="34" charset="0"/>
              <a:buChar char="•"/>
              <a:defRPr/>
            </a:pPr>
            <a:r>
              <a:rPr lang="en-US" sz="1800" dirty="0" smtClean="0">
                <a:ea typeface="+mn-ea"/>
                <a:cs typeface="+mn-cs"/>
              </a:rPr>
              <a:t>A cyclic group is always abelian and may be finite or infinite</a:t>
            </a:r>
            <a:endParaRPr lang="en-AU" sz="1800" dirty="0">
              <a:ea typeface="+mn-ea"/>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274638"/>
            <a:ext cx="8229600" cy="778098"/>
          </a:xfrm>
        </p:spPr>
        <p:txBody>
          <a:bodyPr/>
          <a:lstStyle/>
          <a:p>
            <a:r>
              <a:rPr lang="en-US" dirty="0" smtClean="0"/>
              <a:t>Rings</a:t>
            </a:r>
            <a:endParaRPr lang="en-AU" dirty="0" smtClean="0"/>
          </a:p>
        </p:txBody>
      </p:sp>
      <p:sp>
        <p:nvSpPr>
          <p:cNvPr id="6" name="Content Placeholder 5"/>
          <p:cNvSpPr>
            <a:spLocks noGrp="1"/>
          </p:cNvSpPr>
          <p:nvPr>
            <p:ph idx="1"/>
          </p:nvPr>
        </p:nvSpPr>
        <p:spPr>
          <a:xfrm>
            <a:off x="323528" y="1124744"/>
            <a:ext cx="8229600" cy="5105400"/>
          </a:xfrm>
        </p:spPr>
        <p:txBody>
          <a:bodyPr rtlCol="0">
            <a:normAutofit fontScale="70000" lnSpcReduction="20000"/>
          </a:bodyPr>
          <a:lstStyle/>
          <a:p>
            <a:pPr fontAlgn="auto">
              <a:lnSpc>
                <a:spcPct val="140000"/>
              </a:lnSpc>
              <a:spcAft>
                <a:spcPts val="0"/>
              </a:spcAft>
              <a:buClr>
                <a:schemeClr val="accent1">
                  <a:lumMod val="60000"/>
                  <a:lumOff val="40000"/>
                </a:schemeClr>
              </a:buClr>
              <a:buFont typeface="Candara" pitchFamily="34" charset="0"/>
              <a:buChar char="•"/>
              <a:defRPr/>
            </a:pPr>
            <a:r>
              <a:rPr lang="en-US" dirty="0" smtClean="0">
                <a:ea typeface="+mn-ea"/>
                <a:cs typeface="+mn-cs"/>
              </a:rPr>
              <a:t>A </a:t>
            </a:r>
            <a:r>
              <a:rPr lang="en-US" b="1" dirty="0" smtClean="0">
                <a:ea typeface="+mn-ea"/>
                <a:cs typeface="+mn-cs"/>
              </a:rPr>
              <a:t>ring</a:t>
            </a:r>
            <a:r>
              <a:rPr lang="en-US" dirty="0" smtClean="0">
                <a:ea typeface="+mn-ea"/>
                <a:cs typeface="+mn-cs"/>
              </a:rPr>
              <a:t> </a:t>
            </a:r>
            <a:r>
              <a:rPr lang="en-US" i="1" dirty="0" smtClean="0">
                <a:ea typeface="+mn-ea"/>
                <a:cs typeface="+mn-cs"/>
              </a:rPr>
              <a:t>R</a:t>
            </a:r>
            <a:r>
              <a:rPr lang="en-US" dirty="0" smtClean="0">
                <a:ea typeface="+mn-ea"/>
                <a:cs typeface="+mn-cs"/>
              </a:rPr>
              <a:t> , sometimes denoted by {R , + , * }, is a set of elements with two binary operations, called </a:t>
            </a:r>
            <a:r>
              <a:rPr lang="en-US" i="1" dirty="0" smtClean="0">
                <a:ea typeface="+mn-ea"/>
                <a:cs typeface="+mn-cs"/>
              </a:rPr>
              <a:t>addition</a:t>
            </a:r>
            <a:r>
              <a:rPr lang="en-US" dirty="0" smtClean="0">
                <a:ea typeface="+mn-ea"/>
                <a:cs typeface="+mn-cs"/>
              </a:rPr>
              <a:t> and </a:t>
            </a:r>
            <a:r>
              <a:rPr lang="en-US" i="1" dirty="0" smtClean="0">
                <a:ea typeface="+mn-ea"/>
                <a:cs typeface="+mn-cs"/>
              </a:rPr>
              <a:t>multiplication</a:t>
            </a:r>
            <a:r>
              <a:rPr lang="en-US" dirty="0" smtClean="0">
                <a:ea typeface="+mn-ea"/>
                <a:cs typeface="+mn-cs"/>
              </a:rPr>
              <a:t>,  such that for all </a:t>
            </a:r>
            <a:r>
              <a:rPr lang="en-US" i="1" dirty="0" smtClean="0">
                <a:ea typeface="+mn-ea"/>
                <a:cs typeface="+mn-cs"/>
              </a:rPr>
              <a:t>a , b , c  </a:t>
            </a:r>
            <a:r>
              <a:rPr lang="en-US" dirty="0" smtClean="0">
                <a:ea typeface="+mn-ea"/>
                <a:cs typeface="+mn-cs"/>
              </a:rPr>
              <a:t>in </a:t>
            </a:r>
            <a:r>
              <a:rPr lang="en-US" i="1" dirty="0" smtClean="0">
                <a:ea typeface="+mn-ea"/>
                <a:cs typeface="+mn-cs"/>
              </a:rPr>
              <a:t>R</a:t>
            </a:r>
            <a:r>
              <a:rPr lang="en-US" dirty="0" smtClean="0">
                <a:ea typeface="+mn-ea"/>
                <a:cs typeface="+mn-cs"/>
              </a:rPr>
              <a:t>  the following axioms are obeyed: </a:t>
            </a:r>
          </a:p>
          <a:p>
            <a:pPr fontAlgn="auto">
              <a:spcAft>
                <a:spcPts val="0"/>
              </a:spcAft>
              <a:buClr>
                <a:schemeClr val="accent1">
                  <a:lumMod val="60000"/>
                  <a:lumOff val="40000"/>
                </a:schemeClr>
              </a:buClr>
              <a:buFont typeface="Candara" pitchFamily="34" charset="0"/>
              <a:buNone/>
              <a:defRPr/>
            </a:pPr>
            <a:r>
              <a:rPr lang="en-US" dirty="0" smtClean="0">
                <a:ea typeface="+mn-ea"/>
                <a:cs typeface="+mn-cs"/>
              </a:rPr>
              <a:t>	</a:t>
            </a:r>
            <a:r>
              <a:rPr lang="en-US" b="1" dirty="0" smtClean="0">
                <a:ea typeface="+mn-ea"/>
                <a:cs typeface="+mn-cs"/>
              </a:rPr>
              <a:t>(A1–A5) </a:t>
            </a:r>
          </a:p>
          <a:p>
            <a:pPr lvl="1" fontAlgn="auto">
              <a:lnSpc>
                <a:spcPct val="140000"/>
              </a:lnSpc>
              <a:spcBef>
                <a:spcPts val="1200"/>
              </a:spcBef>
              <a:spcAft>
                <a:spcPts val="0"/>
              </a:spcAft>
              <a:buFont typeface="Candara" pitchFamily="34" charset="0"/>
              <a:buNone/>
              <a:defRPr/>
            </a:pPr>
            <a:r>
              <a:rPr lang="en-US" i="1" dirty="0" smtClean="0">
                <a:ea typeface="+mn-ea"/>
              </a:rPr>
              <a:t>	R</a:t>
            </a:r>
            <a:r>
              <a:rPr lang="en-US" dirty="0" smtClean="0">
                <a:ea typeface="+mn-ea"/>
              </a:rPr>
              <a:t>  is an </a:t>
            </a:r>
            <a:r>
              <a:rPr lang="en-US" dirty="0">
                <a:solidFill>
                  <a:srgbClr val="FF0000"/>
                </a:solidFill>
                <a:ea typeface="+mn-ea"/>
              </a:rPr>
              <a:t>A</a:t>
            </a:r>
            <a:r>
              <a:rPr lang="en-US" dirty="0" smtClean="0">
                <a:solidFill>
                  <a:srgbClr val="FF0000"/>
                </a:solidFill>
                <a:ea typeface="+mn-ea"/>
              </a:rPr>
              <a:t>belian group </a:t>
            </a:r>
            <a:r>
              <a:rPr lang="en-US" dirty="0" smtClean="0">
                <a:ea typeface="+mn-ea"/>
              </a:rPr>
              <a:t>with respect to addition; that is, </a:t>
            </a:r>
            <a:r>
              <a:rPr lang="en-US" i="1" dirty="0" smtClean="0">
                <a:ea typeface="+mn-ea"/>
              </a:rPr>
              <a:t>R </a:t>
            </a:r>
            <a:r>
              <a:rPr lang="en-US" dirty="0" smtClean="0">
                <a:ea typeface="+mn-ea"/>
              </a:rPr>
              <a:t>satisfies axioms A1 through A5. For the case of an additive group, we denote the identity element as 0 and the inverse of </a:t>
            </a:r>
            <a:r>
              <a:rPr lang="en-US" i="1" dirty="0" smtClean="0">
                <a:ea typeface="+mn-ea"/>
              </a:rPr>
              <a:t>a</a:t>
            </a:r>
            <a:r>
              <a:rPr lang="en-US" dirty="0" smtClean="0">
                <a:ea typeface="+mn-ea"/>
              </a:rPr>
              <a:t>  as </a:t>
            </a:r>
            <a:r>
              <a:rPr lang="en-US" i="1" dirty="0" smtClean="0">
                <a:ea typeface="+mn-ea"/>
              </a:rPr>
              <a:t>–a </a:t>
            </a:r>
          </a:p>
          <a:p>
            <a:pPr lvl="1" fontAlgn="auto">
              <a:spcBef>
                <a:spcPts val="1200"/>
              </a:spcBef>
              <a:spcAft>
                <a:spcPts val="0"/>
              </a:spcAft>
              <a:buFont typeface="Candara" pitchFamily="34" charset="0"/>
              <a:buNone/>
              <a:defRPr/>
            </a:pPr>
            <a:r>
              <a:rPr lang="en-US" sz="3300" b="1" dirty="0" smtClean="0">
                <a:ea typeface="+mn-ea"/>
              </a:rPr>
              <a:t>(M1) Closure under multiplication:  </a:t>
            </a:r>
          </a:p>
          <a:p>
            <a:pPr lvl="1" fontAlgn="auto">
              <a:spcBef>
                <a:spcPts val="1200"/>
              </a:spcBef>
              <a:spcAft>
                <a:spcPts val="0"/>
              </a:spcAft>
              <a:buFont typeface="Candara" pitchFamily="34" charset="0"/>
              <a:buNone/>
              <a:defRPr/>
            </a:pPr>
            <a:r>
              <a:rPr lang="en-US" sz="2545" dirty="0" smtClean="0">
                <a:ea typeface="+mn-ea"/>
              </a:rPr>
              <a:t>	If</a:t>
            </a:r>
            <a:r>
              <a:rPr lang="en-US" sz="2545" i="1" dirty="0" smtClean="0">
                <a:ea typeface="+mn-ea"/>
              </a:rPr>
              <a:t> a  </a:t>
            </a:r>
            <a:r>
              <a:rPr lang="en-US" sz="2545" dirty="0" smtClean="0">
                <a:ea typeface="+mn-ea"/>
              </a:rPr>
              <a:t>and </a:t>
            </a:r>
            <a:r>
              <a:rPr lang="en-US" sz="2545" i="1" dirty="0" smtClean="0">
                <a:ea typeface="+mn-ea"/>
              </a:rPr>
              <a:t>b  </a:t>
            </a:r>
            <a:r>
              <a:rPr lang="en-US" sz="2545" dirty="0" smtClean="0">
                <a:ea typeface="+mn-ea"/>
              </a:rPr>
              <a:t>belong</a:t>
            </a:r>
            <a:r>
              <a:rPr lang="en-US" sz="2545" i="1" dirty="0" smtClean="0">
                <a:ea typeface="+mn-ea"/>
              </a:rPr>
              <a:t> </a:t>
            </a:r>
            <a:r>
              <a:rPr lang="en-US" sz="2545" dirty="0" smtClean="0">
                <a:ea typeface="+mn-ea"/>
              </a:rPr>
              <a:t>to</a:t>
            </a:r>
            <a:r>
              <a:rPr lang="en-US" sz="2545" i="1" dirty="0" smtClean="0">
                <a:ea typeface="+mn-ea"/>
              </a:rPr>
              <a:t> R , </a:t>
            </a:r>
            <a:r>
              <a:rPr lang="en-US" sz="2545" dirty="0" smtClean="0">
                <a:ea typeface="+mn-ea"/>
              </a:rPr>
              <a:t>then</a:t>
            </a:r>
            <a:r>
              <a:rPr lang="en-US" sz="2545" i="1" dirty="0" smtClean="0">
                <a:ea typeface="+mn-ea"/>
              </a:rPr>
              <a:t> ab  </a:t>
            </a:r>
            <a:r>
              <a:rPr lang="en-US" sz="2545" dirty="0" smtClean="0">
                <a:ea typeface="+mn-ea"/>
              </a:rPr>
              <a:t>is also in </a:t>
            </a:r>
            <a:r>
              <a:rPr lang="en-US" sz="2545" i="1" dirty="0" smtClean="0">
                <a:ea typeface="+mn-ea"/>
              </a:rPr>
              <a:t>R </a:t>
            </a:r>
          </a:p>
          <a:p>
            <a:pPr fontAlgn="auto">
              <a:spcBef>
                <a:spcPts val="1200"/>
              </a:spcBef>
              <a:spcAft>
                <a:spcPts val="0"/>
              </a:spcAft>
              <a:buClr>
                <a:schemeClr val="accent1">
                  <a:lumMod val="60000"/>
                  <a:lumOff val="40000"/>
                </a:schemeClr>
              </a:buClr>
              <a:buFont typeface="Candara" pitchFamily="34" charset="0"/>
              <a:buNone/>
              <a:defRPr/>
            </a:pPr>
            <a:r>
              <a:rPr lang="en-US" dirty="0" smtClean="0">
                <a:ea typeface="+mn-ea"/>
                <a:cs typeface="+mn-cs"/>
              </a:rPr>
              <a:t>	</a:t>
            </a:r>
            <a:r>
              <a:rPr lang="en-US" b="1" dirty="0" smtClean="0">
                <a:ea typeface="+mn-ea"/>
                <a:cs typeface="+mn-cs"/>
              </a:rPr>
              <a:t>(M2) Associativity of multiplication: </a:t>
            </a:r>
          </a:p>
          <a:p>
            <a:pPr fontAlgn="auto">
              <a:spcBef>
                <a:spcPts val="1200"/>
              </a:spcBef>
              <a:spcAft>
                <a:spcPts val="0"/>
              </a:spcAft>
              <a:buClr>
                <a:schemeClr val="accent1">
                  <a:lumMod val="60000"/>
                  <a:lumOff val="40000"/>
                </a:schemeClr>
              </a:buClr>
              <a:buFont typeface="Candara" pitchFamily="34" charset="0"/>
              <a:buNone/>
              <a:defRPr/>
            </a:pPr>
            <a:r>
              <a:rPr lang="en-US" sz="2545" dirty="0" smtClean="0">
                <a:ea typeface="+mn-ea"/>
                <a:cs typeface="+mn-cs"/>
              </a:rPr>
              <a:t>	         </a:t>
            </a:r>
            <a:r>
              <a:rPr lang="en-US" sz="2545" i="1" dirty="0" smtClean="0">
                <a:ea typeface="+mn-ea"/>
                <a:cs typeface="+mn-cs"/>
              </a:rPr>
              <a:t>a (bc ) =  (ab)c  </a:t>
            </a:r>
            <a:r>
              <a:rPr lang="en-US" sz="2545" dirty="0" smtClean="0">
                <a:ea typeface="+mn-ea"/>
                <a:cs typeface="+mn-cs"/>
              </a:rPr>
              <a:t>for all </a:t>
            </a:r>
            <a:r>
              <a:rPr lang="en-US" sz="2545" i="1" dirty="0" smtClean="0">
                <a:ea typeface="+mn-ea"/>
                <a:cs typeface="+mn-cs"/>
              </a:rPr>
              <a:t>a , b , c  in R </a:t>
            </a:r>
          </a:p>
          <a:p>
            <a:pPr fontAlgn="auto">
              <a:spcBef>
                <a:spcPts val="1200"/>
              </a:spcBef>
              <a:spcAft>
                <a:spcPts val="0"/>
              </a:spcAft>
              <a:buClr>
                <a:schemeClr val="accent1">
                  <a:lumMod val="60000"/>
                  <a:lumOff val="40000"/>
                </a:schemeClr>
              </a:buClr>
              <a:buFont typeface="Candara" pitchFamily="34" charset="0"/>
              <a:buNone/>
              <a:defRPr/>
            </a:pPr>
            <a:r>
              <a:rPr lang="en-US" sz="2727" dirty="0" smtClean="0">
                <a:ea typeface="+mn-ea"/>
                <a:cs typeface="+mn-cs"/>
              </a:rPr>
              <a:t>	</a:t>
            </a:r>
            <a:r>
              <a:rPr lang="en-US" sz="3300" b="1" dirty="0" smtClean="0">
                <a:ea typeface="+mn-ea"/>
                <a:cs typeface="+mn-cs"/>
              </a:rPr>
              <a:t>(M3) Distributive laws: </a:t>
            </a:r>
          </a:p>
          <a:p>
            <a:pPr fontAlgn="auto">
              <a:spcBef>
                <a:spcPts val="1200"/>
              </a:spcBef>
              <a:spcAft>
                <a:spcPts val="0"/>
              </a:spcAft>
              <a:buClr>
                <a:schemeClr val="accent1">
                  <a:lumMod val="60000"/>
                  <a:lumOff val="40000"/>
                </a:schemeClr>
              </a:buClr>
              <a:buFont typeface="Candara" pitchFamily="34" charset="0"/>
              <a:buNone/>
              <a:defRPr/>
            </a:pPr>
            <a:r>
              <a:rPr lang="en-US" sz="2727" dirty="0" smtClean="0">
                <a:ea typeface="+mn-ea"/>
                <a:cs typeface="+mn-cs"/>
              </a:rPr>
              <a:t>	       </a:t>
            </a:r>
            <a:r>
              <a:rPr lang="en-US" sz="2727" i="1" dirty="0" smtClean="0">
                <a:ea typeface="+mn-ea"/>
                <a:cs typeface="+mn-cs"/>
              </a:rPr>
              <a:t>a (b + c ) = ab + ac  </a:t>
            </a:r>
            <a:r>
              <a:rPr lang="en-US" sz="2727" dirty="0" smtClean="0">
                <a:ea typeface="+mn-ea"/>
                <a:cs typeface="+mn-cs"/>
              </a:rPr>
              <a:t>for all </a:t>
            </a:r>
            <a:r>
              <a:rPr lang="en-US" sz="2727" i="1" dirty="0" smtClean="0">
                <a:ea typeface="+mn-ea"/>
                <a:cs typeface="+mn-cs"/>
              </a:rPr>
              <a:t>a , b , c  </a:t>
            </a:r>
            <a:r>
              <a:rPr lang="en-US" sz="2727" dirty="0" smtClean="0">
                <a:ea typeface="+mn-ea"/>
                <a:cs typeface="+mn-cs"/>
              </a:rPr>
              <a:t>in </a:t>
            </a:r>
            <a:r>
              <a:rPr lang="en-US" sz="2727" i="1" dirty="0" smtClean="0">
                <a:ea typeface="+mn-ea"/>
                <a:cs typeface="+mn-cs"/>
              </a:rPr>
              <a:t>R</a:t>
            </a:r>
            <a:r>
              <a:rPr lang="en-US" sz="2727" dirty="0" smtClean="0">
                <a:ea typeface="+mn-ea"/>
                <a:cs typeface="+mn-cs"/>
              </a:rPr>
              <a:t> </a:t>
            </a:r>
          </a:p>
          <a:p>
            <a:pPr marL="342900" lvl="1" indent="-342900" fontAlgn="auto">
              <a:spcBef>
                <a:spcPts val="1200"/>
              </a:spcBef>
              <a:spcAft>
                <a:spcPts val="0"/>
              </a:spcAft>
              <a:buClr>
                <a:schemeClr val="accent1">
                  <a:lumMod val="60000"/>
                  <a:lumOff val="40000"/>
                </a:schemeClr>
              </a:buClr>
              <a:buFont typeface="Candara" pitchFamily="34" charset="0"/>
              <a:buNone/>
              <a:defRPr/>
            </a:pPr>
            <a:r>
              <a:rPr lang="en-US" sz="2545" dirty="0" smtClean="0">
                <a:ea typeface="+mn-ea"/>
              </a:rPr>
              <a:t>	       </a:t>
            </a:r>
            <a:r>
              <a:rPr lang="en-US" sz="2545" i="1" dirty="0" smtClean="0">
                <a:ea typeface="+mn-ea"/>
              </a:rPr>
              <a:t> (a + b )c = ac + bc  </a:t>
            </a:r>
            <a:r>
              <a:rPr lang="en-US" sz="2545" dirty="0" smtClean="0">
                <a:ea typeface="+mn-ea"/>
              </a:rPr>
              <a:t>for all </a:t>
            </a:r>
            <a:r>
              <a:rPr lang="en-US" sz="2545" i="1" dirty="0" smtClean="0">
                <a:ea typeface="+mn-ea"/>
              </a:rPr>
              <a:t>a , b , c  </a:t>
            </a:r>
            <a:r>
              <a:rPr lang="en-US" sz="2545" dirty="0" smtClean="0">
                <a:ea typeface="+mn-ea"/>
              </a:rPr>
              <a:t>in </a:t>
            </a:r>
            <a:r>
              <a:rPr lang="en-US" sz="2545" i="1" dirty="0" smtClean="0">
                <a:ea typeface="+mn-ea"/>
              </a:rPr>
              <a:t>R</a:t>
            </a:r>
            <a:r>
              <a:rPr lang="en-US" sz="2727" i="1" dirty="0" smtClean="0">
                <a:ea typeface="+mn-ea"/>
              </a:rPr>
              <a:t> </a:t>
            </a:r>
          </a:p>
        </p:txBody>
      </p:sp>
      <p:sp>
        <p:nvSpPr>
          <p:cNvPr id="2" name="TextBox 1"/>
          <p:cNvSpPr txBox="1"/>
          <p:nvPr/>
        </p:nvSpPr>
        <p:spPr>
          <a:xfrm>
            <a:off x="5148064" y="3861048"/>
            <a:ext cx="3816424" cy="1200329"/>
          </a:xfrm>
          <a:prstGeom prst="rect">
            <a:avLst/>
          </a:prstGeom>
          <a:solidFill>
            <a:schemeClr val="accent6">
              <a:lumMod val="20000"/>
              <a:lumOff val="80000"/>
            </a:schemeClr>
          </a:solidFill>
          <a:ln>
            <a:solidFill>
              <a:srgbClr val="C00000"/>
            </a:solidFill>
          </a:ln>
        </p:spPr>
        <p:txBody>
          <a:bodyPr wrap="square" rtlCol="0">
            <a:spAutoFit/>
          </a:bodyPr>
          <a:lstStyle/>
          <a:p>
            <a:r>
              <a:rPr lang="en-US" dirty="0"/>
              <a:t>In essence, a ring is a set in which we can do addition, subtraction </a:t>
            </a:r>
            <a:r>
              <a:rPr lang="en-US" i="1" dirty="0"/>
              <a:t>[a - b = a +  (-b )]</a:t>
            </a:r>
            <a:r>
              <a:rPr lang="en-US" dirty="0"/>
              <a:t>, and multiplication without leaving the </a:t>
            </a:r>
            <a:r>
              <a:rPr lang="en-US" dirty="0" smtClean="0"/>
              <a:t>set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457200" y="274638"/>
            <a:ext cx="8229600" cy="778098"/>
          </a:xfrm>
        </p:spPr>
        <p:txBody>
          <a:bodyPr/>
          <a:lstStyle/>
          <a:p>
            <a:r>
              <a:rPr lang="en-US" dirty="0" smtClean="0"/>
              <a:t>Rings (cont.)</a:t>
            </a:r>
          </a:p>
        </p:txBody>
      </p:sp>
      <p:sp>
        <p:nvSpPr>
          <p:cNvPr id="3" name="Content Placeholder 2"/>
          <p:cNvSpPr>
            <a:spLocks noGrp="1"/>
          </p:cNvSpPr>
          <p:nvPr>
            <p:ph idx="1"/>
          </p:nvPr>
        </p:nvSpPr>
        <p:spPr>
          <a:xfrm>
            <a:off x="467544" y="1268760"/>
            <a:ext cx="8153400" cy="4867275"/>
          </a:xfrm>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US" sz="2800" dirty="0" smtClean="0">
                <a:ea typeface="+mn-ea"/>
                <a:cs typeface="+mn-cs"/>
              </a:rPr>
              <a:t> A ring is said to be commutative if it satisfies the following additional condition:</a:t>
            </a:r>
          </a:p>
          <a:p>
            <a:pPr fontAlgn="auto">
              <a:spcBef>
                <a:spcPts val="800"/>
              </a:spcBef>
              <a:spcAft>
                <a:spcPts val="0"/>
              </a:spcAft>
              <a:buClr>
                <a:schemeClr val="accent1">
                  <a:lumMod val="60000"/>
                  <a:lumOff val="40000"/>
                </a:schemeClr>
              </a:buClr>
              <a:buFont typeface="Candara" pitchFamily="34" charset="0"/>
              <a:buNone/>
              <a:defRPr/>
            </a:pPr>
            <a:r>
              <a:rPr lang="en-US" sz="2800" dirty="0" smtClean="0">
                <a:ea typeface="+mn-ea"/>
                <a:cs typeface="+mn-cs"/>
              </a:rPr>
              <a:t>		</a:t>
            </a:r>
            <a:r>
              <a:rPr lang="en-US" sz="2000" b="1" dirty="0" smtClean="0">
                <a:ea typeface="+mn-ea"/>
                <a:cs typeface="+mn-cs"/>
              </a:rPr>
              <a:t>(M4) Commutativity of multiplication: </a:t>
            </a:r>
          </a:p>
          <a:p>
            <a:pPr fontAlgn="auto">
              <a:spcBef>
                <a:spcPts val="800"/>
              </a:spcBef>
              <a:spcAft>
                <a:spcPts val="0"/>
              </a:spcAft>
              <a:buClr>
                <a:schemeClr val="accent1">
                  <a:lumMod val="60000"/>
                  <a:lumOff val="40000"/>
                </a:schemeClr>
              </a:buClr>
              <a:buFont typeface="Candara" pitchFamily="34" charset="0"/>
              <a:buNone/>
              <a:defRPr/>
            </a:pPr>
            <a:r>
              <a:rPr lang="en-US" sz="2000" dirty="0" smtClean="0">
                <a:ea typeface="+mn-ea"/>
                <a:cs typeface="+mn-cs"/>
              </a:rPr>
              <a:t>		          ab = ba for all a, b in R</a:t>
            </a:r>
          </a:p>
          <a:p>
            <a:pPr fontAlgn="auto">
              <a:spcAft>
                <a:spcPts val="0"/>
              </a:spcAft>
              <a:buClr>
                <a:schemeClr val="accent1">
                  <a:lumMod val="60000"/>
                  <a:lumOff val="40000"/>
                </a:schemeClr>
              </a:buClr>
              <a:buFont typeface="Candara" pitchFamily="34" charset="0"/>
              <a:buChar char="•"/>
              <a:defRPr/>
            </a:pPr>
            <a:r>
              <a:rPr lang="en-US" sz="2800" dirty="0" smtClean="0">
                <a:ea typeface="+mn-ea"/>
                <a:cs typeface="+mn-cs"/>
              </a:rPr>
              <a:t> An </a:t>
            </a:r>
            <a:r>
              <a:rPr lang="en-US" sz="2800" i="1" dirty="0" smtClean="0">
                <a:ea typeface="+mn-ea"/>
                <a:cs typeface="+mn-cs"/>
              </a:rPr>
              <a:t>integral domain </a:t>
            </a:r>
            <a:r>
              <a:rPr lang="en-US" sz="2800" dirty="0" smtClean="0">
                <a:ea typeface="+mn-ea"/>
                <a:cs typeface="+mn-cs"/>
              </a:rPr>
              <a:t>is a commutative ring that obeys the following axioms.</a:t>
            </a:r>
          </a:p>
          <a:p>
            <a:pPr fontAlgn="auto">
              <a:spcBef>
                <a:spcPts val="800"/>
              </a:spcBef>
              <a:spcAft>
                <a:spcPts val="0"/>
              </a:spcAft>
              <a:buClr>
                <a:schemeClr val="accent1">
                  <a:lumMod val="60000"/>
                  <a:lumOff val="40000"/>
                </a:schemeClr>
              </a:buClr>
              <a:buFont typeface="Candara" pitchFamily="34" charset="0"/>
              <a:buNone/>
              <a:defRPr/>
            </a:pPr>
            <a:r>
              <a:rPr lang="en-US" sz="2000" dirty="0" smtClean="0">
                <a:ea typeface="+mn-ea"/>
                <a:cs typeface="+mn-cs"/>
              </a:rPr>
              <a:t>		</a:t>
            </a:r>
            <a:r>
              <a:rPr lang="en-US" sz="2000" b="1" dirty="0" smtClean="0">
                <a:ea typeface="+mn-ea"/>
                <a:cs typeface="+mn-cs"/>
              </a:rPr>
              <a:t>(M5) Multiplicative identity:  </a:t>
            </a:r>
          </a:p>
          <a:p>
            <a:pPr fontAlgn="auto">
              <a:spcBef>
                <a:spcPts val="800"/>
              </a:spcBef>
              <a:spcAft>
                <a:spcPts val="0"/>
              </a:spcAft>
              <a:buClr>
                <a:schemeClr val="accent1">
                  <a:lumMod val="60000"/>
                  <a:lumOff val="40000"/>
                </a:schemeClr>
              </a:buClr>
              <a:buFont typeface="Candara" pitchFamily="34" charset="0"/>
              <a:buNone/>
              <a:defRPr/>
            </a:pPr>
            <a:r>
              <a:rPr lang="en-US" sz="2000" dirty="0" smtClean="0">
                <a:ea typeface="+mn-ea"/>
                <a:cs typeface="+mn-cs"/>
              </a:rPr>
              <a:t>		        There is an element 1 in </a:t>
            </a:r>
            <a:r>
              <a:rPr lang="en-US" sz="2000" i="1" dirty="0" smtClean="0">
                <a:ea typeface="+mn-ea"/>
                <a:cs typeface="+mn-cs"/>
              </a:rPr>
              <a:t>R</a:t>
            </a:r>
            <a:r>
              <a:rPr lang="en-US" sz="2000" dirty="0" smtClean="0">
                <a:ea typeface="+mn-ea"/>
                <a:cs typeface="+mn-cs"/>
              </a:rPr>
              <a:t>  such that </a:t>
            </a:r>
            <a:r>
              <a:rPr lang="en-US" sz="2000" i="1" dirty="0" smtClean="0">
                <a:ea typeface="+mn-ea"/>
                <a:cs typeface="+mn-cs"/>
              </a:rPr>
              <a:t>a 1 =  1a = a           	         </a:t>
            </a:r>
            <a:r>
              <a:rPr lang="en-US" sz="2000" dirty="0" smtClean="0">
                <a:ea typeface="+mn-ea"/>
                <a:cs typeface="+mn-cs"/>
              </a:rPr>
              <a:t>for all </a:t>
            </a:r>
            <a:r>
              <a:rPr lang="en-US" sz="2000" i="1" dirty="0" smtClean="0">
                <a:ea typeface="+mn-ea"/>
                <a:cs typeface="+mn-cs"/>
              </a:rPr>
              <a:t>a</a:t>
            </a:r>
            <a:r>
              <a:rPr lang="en-US" sz="2000" dirty="0" smtClean="0">
                <a:ea typeface="+mn-ea"/>
                <a:cs typeface="+mn-cs"/>
              </a:rPr>
              <a:t>  in </a:t>
            </a:r>
            <a:r>
              <a:rPr lang="en-US" sz="2000" i="1" dirty="0" smtClean="0">
                <a:ea typeface="+mn-ea"/>
                <a:cs typeface="+mn-cs"/>
              </a:rPr>
              <a:t>R </a:t>
            </a:r>
          </a:p>
          <a:p>
            <a:pPr fontAlgn="auto">
              <a:spcBef>
                <a:spcPts val="800"/>
              </a:spcBef>
              <a:spcAft>
                <a:spcPts val="0"/>
              </a:spcAft>
              <a:buClr>
                <a:schemeClr val="accent1">
                  <a:lumMod val="60000"/>
                  <a:lumOff val="40000"/>
                </a:schemeClr>
              </a:buClr>
              <a:buFont typeface="Candara" pitchFamily="34" charset="0"/>
              <a:buNone/>
              <a:defRPr/>
            </a:pPr>
            <a:r>
              <a:rPr lang="en-US" sz="2000" dirty="0" smtClean="0">
                <a:ea typeface="+mn-ea"/>
                <a:cs typeface="+mn-cs"/>
              </a:rPr>
              <a:t>		</a:t>
            </a:r>
            <a:r>
              <a:rPr lang="en-US" sz="2000" b="1" dirty="0" smtClean="0">
                <a:ea typeface="+mn-ea"/>
                <a:cs typeface="+mn-cs"/>
              </a:rPr>
              <a:t>(M6) No zero divisors:  </a:t>
            </a:r>
          </a:p>
          <a:p>
            <a:pPr fontAlgn="auto">
              <a:spcBef>
                <a:spcPts val="800"/>
              </a:spcBef>
              <a:spcAft>
                <a:spcPts val="0"/>
              </a:spcAft>
              <a:buClr>
                <a:schemeClr val="accent1">
                  <a:lumMod val="60000"/>
                  <a:lumOff val="40000"/>
                </a:schemeClr>
              </a:buClr>
              <a:buFont typeface="Candara" pitchFamily="34" charset="0"/>
              <a:buNone/>
              <a:defRPr/>
            </a:pPr>
            <a:r>
              <a:rPr lang="en-US" sz="2000" dirty="0" smtClean="0">
                <a:ea typeface="+mn-ea"/>
                <a:cs typeface="+mn-cs"/>
              </a:rPr>
              <a:t>		         If </a:t>
            </a:r>
            <a:r>
              <a:rPr lang="en-US" sz="2000" i="1" dirty="0" smtClean="0">
                <a:ea typeface="+mn-ea"/>
                <a:cs typeface="+mn-cs"/>
              </a:rPr>
              <a:t>a , b  </a:t>
            </a:r>
            <a:r>
              <a:rPr lang="en-US" sz="2000" dirty="0" smtClean="0">
                <a:ea typeface="+mn-ea"/>
                <a:cs typeface="+mn-cs"/>
              </a:rPr>
              <a:t>in </a:t>
            </a:r>
            <a:r>
              <a:rPr lang="en-US" sz="2000" i="1" dirty="0" smtClean="0">
                <a:ea typeface="+mn-ea"/>
                <a:cs typeface="+mn-cs"/>
              </a:rPr>
              <a:t>R</a:t>
            </a:r>
            <a:r>
              <a:rPr lang="en-US" sz="2000" dirty="0" smtClean="0">
                <a:ea typeface="+mn-ea"/>
                <a:cs typeface="+mn-cs"/>
              </a:rPr>
              <a:t>  and </a:t>
            </a:r>
            <a:r>
              <a:rPr lang="en-US" sz="2000" i="1" dirty="0" smtClean="0">
                <a:ea typeface="+mn-ea"/>
                <a:cs typeface="+mn-cs"/>
              </a:rPr>
              <a:t>ab =  0, </a:t>
            </a:r>
            <a:r>
              <a:rPr lang="en-US" sz="2000" dirty="0" smtClean="0">
                <a:ea typeface="+mn-ea"/>
                <a:cs typeface="+mn-cs"/>
              </a:rPr>
              <a:t>then either </a:t>
            </a:r>
            <a:r>
              <a:rPr lang="en-US" sz="2000" i="1" dirty="0" smtClean="0">
                <a:ea typeface="+mn-ea"/>
                <a:cs typeface="+mn-cs"/>
              </a:rPr>
              <a:t>a = 0 </a:t>
            </a:r>
            <a:r>
              <a:rPr lang="en-US" sz="2000" dirty="0" smtClean="0">
                <a:ea typeface="+mn-ea"/>
                <a:cs typeface="+mn-cs"/>
              </a:rPr>
              <a:t> or </a:t>
            </a:r>
            <a:r>
              <a:rPr lang="en-US" sz="2000" i="1" dirty="0" smtClean="0">
                <a:ea typeface="+mn-ea"/>
                <a:cs typeface="+mn-cs"/>
              </a:rPr>
              <a:t>b =  0</a:t>
            </a:r>
            <a:endParaRPr lang="en-US" sz="2000" i="1" dirty="0">
              <a:ea typeface="+mn-ea"/>
              <a:cs typeface="+mn-cs"/>
            </a:endParaRPr>
          </a:p>
        </p:txBody>
      </p:sp>
      <p:sp>
        <p:nvSpPr>
          <p:cNvPr id="2" name="Right Brace 1"/>
          <p:cNvSpPr/>
          <p:nvPr/>
        </p:nvSpPr>
        <p:spPr>
          <a:xfrm>
            <a:off x="7884368" y="1340768"/>
            <a:ext cx="360040" cy="165618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p:cNvSpPr txBox="1"/>
          <p:nvPr/>
        </p:nvSpPr>
        <p:spPr>
          <a:xfrm>
            <a:off x="7956376" y="1628800"/>
            <a:ext cx="1157689" cy="461665"/>
          </a:xfrm>
          <a:prstGeom prst="rect">
            <a:avLst/>
          </a:prstGeom>
          <a:noFill/>
        </p:spPr>
        <p:txBody>
          <a:bodyPr wrap="none" rtlCol="0">
            <a:spAutoFit/>
          </a:bodyPr>
          <a:lstStyle/>
          <a:p>
            <a:r>
              <a:rPr lang="en-US" sz="1200" b="1" dirty="0" smtClean="0"/>
              <a:t>Commutative</a:t>
            </a:r>
          </a:p>
          <a:p>
            <a:r>
              <a:rPr lang="en-US" sz="1200" b="1" dirty="0" smtClean="0"/>
              <a:t>ring</a:t>
            </a:r>
            <a:endParaRPr lang="en-US" sz="1200" b="1" dirty="0"/>
          </a:p>
        </p:txBody>
      </p:sp>
      <p:sp>
        <p:nvSpPr>
          <p:cNvPr id="5" name="Left Brace 4"/>
          <p:cNvSpPr/>
          <p:nvPr/>
        </p:nvSpPr>
        <p:spPr>
          <a:xfrm>
            <a:off x="611560" y="1340768"/>
            <a:ext cx="432048" cy="446449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p:cNvSpPr txBox="1"/>
          <p:nvPr/>
        </p:nvSpPr>
        <p:spPr>
          <a:xfrm>
            <a:off x="25381" y="4437112"/>
            <a:ext cx="926857" cy="584775"/>
          </a:xfrm>
          <a:prstGeom prst="rect">
            <a:avLst/>
          </a:prstGeom>
          <a:noFill/>
        </p:spPr>
        <p:txBody>
          <a:bodyPr wrap="none" rtlCol="0">
            <a:spAutoFit/>
          </a:bodyPr>
          <a:lstStyle/>
          <a:p>
            <a:r>
              <a:rPr lang="en-US" sz="1600" dirty="0" smtClean="0"/>
              <a:t>Integral </a:t>
            </a:r>
          </a:p>
          <a:p>
            <a:r>
              <a:rPr lang="en-US" sz="1600" dirty="0" smtClean="0"/>
              <a:t>domain</a:t>
            </a:r>
            <a:endParaRPr lang="en-US" sz="1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457200" y="274638"/>
            <a:ext cx="8229600" cy="706090"/>
          </a:xfrm>
        </p:spPr>
        <p:txBody>
          <a:bodyPr/>
          <a:lstStyle/>
          <a:p>
            <a:r>
              <a:rPr lang="en-US" dirty="0" smtClean="0"/>
              <a:t>Fields</a:t>
            </a:r>
            <a:endParaRPr lang="en-AU" dirty="0" smtClean="0"/>
          </a:p>
        </p:txBody>
      </p:sp>
      <p:sp>
        <p:nvSpPr>
          <p:cNvPr id="5" name="Content Placeholder 4"/>
          <p:cNvSpPr>
            <a:spLocks noGrp="1"/>
          </p:cNvSpPr>
          <p:nvPr>
            <p:ph idx="1"/>
          </p:nvPr>
        </p:nvSpPr>
        <p:spPr>
          <a:xfrm>
            <a:off x="611560" y="1066800"/>
            <a:ext cx="7924800" cy="4724400"/>
          </a:xfrm>
        </p:spPr>
        <p:txBody>
          <a:bodyPr rtlCol="0">
            <a:normAutofit fontScale="62500" lnSpcReduction="20000"/>
          </a:bodyPr>
          <a:lstStyle/>
          <a:p>
            <a:pPr fontAlgn="auto">
              <a:lnSpc>
                <a:spcPct val="120000"/>
              </a:lnSpc>
              <a:spcAft>
                <a:spcPts val="0"/>
              </a:spcAft>
              <a:buClr>
                <a:schemeClr val="accent1">
                  <a:lumMod val="60000"/>
                  <a:lumOff val="40000"/>
                </a:schemeClr>
              </a:buClr>
              <a:buFont typeface="Candara" pitchFamily="34" charset="0"/>
              <a:buChar char="•"/>
              <a:defRPr/>
            </a:pPr>
            <a:r>
              <a:rPr lang="en-US" sz="3636" dirty="0" smtClean="0">
                <a:solidFill>
                  <a:schemeClr val="tx1"/>
                </a:solidFill>
                <a:ea typeface="ＭＳ Ｐゴシック" pitchFamily="-107" charset="-128"/>
                <a:cs typeface="ＭＳ Ｐゴシック" pitchFamily="-107" charset="-128"/>
              </a:rPr>
              <a:t>A </a:t>
            </a:r>
            <a:r>
              <a:rPr lang="en-US" sz="3636" b="1" dirty="0" smtClean="0">
                <a:solidFill>
                  <a:schemeClr val="tx1"/>
                </a:solidFill>
                <a:ea typeface="ＭＳ Ｐゴシック" pitchFamily="-107" charset="-128"/>
                <a:cs typeface="ＭＳ Ｐゴシック" pitchFamily="-107" charset="-128"/>
              </a:rPr>
              <a:t>field</a:t>
            </a:r>
            <a:r>
              <a:rPr lang="en-US" sz="3636" dirty="0" smtClean="0">
                <a:solidFill>
                  <a:schemeClr val="tx1"/>
                </a:solidFill>
                <a:ea typeface="ＭＳ Ｐゴシック" pitchFamily="-107" charset="-128"/>
                <a:cs typeface="ＭＳ Ｐゴシック" pitchFamily="-107" charset="-128"/>
              </a:rPr>
              <a:t> </a:t>
            </a:r>
            <a:r>
              <a:rPr lang="en-US" sz="3636" i="1" dirty="0" smtClean="0">
                <a:solidFill>
                  <a:schemeClr val="tx1"/>
                </a:solidFill>
                <a:ea typeface="ＭＳ Ｐゴシック" pitchFamily="-107" charset="-128"/>
                <a:cs typeface="ＭＳ Ｐゴシック" pitchFamily="-107" charset="-128"/>
              </a:rPr>
              <a:t>F</a:t>
            </a:r>
            <a:r>
              <a:rPr lang="en-US" sz="3636" dirty="0" smtClean="0">
                <a:solidFill>
                  <a:schemeClr val="tx1"/>
                </a:solidFill>
                <a:ea typeface="ＭＳ Ｐゴシック" pitchFamily="-107" charset="-128"/>
                <a:cs typeface="ＭＳ Ｐゴシック" pitchFamily="-107" charset="-128"/>
              </a:rPr>
              <a:t> , sometimes denoted by {F, +,* }, is a set of elements with two binary operations, called </a:t>
            </a:r>
            <a:r>
              <a:rPr lang="en-US" sz="3636" i="1" dirty="0" smtClean="0">
                <a:solidFill>
                  <a:schemeClr val="tx1"/>
                </a:solidFill>
                <a:ea typeface="ＭＳ Ｐゴシック" pitchFamily="-107" charset="-128"/>
                <a:cs typeface="ＭＳ Ｐゴシック" pitchFamily="-107" charset="-128"/>
              </a:rPr>
              <a:t>addition</a:t>
            </a:r>
            <a:r>
              <a:rPr lang="en-US" sz="3636" dirty="0" smtClean="0">
                <a:solidFill>
                  <a:schemeClr val="tx1"/>
                </a:solidFill>
                <a:ea typeface="ＭＳ Ｐゴシック" pitchFamily="-107" charset="-128"/>
                <a:cs typeface="ＭＳ Ｐゴシック" pitchFamily="-107" charset="-128"/>
              </a:rPr>
              <a:t> and </a:t>
            </a:r>
            <a:r>
              <a:rPr lang="en-US" sz="3636" i="1" dirty="0" smtClean="0">
                <a:solidFill>
                  <a:schemeClr val="tx1"/>
                </a:solidFill>
                <a:ea typeface="ＭＳ Ｐゴシック" pitchFamily="-107" charset="-128"/>
                <a:cs typeface="ＭＳ Ｐゴシック" pitchFamily="-107" charset="-128"/>
              </a:rPr>
              <a:t>multiplication</a:t>
            </a:r>
            <a:r>
              <a:rPr lang="en-US" sz="3636" dirty="0" smtClean="0">
                <a:solidFill>
                  <a:schemeClr val="tx1"/>
                </a:solidFill>
                <a:ea typeface="ＭＳ Ｐゴシック" pitchFamily="-107" charset="-128"/>
                <a:cs typeface="ＭＳ Ｐゴシック" pitchFamily="-107" charset="-128"/>
              </a:rPr>
              <a:t>, such that for all </a:t>
            </a:r>
            <a:r>
              <a:rPr lang="en-US" sz="3636" i="1" dirty="0" smtClean="0">
                <a:solidFill>
                  <a:schemeClr val="tx1"/>
                </a:solidFill>
                <a:ea typeface="ＭＳ Ｐゴシック" pitchFamily="-107" charset="-128"/>
                <a:cs typeface="ＭＳ Ｐゴシック" pitchFamily="-107" charset="-128"/>
              </a:rPr>
              <a:t>a, b, c </a:t>
            </a:r>
            <a:r>
              <a:rPr lang="en-US" sz="3636" dirty="0" smtClean="0">
                <a:solidFill>
                  <a:schemeClr val="tx1"/>
                </a:solidFill>
                <a:ea typeface="ＭＳ Ｐゴシック" pitchFamily="-107" charset="-128"/>
                <a:cs typeface="ＭＳ Ｐゴシック" pitchFamily="-107" charset="-128"/>
              </a:rPr>
              <a:t>in </a:t>
            </a:r>
            <a:r>
              <a:rPr lang="en-US" sz="3636" i="1" dirty="0" smtClean="0">
                <a:solidFill>
                  <a:schemeClr val="tx1"/>
                </a:solidFill>
                <a:ea typeface="ＭＳ Ｐゴシック" pitchFamily="-107" charset="-128"/>
                <a:cs typeface="ＭＳ Ｐゴシック" pitchFamily="-107" charset="-128"/>
              </a:rPr>
              <a:t>F</a:t>
            </a:r>
            <a:r>
              <a:rPr lang="en-US" sz="3636" dirty="0" smtClean="0">
                <a:solidFill>
                  <a:schemeClr val="tx1"/>
                </a:solidFill>
                <a:ea typeface="ＭＳ Ｐゴシック" pitchFamily="-107" charset="-128"/>
                <a:cs typeface="ＭＳ Ｐゴシック" pitchFamily="-107" charset="-128"/>
              </a:rPr>
              <a:t> the following axioms are obeyed:</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r>
              <a:rPr lang="en-US" sz="3000" b="1" dirty="0" smtClean="0">
                <a:solidFill>
                  <a:schemeClr val="tx1"/>
                </a:solidFill>
                <a:ea typeface="ＭＳ Ｐゴシック" pitchFamily="-107" charset="-128"/>
                <a:cs typeface="ＭＳ Ｐゴシック" pitchFamily="-107" charset="-128"/>
              </a:rPr>
              <a:t>(A1–M6)</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is an integral domain; that is,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satisfies axioms A1 through A5 and M1                        </a:t>
            </a:r>
          </a:p>
          <a:p>
            <a:pPr fontAlgn="auto">
              <a:lnSpc>
                <a:spcPct val="120000"/>
              </a:lnSpc>
              <a:spcBef>
                <a:spcPts val="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through M6</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r>
              <a:rPr lang="en-US" sz="3000" b="1" dirty="0" smtClean="0">
                <a:solidFill>
                  <a:schemeClr val="tx1"/>
                </a:solidFill>
                <a:ea typeface="ＭＳ Ｐゴシック" pitchFamily="-107" charset="-128"/>
                <a:cs typeface="ＭＳ Ｐゴシック" pitchFamily="-107" charset="-128"/>
              </a:rPr>
              <a:t>(M7) Multiplicative inverse:  </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For each </a:t>
            </a:r>
            <a:r>
              <a:rPr lang="en-US" sz="3000" i="1" dirty="0" smtClean="0">
                <a:solidFill>
                  <a:schemeClr val="tx1"/>
                </a:solidFill>
                <a:ea typeface="ＭＳ Ｐゴシック" pitchFamily="-107" charset="-128"/>
                <a:cs typeface="ＭＳ Ｐゴシック" pitchFamily="-107" charset="-128"/>
              </a:rPr>
              <a:t>a</a:t>
            </a:r>
            <a:r>
              <a:rPr lang="en-US" sz="3000" dirty="0" smtClean="0">
                <a:solidFill>
                  <a:schemeClr val="tx1"/>
                </a:solidFill>
                <a:ea typeface="ＭＳ Ｐゴシック" pitchFamily="-107" charset="-128"/>
                <a:cs typeface="ＭＳ Ｐゴシック" pitchFamily="-107" charset="-128"/>
              </a:rPr>
              <a:t> in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a:t>
            </a:r>
            <a:r>
              <a:rPr lang="en-US" sz="3000" dirty="0" smtClean="0">
                <a:solidFill>
                  <a:srgbClr val="FF0000"/>
                </a:solidFill>
                <a:ea typeface="ＭＳ Ｐゴシック" pitchFamily="-107" charset="-128"/>
                <a:cs typeface="ＭＳ Ｐゴシック" pitchFamily="-107" charset="-128"/>
              </a:rPr>
              <a:t>except 0</a:t>
            </a:r>
            <a:r>
              <a:rPr lang="en-US" sz="3000" dirty="0" smtClean="0">
                <a:solidFill>
                  <a:schemeClr val="tx1"/>
                </a:solidFill>
                <a:ea typeface="ＭＳ Ｐゴシック" pitchFamily="-107" charset="-128"/>
                <a:cs typeface="ＭＳ Ｐゴシック" pitchFamily="-107" charset="-128"/>
              </a:rPr>
              <a:t>, there is an element </a:t>
            </a:r>
            <a:r>
              <a:rPr lang="en-US" sz="3000" i="1" dirty="0" smtClean="0">
                <a:solidFill>
                  <a:schemeClr val="tx1"/>
                </a:solidFill>
                <a:ea typeface="ＭＳ Ｐゴシック" pitchFamily="-107" charset="-128"/>
                <a:cs typeface="ＭＳ Ｐゴシック" pitchFamily="-107" charset="-128"/>
              </a:rPr>
              <a:t>a</a:t>
            </a:r>
            <a:r>
              <a:rPr lang="en-US" sz="3000" baseline="30000" dirty="0" smtClean="0">
                <a:solidFill>
                  <a:schemeClr val="tx1"/>
                </a:solidFill>
                <a:ea typeface="ＭＳ Ｐゴシック" pitchFamily="-107" charset="-128"/>
                <a:cs typeface="ＭＳ Ｐゴシック" pitchFamily="-107" charset="-128"/>
              </a:rPr>
              <a:t>-1</a:t>
            </a:r>
            <a:r>
              <a:rPr lang="en-US" sz="3000" dirty="0" smtClean="0">
                <a:solidFill>
                  <a:schemeClr val="tx1"/>
                </a:solidFill>
                <a:ea typeface="ＭＳ Ｐゴシック" pitchFamily="-107" charset="-128"/>
                <a:cs typeface="ＭＳ Ｐゴシック" pitchFamily="-107" charset="-128"/>
              </a:rPr>
              <a:t>  in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such that </a:t>
            </a:r>
            <a:r>
              <a:rPr lang="en-US" sz="3000" i="1" dirty="0" smtClean="0">
                <a:solidFill>
                  <a:schemeClr val="tx1"/>
                </a:solidFill>
                <a:ea typeface="ＭＳ Ｐゴシック" pitchFamily="-107" charset="-128"/>
                <a:cs typeface="ＭＳ Ｐゴシック" pitchFamily="-107" charset="-128"/>
              </a:rPr>
              <a:t>aa</a:t>
            </a:r>
            <a:r>
              <a:rPr lang="en-US" sz="3000" baseline="30000" dirty="0" smtClean="0">
                <a:solidFill>
                  <a:schemeClr val="tx1"/>
                </a:solidFill>
                <a:ea typeface="ＭＳ Ｐゴシック" pitchFamily="-107" charset="-128"/>
                <a:cs typeface="ＭＳ Ｐゴシック" pitchFamily="-107" charset="-128"/>
              </a:rPr>
              <a:t>-1</a:t>
            </a:r>
            <a:r>
              <a:rPr lang="en-US" sz="3000" dirty="0" smtClean="0">
                <a:solidFill>
                  <a:schemeClr val="tx1"/>
                </a:solidFill>
                <a:ea typeface="ＭＳ Ｐゴシック" pitchFamily="-107" charset="-128"/>
                <a:cs typeface="ＭＳ Ｐゴシック" pitchFamily="-107" charset="-128"/>
              </a:rPr>
              <a:t> =  (</a:t>
            </a:r>
            <a:r>
              <a:rPr lang="en-US" sz="3000" i="1" dirty="0" smtClean="0">
                <a:solidFill>
                  <a:schemeClr val="tx1"/>
                </a:solidFill>
                <a:ea typeface="ＭＳ Ｐゴシック" pitchFamily="-107" charset="-128"/>
                <a:cs typeface="ＭＳ Ｐゴシック" pitchFamily="-107" charset="-128"/>
              </a:rPr>
              <a:t>a</a:t>
            </a:r>
            <a:r>
              <a:rPr lang="en-US" sz="3000" baseline="30000" dirty="0" smtClean="0">
                <a:solidFill>
                  <a:schemeClr val="tx1"/>
                </a:solidFill>
                <a:ea typeface="ＭＳ Ｐゴシック" pitchFamily="-107" charset="-128"/>
                <a:cs typeface="ＭＳ Ｐゴシック" pitchFamily="-107" charset="-128"/>
              </a:rPr>
              <a:t>-1</a:t>
            </a:r>
            <a:r>
              <a:rPr lang="en-US" sz="3000" dirty="0" smtClean="0">
                <a:solidFill>
                  <a:schemeClr val="tx1"/>
                </a:solidFill>
                <a:ea typeface="ＭＳ Ｐゴシック" pitchFamily="-107" charset="-128"/>
                <a:cs typeface="ＭＳ Ｐゴシック" pitchFamily="-107" charset="-128"/>
              </a:rPr>
              <a:t> )</a:t>
            </a:r>
            <a:r>
              <a:rPr lang="en-US" sz="3000" i="1" dirty="0" smtClean="0">
                <a:solidFill>
                  <a:schemeClr val="tx1"/>
                </a:solidFill>
                <a:ea typeface="ＭＳ Ｐゴシック" pitchFamily="-107" charset="-128"/>
                <a:cs typeface="ＭＳ Ｐゴシック" pitchFamily="-107" charset="-128"/>
              </a:rPr>
              <a:t>a</a:t>
            </a:r>
            <a:r>
              <a:rPr lang="en-US" sz="3000" dirty="0" smtClean="0">
                <a:solidFill>
                  <a:schemeClr val="tx1"/>
                </a:solidFill>
                <a:ea typeface="ＭＳ Ｐゴシック" pitchFamily="-107" charset="-128"/>
                <a:cs typeface="ＭＳ Ｐゴシック" pitchFamily="-107" charset="-128"/>
              </a:rPr>
              <a:t> =  1</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endParaRPr lang="en-US" sz="3000" i="1" dirty="0" smtClean="0">
              <a:ea typeface="ＭＳ Ｐゴシック" pitchFamily="-1" charset="-128"/>
              <a:cs typeface="ＭＳ Ｐゴシック" pitchFamily="-1" charset="-128"/>
            </a:endParaRPr>
          </a:p>
          <a:p>
            <a:pPr fontAlgn="auto">
              <a:spcAft>
                <a:spcPts val="0"/>
              </a:spcAft>
              <a:buClr>
                <a:schemeClr val="accent1">
                  <a:lumMod val="60000"/>
                  <a:lumOff val="40000"/>
                </a:schemeClr>
              </a:buClr>
              <a:buFont typeface="Candara" pitchFamily="34" charset="0"/>
              <a:buChar char="•"/>
              <a:defRPr/>
            </a:pPr>
            <a:endParaRPr lang="en-US" dirty="0">
              <a:ea typeface="+mn-ea"/>
              <a:cs typeface="+mn-cs"/>
            </a:endParaRPr>
          </a:p>
        </p:txBody>
      </p:sp>
      <p:sp>
        <p:nvSpPr>
          <p:cNvPr id="2" name="TextBox 1"/>
          <p:cNvSpPr txBox="1"/>
          <p:nvPr/>
        </p:nvSpPr>
        <p:spPr>
          <a:xfrm>
            <a:off x="179512" y="5229200"/>
            <a:ext cx="8784976" cy="861774"/>
          </a:xfrm>
          <a:prstGeom prst="rect">
            <a:avLst/>
          </a:prstGeom>
          <a:solidFill>
            <a:schemeClr val="accent6">
              <a:lumMod val="20000"/>
              <a:lumOff val="80000"/>
            </a:schemeClr>
          </a:solidFill>
          <a:ln>
            <a:solidFill>
              <a:srgbClr val="C00000"/>
            </a:solidFill>
          </a:ln>
        </p:spPr>
        <p:txBody>
          <a:bodyPr wrap="square" rtlCol="0">
            <a:spAutoFit/>
          </a:bodyPr>
          <a:lstStyle/>
          <a:p>
            <a:r>
              <a:rPr lang="en-US" sz="1600" dirty="0">
                <a:ea typeface="ＭＳ Ｐゴシック" pitchFamily="-107" charset="-128"/>
                <a:cs typeface="ＭＳ Ｐゴシック" pitchFamily="-107" charset="-128"/>
              </a:rPr>
              <a:t>In essence, a field is a set in which we can do addition, subtraction, multiplication, and division without leaving the set. Division is defined with the following rule:   </a:t>
            </a:r>
            <a:r>
              <a:rPr lang="en-US" sz="1600" i="1" dirty="0">
                <a:ea typeface="ＭＳ Ｐゴシック" pitchFamily="-107" charset="-128"/>
                <a:cs typeface="ＭＳ Ｐゴシック" pitchFamily="-107" charset="-128"/>
              </a:rPr>
              <a:t>a /b = a (b</a:t>
            </a:r>
            <a:r>
              <a:rPr lang="en-US" sz="1600" i="1" baseline="30000" dirty="0">
                <a:ea typeface="ＭＳ Ｐゴシック" pitchFamily="-107" charset="-128"/>
                <a:cs typeface="ＭＳ Ｐゴシック" pitchFamily="-107" charset="-128"/>
              </a:rPr>
              <a:t>-1</a:t>
            </a:r>
            <a:r>
              <a:rPr lang="en-US" sz="1600" i="1" dirty="0">
                <a:ea typeface="ＭＳ Ｐゴシック" pitchFamily="-107" charset="-128"/>
                <a:cs typeface="ＭＳ Ｐゴシック" pitchFamily="-107" charset="-128"/>
              </a:rPr>
              <a:t> )</a:t>
            </a:r>
            <a:endParaRPr lang="en-US" sz="1600" dirty="0">
              <a:ea typeface="ＭＳ Ｐゴシック" pitchFamily="-107" charset="-128"/>
              <a:cs typeface="ＭＳ Ｐゴシック" pitchFamily="-107" charset="-128"/>
            </a:endParaRPr>
          </a:p>
          <a:p>
            <a:endParaRPr lang="en-US" sz="1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Fields</a:t>
            </a:r>
          </a:p>
        </p:txBody>
      </p:sp>
      <p:sp>
        <p:nvSpPr>
          <p:cNvPr id="3" name="Content Placeholder 2"/>
          <p:cNvSpPr>
            <a:spLocks noGrp="1"/>
          </p:cNvSpPr>
          <p:nvPr>
            <p:ph idx="1"/>
          </p:nvPr>
        </p:nvSpPr>
        <p:spPr/>
        <p:txBody>
          <a:bodyPr/>
          <a:lstStyle/>
          <a:p>
            <a:pPr marL="0" indent="0">
              <a:buNone/>
            </a:pPr>
            <a:r>
              <a:rPr lang="en-US" dirty="0"/>
              <a:t>A field </a:t>
            </a:r>
            <a:r>
              <a:rPr lang="en-US" i="1" dirty="0"/>
              <a:t>F</a:t>
            </a:r>
            <a:r>
              <a:rPr lang="en-US" dirty="0"/>
              <a:t>, denoted by {</a:t>
            </a:r>
            <a:r>
              <a:rPr lang="en-US" i="1" dirty="0"/>
              <a:t>F</a:t>
            </a:r>
            <a:r>
              <a:rPr lang="en-US" dirty="0"/>
              <a:t>, +}, is a set of elements with two binary </a:t>
            </a:r>
            <a:r>
              <a:rPr lang="en-US" dirty="0" smtClean="0"/>
              <a:t>operations, called </a:t>
            </a:r>
            <a:r>
              <a:rPr lang="en-US" dirty="0"/>
              <a:t>addition and multiplication, such that the following conditions </a:t>
            </a:r>
            <a:r>
              <a:rPr lang="en-US" dirty="0" smtClean="0"/>
              <a:t>hold</a:t>
            </a:r>
          </a:p>
          <a:p>
            <a:pPr marL="914400" lvl="1" indent="-457200">
              <a:buFont typeface="+mj-lt"/>
              <a:buAutoNum type="arabicPeriod"/>
            </a:pPr>
            <a:r>
              <a:rPr lang="en-US" i="1" dirty="0" smtClean="0"/>
              <a:t>F</a:t>
            </a:r>
            <a:r>
              <a:rPr lang="en-US" dirty="0" smtClean="0"/>
              <a:t> </a:t>
            </a:r>
            <a:r>
              <a:rPr lang="en-US" dirty="0"/>
              <a:t>forms an abelian group with respect to addition.</a:t>
            </a:r>
          </a:p>
          <a:p>
            <a:pPr marL="914400" lvl="1" indent="-457200">
              <a:buFont typeface="+mj-lt"/>
              <a:buAutoNum type="arabicPeriod"/>
            </a:pPr>
            <a:r>
              <a:rPr lang="en-US" dirty="0" smtClean="0"/>
              <a:t>The non-zero </a:t>
            </a:r>
            <a:r>
              <a:rPr lang="en-US" dirty="0"/>
              <a:t>elements of </a:t>
            </a:r>
            <a:r>
              <a:rPr lang="en-US" i="1" dirty="0"/>
              <a:t>F</a:t>
            </a:r>
            <a:r>
              <a:rPr lang="en-US" dirty="0"/>
              <a:t> form an abelian group with respect to multiplication</a:t>
            </a:r>
            <a:r>
              <a:rPr lang="en-US" dirty="0" smtClean="0"/>
              <a:t>.</a:t>
            </a:r>
          </a:p>
          <a:p>
            <a:pPr marL="914400" lvl="1" indent="-457200">
              <a:buFont typeface="+mj-lt"/>
              <a:buAutoNum type="arabicPeriod"/>
            </a:pPr>
            <a:r>
              <a:rPr lang="en-US" dirty="0" smtClean="0"/>
              <a:t>The </a:t>
            </a:r>
            <a:r>
              <a:rPr lang="en-US" dirty="0"/>
              <a:t>distributive law holds. That is, for all a, b, c in </a:t>
            </a:r>
            <a:r>
              <a:rPr lang="en-US" i="1" dirty="0"/>
              <a:t>F</a:t>
            </a:r>
            <a:r>
              <a:rPr lang="en-US" dirty="0"/>
              <a:t>,</a:t>
            </a:r>
          </a:p>
          <a:p>
            <a:pPr marL="857250" lvl="2" indent="0">
              <a:buNone/>
            </a:pPr>
            <a:r>
              <a:rPr lang="en-US" dirty="0"/>
              <a:t>a(b + c) = ab + ac.</a:t>
            </a:r>
          </a:p>
          <a:p>
            <a:pPr marL="857250" lvl="2" indent="0">
              <a:buNone/>
            </a:pPr>
            <a:r>
              <a:rPr lang="en-US" dirty="0"/>
              <a:t>(a + b)c = ac + </a:t>
            </a:r>
            <a:r>
              <a:rPr lang="en-US" dirty="0" err="1" smtClean="0"/>
              <a:t>bc</a:t>
            </a:r>
            <a:endParaRPr lang="en-US" dirty="0"/>
          </a:p>
        </p:txBody>
      </p:sp>
    </p:spTree>
    <p:extLst>
      <p:ext uri="{BB962C8B-B14F-4D97-AF65-F5344CB8AC3E}">
        <p14:creationId xmlns:p14="http://schemas.microsoft.com/office/powerpoint/2010/main" val="3571946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idx="4294967295"/>
          </p:nvPr>
        </p:nvSpPr>
        <p:spPr>
          <a:xfrm>
            <a:off x="0" y="23813"/>
            <a:ext cx="2362200" cy="4684712"/>
          </a:xfrm>
        </p:spPr>
        <p:txBody>
          <a:bodyPr/>
          <a:lstStyle/>
          <a:p>
            <a:r>
              <a:rPr lang="en-US" dirty="0" smtClean="0"/>
              <a:t>Group, Ring,</a:t>
            </a:r>
            <a:br>
              <a:rPr lang="en-US" dirty="0" smtClean="0"/>
            </a:br>
            <a:r>
              <a:rPr lang="en-US" dirty="0" smtClean="0"/>
              <a:t>and Field</a:t>
            </a:r>
          </a:p>
        </p:txBody>
      </p:sp>
      <p:pic>
        <p:nvPicPr>
          <p:cNvPr id="84995" name="Picture 4" descr="f2.pdf"/>
          <p:cNvPicPr>
            <a:picLocks noChangeAspect="1"/>
          </p:cNvPicPr>
          <p:nvPr/>
        </p:nvPicPr>
        <p:blipFill>
          <a:blip r:embed="rId3"/>
          <a:srcRect t="6364" b="16364"/>
          <a:stretch>
            <a:fillRect/>
          </a:stretch>
        </p:blipFill>
        <p:spPr bwMode="auto">
          <a:xfrm>
            <a:off x="2267719" y="-34627"/>
            <a:ext cx="6858000" cy="6858000"/>
          </a:xfrm>
          <a:prstGeom prst="rect">
            <a:avLst/>
          </a:prstGeom>
          <a:noFill/>
          <a:ln w="9525">
            <a:noFill/>
            <a:miter lim="800000"/>
            <a:headEnd/>
            <a:tailEnd/>
          </a:ln>
        </p:spPr>
      </p:pic>
    </p:spTree>
  </p:cSld>
  <p:clrMapOvr>
    <a:masterClrMapping/>
  </p:clrMapOvr>
  <p:transition spd="med">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Ví</a:t>
            </a:r>
            <a:r>
              <a:rPr lang="en-US" dirty="0" smtClean="0"/>
              <a:t> </a:t>
            </a:r>
            <a:r>
              <a:rPr lang="en-US" dirty="0" err="1" smtClean="0"/>
              <a:t>dụ</a:t>
            </a:r>
            <a:endParaRPr lang="en-US" dirty="0"/>
          </a:p>
        </p:txBody>
      </p:sp>
      <p:sp>
        <p:nvSpPr>
          <p:cNvPr id="3" name="Content Placeholder 2"/>
          <p:cNvSpPr>
            <a:spLocks noGrp="1"/>
          </p:cNvSpPr>
          <p:nvPr>
            <p:ph idx="1"/>
          </p:nvPr>
        </p:nvSpPr>
        <p:spPr/>
        <p:txBody>
          <a:bodyPr/>
          <a:lstStyle/>
          <a:p>
            <a:r>
              <a:rPr lang="en-US" dirty="0" smtClean="0">
                <a:solidFill>
                  <a:srgbClr val="FF0000"/>
                </a:solidFill>
              </a:rPr>
              <a:t>Trường</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theo</a:t>
            </a:r>
            <a:r>
              <a:rPr lang="en-US" dirty="0" smtClean="0"/>
              <a:t> mod p, </a:t>
            </a:r>
            <a:r>
              <a:rPr lang="en-US" dirty="0" err="1" smtClean="0"/>
              <a:t>với</a:t>
            </a:r>
            <a:r>
              <a:rPr lang="en-US" dirty="0" smtClean="0"/>
              <a:t> p </a:t>
            </a:r>
            <a:r>
              <a:rPr lang="en-US" dirty="0" err="1" smtClean="0"/>
              <a:t>là</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tố</a:t>
            </a:r>
            <a:endParaRPr lang="en-US" dirty="0" smtClean="0"/>
          </a:p>
          <a:p>
            <a:r>
              <a:rPr lang="en-US" dirty="0" smtClean="0"/>
              <a:t>{0,1, 2, ….., p-1} mod p</a:t>
            </a:r>
            <a:endParaRPr lang="en-US" dirty="0"/>
          </a:p>
          <a:p>
            <a:endParaRPr lang="en-US" dirty="0" smtClean="0"/>
          </a:p>
          <a:p>
            <a:r>
              <a:rPr lang="en-US" dirty="0" err="1" smtClean="0"/>
              <a:t>Kiểm</a:t>
            </a:r>
            <a:r>
              <a:rPr lang="en-US" dirty="0" smtClean="0"/>
              <a:t> </a:t>
            </a:r>
            <a:r>
              <a:rPr lang="en-US" dirty="0" err="1" smtClean="0"/>
              <a:t>tra</a:t>
            </a:r>
            <a:r>
              <a:rPr lang="en-US" dirty="0" smtClean="0"/>
              <a:t> các </a:t>
            </a:r>
            <a:r>
              <a:rPr lang="en-US" dirty="0" err="1" smtClean="0"/>
              <a:t>tính</a:t>
            </a:r>
            <a:r>
              <a:rPr lang="en-US" dirty="0" smtClean="0"/>
              <a:t> chất </a:t>
            </a:r>
            <a:r>
              <a:rPr lang="en-US" dirty="0" err="1" smtClean="0"/>
              <a:t>của</a:t>
            </a:r>
            <a:r>
              <a:rPr lang="en-US" dirty="0" smtClean="0"/>
              <a:t> </a:t>
            </a:r>
            <a:r>
              <a:rPr lang="en-US" dirty="0" err="1" smtClean="0"/>
              <a:t>trường</a:t>
            </a:r>
            <a:r>
              <a:rPr lang="en-US" dirty="0" smtClean="0"/>
              <a:t> ???????</a:t>
            </a:r>
            <a:endParaRPr lang="en-US" dirty="0"/>
          </a:p>
          <a:p>
            <a:pPr lvl="1"/>
            <a:r>
              <a:rPr lang="en-US" dirty="0" smtClean="0"/>
              <a:t>A1 – A5: </a:t>
            </a:r>
            <a:r>
              <a:rPr lang="en-US" dirty="0" err="1" smtClean="0"/>
              <a:t>tính</a:t>
            </a:r>
            <a:r>
              <a:rPr lang="en-US" dirty="0" smtClean="0"/>
              <a:t> chất </a:t>
            </a:r>
            <a:r>
              <a:rPr lang="en-US" dirty="0" err="1" smtClean="0"/>
              <a:t>của</a:t>
            </a:r>
            <a:r>
              <a:rPr lang="en-US" dirty="0" smtClean="0"/>
              <a:t> group</a:t>
            </a:r>
          </a:p>
          <a:p>
            <a:pPr lvl="1"/>
            <a:r>
              <a:rPr lang="en-US" dirty="0" smtClean="0"/>
              <a:t>M1 – M6: </a:t>
            </a:r>
            <a:r>
              <a:rPr lang="en-US" dirty="0" err="1" smtClean="0"/>
              <a:t>tính</a:t>
            </a:r>
            <a:r>
              <a:rPr lang="en-US" dirty="0" smtClean="0"/>
              <a:t> chất </a:t>
            </a:r>
            <a:r>
              <a:rPr lang="en-US" dirty="0" err="1" smtClean="0"/>
              <a:t>của</a:t>
            </a:r>
            <a:r>
              <a:rPr lang="en-US" dirty="0" smtClean="0"/>
              <a:t> ring</a:t>
            </a:r>
          </a:p>
          <a:p>
            <a:pPr lvl="1"/>
            <a:r>
              <a:rPr lang="en-US" dirty="0" smtClean="0"/>
              <a:t>M7: </a:t>
            </a:r>
            <a:r>
              <a:rPr lang="en-US" dirty="0" err="1" smtClean="0"/>
              <a:t>tính</a:t>
            </a:r>
            <a:r>
              <a:rPr lang="en-US" dirty="0" smtClean="0"/>
              <a:t> chất </a:t>
            </a:r>
            <a:r>
              <a:rPr lang="en-US" dirty="0" err="1" smtClean="0"/>
              <a:t>của</a:t>
            </a:r>
            <a:r>
              <a:rPr lang="en-US" dirty="0" smtClean="0"/>
              <a:t> </a:t>
            </a:r>
            <a:r>
              <a:rPr lang="en-US" dirty="0" err="1" smtClean="0"/>
              <a:t>trường</a:t>
            </a:r>
            <a:endParaRPr lang="en-US" dirty="0"/>
          </a:p>
        </p:txBody>
      </p:sp>
    </p:spTree>
    <p:extLst>
      <p:ext uri="{BB962C8B-B14F-4D97-AF65-F5344CB8AC3E}">
        <p14:creationId xmlns:p14="http://schemas.microsoft.com/office/powerpoint/2010/main" val="7500463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Finite Fields</a:t>
            </a:r>
            <a:endParaRPr lang="en-US" dirty="0"/>
          </a:p>
        </p:txBody>
      </p:sp>
      <p:sp>
        <p:nvSpPr>
          <p:cNvPr id="3" name="Content Placeholder 2"/>
          <p:cNvSpPr>
            <a:spLocks noGrp="1"/>
          </p:cNvSpPr>
          <p:nvPr>
            <p:ph idx="1"/>
          </p:nvPr>
        </p:nvSpPr>
        <p:spPr/>
        <p:txBody>
          <a:bodyPr/>
          <a:lstStyle/>
          <a:p>
            <a:r>
              <a:rPr lang="en-US" dirty="0"/>
              <a:t>Infinite fields are not of particular </a:t>
            </a:r>
            <a:r>
              <a:rPr lang="en-US" dirty="0" smtClean="0"/>
              <a:t>interest in </a:t>
            </a:r>
            <a:r>
              <a:rPr lang="en-US" dirty="0"/>
              <a:t>the context of cryptography.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672" y="2420888"/>
            <a:ext cx="6306908"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86715" y="5309709"/>
            <a:ext cx="8496944" cy="923330"/>
          </a:xfrm>
          <a:prstGeom prst="rect">
            <a:avLst/>
          </a:prstGeom>
          <a:noFill/>
        </p:spPr>
        <p:txBody>
          <a:bodyPr wrap="square" rtlCol="0">
            <a:spAutoFit/>
          </a:bodyPr>
          <a:lstStyle/>
          <a:p>
            <a:r>
              <a:rPr lang="en-US" dirty="0" smtClean="0"/>
              <a:t>A </a:t>
            </a:r>
            <a:r>
              <a:rPr lang="en-US" dirty="0"/>
              <a:t>finite field is a set on which the operations of multiplication, addition, subtraction and division are defined and satisfy certain basic rules</a:t>
            </a:r>
            <a:r>
              <a:rPr lang="en-US" dirty="0" smtClean="0"/>
              <a:t>.</a:t>
            </a:r>
          </a:p>
          <a:p>
            <a:pPr lvl="1"/>
            <a:r>
              <a:rPr lang="en-US" sz="1600" dirty="0"/>
              <a:t>E.g. </a:t>
            </a:r>
            <a:r>
              <a:rPr lang="en-US" sz="1600" dirty="0" smtClean="0"/>
              <a:t>a finite field of the </a:t>
            </a:r>
            <a:r>
              <a:rPr lang="en-US" sz="1600" dirty="0"/>
              <a:t>integers </a:t>
            </a:r>
            <a:r>
              <a:rPr lang="en-US" sz="1600" i="1" dirty="0"/>
              <a:t>mod p</a:t>
            </a:r>
            <a:r>
              <a:rPr lang="en-US" sz="1600" dirty="0"/>
              <a:t> when </a:t>
            </a:r>
            <a:r>
              <a:rPr lang="en-US" sz="1600" i="1" dirty="0"/>
              <a:t>p</a:t>
            </a:r>
            <a:r>
              <a:rPr lang="en-US" sz="1600" dirty="0"/>
              <a:t> is a prime number.</a:t>
            </a:r>
          </a:p>
        </p:txBody>
      </p:sp>
    </p:spTree>
    <p:extLst>
      <p:ext uri="{BB962C8B-B14F-4D97-AF65-F5344CB8AC3E}">
        <p14:creationId xmlns:p14="http://schemas.microsoft.com/office/powerpoint/2010/main" val="1400224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0" y="39689"/>
            <a:ext cx="9144000" cy="1013048"/>
          </a:xfrm>
        </p:spPr>
        <p:txBody>
          <a:bodyPr/>
          <a:lstStyle/>
          <a:p>
            <a:r>
              <a:rPr lang="en-US" dirty="0" smtClean="0"/>
              <a:t>Finite Fields of the Form GF</a:t>
            </a:r>
            <a:r>
              <a:rPr lang="en-US" i="1" dirty="0" smtClean="0"/>
              <a:t>(p)</a:t>
            </a:r>
            <a:endParaRPr lang="en-AU" dirty="0" smtClean="0"/>
          </a:p>
        </p:txBody>
      </p:sp>
      <p:sp>
        <p:nvSpPr>
          <p:cNvPr id="68611" name="Rectangle 3"/>
          <p:cNvSpPr>
            <a:spLocks noGrp="1" noChangeArrowheads="1"/>
          </p:cNvSpPr>
          <p:nvPr>
            <p:ph idx="1"/>
          </p:nvPr>
        </p:nvSpPr>
        <p:spPr>
          <a:xfrm>
            <a:off x="611560" y="1196752"/>
            <a:ext cx="8064896" cy="4638675"/>
          </a:xfrm>
        </p:spPr>
        <p:txBody>
          <a:bodyPr rtlCol="0">
            <a:noAutofit/>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Finite fields play a crucial role in many cryptographic algorithms</a:t>
            </a:r>
          </a:p>
          <a:p>
            <a:pPr fontAlgn="auto">
              <a:spcAft>
                <a:spcPts val="0"/>
              </a:spcAft>
              <a:buClr>
                <a:schemeClr val="accent1">
                  <a:lumMod val="60000"/>
                  <a:lumOff val="40000"/>
                </a:schemeClr>
              </a:buClr>
              <a:buFont typeface="Candara" pitchFamily="34" charset="0"/>
              <a:buChar char="•"/>
              <a:defRPr/>
            </a:pPr>
            <a:r>
              <a:rPr lang="en-US" dirty="0"/>
              <a:t>For a given prime, </a:t>
            </a:r>
            <a:r>
              <a:rPr lang="en-US" i="1" dirty="0"/>
              <a:t>p</a:t>
            </a:r>
            <a:r>
              <a:rPr lang="en-US" dirty="0"/>
              <a:t>, we define the finite field of order </a:t>
            </a:r>
            <a:r>
              <a:rPr lang="en-US" i="1" dirty="0"/>
              <a:t>p</a:t>
            </a:r>
            <a:r>
              <a:rPr lang="en-US" dirty="0"/>
              <a:t>, GF(</a:t>
            </a:r>
            <a:r>
              <a:rPr lang="en-US" i="1" dirty="0"/>
              <a:t>p</a:t>
            </a:r>
            <a:r>
              <a:rPr lang="en-US" dirty="0"/>
              <a:t>), as the set </a:t>
            </a:r>
            <a:r>
              <a:rPr lang="en-US" i="1" dirty="0" err="1"/>
              <a:t>Z</a:t>
            </a:r>
            <a:r>
              <a:rPr lang="en-US" baseline="-25000" dirty="0" err="1"/>
              <a:t>p</a:t>
            </a:r>
            <a:r>
              <a:rPr lang="en-US" dirty="0"/>
              <a:t> of integers {0, 1, … , p - 1} together with the arithmetic operations modulo p.</a:t>
            </a:r>
          </a:p>
          <a:p>
            <a:pPr fontAlgn="auto">
              <a:spcAft>
                <a:spcPts val="0"/>
              </a:spcAft>
              <a:buClr>
                <a:schemeClr val="accent1">
                  <a:lumMod val="60000"/>
                  <a:lumOff val="40000"/>
                </a:schemeClr>
              </a:buClr>
              <a:buFont typeface="Candara" pitchFamily="34" charset="0"/>
              <a:buChar char="•"/>
              <a:defRPr/>
            </a:pP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It can be shown </a:t>
            </a:r>
            <a:r>
              <a:rPr lang="en-US" dirty="0" smtClean="0">
                <a:solidFill>
                  <a:srgbClr val="FF0000"/>
                </a:solidFill>
                <a:ea typeface="+mn-ea"/>
                <a:cs typeface="+mn-cs"/>
              </a:rPr>
              <a:t>that the order of a finite field must be a power of a prime </a:t>
            </a:r>
            <a:r>
              <a:rPr lang="en-US" i="1" dirty="0" smtClean="0">
                <a:solidFill>
                  <a:srgbClr val="FF0000"/>
                </a:solidFill>
                <a:ea typeface="+mn-ea"/>
                <a:cs typeface="+mn-cs"/>
              </a:rPr>
              <a:t>p</a:t>
            </a:r>
            <a:r>
              <a:rPr lang="en-US" i="1" baseline="30000" dirty="0" smtClean="0">
                <a:solidFill>
                  <a:srgbClr val="FF0000"/>
                </a:solidFill>
                <a:ea typeface="+mn-ea"/>
                <a:cs typeface="+mn-cs"/>
              </a:rPr>
              <a:t>n</a:t>
            </a:r>
            <a:r>
              <a:rPr lang="en-US" i="1" dirty="0" smtClean="0">
                <a:ea typeface="+mn-ea"/>
                <a:cs typeface="+mn-cs"/>
              </a:rPr>
              <a:t>, </a:t>
            </a:r>
            <a:r>
              <a:rPr lang="en-US" dirty="0" smtClean="0">
                <a:ea typeface="+mn-ea"/>
                <a:cs typeface="+mn-cs"/>
              </a:rPr>
              <a:t>where </a:t>
            </a:r>
            <a:r>
              <a:rPr lang="en-US" i="1" dirty="0" smtClean="0">
                <a:ea typeface="+mn-ea"/>
                <a:cs typeface="+mn-cs"/>
              </a:rPr>
              <a:t>n </a:t>
            </a:r>
            <a:r>
              <a:rPr lang="en-US" dirty="0" smtClean="0">
                <a:ea typeface="+mn-ea"/>
                <a:cs typeface="+mn-cs"/>
              </a:rPr>
              <a:t>is a positive integer</a:t>
            </a:r>
          </a:p>
          <a:p>
            <a:pPr lvl="1" fontAlgn="auto">
              <a:spcAft>
                <a:spcPts val="0"/>
              </a:spcAft>
              <a:buFont typeface="Candara" pitchFamily="34" charset="0"/>
              <a:buChar char="•"/>
              <a:defRPr/>
            </a:pPr>
            <a:r>
              <a:rPr lang="en-US" dirty="0" smtClean="0">
                <a:ea typeface="+mn-ea"/>
              </a:rPr>
              <a:t>The only positive integers that are divisors of </a:t>
            </a:r>
            <a:r>
              <a:rPr lang="en-US" i="1" dirty="0" smtClean="0">
                <a:ea typeface="+mn-ea"/>
              </a:rPr>
              <a:t>p </a:t>
            </a:r>
            <a:r>
              <a:rPr lang="en-US" dirty="0" smtClean="0">
                <a:ea typeface="+mn-ea"/>
              </a:rPr>
              <a:t>are </a:t>
            </a:r>
            <a:r>
              <a:rPr lang="en-US" i="1" dirty="0" smtClean="0">
                <a:ea typeface="+mn-ea"/>
              </a:rPr>
              <a:t> p </a:t>
            </a:r>
            <a:r>
              <a:rPr lang="en-US" dirty="0" smtClean="0">
                <a:ea typeface="+mn-ea"/>
              </a:rPr>
              <a:t>and 1</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The finite field of order </a:t>
            </a:r>
            <a:r>
              <a:rPr lang="en-US" i="1" dirty="0" smtClean="0">
                <a:ea typeface="+mn-ea"/>
                <a:cs typeface="+mn-cs"/>
              </a:rPr>
              <a:t>p</a:t>
            </a:r>
            <a:r>
              <a:rPr lang="en-US" i="1" baseline="30000" dirty="0" smtClean="0">
                <a:ea typeface="+mn-ea"/>
                <a:cs typeface="+mn-cs"/>
              </a:rPr>
              <a:t>n</a:t>
            </a:r>
            <a:r>
              <a:rPr lang="en-US" dirty="0" smtClean="0">
                <a:ea typeface="+mn-ea"/>
                <a:cs typeface="+mn-cs"/>
              </a:rPr>
              <a:t>  is generally written </a:t>
            </a:r>
            <a:r>
              <a:rPr lang="en-US" dirty="0" smtClean="0">
                <a:solidFill>
                  <a:srgbClr val="FF0000"/>
                </a:solidFill>
                <a:ea typeface="+mn-ea"/>
                <a:cs typeface="+mn-cs"/>
              </a:rPr>
              <a:t>GF</a:t>
            </a:r>
            <a:r>
              <a:rPr lang="en-US" i="1" dirty="0" smtClean="0">
                <a:solidFill>
                  <a:srgbClr val="FF0000"/>
                </a:solidFill>
                <a:ea typeface="+mn-ea"/>
                <a:cs typeface="+mn-cs"/>
              </a:rPr>
              <a:t>(p</a:t>
            </a:r>
            <a:r>
              <a:rPr lang="en-US" i="1" baseline="30000" dirty="0" smtClean="0">
                <a:solidFill>
                  <a:srgbClr val="FF0000"/>
                </a:solidFill>
                <a:ea typeface="+mn-ea"/>
                <a:cs typeface="+mn-cs"/>
              </a:rPr>
              <a:t>n</a:t>
            </a:r>
            <a:r>
              <a:rPr lang="en-US" i="1" dirty="0" smtClean="0">
                <a:solidFill>
                  <a:srgbClr val="FF0000"/>
                </a:solidFill>
                <a:ea typeface="+mn-ea"/>
                <a:cs typeface="+mn-cs"/>
              </a:rPr>
              <a:t> </a:t>
            </a:r>
            <a:r>
              <a:rPr lang="en-US" dirty="0" smtClean="0">
                <a:solidFill>
                  <a:srgbClr val="FF0000"/>
                </a:solidFill>
                <a:ea typeface="+mn-ea"/>
                <a:cs typeface="+mn-cs"/>
              </a:rPr>
              <a:t>)</a:t>
            </a:r>
            <a:r>
              <a:rPr lang="en-US" dirty="0" smtClean="0">
                <a:ea typeface="+mn-ea"/>
                <a:cs typeface="+mn-cs"/>
              </a:rPr>
              <a:t> </a:t>
            </a:r>
          </a:p>
          <a:p>
            <a:pPr lvl="1" fontAlgn="auto">
              <a:spcAft>
                <a:spcPts val="0"/>
              </a:spcAft>
              <a:buFont typeface="Candara" pitchFamily="34" charset="0"/>
              <a:buChar char="•"/>
              <a:defRPr/>
            </a:pPr>
            <a:r>
              <a:rPr lang="en-US" dirty="0" smtClean="0">
                <a:ea typeface="+mn-ea"/>
              </a:rPr>
              <a:t>GF stands for Galois field, in honor of the mathematician who first studied finite fields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a:xfrm>
            <a:off x="381000" y="476672"/>
            <a:ext cx="3613150" cy="2376264"/>
          </a:xfrm>
        </p:spPr>
        <p:txBody>
          <a:bodyPr/>
          <a:lstStyle/>
          <a:p>
            <a:r>
              <a:rPr lang="en-US" dirty="0" smtClean="0"/>
              <a:t>In this section, we have shown how to construct a finite field of order </a:t>
            </a:r>
            <a:r>
              <a:rPr lang="en-US" i="1" dirty="0" smtClean="0"/>
              <a:t>p</a:t>
            </a:r>
            <a:r>
              <a:rPr lang="en-US" dirty="0" smtClean="0"/>
              <a:t>, where </a:t>
            </a:r>
            <a:r>
              <a:rPr lang="en-US" i="1" dirty="0" smtClean="0"/>
              <a:t>p</a:t>
            </a:r>
            <a:r>
              <a:rPr lang="en-US" dirty="0" smtClean="0"/>
              <a:t>  is prime. </a:t>
            </a:r>
            <a:br>
              <a:rPr lang="en-US" dirty="0" smtClean="0"/>
            </a:br>
            <a:r>
              <a:rPr lang="en-US" dirty="0" smtClean="0"/>
              <a:t/>
            </a:r>
            <a:br>
              <a:rPr lang="en-US" dirty="0" smtClean="0"/>
            </a:br>
            <a:r>
              <a:rPr lang="en-US" dirty="0" smtClean="0"/>
              <a:t>GF(</a:t>
            </a:r>
            <a:r>
              <a:rPr lang="en-US" i="1" dirty="0" smtClean="0"/>
              <a:t>p</a:t>
            </a:r>
            <a:r>
              <a:rPr lang="en-US" dirty="0" smtClean="0"/>
              <a:t>) is defined with the following properties:</a:t>
            </a:r>
          </a:p>
        </p:txBody>
      </p:sp>
      <p:sp>
        <p:nvSpPr>
          <p:cNvPr id="3" name="Content Placeholder 2"/>
          <p:cNvSpPr>
            <a:spLocks noGrp="1"/>
          </p:cNvSpPr>
          <p:nvPr>
            <p:ph idx="1"/>
          </p:nvPr>
        </p:nvSpPr>
        <p:spPr>
          <a:xfrm>
            <a:off x="4283968" y="548680"/>
            <a:ext cx="4464496" cy="5424264"/>
          </a:xfrm>
        </p:spPr>
        <p:txBody>
          <a:bodyPr rtlCol="0">
            <a:normAutofit fontScale="70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1. GF(</a:t>
            </a:r>
            <a:r>
              <a:rPr lang="en-US" i="1" dirty="0" smtClean="0">
                <a:ea typeface="+mn-ea"/>
                <a:cs typeface="+mn-cs"/>
              </a:rPr>
              <a:t>p</a:t>
            </a:r>
            <a:r>
              <a:rPr lang="en-US" dirty="0" smtClean="0">
                <a:ea typeface="+mn-ea"/>
                <a:cs typeface="+mn-cs"/>
              </a:rPr>
              <a:t>) consists of </a:t>
            </a:r>
            <a:r>
              <a:rPr lang="en-US" i="1" dirty="0" smtClean="0">
                <a:ea typeface="+mn-ea"/>
                <a:cs typeface="+mn-cs"/>
              </a:rPr>
              <a:t>p</a:t>
            </a:r>
            <a:r>
              <a:rPr lang="en-US" dirty="0" smtClean="0">
                <a:ea typeface="+mn-ea"/>
                <a:cs typeface="+mn-cs"/>
              </a:rPr>
              <a:t> elements</a:t>
            </a:r>
          </a:p>
          <a:p>
            <a:pPr fontAlgn="auto">
              <a:spcAft>
                <a:spcPts val="0"/>
              </a:spcAft>
              <a:buClr>
                <a:schemeClr val="accent1">
                  <a:lumMod val="60000"/>
                  <a:lumOff val="40000"/>
                </a:schemeClr>
              </a:buClr>
              <a:buFont typeface="Candara" pitchFamily="34" charset="0"/>
              <a:buChar char="•"/>
              <a:defRPr/>
            </a:pP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2. The binary operations + and * are defined over the set. The operations of addition, subtraction, multiplication, and division can be performed without leaving the set. Each element of the set other than 0 has a multiplicative inverse</a:t>
            </a:r>
          </a:p>
          <a:p>
            <a:pPr fontAlgn="auto">
              <a:spcAft>
                <a:spcPts val="0"/>
              </a:spcAft>
              <a:buClr>
                <a:schemeClr val="accent1">
                  <a:lumMod val="60000"/>
                  <a:lumOff val="40000"/>
                </a:schemeClr>
              </a:buClr>
              <a:buFont typeface="Candara" pitchFamily="34" charset="0"/>
              <a:buChar char="•"/>
              <a:defRPr/>
            </a:pP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We have shown that the elements of GF(</a:t>
            </a:r>
            <a:r>
              <a:rPr lang="en-US" i="1" dirty="0" smtClean="0">
                <a:ea typeface="+mn-ea"/>
                <a:cs typeface="+mn-cs"/>
              </a:rPr>
              <a:t>p</a:t>
            </a:r>
            <a:r>
              <a:rPr lang="en-US" dirty="0" smtClean="0">
                <a:ea typeface="+mn-ea"/>
                <a:cs typeface="+mn-cs"/>
              </a:rPr>
              <a:t>) are the integers {0, 1, . . . , </a:t>
            </a:r>
            <a:r>
              <a:rPr lang="en-US" i="1" dirty="0" smtClean="0">
                <a:ea typeface="+mn-ea"/>
                <a:cs typeface="+mn-cs"/>
              </a:rPr>
              <a:t>p</a:t>
            </a:r>
            <a:r>
              <a:rPr lang="en-US" dirty="0" smtClean="0">
                <a:ea typeface="+mn-ea"/>
                <a:cs typeface="+mn-cs"/>
              </a:rPr>
              <a:t> – 1} and that the arithmetic operations are addition and multiplication mod </a:t>
            </a:r>
            <a:r>
              <a:rPr lang="en-US" i="1" dirty="0" smtClean="0">
                <a:ea typeface="+mn-ea"/>
                <a:cs typeface="+mn-cs"/>
              </a:rPr>
              <a:t>p</a:t>
            </a:r>
            <a:endParaRPr lang="en-US" dirty="0">
              <a:ea typeface="+mn-ea"/>
              <a:cs typeface="+mn-cs"/>
            </a:endParaRPr>
          </a:p>
        </p:txBody>
      </p:sp>
    </p:spTree>
    <p:extLst>
      <p:ext uri="{BB962C8B-B14F-4D97-AF65-F5344CB8AC3E}">
        <p14:creationId xmlns:p14="http://schemas.microsoft.com/office/powerpoint/2010/main" val="28919213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in </a:t>
            </a:r>
            <a:r>
              <a:rPr lang="en-US" dirty="0"/>
              <a:t>GF(2</a:t>
            </a:r>
            <a:r>
              <a:rPr lang="en-US" dirty="0" smtClean="0"/>
              <a:t>)</a:t>
            </a:r>
            <a:endParaRPr lang="en-US" dirty="0"/>
          </a:p>
        </p:txBody>
      </p:sp>
      <p:sp>
        <p:nvSpPr>
          <p:cNvPr id="3" name="Content Placeholder 2"/>
          <p:cNvSpPr>
            <a:spLocks noGrp="1"/>
          </p:cNvSpPr>
          <p:nvPr>
            <p:ph idx="1"/>
          </p:nvPr>
        </p:nvSpPr>
        <p:spPr/>
        <p:txBody>
          <a:bodyPr/>
          <a:lstStyle/>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852936"/>
            <a:ext cx="20955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3336" y="2843411"/>
            <a:ext cx="2124075"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4208" y="2929136"/>
            <a:ext cx="213360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90949" y="5157191"/>
            <a:ext cx="7968848" cy="646331"/>
          </a:xfrm>
          <a:prstGeom prst="rect">
            <a:avLst/>
          </a:prstGeom>
          <a:noFill/>
        </p:spPr>
        <p:txBody>
          <a:bodyPr wrap="none" rtlCol="0">
            <a:spAutoFit/>
          </a:bodyPr>
          <a:lstStyle/>
          <a:p>
            <a:r>
              <a:rPr lang="en-US" dirty="0"/>
              <a:t>In this case, addition is equivalent to the exclusive-OR (XOR) operation, and</a:t>
            </a:r>
          </a:p>
          <a:p>
            <a:r>
              <a:rPr lang="en-US" dirty="0"/>
              <a:t>multiplication is equivalent to the logical AND operation.</a:t>
            </a:r>
          </a:p>
        </p:txBody>
      </p:sp>
    </p:spTree>
    <p:extLst>
      <p:ext uri="{BB962C8B-B14F-4D97-AF65-F5344CB8AC3E}">
        <p14:creationId xmlns:p14="http://schemas.microsoft.com/office/powerpoint/2010/main" val="30520284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57200" y="274638"/>
            <a:ext cx="8229600" cy="778098"/>
          </a:xfrm>
        </p:spPr>
        <p:txBody>
          <a:bodyPr/>
          <a:lstStyle/>
          <a:p>
            <a:r>
              <a:rPr lang="en-US" sz="3600" dirty="0" smtClean="0"/>
              <a:t>Table 4.5(a) </a:t>
            </a:r>
            <a:r>
              <a:rPr lang="en-US" sz="3200" dirty="0" smtClean="0"/>
              <a:t>Arithmetic in GF(7)</a:t>
            </a:r>
            <a:endParaRPr lang="en-AU" sz="3200" dirty="0" smtClean="0"/>
          </a:p>
        </p:txBody>
      </p:sp>
      <p:pic>
        <p:nvPicPr>
          <p:cNvPr id="89091" name="Picture 8"/>
          <p:cNvPicPr>
            <a:picLocks noChangeAspect="1"/>
          </p:cNvPicPr>
          <p:nvPr/>
        </p:nvPicPr>
        <p:blipFill>
          <a:blip r:embed="rId3"/>
          <a:srcRect r="43500"/>
          <a:stretch>
            <a:fillRect/>
          </a:stretch>
        </p:blipFill>
        <p:spPr bwMode="auto">
          <a:xfrm>
            <a:off x="685800" y="980728"/>
            <a:ext cx="7772400" cy="5072063"/>
          </a:xfrm>
          <a:prstGeom prst="rect">
            <a:avLst/>
          </a:prstGeom>
          <a:noFill/>
          <a:ln w="9525">
            <a:noFill/>
            <a:miter lim="800000"/>
            <a:headEnd/>
            <a:tailEnd/>
          </a:ln>
        </p:spPr>
      </p:pic>
      <p:sp>
        <p:nvSpPr>
          <p:cNvPr id="10" name="TextBox 9"/>
          <p:cNvSpPr txBox="1"/>
          <p:nvPr/>
        </p:nvSpPr>
        <p:spPr>
          <a:xfrm>
            <a:off x="3707904" y="5721003"/>
            <a:ext cx="2365375" cy="369888"/>
          </a:xfrm>
          <a:prstGeom prst="rect">
            <a:avLst/>
          </a:prstGeom>
          <a:noFill/>
        </p:spPr>
        <p:txBody>
          <a:bodyPr wrap="none">
            <a:spAutoFit/>
          </a:bodyPr>
          <a:lstStyle/>
          <a:p>
            <a:pPr>
              <a:defRPr/>
            </a:pPr>
            <a:r>
              <a:rPr lang="en-US" dirty="0">
                <a:latin typeface="+mn-lt"/>
              </a:rPr>
              <a:t>(a) Addition modulo 7 </a:t>
            </a:r>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57200" y="274638"/>
            <a:ext cx="8229600" cy="634082"/>
          </a:xfrm>
        </p:spPr>
        <p:txBody>
          <a:bodyPr/>
          <a:lstStyle/>
          <a:p>
            <a:r>
              <a:rPr lang="en-US" sz="3600" dirty="0" smtClean="0"/>
              <a:t>Table 4.5(b) </a:t>
            </a:r>
            <a:r>
              <a:rPr lang="en-US" sz="3200" dirty="0" smtClean="0"/>
              <a:t>Arithmetic in GF(7)</a:t>
            </a:r>
            <a:endParaRPr lang="en-AU" sz="3200" dirty="0" smtClean="0"/>
          </a:p>
        </p:txBody>
      </p:sp>
      <p:sp>
        <p:nvSpPr>
          <p:cNvPr id="10" name="TextBox 9"/>
          <p:cNvSpPr txBox="1"/>
          <p:nvPr/>
        </p:nvSpPr>
        <p:spPr>
          <a:xfrm>
            <a:off x="3419872" y="5568826"/>
            <a:ext cx="2828925" cy="369888"/>
          </a:xfrm>
          <a:prstGeom prst="rect">
            <a:avLst/>
          </a:prstGeom>
          <a:noFill/>
        </p:spPr>
        <p:txBody>
          <a:bodyPr wrap="none">
            <a:spAutoFit/>
          </a:bodyPr>
          <a:lstStyle/>
          <a:p>
            <a:pPr>
              <a:defRPr/>
            </a:pPr>
            <a:r>
              <a:rPr lang="en-US" dirty="0">
                <a:latin typeface="+mn-lt"/>
              </a:rPr>
              <a:t>(b) Multiplication modulo 7 </a:t>
            </a:r>
          </a:p>
        </p:txBody>
      </p:sp>
      <p:pic>
        <p:nvPicPr>
          <p:cNvPr id="91140" name="Picture 4"/>
          <p:cNvPicPr>
            <a:picLocks noChangeAspect="1"/>
          </p:cNvPicPr>
          <p:nvPr/>
        </p:nvPicPr>
        <p:blipFill>
          <a:blip r:embed="rId3"/>
          <a:srcRect l="-1506" r="40669"/>
          <a:stretch>
            <a:fillRect/>
          </a:stretch>
        </p:blipFill>
        <p:spPr bwMode="auto">
          <a:xfrm>
            <a:off x="762000" y="908720"/>
            <a:ext cx="7872413" cy="4845050"/>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251520" y="0"/>
            <a:ext cx="3361630" cy="3048000"/>
          </a:xfrm>
        </p:spPr>
        <p:txBody>
          <a:bodyPr/>
          <a:lstStyle/>
          <a:p>
            <a:r>
              <a:rPr lang="en-US" sz="3600" dirty="0" smtClean="0"/>
              <a:t>Table 4.5(c)</a:t>
            </a:r>
            <a:r>
              <a:rPr lang="en-US" sz="3200" dirty="0" smtClean="0"/>
              <a:t/>
            </a:r>
            <a:br>
              <a:rPr lang="en-US" sz="3200" dirty="0" smtClean="0"/>
            </a:br>
            <a:r>
              <a:rPr lang="en-US" sz="3200" dirty="0" smtClean="0"/>
              <a:t/>
            </a:r>
            <a:br>
              <a:rPr lang="en-US" sz="3200" dirty="0" smtClean="0"/>
            </a:br>
            <a:r>
              <a:rPr lang="en-US" sz="3200" dirty="0" smtClean="0"/>
              <a:t>Arithmetic </a:t>
            </a:r>
            <a:br>
              <a:rPr lang="en-US" sz="3200" dirty="0" smtClean="0"/>
            </a:br>
            <a:r>
              <a:rPr lang="en-US" sz="3200" dirty="0" smtClean="0"/>
              <a:t>in GF(7)</a:t>
            </a:r>
            <a:endParaRPr lang="en-AU" sz="3200" dirty="0" smtClean="0"/>
          </a:p>
        </p:txBody>
      </p:sp>
      <p:sp>
        <p:nvSpPr>
          <p:cNvPr id="10" name="TextBox 9"/>
          <p:cNvSpPr txBox="1"/>
          <p:nvPr/>
        </p:nvSpPr>
        <p:spPr>
          <a:xfrm>
            <a:off x="752921" y="4653136"/>
            <a:ext cx="3675063" cy="646113"/>
          </a:xfrm>
          <a:prstGeom prst="rect">
            <a:avLst/>
          </a:prstGeom>
          <a:noFill/>
        </p:spPr>
        <p:txBody>
          <a:bodyPr>
            <a:spAutoFit/>
          </a:bodyPr>
          <a:lstStyle/>
          <a:p>
            <a:pPr>
              <a:defRPr/>
            </a:pPr>
            <a:r>
              <a:rPr lang="en-US" dirty="0">
                <a:latin typeface="+mn-lt"/>
              </a:rPr>
              <a:t>(c) Additive and multiplicative inverses modulo 7 </a:t>
            </a:r>
          </a:p>
        </p:txBody>
      </p:sp>
      <p:pic>
        <p:nvPicPr>
          <p:cNvPr id="93188" name="Picture 4"/>
          <p:cNvPicPr>
            <a:picLocks noChangeAspect="1"/>
          </p:cNvPicPr>
          <p:nvPr/>
        </p:nvPicPr>
        <p:blipFill>
          <a:blip r:embed="rId3"/>
          <a:srcRect l="-3014" r="76820"/>
          <a:stretch>
            <a:fillRect/>
          </a:stretch>
        </p:blipFill>
        <p:spPr bwMode="auto">
          <a:xfrm>
            <a:off x="4427984" y="2679"/>
            <a:ext cx="4495800" cy="6427788"/>
          </a:xfrm>
          <a:prstGeom prst="rect">
            <a:avLst/>
          </a:prstGeom>
          <a:noFill/>
          <a:ln w="9525">
            <a:noFill/>
            <a:miter lim="800000"/>
            <a:headEnd/>
            <a:tailEnd/>
          </a:ln>
        </p:spPr>
      </p:pic>
    </p:spTree>
  </p:cSld>
  <p:clrMapOvr>
    <a:masterClrMapping/>
  </p:clrMapOvr>
  <p:transition spd="med">
    <p:wipe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Excercise</a:t>
            </a:r>
            <a:endParaRPr lang="en-US" dirty="0"/>
          </a:p>
        </p:txBody>
      </p:sp>
      <p:sp>
        <p:nvSpPr>
          <p:cNvPr id="3" name="Content Placeholder 2"/>
          <p:cNvSpPr>
            <a:spLocks noGrp="1"/>
          </p:cNvSpPr>
          <p:nvPr>
            <p:ph idx="1"/>
          </p:nvPr>
        </p:nvSpPr>
        <p:spPr/>
        <p:txBody>
          <a:bodyPr/>
          <a:lstStyle/>
          <a:p>
            <a:r>
              <a:rPr lang="en-US" dirty="0" smtClean="0"/>
              <a:t>Exercise 5.4</a:t>
            </a:r>
          </a:p>
          <a:p>
            <a:pPr lvl="1"/>
            <a:r>
              <a:rPr lang="en-US" dirty="0"/>
              <a:t>Develop a set of tables similar to Table </a:t>
            </a:r>
            <a:r>
              <a:rPr lang="en-US" dirty="0" smtClean="0"/>
              <a:t>4.5 </a:t>
            </a:r>
            <a:r>
              <a:rPr lang="en-US" dirty="0"/>
              <a:t>for GF(5).</a:t>
            </a:r>
          </a:p>
        </p:txBody>
      </p:sp>
    </p:spTree>
    <p:extLst>
      <p:ext uri="{BB962C8B-B14F-4D97-AF65-F5344CB8AC3E}">
        <p14:creationId xmlns:p14="http://schemas.microsoft.com/office/powerpoint/2010/main" val="21180163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the Multiplicative Inverse in GF(</a:t>
            </a:r>
            <a:r>
              <a:rPr lang="en-US" i="1" dirty="0"/>
              <a:t>p</a:t>
            </a:r>
            <a:r>
              <a:rPr lang="en-US" dirty="0" smtClean="0"/>
              <a:t>)</a:t>
            </a:r>
            <a:endParaRPr lang="en-US" dirty="0"/>
          </a:p>
        </p:txBody>
      </p:sp>
      <p:sp>
        <p:nvSpPr>
          <p:cNvPr id="3" name="Content Placeholder 2"/>
          <p:cNvSpPr>
            <a:spLocks noGrp="1"/>
          </p:cNvSpPr>
          <p:nvPr>
            <p:ph idx="1"/>
          </p:nvPr>
        </p:nvSpPr>
        <p:spPr/>
        <p:txBody>
          <a:bodyPr/>
          <a:lstStyle/>
          <a:p>
            <a:r>
              <a:rPr lang="en-US" dirty="0" smtClean="0"/>
              <a:t>If </a:t>
            </a:r>
            <a:r>
              <a:rPr lang="en-US" i="1" dirty="0"/>
              <a:t>a</a:t>
            </a:r>
            <a:r>
              <a:rPr lang="en-US" dirty="0"/>
              <a:t> and </a:t>
            </a:r>
            <a:r>
              <a:rPr lang="en-US" i="1" dirty="0"/>
              <a:t>b</a:t>
            </a:r>
            <a:r>
              <a:rPr lang="en-US" dirty="0"/>
              <a:t> are relatively prime, then </a:t>
            </a:r>
            <a:r>
              <a:rPr lang="en-US" i="1" dirty="0"/>
              <a:t>b</a:t>
            </a:r>
            <a:r>
              <a:rPr lang="en-US" dirty="0"/>
              <a:t> has a multiplicative inverse modulo </a:t>
            </a:r>
            <a:r>
              <a:rPr lang="en-US" i="1" dirty="0" smtClean="0"/>
              <a:t>a</a:t>
            </a:r>
            <a:r>
              <a:rPr lang="en-US" dirty="0" smtClean="0"/>
              <a:t>. That </a:t>
            </a:r>
            <a:r>
              <a:rPr lang="en-US" dirty="0"/>
              <a:t>is, if </a:t>
            </a:r>
            <a:r>
              <a:rPr lang="en-US" dirty="0" err="1"/>
              <a:t>gcd</a:t>
            </a:r>
            <a:r>
              <a:rPr lang="en-US" dirty="0"/>
              <a:t>(</a:t>
            </a:r>
            <a:r>
              <a:rPr lang="en-US" i="1" dirty="0"/>
              <a:t>a</a:t>
            </a:r>
            <a:r>
              <a:rPr lang="en-US" dirty="0"/>
              <a:t>, </a:t>
            </a:r>
            <a:r>
              <a:rPr lang="en-US" i="1" dirty="0"/>
              <a:t>b</a:t>
            </a:r>
            <a:r>
              <a:rPr lang="en-US" dirty="0"/>
              <a:t>) = 1, then </a:t>
            </a:r>
            <a:r>
              <a:rPr lang="en-US" i="1" dirty="0"/>
              <a:t>b</a:t>
            </a:r>
            <a:r>
              <a:rPr lang="en-US" dirty="0"/>
              <a:t> has a multiplicative inverse modulo </a:t>
            </a:r>
            <a:r>
              <a:rPr lang="en-US" i="1" dirty="0"/>
              <a:t>a</a:t>
            </a:r>
            <a:r>
              <a:rPr lang="en-US" dirty="0"/>
              <a:t>.</a:t>
            </a:r>
          </a:p>
        </p:txBody>
      </p:sp>
      <p:sp>
        <p:nvSpPr>
          <p:cNvPr id="4" name="TextBox 3"/>
          <p:cNvSpPr txBox="1"/>
          <p:nvPr/>
        </p:nvSpPr>
        <p:spPr>
          <a:xfrm>
            <a:off x="2555776" y="2852936"/>
            <a:ext cx="4583306" cy="1431161"/>
          </a:xfrm>
          <a:prstGeom prst="rect">
            <a:avLst/>
          </a:prstGeom>
          <a:noFill/>
        </p:spPr>
        <p:txBody>
          <a:bodyPr wrap="none" rtlCol="0">
            <a:spAutoFit/>
          </a:bodyPr>
          <a:lstStyle/>
          <a:p>
            <a:pPr algn="ctr">
              <a:spcAft>
                <a:spcPts val="600"/>
              </a:spcAft>
            </a:pPr>
            <a:r>
              <a:rPr lang="en-US" i="1" dirty="0"/>
              <a:t>ax </a:t>
            </a:r>
            <a:r>
              <a:rPr lang="en-US" dirty="0"/>
              <a:t>+ </a:t>
            </a:r>
            <a:r>
              <a:rPr lang="en-US" i="1" dirty="0"/>
              <a:t>by </a:t>
            </a:r>
            <a:r>
              <a:rPr lang="en-US" dirty="0"/>
              <a:t>= </a:t>
            </a:r>
            <a:r>
              <a:rPr lang="en-US" i="1" dirty="0"/>
              <a:t>d </a:t>
            </a:r>
            <a:r>
              <a:rPr lang="en-US" dirty="0"/>
              <a:t>= </a:t>
            </a:r>
            <a:r>
              <a:rPr lang="en-US" dirty="0" err="1"/>
              <a:t>gcd</a:t>
            </a:r>
            <a:r>
              <a:rPr lang="en-US" dirty="0"/>
              <a:t>(</a:t>
            </a:r>
            <a:r>
              <a:rPr lang="en-US" i="1" dirty="0"/>
              <a:t>a</a:t>
            </a:r>
            <a:r>
              <a:rPr lang="en-US" dirty="0"/>
              <a:t>, </a:t>
            </a:r>
            <a:r>
              <a:rPr lang="en-US" i="1" dirty="0"/>
              <a:t>b</a:t>
            </a:r>
            <a:r>
              <a:rPr lang="en-US" dirty="0" smtClean="0"/>
              <a:t>) = 1</a:t>
            </a:r>
          </a:p>
          <a:p>
            <a:pPr algn="ctr">
              <a:spcAft>
                <a:spcPts val="600"/>
              </a:spcAft>
            </a:pPr>
            <a:r>
              <a:rPr lang="en-US" dirty="0" smtClean="0"/>
              <a:t>(</a:t>
            </a:r>
            <a:r>
              <a:rPr lang="en-US" i="1" dirty="0" smtClean="0"/>
              <a:t>a</a:t>
            </a:r>
            <a:r>
              <a:rPr lang="en-US" dirty="0" smtClean="0"/>
              <a:t>x + </a:t>
            </a:r>
            <a:r>
              <a:rPr lang="en-US" i="1" dirty="0" smtClean="0"/>
              <a:t>b</a:t>
            </a:r>
            <a:r>
              <a:rPr lang="en-US" dirty="0" smtClean="0"/>
              <a:t>y) mod </a:t>
            </a:r>
            <a:r>
              <a:rPr lang="en-US" i="1" dirty="0" smtClean="0"/>
              <a:t>a</a:t>
            </a:r>
            <a:r>
              <a:rPr lang="en-US" dirty="0" smtClean="0"/>
              <a:t> = 1 mod </a:t>
            </a:r>
            <a:r>
              <a:rPr lang="en-US" i="1" dirty="0" smtClean="0"/>
              <a:t>a</a:t>
            </a:r>
            <a:endParaRPr lang="en-US" i="1" dirty="0"/>
          </a:p>
          <a:p>
            <a:pPr algn="ctr">
              <a:spcAft>
                <a:spcPts val="600"/>
              </a:spcAft>
            </a:pPr>
            <a:r>
              <a:rPr lang="en-US" dirty="0"/>
              <a:t>[(</a:t>
            </a:r>
            <a:r>
              <a:rPr lang="en-US" i="1" dirty="0"/>
              <a:t>ax </a:t>
            </a:r>
            <a:r>
              <a:rPr lang="en-US" dirty="0"/>
              <a:t>mod </a:t>
            </a:r>
            <a:r>
              <a:rPr lang="en-US" i="1" dirty="0"/>
              <a:t>a</a:t>
            </a:r>
            <a:r>
              <a:rPr lang="en-US" dirty="0"/>
              <a:t>) + (</a:t>
            </a:r>
            <a:r>
              <a:rPr lang="en-US" i="1" dirty="0"/>
              <a:t>by </a:t>
            </a:r>
            <a:r>
              <a:rPr lang="en-US" dirty="0"/>
              <a:t>mod </a:t>
            </a:r>
            <a:r>
              <a:rPr lang="en-US" i="1" dirty="0"/>
              <a:t>a</a:t>
            </a:r>
            <a:r>
              <a:rPr lang="en-US" dirty="0"/>
              <a:t>)] mod </a:t>
            </a:r>
            <a:r>
              <a:rPr lang="en-US" i="1" dirty="0"/>
              <a:t>a </a:t>
            </a:r>
            <a:r>
              <a:rPr lang="en-US" dirty="0"/>
              <a:t>= 1 mod </a:t>
            </a:r>
            <a:r>
              <a:rPr lang="en-US" i="1" dirty="0" smtClean="0"/>
              <a:t>a</a:t>
            </a:r>
          </a:p>
          <a:p>
            <a:pPr algn="ctr">
              <a:spcAft>
                <a:spcPts val="600"/>
              </a:spcAft>
            </a:pPr>
            <a:r>
              <a:rPr lang="en-US" dirty="0" smtClean="0"/>
              <a:t>0 + </a:t>
            </a:r>
            <a:r>
              <a:rPr lang="en-US" i="1" dirty="0" smtClean="0"/>
              <a:t>b</a:t>
            </a:r>
            <a:r>
              <a:rPr lang="en-US" dirty="0" smtClean="0"/>
              <a:t>y mod </a:t>
            </a:r>
            <a:r>
              <a:rPr lang="en-US" i="1" dirty="0" smtClean="0"/>
              <a:t>a</a:t>
            </a:r>
            <a:r>
              <a:rPr lang="en-US" dirty="0" smtClean="0"/>
              <a:t> = 1</a:t>
            </a:r>
            <a:endParaRPr lang="en-US" dirty="0"/>
          </a:p>
        </p:txBody>
      </p:sp>
      <p:sp>
        <p:nvSpPr>
          <p:cNvPr id="5" name="TextBox 4"/>
          <p:cNvSpPr txBox="1"/>
          <p:nvPr/>
        </p:nvSpPr>
        <p:spPr>
          <a:xfrm>
            <a:off x="841204" y="4869160"/>
            <a:ext cx="7763244" cy="923330"/>
          </a:xfrm>
          <a:prstGeom prst="rect">
            <a:avLst/>
          </a:prstGeom>
          <a:solidFill>
            <a:schemeClr val="accent6">
              <a:lumMod val="20000"/>
              <a:lumOff val="80000"/>
            </a:schemeClr>
          </a:solidFill>
        </p:spPr>
        <p:txBody>
          <a:bodyPr wrap="square" rtlCol="0">
            <a:spAutoFit/>
          </a:bodyPr>
          <a:lstStyle/>
          <a:p>
            <a:r>
              <a:rPr lang="en-US" b="1" u="sng" dirty="0" smtClean="0"/>
              <a:t>Example</a:t>
            </a:r>
            <a:r>
              <a:rPr lang="en-US" dirty="0" smtClean="0"/>
              <a:t>:</a:t>
            </a:r>
          </a:p>
          <a:p>
            <a:r>
              <a:rPr lang="en-US" dirty="0" smtClean="0"/>
              <a:t>Consider </a:t>
            </a:r>
            <a:r>
              <a:rPr lang="en-US" i="1" dirty="0" smtClean="0"/>
              <a:t>a </a:t>
            </a:r>
            <a:r>
              <a:rPr lang="en-US" dirty="0"/>
              <a:t>= </a:t>
            </a:r>
            <a:r>
              <a:rPr lang="en-US" dirty="0" smtClean="0"/>
              <a:t>1759 and </a:t>
            </a:r>
            <a:r>
              <a:rPr lang="en-US" i="1" dirty="0"/>
              <a:t>b </a:t>
            </a:r>
            <a:r>
              <a:rPr lang="en-US" dirty="0"/>
              <a:t>= 550</a:t>
            </a:r>
            <a:r>
              <a:rPr lang="en-US" dirty="0" smtClean="0"/>
              <a:t>.</a:t>
            </a:r>
          </a:p>
          <a:p>
            <a:r>
              <a:rPr lang="en-US" dirty="0" smtClean="0"/>
              <a:t>What is </a:t>
            </a:r>
            <a:r>
              <a:rPr lang="en-US" i="1" dirty="0" smtClean="0"/>
              <a:t>b</a:t>
            </a:r>
            <a:r>
              <a:rPr lang="en-US" baseline="30000" dirty="0" smtClean="0"/>
              <a:t>-1 </a:t>
            </a:r>
            <a:r>
              <a:rPr lang="en-US" dirty="0" smtClean="0"/>
              <a:t>?</a:t>
            </a:r>
            <a:endParaRPr lang="en-US" dirty="0"/>
          </a:p>
        </p:txBody>
      </p:sp>
    </p:spTree>
    <p:extLst>
      <p:ext uri="{BB962C8B-B14F-4D97-AF65-F5344CB8AC3E}">
        <p14:creationId xmlns:p14="http://schemas.microsoft.com/office/powerpoint/2010/main" val="35551429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Finite Fields of GF(</a:t>
            </a:r>
            <a:r>
              <a:rPr lang="en-US" i="1" dirty="0" smtClean="0"/>
              <a:t>p</a:t>
            </a:r>
            <a:r>
              <a:rPr lang="en-US" dirty="0" smtClean="0"/>
              <a:t>)</a:t>
            </a:r>
            <a:endParaRPr lang="en-US" dirty="0"/>
          </a:p>
        </p:txBody>
      </p:sp>
      <p:sp>
        <p:nvSpPr>
          <p:cNvPr id="3" name="Content Placeholder 2"/>
          <p:cNvSpPr>
            <a:spLocks noGrp="1"/>
          </p:cNvSpPr>
          <p:nvPr>
            <p:ph idx="1"/>
          </p:nvPr>
        </p:nvSpPr>
        <p:spPr/>
        <p:txBody>
          <a:bodyPr/>
          <a:lstStyle/>
          <a:p>
            <a:r>
              <a:rPr lang="en-US" b="1" dirty="0" smtClean="0"/>
              <a:t>1</a:t>
            </a:r>
            <a:r>
              <a:rPr lang="en-US" b="1" dirty="0"/>
              <a:t>. </a:t>
            </a:r>
            <a:r>
              <a:rPr lang="en-US" dirty="0"/>
              <a:t>GF(</a:t>
            </a:r>
            <a:r>
              <a:rPr lang="en-US" i="1" dirty="0"/>
              <a:t>p</a:t>
            </a:r>
            <a:r>
              <a:rPr lang="en-US" dirty="0"/>
              <a:t>) consists of </a:t>
            </a:r>
            <a:r>
              <a:rPr lang="en-US" i="1" dirty="0"/>
              <a:t>p </a:t>
            </a:r>
            <a:r>
              <a:rPr lang="en-US" dirty="0"/>
              <a:t>elements.</a:t>
            </a:r>
          </a:p>
          <a:p>
            <a:r>
              <a:rPr lang="en-US" b="1" dirty="0"/>
              <a:t>2. </a:t>
            </a:r>
            <a:r>
              <a:rPr lang="en-US" dirty="0"/>
              <a:t>The binary operations + and * are defined over the set. The operations </a:t>
            </a:r>
            <a:r>
              <a:rPr lang="en-US" dirty="0" smtClean="0"/>
              <a:t>of addition</a:t>
            </a:r>
            <a:r>
              <a:rPr lang="en-US" dirty="0"/>
              <a:t>, subtraction, multiplication, and division can be performed </a:t>
            </a:r>
            <a:r>
              <a:rPr lang="en-US" dirty="0" smtClean="0"/>
              <a:t>without leaving </a:t>
            </a:r>
            <a:r>
              <a:rPr lang="en-US" dirty="0"/>
              <a:t>the set. Each element of the set other than 0 has a multiplicative </a:t>
            </a:r>
            <a:r>
              <a:rPr lang="en-US" dirty="0" smtClean="0"/>
              <a:t>inverse, and </a:t>
            </a:r>
            <a:r>
              <a:rPr lang="en-US" dirty="0"/>
              <a:t>division is performed by multiplication by the multiplicative inverse.</a:t>
            </a:r>
          </a:p>
        </p:txBody>
      </p:sp>
      <p:sp>
        <p:nvSpPr>
          <p:cNvPr id="4" name="TextBox 3"/>
          <p:cNvSpPr txBox="1"/>
          <p:nvPr/>
        </p:nvSpPr>
        <p:spPr>
          <a:xfrm>
            <a:off x="611561" y="4869160"/>
            <a:ext cx="8424936" cy="646331"/>
          </a:xfrm>
          <a:prstGeom prst="rect">
            <a:avLst/>
          </a:prstGeom>
          <a:noFill/>
          <a:ln>
            <a:solidFill>
              <a:srgbClr val="C00000"/>
            </a:solidFill>
          </a:ln>
        </p:spPr>
        <p:txBody>
          <a:bodyPr wrap="square" rtlCol="0">
            <a:spAutoFit/>
          </a:bodyPr>
          <a:lstStyle/>
          <a:p>
            <a:r>
              <a:rPr lang="en-US" dirty="0"/>
              <a:t>the elements of GF(</a:t>
            </a:r>
            <a:r>
              <a:rPr lang="en-US" i="1" dirty="0"/>
              <a:t>p</a:t>
            </a:r>
            <a:r>
              <a:rPr lang="en-US" dirty="0"/>
              <a:t>) are the integers {0, 1, c, </a:t>
            </a:r>
            <a:r>
              <a:rPr lang="en-US" i="1" dirty="0"/>
              <a:t>p</a:t>
            </a:r>
            <a:r>
              <a:rPr lang="en-US" dirty="0"/>
              <a:t> - </a:t>
            </a:r>
            <a:r>
              <a:rPr lang="en-US" dirty="0" smtClean="0"/>
              <a:t>1} and </a:t>
            </a:r>
            <a:r>
              <a:rPr lang="en-US" dirty="0"/>
              <a:t>that the arithmetic operations are addition and multiplication mod </a:t>
            </a:r>
            <a:r>
              <a:rPr lang="en-US" i="1" dirty="0"/>
              <a:t>p</a:t>
            </a:r>
            <a:r>
              <a:rPr lang="en-US" dirty="0" smtClean="0"/>
              <a:t>. (</a:t>
            </a:r>
            <a:r>
              <a:rPr lang="en-US" i="1" dirty="0" smtClean="0"/>
              <a:t>p</a:t>
            </a:r>
            <a:r>
              <a:rPr lang="en-US" dirty="0" smtClean="0"/>
              <a:t> is prime number)</a:t>
            </a:r>
            <a:endParaRPr lang="en-US" dirty="0"/>
          </a:p>
        </p:txBody>
      </p:sp>
    </p:spTree>
    <p:extLst>
      <p:ext uri="{BB962C8B-B14F-4D97-AF65-F5344CB8AC3E}">
        <p14:creationId xmlns:p14="http://schemas.microsoft.com/office/powerpoint/2010/main" val="13522883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457200" y="274638"/>
            <a:ext cx="8229600" cy="706090"/>
          </a:xfrm>
        </p:spPr>
        <p:txBody>
          <a:bodyPr/>
          <a:lstStyle/>
          <a:p>
            <a:r>
              <a:rPr lang="en-US" sz="4000" dirty="0" smtClean="0"/>
              <a:t>Polynomial Arithmetic</a:t>
            </a:r>
            <a:endParaRPr lang="en-AU" sz="4000" dirty="0" smtClean="0"/>
          </a:p>
        </p:txBody>
      </p:sp>
      <p:sp>
        <p:nvSpPr>
          <p:cNvPr id="74755" name="Rectangle 3"/>
          <p:cNvSpPr>
            <a:spLocks noGrp="1" noChangeArrowheads="1"/>
          </p:cNvSpPr>
          <p:nvPr>
            <p:ph idx="1"/>
          </p:nvPr>
        </p:nvSpPr>
        <p:spPr>
          <a:xfrm>
            <a:off x="395536" y="1124744"/>
            <a:ext cx="7570787" cy="1209675"/>
          </a:xfrm>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We can distinguish </a:t>
            </a:r>
            <a:r>
              <a:rPr lang="en-US" sz="2400" dirty="0" smtClean="0">
                <a:solidFill>
                  <a:srgbClr val="FF0000"/>
                </a:solidFill>
                <a:ea typeface="+mn-ea"/>
                <a:cs typeface="+mn-cs"/>
              </a:rPr>
              <a:t>three classes </a:t>
            </a:r>
            <a:r>
              <a:rPr lang="en-US" sz="2400" dirty="0" smtClean="0">
                <a:ea typeface="+mn-ea"/>
                <a:cs typeface="+mn-cs"/>
              </a:rPr>
              <a:t>of polynomial   arithmetic:</a:t>
            </a:r>
          </a:p>
        </p:txBody>
      </p:sp>
      <p:graphicFrame>
        <p:nvGraphicFramePr>
          <p:cNvPr id="5" name="Diagram 4"/>
          <p:cNvGraphicFramePr/>
          <p:nvPr>
            <p:extLst>
              <p:ext uri="{D42A27DB-BD31-4B8C-83A1-F6EECF244321}">
                <p14:modId xmlns:p14="http://schemas.microsoft.com/office/powerpoint/2010/main" val="605982289"/>
              </p:ext>
            </p:extLst>
          </p:nvPr>
        </p:nvGraphicFramePr>
        <p:xfrm>
          <a:off x="1115616" y="2060848"/>
          <a:ext cx="7239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323528" y="274638"/>
            <a:ext cx="8640960" cy="1143000"/>
          </a:xfrm>
        </p:spPr>
        <p:txBody>
          <a:bodyPr/>
          <a:lstStyle/>
          <a:p>
            <a:r>
              <a:rPr lang="en-US" sz="3600" dirty="0" smtClean="0"/>
              <a:t>Ordinary Polynomial Arithmetic Example</a:t>
            </a:r>
            <a:endParaRPr lang="en-AU" sz="3600" dirty="0" smtClean="0"/>
          </a:p>
        </p:txBody>
      </p:sp>
      <p:sp>
        <p:nvSpPr>
          <p:cNvPr id="15" name="TextBox 14"/>
          <p:cNvSpPr txBox="1"/>
          <p:nvPr/>
        </p:nvSpPr>
        <p:spPr>
          <a:xfrm>
            <a:off x="457200" y="1340768"/>
            <a:ext cx="8305800" cy="3724096"/>
          </a:xfrm>
          <a:prstGeom prst="rect">
            <a:avLst/>
          </a:prstGeom>
          <a:noFill/>
        </p:spPr>
        <p:txBody>
          <a:bodyPr>
            <a:spAutoFit/>
          </a:bodyPr>
          <a:lstStyle/>
          <a:p>
            <a:pPr>
              <a:defRPr/>
            </a:pPr>
            <a:r>
              <a:rPr lang="en-US" sz="2400" dirty="0">
                <a:latin typeface="+mn-lt"/>
              </a:rPr>
              <a:t> As an example: </a:t>
            </a:r>
          </a:p>
          <a:p>
            <a:pPr>
              <a:spcBef>
                <a:spcPts val="0"/>
              </a:spcBef>
              <a:defRPr/>
            </a:pPr>
            <a:r>
              <a:rPr lang="en-US" sz="2400" dirty="0">
                <a:latin typeface="+mn-lt"/>
              </a:rPr>
              <a:t>	let </a:t>
            </a:r>
            <a:r>
              <a:rPr lang="en-US" sz="2400" i="1" dirty="0">
                <a:latin typeface="+mn-lt"/>
              </a:rPr>
              <a:t>f(x)</a:t>
            </a:r>
            <a:r>
              <a:rPr lang="en-US" sz="2400" dirty="0">
                <a:latin typeface="+mn-lt"/>
              </a:rPr>
              <a:t> = </a:t>
            </a:r>
            <a:r>
              <a:rPr lang="en-US" sz="2400" i="1" dirty="0">
                <a:latin typeface="+mn-lt"/>
              </a:rPr>
              <a:t>x</a:t>
            </a:r>
            <a:r>
              <a:rPr lang="en-US" sz="2400" i="1" baseline="30000" dirty="0">
                <a:latin typeface="+mn-lt"/>
              </a:rPr>
              <a:t>3</a:t>
            </a:r>
            <a:r>
              <a:rPr lang="en-US" sz="2400" i="1" dirty="0">
                <a:latin typeface="+mn-lt"/>
              </a:rPr>
              <a:t> + x</a:t>
            </a:r>
            <a:r>
              <a:rPr lang="en-US" sz="2400" i="1" baseline="30000" dirty="0">
                <a:latin typeface="+mn-lt"/>
              </a:rPr>
              <a:t>2</a:t>
            </a:r>
            <a:r>
              <a:rPr lang="en-US" sz="2400" i="1" dirty="0">
                <a:latin typeface="+mn-lt"/>
              </a:rPr>
              <a:t> </a:t>
            </a:r>
            <a:r>
              <a:rPr lang="en-US" sz="2400" dirty="0">
                <a:latin typeface="+mn-lt"/>
              </a:rPr>
              <a:t>+  2 and </a:t>
            </a:r>
            <a:r>
              <a:rPr lang="en-US" sz="2400" i="1" dirty="0">
                <a:latin typeface="+mn-lt"/>
              </a:rPr>
              <a:t>g(x)</a:t>
            </a:r>
            <a:r>
              <a:rPr lang="en-US" sz="2400" dirty="0">
                <a:latin typeface="+mn-lt"/>
              </a:rPr>
              <a:t> = </a:t>
            </a:r>
            <a:r>
              <a:rPr lang="en-US" sz="2400" i="1" dirty="0">
                <a:latin typeface="+mn-lt"/>
              </a:rPr>
              <a:t>x</a:t>
            </a:r>
            <a:r>
              <a:rPr lang="en-US" sz="2400" i="1" baseline="30000" dirty="0">
                <a:latin typeface="+mn-lt"/>
              </a:rPr>
              <a:t>2</a:t>
            </a:r>
            <a:r>
              <a:rPr lang="en-US" sz="2400" i="1" dirty="0">
                <a:latin typeface="+mn-lt"/>
              </a:rPr>
              <a:t> - x</a:t>
            </a:r>
            <a:r>
              <a:rPr lang="en-US" sz="2400" dirty="0">
                <a:latin typeface="+mn-lt"/>
              </a:rPr>
              <a:t> +  1, 	where S is the set of integers</a:t>
            </a:r>
          </a:p>
          <a:p>
            <a:pPr>
              <a:spcBef>
                <a:spcPts val="0"/>
              </a:spcBef>
              <a:defRPr/>
            </a:pPr>
            <a:endParaRPr lang="en-US" sz="2400" dirty="0">
              <a:latin typeface="+mn-lt"/>
            </a:endParaRPr>
          </a:p>
          <a:p>
            <a:pPr>
              <a:spcBef>
                <a:spcPts val="0"/>
              </a:spcBef>
              <a:defRPr/>
            </a:pPr>
            <a:r>
              <a:rPr lang="en-US" sz="2400" dirty="0">
                <a:latin typeface="+mn-lt"/>
              </a:rPr>
              <a:t>Then:</a:t>
            </a:r>
          </a:p>
          <a:p>
            <a:pPr>
              <a:defRPr/>
            </a:pPr>
            <a:r>
              <a:rPr lang="en-US" sz="2400" dirty="0">
                <a:latin typeface="+mn-lt"/>
              </a:rPr>
              <a:t>	</a:t>
            </a:r>
            <a:r>
              <a:rPr lang="en-US" sz="2400" i="1" dirty="0">
                <a:latin typeface="+mn-lt"/>
              </a:rPr>
              <a:t>f(x) + g(x) = x</a:t>
            </a:r>
            <a:r>
              <a:rPr lang="en-US" sz="2400" i="1" baseline="30000" dirty="0">
                <a:latin typeface="+mn-lt"/>
              </a:rPr>
              <a:t>3</a:t>
            </a:r>
            <a:r>
              <a:rPr lang="en-US" sz="2400" i="1" dirty="0">
                <a:latin typeface="+mn-lt"/>
              </a:rPr>
              <a:t> + 2x</a:t>
            </a:r>
            <a:r>
              <a:rPr lang="en-US" sz="2400" i="1" baseline="30000" dirty="0">
                <a:latin typeface="+mn-lt"/>
              </a:rPr>
              <a:t>2</a:t>
            </a:r>
            <a:r>
              <a:rPr lang="en-US" sz="2400" i="1" dirty="0">
                <a:latin typeface="+mn-lt"/>
              </a:rPr>
              <a:t> - x + 3</a:t>
            </a:r>
          </a:p>
          <a:p>
            <a:pPr>
              <a:defRPr/>
            </a:pPr>
            <a:r>
              <a:rPr lang="en-US" sz="2400" i="1" dirty="0">
                <a:latin typeface="+mn-lt"/>
              </a:rPr>
              <a:t>	f(x) - g(x) = x</a:t>
            </a:r>
            <a:r>
              <a:rPr lang="en-US" sz="2400" i="1" baseline="30000" dirty="0">
                <a:latin typeface="+mn-lt"/>
              </a:rPr>
              <a:t>3</a:t>
            </a:r>
            <a:r>
              <a:rPr lang="en-US" sz="2400" i="1" dirty="0">
                <a:latin typeface="+mn-lt"/>
              </a:rPr>
              <a:t> + x +  1</a:t>
            </a:r>
          </a:p>
          <a:p>
            <a:pPr>
              <a:defRPr/>
            </a:pPr>
            <a:r>
              <a:rPr lang="en-US" sz="2400" i="1" dirty="0">
                <a:latin typeface="+mn-lt"/>
              </a:rPr>
              <a:t>	f(x) * g(x) = x</a:t>
            </a:r>
            <a:r>
              <a:rPr lang="en-US" sz="2400" i="1" baseline="30000" dirty="0">
                <a:latin typeface="+mn-lt"/>
              </a:rPr>
              <a:t>5</a:t>
            </a:r>
            <a:r>
              <a:rPr lang="en-US" sz="2400" i="1" dirty="0">
                <a:latin typeface="+mn-lt"/>
              </a:rPr>
              <a:t> + 3x</a:t>
            </a:r>
            <a:r>
              <a:rPr lang="en-US" sz="2400" i="1" baseline="30000" dirty="0">
                <a:latin typeface="+mn-lt"/>
              </a:rPr>
              <a:t>2</a:t>
            </a:r>
            <a:r>
              <a:rPr lang="en-US" sz="2400" i="1" dirty="0">
                <a:latin typeface="+mn-lt"/>
              </a:rPr>
              <a:t> - 2x + 2</a:t>
            </a:r>
          </a:p>
          <a:p>
            <a:pPr>
              <a:defRPr/>
            </a:pPr>
            <a:endParaRPr lang="en-US" sz="2400" dirty="0">
              <a:latin typeface="+mn-lt"/>
            </a:endParaRPr>
          </a:p>
          <a:p>
            <a:pPr>
              <a:defRPr/>
            </a:pPr>
            <a:r>
              <a:rPr lang="en-US" dirty="0">
                <a:latin typeface="+mn-lt"/>
              </a:rPr>
              <a:t>Figures 4.3a through 4.3c show the manual calculations</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3.pdf"/>
          <p:cNvPicPr>
            <a:picLocks noChangeAspect="1"/>
          </p:cNvPicPr>
          <p:nvPr/>
        </p:nvPicPr>
        <p:blipFill>
          <a:blip r:embed="rId3"/>
          <a:srcRect l="-3529" t="16364" r="-1176" b="22726"/>
          <a:stretch>
            <a:fillRect/>
          </a:stretch>
        </p:blipFill>
        <p:spPr bwMode="auto">
          <a:xfrm>
            <a:off x="-3175" y="-4763"/>
            <a:ext cx="9117013" cy="6862763"/>
          </a:xfrm>
          <a:prstGeom prst="rect">
            <a:avLst/>
          </a:prstGeom>
          <a:noFill/>
          <a:ln w="9525">
            <a:noFill/>
            <a:miter lim="800000"/>
            <a:headEnd/>
            <a:tailEnd/>
          </a:ln>
        </p:spPr>
      </p:pic>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sz="2800" dirty="0" smtClean="0"/>
              <a:t>Polynomial Arithmetic With Coefficients in </a:t>
            </a:r>
            <a:r>
              <a:rPr lang="en-US" sz="2800" dirty="0" err="1" smtClean="0"/>
              <a:t>Z</a:t>
            </a:r>
            <a:r>
              <a:rPr lang="en-US" sz="2800" baseline="-25000" dirty="0" err="1" smtClean="0"/>
              <a:t>p</a:t>
            </a:r>
            <a:endParaRPr lang="en-AU" sz="2800" baseline="-25000" dirty="0" smtClean="0"/>
          </a:p>
        </p:txBody>
      </p:sp>
      <p:sp>
        <p:nvSpPr>
          <p:cNvPr id="76803" name="Rectangle 3"/>
          <p:cNvSpPr>
            <a:spLocks noGrp="1" noChangeArrowheads="1"/>
          </p:cNvSpPr>
          <p:nvPr>
            <p:ph idx="1"/>
          </p:nvPr>
        </p:nvSpPr>
        <p:spPr>
          <a:xfrm>
            <a:off x="467544" y="1762125"/>
            <a:ext cx="8208911" cy="4791075"/>
          </a:xfrm>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If each distinct polynomial is considered to be an element of the set, then that set is a ring</a:t>
            </a:r>
          </a:p>
          <a:p>
            <a:pPr fontAlgn="auto">
              <a:spcAft>
                <a:spcPts val="0"/>
              </a:spcAft>
              <a:buClr>
                <a:schemeClr val="accent1">
                  <a:lumMod val="60000"/>
                  <a:lumOff val="40000"/>
                </a:schemeClr>
              </a:buClr>
              <a:buFont typeface="Candara" pitchFamily="34" charset="0"/>
              <a:buChar char="•"/>
              <a:defRPr/>
            </a:pPr>
            <a:r>
              <a:rPr lang="en-US" sz="2400" dirty="0" smtClean="0">
                <a:solidFill>
                  <a:srgbClr val="FF0000"/>
                </a:solidFill>
                <a:ea typeface="+mn-ea"/>
                <a:cs typeface="+mn-cs"/>
              </a:rPr>
              <a:t>When polynomial arithmetic is performed on polynomials over a field, then division is possible</a:t>
            </a:r>
          </a:p>
          <a:p>
            <a:pPr lvl="2" fontAlgn="auto">
              <a:spcAft>
                <a:spcPts val="0"/>
              </a:spcAft>
              <a:buClr>
                <a:schemeClr val="accent1">
                  <a:lumMod val="60000"/>
                  <a:lumOff val="40000"/>
                </a:schemeClr>
              </a:buClr>
              <a:buFont typeface="Candara" pitchFamily="34" charset="0"/>
              <a:buChar char="•"/>
              <a:defRPr/>
            </a:pPr>
            <a:r>
              <a:rPr lang="en-US" sz="1800" dirty="0" smtClean="0">
                <a:ea typeface="+mn-ea"/>
              </a:rPr>
              <a:t>Note:  this does not mean that </a:t>
            </a:r>
            <a:r>
              <a:rPr lang="en-US" sz="1800" i="1" dirty="0" smtClean="0">
                <a:ea typeface="+mn-ea"/>
              </a:rPr>
              <a:t>exact division </a:t>
            </a:r>
            <a:r>
              <a:rPr lang="en-US" sz="1800" dirty="0" smtClean="0">
                <a:ea typeface="+mn-ea"/>
              </a:rPr>
              <a:t>is possible</a:t>
            </a:r>
          </a:p>
          <a:p>
            <a:pPr marL="342900" lvl="2" indent="-342900" fontAlgn="auto">
              <a:spcBef>
                <a:spcPts val="2400"/>
              </a:spcBef>
              <a:spcAft>
                <a:spcPts val="0"/>
              </a:spcAft>
              <a:buClr>
                <a:schemeClr val="accent1">
                  <a:lumMod val="60000"/>
                  <a:lumOff val="40000"/>
                </a:schemeClr>
              </a:buClr>
              <a:buFont typeface="Candara" pitchFamily="34" charset="0"/>
              <a:buChar char="•"/>
              <a:defRPr/>
            </a:pPr>
            <a:r>
              <a:rPr lang="en-US" sz="2000" dirty="0" smtClean="0">
                <a:ea typeface="+mn-ea"/>
              </a:rPr>
              <a:t>If we attempt to perform polynomial division over a coefficient set that is not a field, we find that division is not always defined</a:t>
            </a:r>
          </a:p>
          <a:p>
            <a:pPr lvl="2" fontAlgn="auto">
              <a:spcAft>
                <a:spcPts val="0"/>
              </a:spcAft>
              <a:buClr>
                <a:schemeClr val="accent1">
                  <a:lumMod val="60000"/>
                  <a:lumOff val="40000"/>
                </a:schemeClr>
              </a:buClr>
              <a:buFont typeface="Candara" pitchFamily="34" charset="0"/>
              <a:buChar char="•"/>
              <a:defRPr/>
            </a:pPr>
            <a:r>
              <a:rPr lang="en-US" sz="1800" dirty="0" smtClean="0">
                <a:ea typeface="+mn-ea"/>
              </a:rPr>
              <a:t>Even if the coefficient set is a field, polynomial division is not necessarily exact</a:t>
            </a:r>
          </a:p>
          <a:p>
            <a:pPr lvl="2" fontAlgn="auto">
              <a:spcAft>
                <a:spcPts val="0"/>
              </a:spcAft>
              <a:buClr>
                <a:schemeClr val="accent1">
                  <a:lumMod val="60000"/>
                  <a:lumOff val="40000"/>
                </a:schemeClr>
              </a:buClr>
              <a:buFont typeface="Candara" pitchFamily="34" charset="0"/>
              <a:buChar char="•"/>
              <a:defRPr/>
            </a:pPr>
            <a:r>
              <a:rPr lang="en-US" sz="1800" dirty="0" smtClean="0">
                <a:ea typeface="+mn-ea"/>
              </a:rPr>
              <a:t>With the understanding that remainders are allowed, we can say that polynomial division is possible if the coefficient set is a field</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457200" y="274638"/>
            <a:ext cx="8229600" cy="778098"/>
          </a:xfrm>
        </p:spPr>
        <p:txBody>
          <a:bodyPr/>
          <a:lstStyle/>
          <a:p>
            <a:r>
              <a:rPr lang="en-US" dirty="0" smtClean="0"/>
              <a:t>Polynomial Division</a:t>
            </a:r>
            <a:endParaRPr lang="en-AU" dirty="0" smtClean="0"/>
          </a:p>
        </p:txBody>
      </p:sp>
      <p:sp>
        <p:nvSpPr>
          <p:cNvPr id="77827" name="Rectangle 3"/>
          <p:cNvSpPr>
            <a:spLocks noGrp="1" noChangeArrowheads="1"/>
          </p:cNvSpPr>
          <p:nvPr>
            <p:ph idx="1"/>
          </p:nvPr>
        </p:nvSpPr>
        <p:spPr>
          <a:xfrm>
            <a:off x="467544" y="1196752"/>
            <a:ext cx="8064895" cy="4714875"/>
          </a:xfrm>
        </p:spPr>
        <p:txBody>
          <a:bodyPr rtlCol="0">
            <a:normAutofit fontScale="925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We can write any polynomial in the form:</a:t>
            </a:r>
          </a:p>
          <a:p>
            <a:pPr lvl="1" fontAlgn="auto">
              <a:spcAft>
                <a:spcPts val="0"/>
              </a:spcAft>
              <a:buFont typeface="Candara" pitchFamily="34" charset="0"/>
              <a:buNone/>
              <a:defRPr/>
            </a:pPr>
            <a:r>
              <a:rPr lang="en-AU" dirty="0" smtClean="0">
                <a:ea typeface="+mn-ea"/>
              </a:rPr>
              <a:t>			</a:t>
            </a:r>
            <a:r>
              <a:rPr lang="en-AU" i="1" dirty="0" smtClean="0">
                <a:ea typeface="+mn-ea"/>
              </a:rPr>
              <a:t>f(x) = q(x) g(x) + r(x)</a:t>
            </a:r>
          </a:p>
          <a:p>
            <a:pPr lvl="1" fontAlgn="auto">
              <a:spcAft>
                <a:spcPts val="0"/>
              </a:spcAft>
              <a:buFont typeface="Candara" pitchFamily="34" charset="0"/>
              <a:buChar char="•"/>
              <a:defRPr/>
            </a:pPr>
            <a:r>
              <a:rPr lang="en-AU" i="1" dirty="0" smtClean="0">
                <a:ea typeface="+mn-ea"/>
              </a:rPr>
              <a:t>r(x)</a:t>
            </a:r>
            <a:r>
              <a:rPr lang="en-AU" dirty="0" smtClean="0">
                <a:ea typeface="+mn-ea"/>
              </a:rPr>
              <a:t> can be interpreted </a:t>
            </a:r>
            <a:r>
              <a:rPr lang="en-US" dirty="0" smtClean="0">
                <a:ea typeface="+mn-ea"/>
              </a:rPr>
              <a:t>as being a remainder</a:t>
            </a:r>
          </a:p>
          <a:p>
            <a:pPr lvl="1" fontAlgn="auto">
              <a:spcAft>
                <a:spcPts val="0"/>
              </a:spcAft>
              <a:buFont typeface="Candara" pitchFamily="34" charset="0"/>
              <a:buChar char="•"/>
              <a:defRPr/>
            </a:pPr>
            <a:r>
              <a:rPr lang="en-AU" i="1" dirty="0" smtClean="0">
                <a:ea typeface="+mn-ea"/>
              </a:rPr>
              <a:t>So r(x) = f(x) </a:t>
            </a:r>
            <a:r>
              <a:rPr lang="en-AU" dirty="0" smtClean="0">
                <a:ea typeface="+mn-ea"/>
              </a:rPr>
              <a:t>mod </a:t>
            </a:r>
            <a:r>
              <a:rPr lang="en-AU" i="1" dirty="0" smtClean="0">
                <a:ea typeface="+mn-ea"/>
              </a:rPr>
              <a:t>g(x)</a:t>
            </a:r>
          </a:p>
          <a:p>
            <a:pPr lvl="1" fontAlgn="auto">
              <a:spcAft>
                <a:spcPts val="0"/>
              </a:spcAft>
              <a:buFont typeface="Candara" pitchFamily="34" charset="0"/>
              <a:buChar char="•"/>
              <a:defRPr/>
            </a:pPr>
            <a:endParaRPr lang="en-AU" i="1" dirty="0" smtClean="0">
              <a:ea typeface="+mn-ea"/>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If there is no remainder we can say </a:t>
            </a:r>
            <a:r>
              <a:rPr lang="en-AU" i="1" dirty="0" smtClean="0">
                <a:ea typeface="+mn-ea"/>
                <a:cs typeface="+mn-cs"/>
              </a:rPr>
              <a:t>g(x)</a:t>
            </a:r>
            <a:r>
              <a:rPr lang="en-AU" dirty="0" smtClean="0">
                <a:ea typeface="+mn-ea"/>
                <a:cs typeface="+mn-cs"/>
              </a:rPr>
              <a:t> </a:t>
            </a:r>
            <a:r>
              <a:rPr lang="en-AU" b="1" dirty="0" smtClean="0">
                <a:ea typeface="+mn-ea"/>
                <a:cs typeface="+mn-cs"/>
              </a:rPr>
              <a:t>divides </a:t>
            </a:r>
            <a:r>
              <a:rPr lang="en-AU" i="1" dirty="0" smtClean="0">
                <a:ea typeface="+mn-ea"/>
                <a:cs typeface="+mn-cs"/>
              </a:rPr>
              <a:t>f(x)</a:t>
            </a:r>
          </a:p>
          <a:p>
            <a:pPr lvl="1" fontAlgn="auto">
              <a:spcAft>
                <a:spcPts val="0"/>
              </a:spcAft>
              <a:buFont typeface="Candara" pitchFamily="34" charset="0"/>
              <a:buChar char="•"/>
              <a:defRPr/>
            </a:pPr>
            <a:r>
              <a:rPr lang="en-AU" dirty="0" smtClean="0">
                <a:ea typeface="+mn-ea"/>
              </a:rPr>
              <a:t>Written as </a:t>
            </a:r>
            <a:r>
              <a:rPr lang="en-AU" i="1" dirty="0" smtClean="0">
                <a:ea typeface="+mn-ea"/>
              </a:rPr>
              <a:t>g(x) | f(x)</a:t>
            </a:r>
          </a:p>
          <a:p>
            <a:pPr lvl="1" fontAlgn="auto">
              <a:spcAft>
                <a:spcPts val="0"/>
              </a:spcAft>
              <a:buFont typeface="Candara" pitchFamily="34" charset="0"/>
              <a:buChar char="•"/>
              <a:defRPr/>
            </a:pPr>
            <a:r>
              <a:rPr lang="en-AU" dirty="0" smtClean="0">
                <a:ea typeface="+mn-ea"/>
              </a:rPr>
              <a:t>We can say that </a:t>
            </a:r>
            <a:r>
              <a:rPr lang="en-AU" i="1" dirty="0" smtClean="0">
                <a:ea typeface="+mn-ea"/>
              </a:rPr>
              <a:t>g(x) </a:t>
            </a:r>
            <a:r>
              <a:rPr lang="en-AU" dirty="0" smtClean="0">
                <a:ea typeface="+mn-ea"/>
              </a:rPr>
              <a:t>is a </a:t>
            </a:r>
            <a:r>
              <a:rPr lang="en-AU" b="1" dirty="0" smtClean="0">
                <a:ea typeface="+mn-ea"/>
              </a:rPr>
              <a:t>factor </a:t>
            </a:r>
            <a:r>
              <a:rPr lang="en-AU" dirty="0" smtClean="0">
                <a:ea typeface="+mn-ea"/>
              </a:rPr>
              <a:t>of </a:t>
            </a:r>
            <a:r>
              <a:rPr lang="en-AU" i="1" dirty="0" smtClean="0">
                <a:ea typeface="+mn-ea"/>
              </a:rPr>
              <a:t>f(x)</a:t>
            </a:r>
          </a:p>
          <a:p>
            <a:pPr lvl="1" fontAlgn="auto">
              <a:spcAft>
                <a:spcPts val="0"/>
              </a:spcAft>
              <a:buFont typeface="Candara" pitchFamily="34" charset="0"/>
              <a:buChar char="•"/>
              <a:defRPr/>
            </a:pPr>
            <a:r>
              <a:rPr lang="en-AU" i="1" dirty="0" smtClean="0">
                <a:ea typeface="+mn-ea"/>
              </a:rPr>
              <a:t>Or </a:t>
            </a:r>
            <a:r>
              <a:rPr lang="en-AU" dirty="0" smtClean="0">
                <a:ea typeface="+mn-ea"/>
              </a:rPr>
              <a:t>g(</a:t>
            </a:r>
            <a:r>
              <a:rPr lang="en-AU" i="1" dirty="0" smtClean="0">
                <a:ea typeface="+mn-ea"/>
              </a:rPr>
              <a:t>x)</a:t>
            </a:r>
            <a:r>
              <a:rPr lang="en-AU" dirty="0" smtClean="0">
                <a:ea typeface="+mn-ea"/>
              </a:rPr>
              <a:t> is a </a:t>
            </a:r>
            <a:r>
              <a:rPr lang="en-AU" b="1" dirty="0" smtClean="0">
                <a:ea typeface="+mn-ea"/>
              </a:rPr>
              <a:t>divisor </a:t>
            </a:r>
            <a:r>
              <a:rPr lang="en-AU" dirty="0" smtClean="0">
                <a:ea typeface="+mn-ea"/>
              </a:rPr>
              <a:t>of </a:t>
            </a:r>
            <a:r>
              <a:rPr lang="en-AU" i="1" dirty="0" smtClean="0">
                <a:ea typeface="+mn-ea"/>
              </a:rPr>
              <a:t>f(x)</a:t>
            </a:r>
          </a:p>
          <a:p>
            <a:pPr lvl="1" fontAlgn="auto">
              <a:spcAft>
                <a:spcPts val="0"/>
              </a:spcAft>
              <a:buFont typeface="Candara" pitchFamily="34" charset="0"/>
              <a:buChar char="•"/>
              <a:defRPr/>
            </a:pPr>
            <a:endParaRPr lang="en-AU" dirty="0" smtClean="0">
              <a:ea typeface="+mn-ea"/>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A polynomial </a:t>
            </a:r>
            <a:r>
              <a:rPr lang="en-US" i="1" dirty="0" smtClean="0">
                <a:ea typeface="+mn-ea"/>
                <a:cs typeface="+mn-cs"/>
              </a:rPr>
              <a:t>f(x) </a:t>
            </a:r>
            <a:r>
              <a:rPr lang="en-US" dirty="0" smtClean="0">
                <a:ea typeface="+mn-ea"/>
                <a:cs typeface="+mn-cs"/>
              </a:rPr>
              <a:t>over a field </a:t>
            </a:r>
            <a:r>
              <a:rPr lang="en-US" i="1" dirty="0" smtClean="0">
                <a:ea typeface="+mn-ea"/>
                <a:cs typeface="+mn-cs"/>
              </a:rPr>
              <a:t>F </a:t>
            </a:r>
            <a:r>
              <a:rPr lang="en-US" dirty="0" smtClean="0">
                <a:ea typeface="+mn-ea"/>
                <a:cs typeface="+mn-cs"/>
              </a:rPr>
              <a:t>is called </a:t>
            </a:r>
            <a:r>
              <a:rPr lang="en-US" b="1" dirty="0" smtClean="0">
                <a:ea typeface="+mn-ea"/>
                <a:cs typeface="+mn-cs"/>
              </a:rPr>
              <a:t>irreducible </a:t>
            </a:r>
            <a:r>
              <a:rPr lang="en-US" dirty="0" smtClean="0">
                <a:ea typeface="+mn-ea"/>
                <a:cs typeface="+mn-cs"/>
              </a:rPr>
              <a:t>if and only if </a:t>
            </a:r>
            <a:r>
              <a:rPr lang="en-US" i="1" dirty="0" smtClean="0">
                <a:ea typeface="+mn-ea"/>
                <a:cs typeface="+mn-cs"/>
              </a:rPr>
              <a:t>f(x) </a:t>
            </a:r>
            <a:r>
              <a:rPr lang="en-US" dirty="0" smtClean="0">
                <a:solidFill>
                  <a:srgbClr val="FF0000"/>
                </a:solidFill>
                <a:ea typeface="+mn-ea"/>
                <a:cs typeface="+mn-cs"/>
              </a:rPr>
              <a:t>cannot</a:t>
            </a:r>
            <a:r>
              <a:rPr lang="en-US" dirty="0" smtClean="0">
                <a:ea typeface="+mn-ea"/>
                <a:cs typeface="+mn-cs"/>
              </a:rPr>
              <a:t> be expressed as a product of two polynomials, both over </a:t>
            </a:r>
            <a:r>
              <a:rPr lang="en-US" i="1" dirty="0" smtClean="0">
                <a:ea typeface="+mn-ea"/>
                <a:cs typeface="+mn-cs"/>
              </a:rPr>
              <a:t>F, </a:t>
            </a:r>
            <a:r>
              <a:rPr lang="en-US" dirty="0" smtClean="0">
                <a:ea typeface="+mn-ea"/>
                <a:cs typeface="+mn-cs"/>
              </a:rPr>
              <a:t>and both of degree lower than that of </a:t>
            </a:r>
            <a:r>
              <a:rPr lang="en-US" i="1" dirty="0" smtClean="0">
                <a:ea typeface="+mn-ea"/>
                <a:cs typeface="+mn-cs"/>
              </a:rPr>
              <a:t>f(x)</a:t>
            </a:r>
          </a:p>
          <a:p>
            <a:pPr lvl="1" fontAlgn="auto">
              <a:spcAft>
                <a:spcPts val="0"/>
              </a:spcAft>
              <a:buFont typeface="Candara" pitchFamily="34" charset="0"/>
              <a:buChar char="•"/>
              <a:defRPr/>
            </a:pPr>
            <a:r>
              <a:rPr lang="en-US" dirty="0" smtClean="0">
                <a:ea typeface="+mn-ea"/>
              </a:rPr>
              <a:t>An irreducible polynomial is also called a </a:t>
            </a:r>
            <a:r>
              <a:rPr lang="en-US" b="1" dirty="0" smtClean="0">
                <a:ea typeface="+mn-ea"/>
              </a:rPr>
              <a:t>prime polynomial</a:t>
            </a:r>
            <a:endParaRPr lang="en-AU" b="1" dirty="0">
              <a:ea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marL="0" indent="0">
              <a:buNone/>
            </a:pPr>
            <a:r>
              <a:rPr lang="en-US" b="1" u="sng" dirty="0" smtClean="0"/>
              <a:t>E.g. 1</a:t>
            </a:r>
          </a:p>
          <a:p>
            <a:pPr marL="0" indent="0">
              <a:buNone/>
            </a:pPr>
            <a:r>
              <a:rPr lang="en-US" dirty="0" smtClean="0"/>
              <a:t>f(x</a:t>
            </a:r>
            <a:r>
              <a:rPr lang="en-US" dirty="0"/>
              <a:t>) = x</a:t>
            </a:r>
            <a:r>
              <a:rPr lang="en-US" baseline="30000" dirty="0"/>
              <a:t>3</a:t>
            </a:r>
            <a:r>
              <a:rPr lang="en-US" dirty="0"/>
              <a:t> + x</a:t>
            </a:r>
            <a:r>
              <a:rPr lang="en-US" baseline="30000" dirty="0"/>
              <a:t>2</a:t>
            </a:r>
            <a:r>
              <a:rPr lang="en-US" dirty="0"/>
              <a:t> + 2 </a:t>
            </a:r>
            <a:endParaRPr lang="en-US" dirty="0" smtClean="0"/>
          </a:p>
          <a:p>
            <a:pPr marL="0" indent="0">
              <a:buNone/>
            </a:pPr>
            <a:r>
              <a:rPr lang="en-US" dirty="0" smtClean="0"/>
              <a:t>g(x</a:t>
            </a:r>
            <a:r>
              <a:rPr lang="en-US" dirty="0"/>
              <a:t>) = x</a:t>
            </a:r>
            <a:r>
              <a:rPr lang="en-US" baseline="30000" dirty="0"/>
              <a:t>2</a:t>
            </a:r>
            <a:r>
              <a:rPr lang="en-US" dirty="0"/>
              <a:t> - x + </a:t>
            </a:r>
            <a:r>
              <a:rPr lang="en-US" dirty="0" smtClean="0"/>
              <a:t>1</a:t>
            </a:r>
          </a:p>
          <a:p>
            <a:pPr marL="0" indent="0">
              <a:buNone/>
            </a:pPr>
            <a:r>
              <a:rPr lang="en-US" dirty="0" smtClean="0"/>
              <a:t>f(x</a:t>
            </a:r>
            <a:r>
              <a:rPr lang="en-US" dirty="0"/>
              <a:t>)/</a:t>
            </a:r>
            <a:r>
              <a:rPr lang="en-US" dirty="0" smtClean="0"/>
              <a:t>g(x) produces </a:t>
            </a:r>
            <a:r>
              <a:rPr lang="en-US" dirty="0"/>
              <a:t>a quotient of q(x) = x + 2 and a remainder r(x) = </a:t>
            </a:r>
            <a:r>
              <a:rPr lang="en-US" dirty="0" smtClean="0"/>
              <a:t>x. </a:t>
            </a:r>
          </a:p>
          <a:p>
            <a:pPr marL="0" indent="0">
              <a:buNone/>
            </a:pPr>
            <a:endParaRPr lang="en-US" dirty="0"/>
          </a:p>
        </p:txBody>
      </p:sp>
    </p:spTree>
    <p:extLst>
      <p:ext uri="{BB962C8B-B14F-4D97-AF65-F5344CB8AC3E}">
        <p14:creationId xmlns:p14="http://schemas.microsoft.com/office/powerpoint/2010/main" val="7059119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3"/>
          <p:cNvSpPr>
            <a:spLocks noGrp="1"/>
          </p:cNvSpPr>
          <p:nvPr>
            <p:ph type="title"/>
          </p:nvPr>
        </p:nvSpPr>
        <p:spPr>
          <a:xfrm>
            <a:off x="323528" y="332656"/>
            <a:ext cx="3613150" cy="1224136"/>
          </a:xfrm>
        </p:spPr>
        <p:txBody>
          <a:bodyPr/>
          <a:lstStyle/>
          <a:p>
            <a:r>
              <a:rPr lang="en-US" u="sng" dirty="0" smtClean="0"/>
              <a:t>E.g.2</a:t>
            </a:r>
            <a:r>
              <a:rPr lang="en-US" dirty="0" smtClean="0"/>
              <a:t/>
            </a:r>
            <a:br>
              <a:rPr lang="en-US" dirty="0" smtClean="0"/>
            </a:br>
            <a:r>
              <a:rPr lang="en-US" dirty="0" smtClean="0"/>
              <a:t>Polynomial Arithmetic </a:t>
            </a:r>
            <a:br>
              <a:rPr lang="en-US" dirty="0" smtClean="0"/>
            </a:br>
            <a:r>
              <a:rPr lang="en-US" dirty="0" smtClean="0"/>
              <a:t>Over GF(2)</a:t>
            </a:r>
          </a:p>
        </p:txBody>
      </p:sp>
      <p:sp>
        <p:nvSpPr>
          <p:cNvPr id="107523" name="Text Placeholder 9"/>
          <p:cNvSpPr>
            <a:spLocks noGrp="1"/>
          </p:cNvSpPr>
          <p:nvPr>
            <p:ph type="body" sz="half" idx="2"/>
          </p:nvPr>
        </p:nvSpPr>
        <p:spPr>
          <a:xfrm>
            <a:off x="381000" y="5410200"/>
            <a:ext cx="3613150" cy="1447800"/>
          </a:xfrm>
        </p:spPr>
        <p:txBody>
          <a:bodyPr/>
          <a:lstStyle/>
          <a:p>
            <a:pPr algn="l"/>
            <a:r>
              <a:rPr lang="en-US" dirty="0" smtClean="0"/>
              <a:t>(Figure 4.4 can be found on page 110 in the textbook)</a:t>
            </a:r>
          </a:p>
        </p:txBody>
      </p:sp>
      <p:sp>
        <p:nvSpPr>
          <p:cNvPr id="2" name="TextBox 1"/>
          <p:cNvSpPr txBox="1"/>
          <p:nvPr/>
        </p:nvSpPr>
        <p:spPr>
          <a:xfrm>
            <a:off x="395536" y="1772816"/>
            <a:ext cx="3531736" cy="2585323"/>
          </a:xfrm>
          <a:prstGeom prst="rect">
            <a:avLst/>
          </a:prstGeom>
          <a:noFill/>
        </p:spPr>
        <p:txBody>
          <a:bodyPr wrap="none" rtlCol="0">
            <a:spAutoFit/>
          </a:bodyPr>
          <a:lstStyle/>
          <a:p>
            <a:r>
              <a:rPr lang="en-US" i="1" dirty="0"/>
              <a:t>f</a:t>
            </a:r>
            <a:r>
              <a:rPr lang="en-US" dirty="0"/>
              <a:t>(</a:t>
            </a:r>
            <a:r>
              <a:rPr lang="en-US" i="1" dirty="0"/>
              <a:t>x</a:t>
            </a:r>
            <a:r>
              <a:rPr lang="en-US" dirty="0"/>
              <a:t>) = (</a:t>
            </a:r>
            <a:r>
              <a:rPr lang="en-US" i="1" dirty="0"/>
              <a:t>x</a:t>
            </a:r>
            <a:r>
              <a:rPr lang="en-US" dirty="0"/>
              <a:t>7 + </a:t>
            </a:r>
            <a:r>
              <a:rPr lang="en-US" i="1" dirty="0"/>
              <a:t>x</a:t>
            </a:r>
            <a:r>
              <a:rPr lang="en-US" dirty="0"/>
              <a:t>5 + </a:t>
            </a:r>
            <a:r>
              <a:rPr lang="en-US" i="1" dirty="0"/>
              <a:t>x</a:t>
            </a:r>
            <a:r>
              <a:rPr lang="en-US" dirty="0"/>
              <a:t>4 + </a:t>
            </a:r>
            <a:r>
              <a:rPr lang="en-US" i="1" dirty="0"/>
              <a:t>x</a:t>
            </a:r>
            <a:r>
              <a:rPr lang="en-US" dirty="0"/>
              <a:t>3 + </a:t>
            </a:r>
            <a:r>
              <a:rPr lang="en-US" i="1" dirty="0"/>
              <a:t>x </a:t>
            </a:r>
            <a:r>
              <a:rPr lang="en-US" dirty="0"/>
              <a:t>+ 1) </a:t>
            </a:r>
            <a:endParaRPr lang="en-US" dirty="0" smtClean="0"/>
          </a:p>
          <a:p>
            <a:r>
              <a:rPr lang="en-US" i="1" dirty="0" smtClean="0"/>
              <a:t>g</a:t>
            </a:r>
            <a:r>
              <a:rPr lang="en-US" dirty="0" smtClean="0"/>
              <a:t>(</a:t>
            </a:r>
            <a:r>
              <a:rPr lang="en-US" i="1" dirty="0" smtClean="0"/>
              <a:t>x</a:t>
            </a:r>
            <a:r>
              <a:rPr lang="en-US" dirty="0"/>
              <a:t>) = (</a:t>
            </a:r>
            <a:r>
              <a:rPr lang="en-US" i="1" dirty="0"/>
              <a:t>x</a:t>
            </a:r>
            <a:r>
              <a:rPr lang="en-US" dirty="0"/>
              <a:t>3 + </a:t>
            </a:r>
            <a:r>
              <a:rPr lang="en-US" i="1" dirty="0"/>
              <a:t>x </a:t>
            </a:r>
            <a:r>
              <a:rPr lang="en-US" dirty="0"/>
              <a:t>+ 1), </a:t>
            </a:r>
            <a:endParaRPr lang="en-US" dirty="0" smtClean="0"/>
          </a:p>
          <a:p>
            <a:r>
              <a:rPr lang="en-US" dirty="0"/>
              <a:t>Note that </a:t>
            </a:r>
            <a:r>
              <a:rPr lang="en-US" i="1" dirty="0"/>
              <a:t>g</a:t>
            </a:r>
            <a:r>
              <a:rPr lang="en-US" dirty="0"/>
              <a:t>(</a:t>
            </a:r>
            <a:r>
              <a:rPr lang="en-US" i="1" dirty="0"/>
              <a:t>x</a:t>
            </a:r>
            <a:r>
              <a:rPr lang="en-US" dirty="0"/>
              <a:t>)  </a:t>
            </a:r>
            <a:r>
              <a:rPr lang="en-US" i="1" dirty="0"/>
              <a:t>f</a:t>
            </a:r>
            <a:r>
              <a:rPr lang="en-US" dirty="0"/>
              <a:t>(</a:t>
            </a:r>
            <a:r>
              <a:rPr lang="en-US" i="1" dirty="0"/>
              <a:t>x</a:t>
            </a:r>
            <a:r>
              <a:rPr lang="en-US" dirty="0"/>
              <a:t>).</a:t>
            </a:r>
          </a:p>
          <a:p>
            <a:endParaRPr lang="en-US" dirty="0" smtClean="0"/>
          </a:p>
          <a:p>
            <a:endParaRPr lang="en-US" dirty="0"/>
          </a:p>
          <a:p>
            <a:r>
              <a:rPr lang="en-US" i="1" dirty="0"/>
              <a:t>f</a:t>
            </a:r>
            <a:r>
              <a:rPr lang="en-US" dirty="0"/>
              <a:t>(</a:t>
            </a:r>
            <a:r>
              <a:rPr lang="en-US" i="1" dirty="0"/>
              <a:t>x</a:t>
            </a:r>
            <a:r>
              <a:rPr lang="en-US" dirty="0"/>
              <a:t>) + </a:t>
            </a:r>
            <a:r>
              <a:rPr lang="en-US" i="1" dirty="0"/>
              <a:t>g</a:t>
            </a:r>
            <a:r>
              <a:rPr lang="en-US" dirty="0"/>
              <a:t>(</a:t>
            </a:r>
            <a:r>
              <a:rPr lang="en-US" i="1" dirty="0"/>
              <a:t>x</a:t>
            </a:r>
            <a:r>
              <a:rPr lang="en-US" dirty="0"/>
              <a:t>); </a:t>
            </a:r>
            <a:endParaRPr lang="en-US" dirty="0" smtClean="0"/>
          </a:p>
          <a:p>
            <a:r>
              <a:rPr lang="en-US" i="1" dirty="0" smtClean="0"/>
              <a:t>f</a:t>
            </a:r>
            <a:r>
              <a:rPr lang="en-US" dirty="0" smtClean="0"/>
              <a:t>(</a:t>
            </a:r>
            <a:r>
              <a:rPr lang="en-US" i="1" dirty="0" smtClean="0"/>
              <a:t>x</a:t>
            </a:r>
            <a:r>
              <a:rPr lang="en-US" dirty="0"/>
              <a:t>) - </a:t>
            </a:r>
            <a:r>
              <a:rPr lang="en-US" i="1" dirty="0"/>
              <a:t>g</a:t>
            </a:r>
            <a:r>
              <a:rPr lang="en-US" dirty="0"/>
              <a:t>(</a:t>
            </a:r>
            <a:r>
              <a:rPr lang="en-US" i="1" dirty="0"/>
              <a:t>x</a:t>
            </a:r>
            <a:r>
              <a:rPr lang="en-US" dirty="0"/>
              <a:t>); </a:t>
            </a:r>
            <a:endParaRPr lang="en-US" dirty="0" smtClean="0"/>
          </a:p>
          <a:p>
            <a:r>
              <a:rPr lang="en-US" i="1" dirty="0" smtClean="0"/>
              <a:t>f</a:t>
            </a:r>
            <a:r>
              <a:rPr lang="en-US" dirty="0" smtClean="0"/>
              <a:t>(</a:t>
            </a:r>
            <a:r>
              <a:rPr lang="en-US" i="1" dirty="0" smtClean="0"/>
              <a:t>x</a:t>
            </a:r>
            <a:r>
              <a:rPr lang="en-US" dirty="0"/>
              <a:t>) * </a:t>
            </a:r>
            <a:r>
              <a:rPr lang="en-US" i="1" dirty="0"/>
              <a:t>g</a:t>
            </a:r>
            <a:r>
              <a:rPr lang="en-US" dirty="0"/>
              <a:t>(</a:t>
            </a:r>
            <a:r>
              <a:rPr lang="en-US" i="1" dirty="0"/>
              <a:t>x</a:t>
            </a:r>
            <a:r>
              <a:rPr lang="en-US" dirty="0"/>
              <a:t>); </a:t>
            </a:r>
            <a:endParaRPr lang="en-US" dirty="0" smtClean="0"/>
          </a:p>
          <a:p>
            <a:r>
              <a:rPr lang="en-US" i="1" dirty="0" smtClean="0"/>
              <a:t>f</a:t>
            </a:r>
            <a:r>
              <a:rPr lang="en-US" dirty="0" smtClean="0"/>
              <a:t>(</a:t>
            </a:r>
            <a:r>
              <a:rPr lang="en-US" i="1" dirty="0" smtClean="0"/>
              <a:t>x</a:t>
            </a:r>
            <a:r>
              <a:rPr lang="en-US" dirty="0"/>
              <a:t>)/</a:t>
            </a:r>
            <a:r>
              <a:rPr lang="en-US" i="1" dirty="0"/>
              <a:t>g</a:t>
            </a:r>
            <a:r>
              <a:rPr lang="en-US" dirty="0"/>
              <a:t>(</a:t>
            </a:r>
            <a:r>
              <a:rPr lang="en-US" i="1" dirty="0"/>
              <a:t>x</a:t>
            </a:r>
            <a:r>
              <a:rPr lang="en-US" dirty="0"/>
              <a:t>).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188640"/>
            <a:ext cx="3600400" cy="2470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2334375"/>
            <a:ext cx="3849114" cy="2055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5825" y="4077072"/>
            <a:ext cx="3784480" cy="209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457200" y="274638"/>
            <a:ext cx="8229600" cy="778098"/>
          </a:xfrm>
        </p:spPr>
        <p:txBody>
          <a:bodyPr/>
          <a:lstStyle/>
          <a:p>
            <a:r>
              <a:rPr lang="en-US" dirty="0" smtClean="0"/>
              <a:t>Polynomial GCD</a:t>
            </a:r>
            <a:endParaRPr lang="en-AU" dirty="0" smtClean="0"/>
          </a:p>
        </p:txBody>
      </p:sp>
      <p:sp>
        <p:nvSpPr>
          <p:cNvPr id="78851" name="Rectangle 3"/>
          <p:cNvSpPr>
            <a:spLocks noGrp="1" noChangeArrowheads="1"/>
          </p:cNvSpPr>
          <p:nvPr>
            <p:ph idx="1"/>
          </p:nvPr>
        </p:nvSpPr>
        <p:spPr>
          <a:xfrm>
            <a:off x="467544" y="1196752"/>
            <a:ext cx="8208912" cy="4714875"/>
          </a:xfrm>
        </p:spPr>
        <p:txBody>
          <a:bodyPr rtlCol="0">
            <a:noAutofit/>
          </a:bodyPr>
          <a:lstStyle/>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The polynomial </a:t>
            </a:r>
            <a:r>
              <a:rPr lang="en-US" sz="2400" i="1" dirty="0" smtClean="0">
                <a:ea typeface="+mn-ea"/>
                <a:cs typeface="+mn-cs"/>
              </a:rPr>
              <a:t>c(x)</a:t>
            </a:r>
            <a:r>
              <a:rPr lang="en-US" sz="2400" b="1" i="1" dirty="0" smtClean="0">
                <a:ea typeface="+mn-ea"/>
                <a:cs typeface="+mn-cs"/>
              </a:rPr>
              <a:t> </a:t>
            </a:r>
            <a:r>
              <a:rPr lang="en-US" sz="2400" dirty="0" smtClean="0">
                <a:ea typeface="+mn-ea"/>
                <a:cs typeface="+mn-cs"/>
              </a:rPr>
              <a:t>is said to be the </a:t>
            </a:r>
            <a:r>
              <a:rPr lang="en-US" sz="2400" dirty="0" smtClean="0">
                <a:solidFill>
                  <a:srgbClr val="FF0000"/>
                </a:solidFill>
                <a:ea typeface="+mn-ea"/>
                <a:cs typeface="+mn-cs"/>
              </a:rPr>
              <a:t>greatest common divisor</a:t>
            </a:r>
            <a:r>
              <a:rPr lang="en-US" sz="2400" dirty="0" smtClean="0">
                <a:ea typeface="+mn-ea"/>
                <a:cs typeface="+mn-cs"/>
              </a:rPr>
              <a:t> GCD of </a:t>
            </a:r>
            <a:r>
              <a:rPr lang="en-US" sz="2400" i="1" dirty="0" smtClean="0">
                <a:ea typeface="+mn-ea"/>
                <a:cs typeface="+mn-cs"/>
              </a:rPr>
              <a:t>a(x) </a:t>
            </a:r>
            <a:r>
              <a:rPr lang="en-US" sz="2400" dirty="0" smtClean="0">
                <a:ea typeface="+mn-ea"/>
                <a:cs typeface="+mn-cs"/>
              </a:rPr>
              <a:t>and </a:t>
            </a:r>
            <a:r>
              <a:rPr lang="en-US" sz="2400" i="1" dirty="0" smtClean="0">
                <a:ea typeface="+mn-ea"/>
                <a:cs typeface="+mn-cs"/>
              </a:rPr>
              <a:t>b(x) </a:t>
            </a:r>
            <a:r>
              <a:rPr lang="en-US" sz="2400" dirty="0" smtClean="0">
                <a:ea typeface="+mn-ea"/>
                <a:cs typeface="+mn-cs"/>
              </a:rPr>
              <a:t>if the following are true:</a:t>
            </a:r>
          </a:p>
          <a:p>
            <a:pPr lvl="1" fontAlgn="auto">
              <a:spcAft>
                <a:spcPts val="0"/>
              </a:spcAft>
              <a:buFont typeface="Candara" pitchFamily="34" charset="0"/>
              <a:buChar char="•"/>
              <a:defRPr/>
            </a:pPr>
            <a:r>
              <a:rPr lang="en-US" sz="2000" i="1" dirty="0" smtClean="0">
                <a:ea typeface="+mn-ea"/>
              </a:rPr>
              <a:t>c(x) </a:t>
            </a:r>
            <a:r>
              <a:rPr lang="en-US" sz="2000" dirty="0" smtClean="0">
                <a:ea typeface="+mn-ea"/>
              </a:rPr>
              <a:t>divides both </a:t>
            </a:r>
            <a:r>
              <a:rPr lang="en-US" sz="2000" i="1" dirty="0" smtClean="0">
                <a:ea typeface="+mn-ea"/>
              </a:rPr>
              <a:t>a(x)</a:t>
            </a:r>
            <a:r>
              <a:rPr lang="en-US" sz="2000" dirty="0" smtClean="0">
                <a:ea typeface="+mn-ea"/>
              </a:rPr>
              <a:t> and </a:t>
            </a:r>
            <a:r>
              <a:rPr lang="en-US" sz="2000" i="1" dirty="0" smtClean="0">
                <a:ea typeface="+mn-ea"/>
              </a:rPr>
              <a:t>b(x)</a:t>
            </a:r>
          </a:p>
          <a:p>
            <a:pPr lvl="1" fontAlgn="auto">
              <a:spcAft>
                <a:spcPts val="0"/>
              </a:spcAft>
              <a:buFont typeface="Candara" pitchFamily="34" charset="0"/>
              <a:buChar char="•"/>
              <a:defRPr/>
            </a:pPr>
            <a:r>
              <a:rPr lang="en-US" sz="2000" dirty="0" smtClean="0">
                <a:ea typeface="+mn-ea"/>
              </a:rPr>
              <a:t>Any divisor of </a:t>
            </a:r>
            <a:r>
              <a:rPr lang="en-US" sz="2000" i="1" dirty="0" smtClean="0">
                <a:ea typeface="+mn-ea"/>
              </a:rPr>
              <a:t>a(x)</a:t>
            </a:r>
            <a:r>
              <a:rPr lang="en-US" sz="2000" dirty="0" smtClean="0">
                <a:ea typeface="+mn-ea"/>
              </a:rPr>
              <a:t> and </a:t>
            </a:r>
            <a:r>
              <a:rPr lang="en-US" sz="2000" i="1" dirty="0" smtClean="0">
                <a:ea typeface="+mn-ea"/>
              </a:rPr>
              <a:t>b(x)</a:t>
            </a:r>
            <a:r>
              <a:rPr lang="en-US" sz="2000" dirty="0" smtClean="0">
                <a:ea typeface="+mn-ea"/>
              </a:rPr>
              <a:t> is a divisor of </a:t>
            </a:r>
            <a:r>
              <a:rPr lang="en-US" sz="2000" i="1" dirty="0" smtClean="0">
                <a:ea typeface="+mn-ea"/>
              </a:rPr>
              <a:t>c(x)</a:t>
            </a:r>
          </a:p>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An equivalent definition is: </a:t>
            </a:r>
          </a:p>
          <a:p>
            <a:pPr lvl="1" fontAlgn="auto">
              <a:spcAft>
                <a:spcPts val="0"/>
              </a:spcAft>
              <a:buFont typeface="Candara" pitchFamily="34" charset="0"/>
              <a:buChar char="•"/>
              <a:defRPr/>
            </a:pPr>
            <a:r>
              <a:rPr lang="en-US" sz="2000" dirty="0" smtClean="0">
                <a:ea typeface="+mn-ea"/>
              </a:rPr>
              <a:t>gcd[</a:t>
            </a:r>
            <a:r>
              <a:rPr lang="en-US" sz="2000" i="1" dirty="0" smtClean="0">
                <a:ea typeface="+mn-ea"/>
              </a:rPr>
              <a:t>a(x), b(x)</a:t>
            </a:r>
            <a:r>
              <a:rPr lang="en-US" sz="2000" dirty="0" smtClean="0">
                <a:ea typeface="+mn-ea"/>
              </a:rPr>
              <a:t>]</a:t>
            </a:r>
            <a:r>
              <a:rPr lang="en-US" sz="2000" i="1" dirty="0" smtClean="0">
                <a:ea typeface="+mn-ea"/>
              </a:rPr>
              <a:t> </a:t>
            </a:r>
            <a:r>
              <a:rPr lang="en-US" sz="2000" dirty="0" smtClean="0">
                <a:ea typeface="+mn-ea"/>
              </a:rPr>
              <a:t>is the polynomial of maximum degree that divides both </a:t>
            </a:r>
            <a:r>
              <a:rPr lang="en-US" sz="2000" i="1" dirty="0" smtClean="0">
                <a:ea typeface="+mn-ea"/>
              </a:rPr>
              <a:t>a(x)</a:t>
            </a:r>
            <a:r>
              <a:rPr lang="en-US" sz="2000" dirty="0" smtClean="0">
                <a:ea typeface="+mn-ea"/>
              </a:rPr>
              <a:t> and </a:t>
            </a:r>
            <a:r>
              <a:rPr lang="en-US" sz="2000" i="1" dirty="0" smtClean="0">
                <a:ea typeface="+mn-ea"/>
              </a:rPr>
              <a:t>b(x)</a:t>
            </a:r>
          </a:p>
          <a:p>
            <a:pPr lvl="1" fontAlgn="auto">
              <a:spcAft>
                <a:spcPts val="0"/>
              </a:spcAft>
              <a:buFont typeface="Candara" pitchFamily="34" charset="0"/>
              <a:buChar char="•"/>
              <a:defRPr/>
            </a:pPr>
            <a:endParaRPr lang="en-US" sz="2000" i="1" dirty="0" smtClean="0">
              <a:ea typeface="+mn-ea"/>
            </a:endParaRPr>
          </a:p>
          <a:p>
            <a:pPr fontAlgn="auto">
              <a:spcAft>
                <a:spcPts val="0"/>
              </a:spcAft>
              <a:buClr>
                <a:schemeClr val="accent1">
                  <a:lumMod val="60000"/>
                  <a:lumOff val="40000"/>
                </a:schemeClr>
              </a:buClr>
              <a:buFont typeface="Candara" pitchFamily="34" charset="0"/>
              <a:buChar char="•"/>
              <a:defRPr/>
            </a:pPr>
            <a:endParaRPr lang="en-US" sz="2400"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sz="2400" dirty="0" smtClean="0">
                <a:ea typeface="+mn-ea"/>
                <a:cs typeface="+mn-cs"/>
              </a:rPr>
              <a:t>The Euclidean algorithm can be extended to find the greatest common divisor of two polynomials whose coefficients are elements of a field</a:t>
            </a:r>
            <a:endParaRPr lang="en-AU" sz="2400" dirty="0">
              <a:ea typeface="+mn-ea"/>
              <a:cs typeface="+mn-cs"/>
            </a:endParaRPr>
          </a:p>
        </p:txBody>
      </p:sp>
      <p:sp>
        <p:nvSpPr>
          <p:cNvPr id="4" name="TextBox 3"/>
          <p:cNvSpPr txBox="1"/>
          <p:nvPr/>
        </p:nvSpPr>
        <p:spPr>
          <a:xfrm>
            <a:off x="2483768" y="4037340"/>
            <a:ext cx="4709944" cy="400110"/>
          </a:xfrm>
          <a:prstGeom prst="rect">
            <a:avLst/>
          </a:prstGeom>
          <a:solidFill>
            <a:schemeClr val="accent6">
              <a:lumMod val="20000"/>
              <a:lumOff val="80000"/>
            </a:schemeClr>
          </a:solidFill>
          <a:ln>
            <a:solidFill>
              <a:srgbClr val="C00000"/>
            </a:solidFill>
          </a:ln>
        </p:spPr>
        <p:txBody>
          <a:bodyPr wrap="none" rtlCol="0">
            <a:spAutoFit/>
          </a:bodyPr>
          <a:lstStyle/>
          <a:p>
            <a:r>
              <a:rPr lang="en-US" sz="2000" dirty="0" err="1"/>
              <a:t>gcd</a:t>
            </a:r>
            <a:r>
              <a:rPr lang="en-US" sz="2000" dirty="0"/>
              <a:t>[</a:t>
            </a:r>
            <a:r>
              <a:rPr lang="en-US" sz="2000" i="1" dirty="0"/>
              <a:t>a</a:t>
            </a:r>
            <a:r>
              <a:rPr lang="en-US" sz="2000" dirty="0"/>
              <a:t>(</a:t>
            </a:r>
            <a:r>
              <a:rPr lang="en-US" sz="2000" i="1" dirty="0"/>
              <a:t>x</a:t>
            </a:r>
            <a:r>
              <a:rPr lang="en-US" sz="2000" dirty="0"/>
              <a:t>), </a:t>
            </a:r>
            <a:r>
              <a:rPr lang="en-US" sz="2000" i="1" dirty="0"/>
              <a:t>b</a:t>
            </a:r>
            <a:r>
              <a:rPr lang="en-US" sz="2000" dirty="0"/>
              <a:t>(</a:t>
            </a:r>
            <a:r>
              <a:rPr lang="en-US" sz="2000" i="1" dirty="0"/>
              <a:t>x</a:t>
            </a:r>
            <a:r>
              <a:rPr lang="en-US" sz="2000" dirty="0"/>
              <a:t>)] = </a:t>
            </a:r>
            <a:r>
              <a:rPr lang="en-US" sz="2000" dirty="0" err="1"/>
              <a:t>gcd</a:t>
            </a:r>
            <a:r>
              <a:rPr lang="en-US" sz="2000" dirty="0"/>
              <a:t>[</a:t>
            </a:r>
            <a:r>
              <a:rPr lang="en-US" sz="2000" i="1" dirty="0"/>
              <a:t>b</a:t>
            </a:r>
            <a:r>
              <a:rPr lang="en-US" sz="2000" dirty="0"/>
              <a:t>(</a:t>
            </a:r>
            <a:r>
              <a:rPr lang="en-US" sz="2000" i="1" dirty="0"/>
              <a:t>x</a:t>
            </a:r>
            <a:r>
              <a:rPr lang="en-US" sz="2000" dirty="0"/>
              <a:t>), </a:t>
            </a:r>
            <a:r>
              <a:rPr lang="en-US" sz="2000" i="1" dirty="0"/>
              <a:t>a</a:t>
            </a:r>
            <a:r>
              <a:rPr lang="en-US" sz="2000" dirty="0"/>
              <a:t>(</a:t>
            </a:r>
            <a:r>
              <a:rPr lang="en-US" sz="2000" i="1" dirty="0"/>
              <a:t>x</a:t>
            </a:r>
            <a:r>
              <a:rPr lang="en-US" sz="2000" dirty="0"/>
              <a:t>) mod </a:t>
            </a:r>
            <a:r>
              <a:rPr lang="en-US" sz="2000" i="1" dirty="0"/>
              <a:t>b</a:t>
            </a:r>
            <a:r>
              <a:rPr lang="en-US" sz="2000" dirty="0"/>
              <a:t>(</a:t>
            </a:r>
            <a:r>
              <a:rPr lang="en-US" sz="2000" i="1" dirty="0"/>
              <a:t>x</a:t>
            </a:r>
            <a:r>
              <a:rPr lang="en-US" sz="2000" dirty="0"/>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Euclidean Algorithm for Polynomials</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0705" y="2132856"/>
            <a:ext cx="6116637"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234051" y="1628800"/>
            <a:ext cx="4709944" cy="400110"/>
          </a:xfrm>
          <a:prstGeom prst="rect">
            <a:avLst/>
          </a:prstGeom>
          <a:solidFill>
            <a:schemeClr val="accent6">
              <a:lumMod val="20000"/>
              <a:lumOff val="80000"/>
            </a:schemeClr>
          </a:solidFill>
          <a:ln>
            <a:solidFill>
              <a:srgbClr val="C00000"/>
            </a:solidFill>
          </a:ln>
        </p:spPr>
        <p:txBody>
          <a:bodyPr wrap="none" rtlCol="0">
            <a:spAutoFit/>
          </a:bodyPr>
          <a:lstStyle/>
          <a:p>
            <a:r>
              <a:rPr lang="en-US" sz="2000" dirty="0" err="1"/>
              <a:t>gcd</a:t>
            </a:r>
            <a:r>
              <a:rPr lang="en-US" sz="2000" dirty="0"/>
              <a:t>[</a:t>
            </a:r>
            <a:r>
              <a:rPr lang="en-US" sz="2000" i="1" dirty="0"/>
              <a:t>a</a:t>
            </a:r>
            <a:r>
              <a:rPr lang="en-US" sz="2000" dirty="0"/>
              <a:t>(</a:t>
            </a:r>
            <a:r>
              <a:rPr lang="en-US" sz="2000" i="1" dirty="0"/>
              <a:t>x</a:t>
            </a:r>
            <a:r>
              <a:rPr lang="en-US" sz="2000" dirty="0"/>
              <a:t>), </a:t>
            </a:r>
            <a:r>
              <a:rPr lang="en-US" sz="2000" i="1" dirty="0"/>
              <a:t>b</a:t>
            </a:r>
            <a:r>
              <a:rPr lang="en-US" sz="2000" dirty="0"/>
              <a:t>(</a:t>
            </a:r>
            <a:r>
              <a:rPr lang="en-US" sz="2000" i="1" dirty="0"/>
              <a:t>x</a:t>
            </a:r>
            <a:r>
              <a:rPr lang="en-US" sz="2000" dirty="0"/>
              <a:t>)] = </a:t>
            </a:r>
            <a:r>
              <a:rPr lang="en-US" sz="2000" dirty="0" err="1"/>
              <a:t>gcd</a:t>
            </a:r>
            <a:r>
              <a:rPr lang="en-US" sz="2000" dirty="0"/>
              <a:t>[</a:t>
            </a:r>
            <a:r>
              <a:rPr lang="en-US" sz="2000" i="1" dirty="0"/>
              <a:t>b</a:t>
            </a:r>
            <a:r>
              <a:rPr lang="en-US" sz="2000" dirty="0"/>
              <a:t>(</a:t>
            </a:r>
            <a:r>
              <a:rPr lang="en-US" sz="2000" i="1" dirty="0"/>
              <a:t>x</a:t>
            </a:r>
            <a:r>
              <a:rPr lang="en-US" sz="2000" dirty="0"/>
              <a:t>), </a:t>
            </a:r>
            <a:r>
              <a:rPr lang="en-US" sz="2000" i="1" dirty="0"/>
              <a:t>a</a:t>
            </a:r>
            <a:r>
              <a:rPr lang="en-US" sz="2000" dirty="0"/>
              <a:t>(</a:t>
            </a:r>
            <a:r>
              <a:rPr lang="en-US" sz="2000" i="1" dirty="0"/>
              <a:t>x</a:t>
            </a:r>
            <a:r>
              <a:rPr lang="en-US" sz="2000" dirty="0"/>
              <a:t>) mod </a:t>
            </a:r>
            <a:r>
              <a:rPr lang="en-US" sz="2000" i="1" dirty="0"/>
              <a:t>b</a:t>
            </a:r>
            <a:r>
              <a:rPr lang="en-US" sz="2000" dirty="0"/>
              <a:t>(</a:t>
            </a:r>
            <a:r>
              <a:rPr lang="en-US" sz="2000" i="1" dirty="0"/>
              <a:t>x</a:t>
            </a:r>
            <a:r>
              <a:rPr lang="en-US" sz="2000" dirty="0"/>
              <a:t>)]</a:t>
            </a:r>
          </a:p>
        </p:txBody>
      </p:sp>
    </p:spTree>
    <p:extLst>
      <p:ext uri="{BB962C8B-B14F-4D97-AF65-F5344CB8AC3E}">
        <p14:creationId xmlns:p14="http://schemas.microsoft.com/office/powerpoint/2010/main" val="25519988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p:txBody>
          <a:bodyPr/>
          <a:lstStyle/>
          <a:p>
            <a:pPr marL="0" indent="0">
              <a:buNone/>
            </a:pPr>
            <a:r>
              <a:rPr lang="en-US" dirty="0" smtClean="0"/>
              <a:t>Calculate </a:t>
            </a:r>
            <a:r>
              <a:rPr lang="en-US" dirty="0" err="1" smtClean="0"/>
              <a:t>gcd</a:t>
            </a:r>
            <a:r>
              <a:rPr lang="en-US" dirty="0" smtClean="0"/>
              <a:t>[a(x</a:t>
            </a:r>
            <a:r>
              <a:rPr lang="en-US" dirty="0"/>
              <a:t>), b(x</a:t>
            </a:r>
            <a:r>
              <a:rPr lang="en-US" dirty="0" smtClean="0"/>
              <a:t>)]</a:t>
            </a:r>
          </a:p>
          <a:p>
            <a:pPr lvl="1"/>
            <a:r>
              <a:rPr lang="pt-BR" dirty="0"/>
              <a:t>a(x) = x</a:t>
            </a:r>
            <a:r>
              <a:rPr lang="pt-BR" baseline="30000" dirty="0"/>
              <a:t>6</a:t>
            </a:r>
            <a:r>
              <a:rPr lang="pt-BR" dirty="0"/>
              <a:t> + x</a:t>
            </a:r>
            <a:r>
              <a:rPr lang="pt-BR" baseline="30000" dirty="0"/>
              <a:t>5</a:t>
            </a:r>
            <a:r>
              <a:rPr lang="pt-BR" dirty="0"/>
              <a:t> + x</a:t>
            </a:r>
            <a:r>
              <a:rPr lang="pt-BR" baseline="30000" dirty="0"/>
              <a:t>4</a:t>
            </a:r>
            <a:r>
              <a:rPr lang="pt-BR" dirty="0"/>
              <a:t> + x</a:t>
            </a:r>
            <a:r>
              <a:rPr lang="pt-BR" baseline="30000" dirty="0"/>
              <a:t>3</a:t>
            </a:r>
            <a:r>
              <a:rPr lang="pt-BR" dirty="0"/>
              <a:t> + x</a:t>
            </a:r>
            <a:r>
              <a:rPr lang="pt-BR" baseline="30000" dirty="0"/>
              <a:t>2</a:t>
            </a:r>
            <a:r>
              <a:rPr lang="pt-BR" dirty="0"/>
              <a:t> + x + </a:t>
            </a:r>
            <a:r>
              <a:rPr lang="pt-BR" dirty="0" smtClean="0"/>
              <a:t>1</a:t>
            </a:r>
          </a:p>
          <a:p>
            <a:pPr lvl="1"/>
            <a:r>
              <a:rPr lang="pt-BR" dirty="0" smtClean="0"/>
              <a:t>b(x</a:t>
            </a:r>
            <a:r>
              <a:rPr lang="pt-BR" dirty="0"/>
              <a:t>) = x</a:t>
            </a:r>
            <a:r>
              <a:rPr lang="pt-BR" baseline="30000" dirty="0"/>
              <a:t>4</a:t>
            </a:r>
            <a:r>
              <a:rPr lang="pt-BR" dirty="0"/>
              <a:t> + x</a:t>
            </a:r>
            <a:r>
              <a:rPr lang="pt-BR" baseline="30000" dirty="0"/>
              <a:t>2</a:t>
            </a:r>
            <a:r>
              <a:rPr lang="pt-BR" dirty="0"/>
              <a:t> + x + </a:t>
            </a:r>
            <a:r>
              <a:rPr lang="pt-BR" dirty="0" smtClean="0"/>
              <a:t>1</a:t>
            </a:r>
          </a:p>
          <a:p>
            <a:pPr lvl="1"/>
            <a:endParaRPr lang="pt-BR" dirty="0"/>
          </a:p>
          <a:p>
            <a:pPr marL="457200" lvl="1" indent="0">
              <a:buNone/>
            </a:pPr>
            <a:r>
              <a:rPr lang="pt-BR" dirty="0" smtClean="0"/>
              <a:t>= gcd(b(x), a(x)mod b(x))</a:t>
            </a:r>
          </a:p>
          <a:p>
            <a:pPr marL="457200" lvl="1" indent="0">
              <a:buNone/>
            </a:pPr>
            <a:r>
              <a:rPr lang="pt-BR" dirty="0" smtClean="0"/>
              <a:t>=gcd(</a:t>
            </a:r>
            <a:r>
              <a:rPr lang="pt-BR" dirty="0"/>
              <a:t>x</a:t>
            </a:r>
            <a:r>
              <a:rPr lang="pt-BR" baseline="30000" dirty="0"/>
              <a:t>4</a:t>
            </a:r>
            <a:r>
              <a:rPr lang="pt-BR" dirty="0"/>
              <a:t> + x</a:t>
            </a:r>
            <a:r>
              <a:rPr lang="pt-BR" baseline="30000" dirty="0"/>
              <a:t>2</a:t>
            </a:r>
            <a:r>
              <a:rPr lang="pt-BR" dirty="0"/>
              <a:t> + x + </a:t>
            </a:r>
            <a:r>
              <a:rPr lang="pt-BR" dirty="0" smtClean="0"/>
              <a:t>1, (</a:t>
            </a:r>
            <a:r>
              <a:rPr lang="pt-BR" dirty="0"/>
              <a:t>x</a:t>
            </a:r>
            <a:r>
              <a:rPr lang="pt-BR" baseline="30000" dirty="0"/>
              <a:t>6</a:t>
            </a:r>
            <a:r>
              <a:rPr lang="pt-BR" dirty="0"/>
              <a:t> + x</a:t>
            </a:r>
            <a:r>
              <a:rPr lang="pt-BR" baseline="30000" dirty="0"/>
              <a:t>5</a:t>
            </a:r>
            <a:r>
              <a:rPr lang="pt-BR" dirty="0"/>
              <a:t> + x</a:t>
            </a:r>
            <a:r>
              <a:rPr lang="pt-BR" baseline="30000" dirty="0"/>
              <a:t>4</a:t>
            </a:r>
            <a:r>
              <a:rPr lang="pt-BR" dirty="0"/>
              <a:t> + x</a:t>
            </a:r>
            <a:r>
              <a:rPr lang="pt-BR" baseline="30000" dirty="0"/>
              <a:t>3</a:t>
            </a:r>
            <a:r>
              <a:rPr lang="pt-BR" dirty="0"/>
              <a:t> + x</a:t>
            </a:r>
            <a:r>
              <a:rPr lang="pt-BR" baseline="30000" dirty="0"/>
              <a:t>2</a:t>
            </a:r>
            <a:r>
              <a:rPr lang="pt-BR" dirty="0"/>
              <a:t> + x + </a:t>
            </a:r>
            <a:r>
              <a:rPr lang="pt-BR" dirty="0" smtClean="0"/>
              <a:t>1) mod (</a:t>
            </a:r>
            <a:r>
              <a:rPr lang="pt-BR" dirty="0"/>
              <a:t>x</a:t>
            </a:r>
            <a:r>
              <a:rPr lang="pt-BR" baseline="30000" dirty="0"/>
              <a:t>4</a:t>
            </a:r>
            <a:r>
              <a:rPr lang="pt-BR" dirty="0"/>
              <a:t> + x</a:t>
            </a:r>
            <a:r>
              <a:rPr lang="pt-BR" baseline="30000" dirty="0"/>
              <a:t>2</a:t>
            </a:r>
            <a:r>
              <a:rPr lang="pt-BR" dirty="0"/>
              <a:t> + x + </a:t>
            </a:r>
            <a:r>
              <a:rPr lang="pt-BR" dirty="0" smtClean="0"/>
              <a:t>1</a:t>
            </a:r>
            <a:r>
              <a:rPr lang="pt-BR" smtClean="0"/>
              <a:t>) )</a:t>
            </a:r>
            <a:endParaRPr lang="pt-BR" dirty="0"/>
          </a:p>
          <a:p>
            <a:pPr marL="457200" lvl="1" indent="0">
              <a:buNone/>
            </a:pPr>
            <a:endParaRPr lang="pt-BR" dirty="0"/>
          </a:p>
          <a:p>
            <a:pPr marL="457200" lvl="1" indent="0">
              <a:buNone/>
            </a:pPr>
            <a:endParaRPr lang="en-US" dirty="0"/>
          </a:p>
        </p:txBody>
      </p:sp>
    </p:spTree>
    <p:extLst>
      <p:ext uri="{BB962C8B-B14F-4D97-AF65-F5344CB8AC3E}">
        <p14:creationId xmlns:p14="http://schemas.microsoft.com/office/powerpoint/2010/main" val="41141442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4"/>
          <p:cNvSpPr>
            <a:spLocks noGrp="1"/>
          </p:cNvSpPr>
          <p:nvPr>
            <p:ph type="title"/>
          </p:nvPr>
        </p:nvSpPr>
        <p:spPr>
          <a:xfrm>
            <a:off x="457200" y="274638"/>
            <a:ext cx="8229600" cy="634082"/>
          </a:xfrm>
        </p:spPr>
        <p:txBody>
          <a:bodyPr/>
          <a:lstStyle/>
          <a:p>
            <a:r>
              <a:rPr lang="en-US" sz="3600" dirty="0" smtClean="0"/>
              <a:t>Table 4.6(a) Arithmetic in GF(2</a:t>
            </a:r>
            <a:r>
              <a:rPr lang="en-US" sz="3600" baseline="30000" dirty="0" smtClean="0"/>
              <a:t>3</a:t>
            </a:r>
            <a:r>
              <a:rPr lang="en-US" sz="3600" dirty="0" smtClean="0"/>
              <a:t>)</a:t>
            </a:r>
          </a:p>
        </p:txBody>
      </p:sp>
      <p:pic>
        <p:nvPicPr>
          <p:cNvPr id="111619" name="Picture 7"/>
          <p:cNvPicPr>
            <a:picLocks noChangeAspect="1"/>
          </p:cNvPicPr>
          <p:nvPr/>
        </p:nvPicPr>
        <p:blipFill>
          <a:blip r:embed="rId3"/>
          <a:srcRect r="30000"/>
          <a:stretch>
            <a:fillRect/>
          </a:stretch>
        </p:blipFill>
        <p:spPr bwMode="auto">
          <a:xfrm>
            <a:off x="762000" y="1196752"/>
            <a:ext cx="7543800" cy="4872038"/>
          </a:xfrm>
          <a:prstGeom prst="rect">
            <a:avLst/>
          </a:prstGeom>
          <a:noFill/>
          <a:ln w="9525">
            <a:noFill/>
            <a:miter lim="800000"/>
            <a:headEnd/>
            <a:tailEnd/>
          </a:ln>
        </p:spPr>
      </p:pic>
      <p:sp>
        <p:nvSpPr>
          <p:cNvPr id="111620" name="TextBox 8"/>
          <p:cNvSpPr txBox="1">
            <a:spLocks noChangeArrowheads="1"/>
          </p:cNvSpPr>
          <p:nvPr/>
        </p:nvSpPr>
        <p:spPr bwMode="auto">
          <a:xfrm>
            <a:off x="4211960" y="5883846"/>
            <a:ext cx="1352550" cy="369888"/>
          </a:xfrm>
          <a:prstGeom prst="rect">
            <a:avLst/>
          </a:prstGeom>
          <a:noFill/>
          <a:ln w="9525">
            <a:noFill/>
            <a:miter lim="800000"/>
            <a:headEnd/>
            <a:tailEnd/>
          </a:ln>
        </p:spPr>
        <p:txBody>
          <a:bodyPr wrap="none">
            <a:prstTxWarp prst="textNoShape">
              <a:avLst/>
            </a:prstTxWarp>
            <a:spAutoFit/>
          </a:bodyPr>
          <a:lstStyle/>
          <a:p>
            <a:r>
              <a:rPr lang="en-US" dirty="0"/>
              <a:t>(a) Addition </a:t>
            </a:r>
          </a:p>
        </p:txBody>
      </p:sp>
    </p:spTree>
  </p:cSld>
  <p:clrMapOvr>
    <a:masterClrMapping/>
  </p:clrMapOvr>
  <p:transition spd="med">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4"/>
          <p:cNvSpPr>
            <a:spLocks noGrp="1"/>
          </p:cNvSpPr>
          <p:nvPr>
            <p:ph type="title"/>
          </p:nvPr>
        </p:nvSpPr>
        <p:spPr>
          <a:xfrm>
            <a:off x="457200" y="274638"/>
            <a:ext cx="8229600" cy="778098"/>
          </a:xfrm>
        </p:spPr>
        <p:txBody>
          <a:bodyPr/>
          <a:lstStyle/>
          <a:p>
            <a:r>
              <a:rPr lang="en-US" sz="3600" dirty="0" smtClean="0"/>
              <a:t>Table 4.6(b) Arithmetic in GF(2</a:t>
            </a:r>
            <a:r>
              <a:rPr lang="en-US" sz="3600" baseline="30000" dirty="0" smtClean="0"/>
              <a:t>3</a:t>
            </a:r>
            <a:r>
              <a:rPr lang="en-US" sz="3600" dirty="0" smtClean="0"/>
              <a:t>)</a:t>
            </a:r>
          </a:p>
        </p:txBody>
      </p:sp>
      <p:pic>
        <p:nvPicPr>
          <p:cNvPr id="113667" name="Picture 6"/>
          <p:cNvPicPr>
            <a:picLocks noChangeAspect="1"/>
          </p:cNvPicPr>
          <p:nvPr/>
        </p:nvPicPr>
        <p:blipFill>
          <a:blip r:embed="rId3"/>
          <a:srcRect r="28619"/>
          <a:stretch>
            <a:fillRect/>
          </a:stretch>
        </p:blipFill>
        <p:spPr bwMode="auto">
          <a:xfrm>
            <a:off x="914400" y="1052736"/>
            <a:ext cx="7543800" cy="4841875"/>
          </a:xfrm>
          <a:prstGeom prst="rect">
            <a:avLst/>
          </a:prstGeom>
          <a:noFill/>
          <a:ln w="9525">
            <a:noFill/>
            <a:miter lim="800000"/>
            <a:headEnd/>
            <a:tailEnd/>
          </a:ln>
        </p:spPr>
      </p:pic>
      <p:sp>
        <p:nvSpPr>
          <p:cNvPr id="113668" name="Rectangle 9"/>
          <p:cNvSpPr>
            <a:spLocks noChangeArrowheads="1"/>
          </p:cNvSpPr>
          <p:nvPr/>
        </p:nvSpPr>
        <p:spPr bwMode="auto">
          <a:xfrm>
            <a:off x="4211960" y="5894611"/>
            <a:ext cx="1865313" cy="369888"/>
          </a:xfrm>
          <a:prstGeom prst="rect">
            <a:avLst/>
          </a:prstGeom>
          <a:noFill/>
          <a:ln w="9525">
            <a:noFill/>
            <a:miter lim="800000"/>
            <a:headEnd/>
            <a:tailEnd/>
          </a:ln>
        </p:spPr>
        <p:txBody>
          <a:bodyPr wrap="none">
            <a:prstTxWarp prst="textNoShape">
              <a:avLst/>
            </a:prstTxWarp>
            <a:spAutoFit/>
          </a:bodyPr>
          <a:lstStyle/>
          <a:p>
            <a:r>
              <a:rPr lang="en-US" dirty="0"/>
              <a:t>(b) Multiplication </a:t>
            </a:r>
          </a:p>
        </p:txBody>
      </p:sp>
    </p:spTree>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4"/>
          <p:cNvSpPr>
            <a:spLocks noGrp="1"/>
          </p:cNvSpPr>
          <p:nvPr>
            <p:ph type="title"/>
          </p:nvPr>
        </p:nvSpPr>
        <p:spPr>
          <a:xfrm>
            <a:off x="381000" y="990600"/>
            <a:ext cx="3613150" cy="2819400"/>
          </a:xfrm>
        </p:spPr>
        <p:txBody>
          <a:bodyPr/>
          <a:lstStyle/>
          <a:p>
            <a:r>
              <a:rPr lang="en-US" sz="4000" dirty="0" smtClean="0"/>
              <a:t>Table 4.6(c)</a:t>
            </a:r>
            <a:br>
              <a:rPr lang="en-US" sz="4000" dirty="0" smtClean="0"/>
            </a:br>
            <a:r>
              <a:rPr lang="en-US" sz="4000" dirty="0" smtClean="0"/>
              <a:t/>
            </a:r>
            <a:br>
              <a:rPr lang="en-US" sz="4000" dirty="0" smtClean="0"/>
            </a:br>
            <a:r>
              <a:rPr lang="en-US" sz="4000" dirty="0" smtClean="0"/>
              <a:t>Arithmetic </a:t>
            </a:r>
            <a:br>
              <a:rPr lang="en-US" sz="4000" dirty="0" smtClean="0"/>
            </a:br>
            <a:r>
              <a:rPr lang="en-US" sz="4000" dirty="0" smtClean="0"/>
              <a:t>in GF(2</a:t>
            </a:r>
            <a:r>
              <a:rPr lang="en-US" sz="4000" baseline="30000" dirty="0" smtClean="0"/>
              <a:t>3</a:t>
            </a:r>
            <a:r>
              <a:rPr lang="en-US" sz="4000" dirty="0" smtClean="0"/>
              <a:t>)</a:t>
            </a:r>
          </a:p>
        </p:txBody>
      </p:sp>
      <p:pic>
        <p:nvPicPr>
          <p:cNvPr id="115715" name="Picture 5"/>
          <p:cNvPicPr>
            <a:picLocks noChangeAspect="1"/>
          </p:cNvPicPr>
          <p:nvPr/>
        </p:nvPicPr>
        <p:blipFill>
          <a:blip r:embed="rId3"/>
          <a:srcRect l="-3014" r="76820"/>
          <a:stretch>
            <a:fillRect/>
          </a:stretch>
        </p:blipFill>
        <p:spPr bwMode="auto">
          <a:xfrm>
            <a:off x="4648200" y="-685800"/>
            <a:ext cx="4191000" cy="7331075"/>
          </a:xfrm>
          <a:prstGeom prst="rect">
            <a:avLst/>
          </a:prstGeom>
          <a:noFill/>
          <a:ln w="9525">
            <a:noFill/>
            <a:miter lim="800000"/>
            <a:headEnd/>
            <a:tailEnd/>
          </a:ln>
        </p:spPr>
      </p:pic>
      <p:sp>
        <p:nvSpPr>
          <p:cNvPr id="115716" name="Rectangle 10"/>
          <p:cNvSpPr>
            <a:spLocks noChangeArrowheads="1"/>
          </p:cNvSpPr>
          <p:nvPr/>
        </p:nvSpPr>
        <p:spPr bwMode="auto">
          <a:xfrm>
            <a:off x="4648200" y="6353175"/>
            <a:ext cx="4191000" cy="369888"/>
          </a:xfrm>
          <a:prstGeom prst="rect">
            <a:avLst/>
          </a:prstGeom>
          <a:noFill/>
          <a:ln w="9525">
            <a:noFill/>
            <a:miter lim="800000"/>
            <a:headEnd/>
            <a:tailEnd/>
          </a:ln>
        </p:spPr>
        <p:txBody>
          <a:bodyPr>
            <a:prstTxWarp prst="textNoShape">
              <a:avLst/>
            </a:prstTxWarp>
            <a:spAutoFit/>
          </a:bodyPr>
          <a:lstStyle/>
          <a:p>
            <a:r>
              <a:rPr lang="en-US" dirty="0">
                <a:solidFill>
                  <a:srgbClr val="FFFF00"/>
                </a:solidFill>
              </a:rPr>
              <a:t>(c) Additive and multiplicative inverses</a:t>
            </a:r>
          </a:p>
        </p:txBody>
      </p:sp>
    </p:spTree>
  </p:cSld>
  <p:clrMapOvr>
    <a:masterClrMapping/>
  </p:clrMapOvr>
  <p:transition>
    <p:dissolv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3"/>
          <p:cNvPicPr>
            <a:picLocks noChangeAspect="1"/>
          </p:cNvPicPr>
          <p:nvPr/>
        </p:nvPicPr>
        <p:blipFill>
          <a:blip r:embed="rId3"/>
          <a:srcRect/>
          <a:stretch>
            <a:fillRect/>
          </a:stretch>
        </p:blipFill>
        <p:spPr bwMode="auto">
          <a:xfrm>
            <a:off x="292892" y="692696"/>
            <a:ext cx="8558213" cy="2373313"/>
          </a:xfrm>
          <a:prstGeom prst="rect">
            <a:avLst/>
          </a:prstGeom>
          <a:noFill/>
          <a:ln w="9525">
            <a:noFill/>
            <a:miter lim="800000"/>
            <a:headEnd/>
            <a:tailEnd/>
          </a:ln>
        </p:spPr>
      </p:pic>
      <p:sp>
        <p:nvSpPr>
          <p:cNvPr id="7" name="Rectangle 6"/>
          <p:cNvSpPr/>
          <p:nvPr/>
        </p:nvSpPr>
        <p:spPr>
          <a:xfrm>
            <a:off x="0" y="0"/>
            <a:ext cx="9144000" cy="523220"/>
          </a:xfrm>
          <a:prstGeom prst="rect">
            <a:avLst/>
          </a:prstGeom>
        </p:spPr>
        <p:txBody>
          <a:bodyPr>
            <a:spAutoFit/>
          </a:bodyPr>
          <a:lstStyle/>
          <a:p>
            <a:pPr algn="ctr">
              <a:defRPr/>
            </a:pPr>
            <a:r>
              <a:rPr lang="en-US" sz="2800" b="1" dirty="0" smtClean="0">
                <a:latin typeface="+mn-lt"/>
              </a:rPr>
              <a:t>Table 4.7 Polynomial </a:t>
            </a:r>
            <a:r>
              <a:rPr lang="en-US" sz="2800" b="1" dirty="0">
                <a:latin typeface="+mn-lt"/>
              </a:rPr>
              <a:t>Arithmetic Modulo (</a:t>
            </a:r>
            <a:r>
              <a:rPr lang="en-US" sz="2800" b="1" i="1" dirty="0">
                <a:latin typeface="+mn-lt"/>
              </a:rPr>
              <a:t>x</a:t>
            </a:r>
            <a:r>
              <a:rPr lang="en-US" sz="2800" b="1" baseline="30000" dirty="0">
                <a:latin typeface="+mn-lt"/>
              </a:rPr>
              <a:t>3</a:t>
            </a:r>
            <a:r>
              <a:rPr lang="en-US" sz="2800" b="1" dirty="0">
                <a:latin typeface="+mn-lt"/>
              </a:rPr>
              <a:t> + </a:t>
            </a:r>
            <a:r>
              <a:rPr lang="en-US" sz="2800" b="1" i="1" dirty="0">
                <a:latin typeface="+mn-lt"/>
              </a:rPr>
              <a:t>x</a:t>
            </a:r>
            <a:r>
              <a:rPr lang="en-US" sz="2800" b="1" dirty="0">
                <a:latin typeface="+mn-lt"/>
              </a:rPr>
              <a:t> + 1)</a:t>
            </a:r>
            <a:endParaRPr lang="en-US" sz="2800" dirty="0">
              <a:latin typeface="Arial" pitchFamily="-1" charset="0"/>
            </a:endParaRPr>
          </a:p>
        </p:txBody>
      </p:sp>
      <p:sp>
        <p:nvSpPr>
          <p:cNvPr id="117764" name="TextBox 10"/>
          <p:cNvSpPr txBox="1">
            <a:spLocks noChangeArrowheads="1"/>
          </p:cNvSpPr>
          <p:nvPr/>
        </p:nvSpPr>
        <p:spPr bwMode="auto">
          <a:xfrm>
            <a:off x="3639343" y="2982912"/>
            <a:ext cx="1352550" cy="369888"/>
          </a:xfrm>
          <a:prstGeom prst="rect">
            <a:avLst/>
          </a:prstGeom>
          <a:noFill/>
          <a:ln w="9525">
            <a:noFill/>
            <a:miter lim="800000"/>
            <a:headEnd/>
            <a:tailEnd/>
          </a:ln>
        </p:spPr>
        <p:txBody>
          <a:bodyPr wrap="none">
            <a:prstTxWarp prst="textNoShape">
              <a:avLst/>
            </a:prstTxWarp>
            <a:spAutoFit/>
          </a:bodyPr>
          <a:lstStyle/>
          <a:p>
            <a:r>
              <a:rPr lang="en-US" dirty="0"/>
              <a:t>(a) Addition </a:t>
            </a:r>
          </a:p>
        </p:txBody>
      </p:sp>
      <p:pic>
        <p:nvPicPr>
          <p:cNvPr id="117765" name="Picture 11"/>
          <p:cNvPicPr>
            <a:picLocks noChangeAspect="1"/>
          </p:cNvPicPr>
          <p:nvPr/>
        </p:nvPicPr>
        <p:blipFill>
          <a:blip r:embed="rId4"/>
          <a:srcRect/>
          <a:stretch>
            <a:fillRect/>
          </a:stretch>
        </p:blipFill>
        <p:spPr bwMode="auto">
          <a:xfrm>
            <a:off x="304800" y="3592512"/>
            <a:ext cx="8566150" cy="2362200"/>
          </a:xfrm>
          <a:prstGeom prst="rect">
            <a:avLst/>
          </a:prstGeom>
          <a:noFill/>
          <a:ln w="9525">
            <a:noFill/>
            <a:miter lim="800000"/>
            <a:headEnd/>
            <a:tailEnd/>
          </a:ln>
        </p:spPr>
      </p:pic>
      <p:sp>
        <p:nvSpPr>
          <p:cNvPr id="117766" name="TextBox 12"/>
          <p:cNvSpPr txBox="1">
            <a:spLocks noChangeArrowheads="1"/>
          </p:cNvSpPr>
          <p:nvPr/>
        </p:nvSpPr>
        <p:spPr bwMode="auto">
          <a:xfrm>
            <a:off x="3655218" y="5769768"/>
            <a:ext cx="1865313" cy="369888"/>
          </a:xfrm>
          <a:prstGeom prst="rect">
            <a:avLst/>
          </a:prstGeom>
          <a:noFill/>
          <a:ln w="9525">
            <a:noFill/>
            <a:miter lim="800000"/>
            <a:headEnd/>
            <a:tailEnd/>
          </a:ln>
        </p:spPr>
        <p:txBody>
          <a:bodyPr wrap="none">
            <a:prstTxWarp prst="textNoShape">
              <a:avLst/>
            </a:prstTxWarp>
            <a:spAutoFit/>
          </a:bodyPr>
          <a:lstStyle/>
          <a:p>
            <a:r>
              <a:rPr lang="en-US" dirty="0"/>
              <a:t>(b) Multiplication </a:t>
            </a:r>
          </a:p>
        </p:txBody>
      </p:sp>
      <p:sp>
        <p:nvSpPr>
          <p:cNvPr id="2" name="Rectangle 1"/>
          <p:cNvSpPr/>
          <p:nvPr/>
        </p:nvSpPr>
        <p:spPr>
          <a:xfrm>
            <a:off x="6444208" y="6381328"/>
            <a:ext cx="2608471" cy="369332"/>
          </a:xfrm>
          <a:prstGeom prst="rect">
            <a:avLst/>
          </a:prstGeom>
        </p:spPr>
        <p:txBody>
          <a:bodyPr wrap="none">
            <a:spAutoFit/>
          </a:bodyPr>
          <a:lstStyle/>
          <a:p>
            <a:r>
              <a:rPr lang="en-US" b="1" dirty="0">
                <a:solidFill>
                  <a:srgbClr val="FFFF00"/>
                </a:solidFill>
              </a:rPr>
              <a:t>(page 117 in textbook)</a:t>
            </a:r>
            <a:endParaRPr lang="en-CA" dirty="0">
              <a:solidFill>
                <a:srgbClr val="FFFF00"/>
              </a:solidFill>
            </a:endParaRPr>
          </a:p>
        </p:txBody>
      </p:sp>
    </p:spTree>
  </p:cSld>
  <p:clrMapOvr>
    <a:masterClrMapping/>
  </p:clrMapOvr>
  <p:transition spd="med">
    <p:wipe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88" y="332656"/>
            <a:ext cx="8021637" cy="579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31964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381000"/>
            <a:ext cx="9144000" cy="1077913"/>
          </a:xfrm>
          <a:prstGeom prst="rect">
            <a:avLst/>
          </a:prstGeom>
        </p:spPr>
        <p:txBody>
          <a:bodyPr>
            <a:spAutoFit/>
          </a:bodyPr>
          <a:lstStyle/>
          <a:p>
            <a:pPr algn="ctr">
              <a:defRPr/>
            </a:pPr>
            <a:r>
              <a:rPr lang="en-US" sz="3600" dirty="0">
                <a:latin typeface="+mn-lt"/>
              </a:rPr>
              <a:t>Table 4.8</a:t>
            </a:r>
            <a:endParaRPr lang="en-US" dirty="0">
              <a:latin typeface="+mn-lt"/>
            </a:endParaRPr>
          </a:p>
          <a:p>
            <a:pPr algn="ctr">
              <a:defRPr/>
            </a:pPr>
            <a:r>
              <a:rPr lang="en-US" sz="2800" dirty="0">
                <a:latin typeface="Arial" pitchFamily="-1" charset="0"/>
              </a:rPr>
              <a:t>Extended Euclid [(</a:t>
            </a:r>
            <a:r>
              <a:rPr lang="en-US" sz="2800" i="1" dirty="0">
                <a:latin typeface="Arial" pitchFamily="-1" charset="0"/>
              </a:rPr>
              <a:t>x</a:t>
            </a:r>
            <a:r>
              <a:rPr lang="en-US" sz="2800" baseline="30000" dirty="0">
                <a:latin typeface="Arial" pitchFamily="-1" charset="0"/>
              </a:rPr>
              <a:t>8</a:t>
            </a:r>
            <a:r>
              <a:rPr lang="en-US" sz="2800" dirty="0">
                <a:latin typeface="Arial" pitchFamily="-1" charset="0"/>
              </a:rPr>
              <a:t> + </a:t>
            </a:r>
            <a:r>
              <a:rPr lang="en-US" sz="2800" i="1" dirty="0">
                <a:latin typeface="Arial" pitchFamily="-1" charset="0"/>
              </a:rPr>
              <a:t>x</a:t>
            </a:r>
            <a:r>
              <a:rPr lang="en-US" sz="2800" baseline="30000" dirty="0">
                <a:latin typeface="Arial" pitchFamily="-1" charset="0"/>
              </a:rPr>
              <a:t>4</a:t>
            </a:r>
            <a:r>
              <a:rPr lang="en-US" sz="2800" dirty="0">
                <a:latin typeface="Arial" pitchFamily="-1" charset="0"/>
              </a:rPr>
              <a:t> + </a:t>
            </a:r>
            <a:r>
              <a:rPr lang="en-US" sz="2800" i="1" dirty="0">
                <a:latin typeface="Arial" pitchFamily="-1" charset="0"/>
              </a:rPr>
              <a:t>x</a:t>
            </a:r>
            <a:r>
              <a:rPr lang="en-US" sz="2800" baseline="30000" dirty="0">
                <a:latin typeface="Arial" pitchFamily="-1" charset="0"/>
              </a:rPr>
              <a:t>3</a:t>
            </a:r>
            <a:r>
              <a:rPr lang="en-US" sz="2800" dirty="0">
                <a:latin typeface="Arial" pitchFamily="-1" charset="0"/>
              </a:rPr>
              <a:t> + </a:t>
            </a:r>
            <a:r>
              <a:rPr lang="en-US" sz="2800" i="1" dirty="0">
                <a:latin typeface="Arial" pitchFamily="-1" charset="0"/>
              </a:rPr>
              <a:t>x</a:t>
            </a:r>
            <a:r>
              <a:rPr lang="en-US" sz="2800" dirty="0">
                <a:latin typeface="Arial" pitchFamily="-1" charset="0"/>
              </a:rPr>
              <a:t> + 1), (</a:t>
            </a:r>
            <a:r>
              <a:rPr lang="en-US" sz="2800" i="1" dirty="0">
                <a:latin typeface="Arial" pitchFamily="-1" charset="0"/>
              </a:rPr>
              <a:t>x</a:t>
            </a:r>
            <a:r>
              <a:rPr lang="en-US" sz="2800" baseline="30000" dirty="0">
                <a:latin typeface="Arial" pitchFamily="-1" charset="0"/>
              </a:rPr>
              <a:t>7</a:t>
            </a:r>
            <a:r>
              <a:rPr lang="en-US" sz="2800" dirty="0">
                <a:latin typeface="Arial" pitchFamily="-1" charset="0"/>
              </a:rPr>
              <a:t> + </a:t>
            </a:r>
            <a:r>
              <a:rPr lang="en-US" sz="2800" i="1" dirty="0">
                <a:latin typeface="Arial" pitchFamily="-1" charset="0"/>
              </a:rPr>
              <a:t>x</a:t>
            </a:r>
            <a:r>
              <a:rPr lang="en-US" sz="2800" dirty="0">
                <a:latin typeface="Arial" pitchFamily="-1" charset="0"/>
              </a:rPr>
              <a:t> + 1)] </a:t>
            </a:r>
            <a:endParaRPr lang="en-US" sz="2800" dirty="0">
              <a:latin typeface="+mn-lt"/>
            </a:endParaRPr>
          </a:p>
        </p:txBody>
      </p:sp>
      <p:pic>
        <p:nvPicPr>
          <p:cNvPr id="119811" name="Picture 7"/>
          <p:cNvPicPr>
            <a:picLocks noChangeAspect="1"/>
          </p:cNvPicPr>
          <p:nvPr/>
        </p:nvPicPr>
        <p:blipFill>
          <a:blip r:embed="rId3"/>
          <a:srcRect/>
          <a:stretch>
            <a:fillRect/>
          </a:stretch>
        </p:blipFill>
        <p:spPr bwMode="auto">
          <a:xfrm>
            <a:off x="228600" y="2209800"/>
            <a:ext cx="8628063" cy="3836988"/>
          </a:xfrm>
          <a:prstGeom prst="rect">
            <a:avLst/>
          </a:prstGeom>
          <a:noFill/>
          <a:ln w="9525">
            <a:noFill/>
            <a:miter lim="800000"/>
            <a:headEnd/>
            <a:tailEnd/>
          </a:ln>
        </p:spPr>
      </p:pic>
      <p:sp>
        <p:nvSpPr>
          <p:cNvPr id="119812" name="Rectangle 8"/>
          <p:cNvSpPr>
            <a:spLocks noChangeArrowheads="1"/>
          </p:cNvSpPr>
          <p:nvPr/>
        </p:nvSpPr>
        <p:spPr bwMode="auto">
          <a:xfrm>
            <a:off x="3995936" y="6334125"/>
            <a:ext cx="4687950" cy="338554"/>
          </a:xfrm>
          <a:prstGeom prst="rect">
            <a:avLst/>
          </a:prstGeom>
          <a:noFill/>
          <a:ln w="9525">
            <a:noFill/>
            <a:miter lim="800000"/>
            <a:headEnd/>
            <a:tailEnd/>
          </a:ln>
        </p:spPr>
        <p:txBody>
          <a:bodyPr wrap="none">
            <a:prstTxWarp prst="textNoShape">
              <a:avLst/>
            </a:prstTxWarp>
            <a:spAutoFit/>
          </a:bodyPr>
          <a:lstStyle/>
          <a:p>
            <a:r>
              <a:rPr lang="en-US" sz="1600" dirty="0">
                <a:solidFill>
                  <a:srgbClr val="FFFF00"/>
                </a:solidFill>
              </a:rPr>
              <a:t>(Table 4.8 can be found on page 118 in textbook) </a:t>
            </a:r>
          </a:p>
        </p:txBody>
      </p:sp>
    </p:spTree>
  </p:cSld>
  <p:clrMapOvr>
    <a:masterClrMapping/>
  </p:clrMapOvr>
  <p:transition spd="med">
    <p:wipe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0" y="39689"/>
            <a:ext cx="9144000" cy="797024"/>
          </a:xfrm>
        </p:spPr>
        <p:txBody>
          <a:bodyPr/>
          <a:lstStyle/>
          <a:p>
            <a:r>
              <a:rPr lang="en-US" sz="3600" dirty="0" smtClean="0"/>
              <a:t>Computational Considerations</a:t>
            </a:r>
            <a:endParaRPr lang="en-AU" sz="3600" dirty="0" smtClean="0"/>
          </a:p>
        </p:txBody>
      </p:sp>
      <p:sp>
        <p:nvSpPr>
          <p:cNvPr id="121859" name="Rectangle 3"/>
          <p:cNvSpPr>
            <a:spLocks noGrp="1" noChangeArrowheads="1"/>
          </p:cNvSpPr>
          <p:nvPr>
            <p:ph idx="1"/>
          </p:nvPr>
        </p:nvSpPr>
        <p:spPr>
          <a:xfrm>
            <a:off x="683568" y="1052736"/>
            <a:ext cx="7570787" cy="4562475"/>
          </a:xfrm>
        </p:spPr>
        <p:txBody>
          <a:bodyPr/>
          <a:lstStyle/>
          <a:p>
            <a:r>
              <a:rPr lang="en-US" sz="2800" dirty="0" smtClean="0"/>
              <a:t>Since coefficients are 0 or 1, they can represent any such polynomial as a bit string</a:t>
            </a:r>
          </a:p>
          <a:p>
            <a:r>
              <a:rPr lang="en-US" sz="2800" dirty="0" smtClean="0"/>
              <a:t>Addition becomes XOR of these bit strings</a:t>
            </a:r>
          </a:p>
          <a:p>
            <a:r>
              <a:rPr lang="en-US" sz="2800" dirty="0" smtClean="0"/>
              <a:t>Multiplication is shift and XOR</a:t>
            </a:r>
          </a:p>
          <a:p>
            <a:pPr lvl="1"/>
            <a:r>
              <a:rPr lang="en-US" sz="2400" dirty="0" err="1" smtClean="0"/>
              <a:t>cf</a:t>
            </a:r>
            <a:r>
              <a:rPr lang="en-US" sz="2400" dirty="0" smtClean="0"/>
              <a:t> long-hand multiplication</a:t>
            </a:r>
          </a:p>
          <a:p>
            <a:r>
              <a:rPr lang="en-US" sz="2800" dirty="0" smtClean="0"/>
              <a:t>Modulo reduction is done by repeatedly substituting highest power with remainder of irreducible polynomial (also shift and XOR)</a:t>
            </a:r>
          </a:p>
          <a:p>
            <a:endParaRPr lang="en-AU" sz="28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457200" y="274638"/>
            <a:ext cx="8229600" cy="634082"/>
          </a:xfrm>
        </p:spPr>
        <p:txBody>
          <a:bodyPr/>
          <a:lstStyle/>
          <a:p>
            <a:r>
              <a:rPr lang="en-US" sz="4000" dirty="0" smtClean="0"/>
              <a:t>Using a Generator</a:t>
            </a:r>
            <a:endParaRPr lang="en-AU" sz="4000" dirty="0" smtClean="0"/>
          </a:p>
        </p:txBody>
      </p:sp>
      <p:sp>
        <p:nvSpPr>
          <p:cNvPr id="107523" name="Rectangle 3"/>
          <p:cNvSpPr>
            <a:spLocks noGrp="1" noChangeArrowheads="1"/>
          </p:cNvSpPr>
          <p:nvPr>
            <p:ph idx="1"/>
          </p:nvPr>
        </p:nvSpPr>
        <p:spPr>
          <a:xfrm>
            <a:off x="539552" y="1052736"/>
            <a:ext cx="7570787" cy="4791075"/>
          </a:xfrm>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AU" sz="2400" dirty="0" smtClean="0">
                <a:ea typeface="+mn-ea"/>
                <a:cs typeface="+mn-cs"/>
              </a:rPr>
              <a:t>A </a:t>
            </a:r>
            <a:r>
              <a:rPr lang="en-AU" sz="2400" b="1" dirty="0" smtClean="0">
                <a:ea typeface="+mn-ea"/>
                <a:cs typeface="+mn-cs"/>
              </a:rPr>
              <a:t>generator </a:t>
            </a:r>
            <a:r>
              <a:rPr lang="en-AU" sz="2400" i="1" dirty="0" smtClean="0">
                <a:ea typeface="+mn-ea"/>
                <a:cs typeface="+mn-cs"/>
              </a:rPr>
              <a:t>g </a:t>
            </a:r>
            <a:r>
              <a:rPr lang="en-AU" sz="2400" dirty="0" smtClean="0">
                <a:ea typeface="+mn-ea"/>
                <a:cs typeface="+mn-cs"/>
              </a:rPr>
              <a:t>of a finite field F of order </a:t>
            </a:r>
            <a:r>
              <a:rPr lang="en-AU" sz="2400" i="1" dirty="0" smtClean="0">
                <a:ea typeface="+mn-ea"/>
                <a:cs typeface="+mn-cs"/>
              </a:rPr>
              <a:t>q </a:t>
            </a:r>
            <a:r>
              <a:rPr lang="en-AU" sz="2400" dirty="0" smtClean="0">
                <a:ea typeface="+mn-ea"/>
                <a:cs typeface="+mn-cs"/>
              </a:rPr>
              <a:t>(contains </a:t>
            </a:r>
            <a:r>
              <a:rPr lang="en-AU" sz="2400" i="1" dirty="0" smtClean="0">
                <a:ea typeface="+mn-ea"/>
                <a:cs typeface="+mn-cs"/>
              </a:rPr>
              <a:t>q </a:t>
            </a:r>
            <a:r>
              <a:rPr lang="en-AU" sz="2400" dirty="0" smtClean="0">
                <a:ea typeface="+mn-ea"/>
                <a:cs typeface="+mn-cs"/>
              </a:rPr>
              <a:t>elements) is an element whose first </a:t>
            </a:r>
            <a:r>
              <a:rPr lang="en-AU" sz="2400" i="1" dirty="0" smtClean="0">
                <a:ea typeface="+mn-ea"/>
                <a:cs typeface="+mn-cs"/>
              </a:rPr>
              <a:t>q</a:t>
            </a:r>
            <a:r>
              <a:rPr lang="en-AU" sz="2400" dirty="0" smtClean="0">
                <a:ea typeface="+mn-ea"/>
                <a:cs typeface="+mn-cs"/>
              </a:rPr>
              <a:t>-1 powers generate all the nonzero elements of F</a:t>
            </a:r>
          </a:p>
          <a:p>
            <a:pPr lvl="1" fontAlgn="auto">
              <a:spcAft>
                <a:spcPts val="0"/>
              </a:spcAft>
              <a:buFont typeface="Candara" pitchFamily="34" charset="0"/>
              <a:buChar char="•"/>
              <a:defRPr/>
            </a:pPr>
            <a:r>
              <a:rPr lang="en-AU" sz="2000" dirty="0" smtClean="0">
                <a:ea typeface="+mn-ea"/>
              </a:rPr>
              <a:t>The elements of F consist of 0, g</a:t>
            </a:r>
            <a:r>
              <a:rPr lang="en-AU" sz="2000" baseline="30000" dirty="0" smtClean="0">
                <a:ea typeface="+mn-ea"/>
              </a:rPr>
              <a:t>0</a:t>
            </a:r>
            <a:r>
              <a:rPr lang="en-AU" sz="2000" dirty="0" smtClean="0">
                <a:ea typeface="+mn-ea"/>
              </a:rPr>
              <a:t>, g</a:t>
            </a:r>
            <a:r>
              <a:rPr lang="en-AU" sz="2000" baseline="30000" dirty="0" smtClean="0">
                <a:ea typeface="+mn-ea"/>
              </a:rPr>
              <a:t>1</a:t>
            </a:r>
            <a:r>
              <a:rPr lang="en-AU" sz="2000" dirty="0" smtClean="0">
                <a:ea typeface="+mn-ea"/>
              </a:rPr>
              <a:t>, . . . ., g</a:t>
            </a:r>
            <a:r>
              <a:rPr lang="en-AU" sz="2000" baseline="30000" dirty="0" smtClean="0">
                <a:ea typeface="+mn-ea"/>
              </a:rPr>
              <a:t>q-2</a:t>
            </a:r>
          </a:p>
          <a:p>
            <a:pPr marL="342900" lvl="1" indent="-342900" fontAlgn="auto">
              <a:spcBef>
                <a:spcPts val="2400"/>
              </a:spcBef>
              <a:spcAft>
                <a:spcPts val="0"/>
              </a:spcAft>
              <a:buClr>
                <a:schemeClr val="accent1">
                  <a:lumMod val="60000"/>
                  <a:lumOff val="40000"/>
                </a:schemeClr>
              </a:buClr>
              <a:buFont typeface="Candara" pitchFamily="34" charset="0"/>
              <a:buChar char="•"/>
              <a:defRPr/>
            </a:pPr>
            <a:r>
              <a:rPr lang="en-AU" sz="2000" dirty="0" smtClean="0">
                <a:ea typeface="+mn-ea"/>
              </a:rPr>
              <a:t>Consider a field F defined by a polynomial </a:t>
            </a:r>
            <a:r>
              <a:rPr lang="en-AU" sz="2000" i="1" dirty="0" smtClean="0">
                <a:ea typeface="+mn-ea"/>
              </a:rPr>
              <a:t>f(x)</a:t>
            </a:r>
          </a:p>
          <a:p>
            <a:pPr lvl="1" fontAlgn="auto">
              <a:spcAft>
                <a:spcPts val="0"/>
              </a:spcAft>
              <a:buFont typeface="Candara" pitchFamily="34" charset="0"/>
              <a:buChar char="•"/>
              <a:defRPr/>
            </a:pPr>
            <a:r>
              <a:rPr lang="en-AU" sz="2000" dirty="0" smtClean="0">
                <a:ea typeface="+mn-ea"/>
              </a:rPr>
              <a:t>An element </a:t>
            </a:r>
            <a:r>
              <a:rPr lang="en-AU" sz="2000" i="1" dirty="0" smtClean="0">
                <a:ea typeface="+mn-ea"/>
              </a:rPr>
              <a:t>b</a:t>
            </a:r>
            <a:r>
              <a:rPr lang="en-AU" sz="2000" dirty="0" smtClean="0">
                <a:ea typeface="+mn-ea"/>
              </a:rPr>
              <a:t> contained in F is called a </a:t>
            </a:r>
            <a:r>
              <a:rPr lang="en-AU" sz="2000" b="1" dirty="0" smtClean="0">
                <a:ea typeface="+mn-ea"/>
              </a:rPr>
              <a:t>root</a:t>
            </a:r>
            <a:r>
              <a:rPr lang="en-AU" sz="2000" dirty="0" smtClean="0">
                <a:ea typeface="+mn-ea"/>
              </a:rPr>
              <a:t> of the polynomial if </a:t>
            </a:r>
            <a:r>
              <a:rPr lang="en-AU" sz="2000" i="1" dirty="0" smtClean="0">
                <a:ea typeface="+mn-ea"/>
              </a:rPr>
              <a:t>f(b) = 0</a:t>
            </a:r>
          </a:p>
          <a:p>
            <a:pPr marL="342900" lvl="1" indent="-342900" fontAlgn="auto">
              <a:spcBef>
                <a:spcPts val="2400"/>
              </a:spcBef>
              <a:spcAft>
                <a:spcPts val="0"/>
              </a:spcAft>
              <a:buClr>
                <a:schemeClr val="accent1">
                  <a:lumMod val="60000"/>
                  <a:lumOff val="40000"/>
                </a:schemeClr>
              </a:buClr>
              <a:buFont typeface="Candara" pitchFamily="34" charset="0"/>
              <a:buChar char="•"/>
              <a:defRPr/>
            </a:pPr>
            <a:r>
              <a:rPr lang="en-AU" sz="2000" dirty="0" smtClean="0">
                <a:ea typeface="+mn-ea"/>
              </a:rPr>
              <a:t>Finally, it can be shown that a root </a:t>
            </a:r>
            <a:r>
              <a:rPr lang="en-AU" sz="2000" i="1" dirty="0" smtClean="0">
                <a:ea typeface="+mn-ea"/>
              </a:rPr>
              <a:t>g </a:t>
            </a:r>
            <a:r>
              <a:rPr lang="en-AU" sz="2000" dirty="0" smtClean="0">
                <a:ea typeface="+mn-ea"/>
              </a:rPr>
              <a:t>of an irreducible polynomial is a generator of the finite field defined on that polynomial</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p:nvPr>
        </p:nvSpPr>
        <p:spPr>
          <a:xfrm>
            <a:off x="0" y="39689"/>
            <a:ext cx="9144000" cy="1229072"/>
          </a:xfrm>
        </p:spPr>
        <p:txBody>
          <a:bodyPr/>
          <a:lstStyle/>
          <a:p>
            <a:r>
              <a:rPr lang="en-US" sz="3200" b="1" dirty="0" smtClean="0"/>
              <a:t>Table 4.9   </a:t>
            </a:r>
            <a:br>
              <a:rPr lang="en-US" sz="3200" b="1" dirty="0" smtClean="0"/>
            </a:br>
            <a:r>
              <a:rPr lang="en-US" sz="2800" b="1" dirty="0" smtClean="0"/>
              <a:t>Generator for GF(2</a:t>
            </a:r>
            <a:r>
              <a:rPr lang="en-US" sz="2800" b="1" baseline="30000" dirty="0" smtClean="0"/>
              <a:t>3</a:t>
            </a:r>
            <a:r>
              <a:rPr lang="en-US" sz="2800" b="1" dirty="0" smtClean="0"/>
              <a:t>) using x</a:t>
            </a:r>
            <a:r>
              <a:rPr lang="en-US" sz="2800" b="1" baseline="30000" dirty="0" smtClean="0"/>
              <a:t>3</a:t>
            </a:r>
            <a:r>
              <a:rPr lang="en-US" sz="2800" b="1" dirty="0" smtClean="0"/>
              <a:t> + x + 1</a:t>
            </a:r>
            <a:r>
              <a:rPr lang="en-US" sz="2800" dirty="0" smtClean="0"/>
              <a:t> </a:t>
            </a:r>
          </a:p>
        </p:txBody>
      </p:sp>
      <p:pic>
        <p:nvPicPr>
          <p:cNvPr id="125955" name="Picture 3"/>
          <p:cNvPicPr>
            <a:picLocks noChangeAspect="1"/>
          </p:cNvPicPr>
          <p:nvPr/>
        </p:nvPicPr>
        <p:blipFill>
          <a:blip r:embed="rId3"/>
          <a:srcRect/>
          <a:stretch>
            <a:fillRect/>
          </a:stretch>
        </p:blipFill>
        <p:spPr bwMode="auto">
          <a:xfrm>
            <a:off x="-568325" y="1340768"/>
            <a:ext cx="10245725" cy="4556125"/>
          </a:xfrm>
          <a:prstGeom prst="rect">
            <a:avLst/>
          </a:prstGeom>
          <a:noFill/>
          <a:ln w="9525">
            <a:noFill/>
            <a:miter lim="800000"/>
            <a:headEnd/>
            <a:tailEnd/>
          </a:ln>
        </p:spPr>
      </p:pic>
    </p:spTree>
  </p:cSld>
  <p:clrMapOvr>
    <a:masterClrMapping/>
  </p:clrMapOvr>
  <p:transition spd="med">
    <p:pull dir="l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9144000" cy="769441"/>
          </a:xfrm>
          <a:prstGeom prst="rect">
            <a:avLst/>
          </a:prstGeom>
        </p:spPr>
        <p:txBody>
          <a:bodyPr>
            <a:spAutoFit/>
          </a:bodyPr>
          <a:lstStyle/>
          <a:p>
            <a:pPr algn="ctr">
              <a:defRPr/>
            </a:pPr>
            <a:r>
              <a:rPr lang="en-US" sz="2400" b="1" dirty="0" smtClean="0">
                <a:latin typeface="+mn-lt"/>
              </a:rPr>
              <a:t>Table 4.10</a:t>
            </a:r>
            <a:endParaRPr lang="en-US" sz="2400" b="1" dirty="0">
              <a:latin typeface="+mn-lt"/>
            </a:endParaRPr>
          </a:p>
          <a:p>
            <a:pPr algn="ctr">
              <a:defRPr/>
            </a:pPr>
            <a:r>
              <a:rPr lang="en-US" sz="2000" b="1" dirty="0">
                <a:latin typeface="+mn-lt"/>
              </a:rPr>
              <a:t>GF(2</a:t>
            </a:r>
            <a:r>
              <a:rPr lang="en-US" sz="2000" b="1" baseline="30000" dirty="0">
                <a:latin typeface="+mn-lt"/>
              </a:rPr>
              <a:t>3</a:t>
            </a:r>
            <a:r>
              <a:rPr lang="en-US" sz="2000" b="1" dirty="0">
                <a:latin typeface="+mn-lt"/>
              </a:rPr>
              <a:t>) Arithmetic Using Generator for the Polynomial (</a:t>
            </a:r>
            <a:r>
              <a:rPr lang="en-US" sz="2000" b="1" i="1" dirty="0">
                <a:latin typeface="+mn-lt"/>
              </a:rPr>
              <a:t>x</a:t>
            </a:r>
            <a:r>
              <a:rPr lang="en-US" sz="2000" b="1" baseline="30000" dirty="0">
                <a:latin typeface="+mn-lt"/>
              </a:rPr>
              <a:t>3</a:t>
            </a:r>
            <a:r>
              <a:rPr lang="en-US" sz="2000" b="1" dirty="0">
                <a:latin typeface="+mn-lt"/>
              </a:rPr>
              <a:t> + </a:t>
            </a:r>
            <a:r>
              <a:rPr lang="en-US" sz="2000" b="1" i="1" dirty="0">
                <a:latin typeface="+mn-lt"/>
              </a:rPr>
              <a:t>x</a:t>
            </a:r>
            <a:r>
              <a:rPr lang="en-US" sz="2000" b="1" dirty="0">
                <a:latin typeface="+mn-lt"/>
              </a:rPr>
              <a:t> + 1)</a:t>
            </a:r>
            <a:endParaRPr lang="en-US" sz="1100" dirty="0">
              <a:latin typeface="Arial" pitchFamily="-1" charset="0"/>
            </a:endParaRPr>
          </a:p>
        </p:txBody>
      </p:sp>
      <p:sp>
        <p:nvSpPr>
          <p:cNvPr id="128003" name="TextBox 10"/>
          <p:cNvSpPr txBox="1">
            <a:spLocks noChangeArrowheads="1"/>
          </p:cNvSpPr>
          <p:nvPr/>
        </p:nvSpPr>
        <p:spPr bwMode="auto">
          <a:xfrm>
            <a:off x="3496047" y="3006209"/>
            <a:ext cx="1352550" cy="369888"/>
          </a:xfrm>
          <a:prstGeom prst="rect">
            <a:avLst/>
          </a:prstGeom>
          <a:noFill/>
          <a:ln w="9525">
            <a:noFill/>
            <a:miter lim="800000"/>
            <a:headEnd/>
            <a:tailEnd/>
          </a:ln>
        </p:spPr>
        <p:txBody>
          <a:bodyPr wrap="none">
            <a:prstTxWarp prst="textNoShape">
              <a:avLst/>
            </a:prstTxWarp>
            <a:spAutoFit/>
          </a:bodyPr>
          <a:lstStyle/>
          <a:p>
            <a:r>
              <a:rPr lang="en-US"/>
              <a:t>(a) Addition </a:t>
            </a:r>
          </a:p>
        </p:txBody>
      </p:sp>
      <p:sp>
        <p:nvSpPr>
          <p:cNvPr id="128004" name="TextBox 12"/>
          <p:cNvSpPr txBox="1">
            <a:spLocks noChangeArrowheads="1"/>
          </p:cNvSpPr>
          <p:nvPr/>
        </p:nvSpPr>
        <p:spPr bwMode="auto">
          <a:xfrm>
            <a:off x="3512046" y="5825609"/>
            <a:ext cx="1865313" cy="369888"/>
          </a:xfrm>
          <a:prstGeom prst="rect">
            <a:avLst/>
          </a:prstGeom>
          <a:noFill/>
          <a:ln w="9525">
            <a:noFill/>
            <a:miter lim="800000"/>
            <a:headEnd/>
            <a:tailEnd/>
          </a:ln>
        </p:spPr>
        <p:txBody>
          <a:bodyPr wrap="none">
            <a:prstTxWarp prst="textNoShape">
              <a:avLst/>
            </a:prstTxWarp>
            <a:spAutoFit/>
          </a:bodyPr>
          <a:lstStyle/>
          <a:p>
            <a:r>
              <a:rPr lang="en-US" dirty="0"/>
              <a:t>(b) Multiplication </a:t>
            </a:r>
          </a:p>
        </p:txBody>
      </p:sp>
      <p:pic>
        <p:nvPicPr>
          <p:cNvPr id="128005" name="Picture 7"/>
          <p:cNvPicPr>
            <a:picLocks noChangeAspect="1"/>
          </p:cNvPicPr>
          <p:nvPr/>
        </p:nvPicPr>
        <p:blipFill>
          <a:blip r:embed="rId3"/>
          <a:srcRect/>
          <a:stretch>
            <a:fillRect/>
          </a:stretch>
        </p:blipFill>
        <p:spPr bwMode="auto">
          <a:xfrm>
            <a:off x="371847" y="872609"/>
            <a:ext cx="8382000" cy="2324100"/>
          </a:xfrm>
          <a:prstGeom prst="rect">
            <a:avLst/>
          </a:prstGeom>
          <a:noFill/>
          <a:ln w="9525">
            <a:noFill/>
            <a:miter lim="800000"/>
            <a:headEnd/>
            <a:tailEnd/>
          </a:ln>
        </p:spPr>
      </p:pic>
      <p:pic>
        <p:nvPicPr>
          <p:cNvPr id="128006" name="Picture 8"/>
          <p:cNvPicPr>
            <a:picLocks noChangeAspect="1"/>
          </p:cNvPicPr>
          <p:nvPr/>
        </p:nvPicPr>
        <p:blipFill>
          <a:blip r:embed="rId4"/>
          <a:srcRect/>
          <a:stretch>
            <a:fillRect/>
          </a:stretch>
        </p:blipFill>
        <p:spPr bwMode="auto">
          <a:xfrm>
            <a:off x="292472" y="3648353"/>
            <a:ext cx="8566150" cy="2362200"/>
          </a:xfrm>
          <a:prstGeom prst="rect">
            <a:avLst/>
          </a:prstGeom>
          <a:noFill/>
          <a:ln w="9525">
            <a:noFill/>
            <a:miter lim="800000"/>
            <a:headEnd/>
            <a:tailEnd/>
          </a:ln>
        </p:spPr>
      </p:pic>
      <p:sp>
        <p:nvSpPr>
          <p:cNvPr id="2" name="Rectangle 1"/>
          <p:cNvSpPr/>
          <p:nvPr/>
        </p:nvSpPr>
        <p:spPr>
          <a:xfrm>
            <a:off x="6372200" y="6347897"/>
            <a:ext cx="2685351" cy="369332"/>
          </a:xfrm>
          <a:prstGeom prst="rect">
            <a:avLst/>
          </a:prstGeom>
        </p:spPr>
        <p:txBody>
          <a:bodyPr wrap="none">
            <a:spAutoFit/>
          </a:bodyPr>
          <a:lstStyle/>
          <a:p>
            <a:r>
              <a:rPr lang="en-US" b="1" dirty="0">
                <a:solidFill>
                  <a:srgbClr val="FFFF00"/>
                </a:solidFill>
              </a:rPr>
              <a:t>(page 123 in textbook) </a:t>
            </a:r>
            <a:endParaRPr lang="en-CA" dirty="0">
              <a:solidFill>
                <a:srgbClr val="FFFF00"/>
              </a:solidFill>
            </a:endParaRPr>
          </a:p>
        </p:txBody>
      </p:sp>
    </p:spTree>
  </p:cSld>
  <p:clrMapOvr>
    <a:masterClrMapping/>
  </p:clrMapOvr>
  <p:transition>
    <p:dissolv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smtClean="0"/>
              <a:t>Summary</a:t>
            </a:r>
            <a:endParaRPr lang="en-AU" smtClean="0"/>
          </a:p>
        </p:txBody>
      </p:sp>
      <p:sp>
        <p:nvSpPr>
          <p:cNvPr id="130051" name="Rectangle 3"/>
          <p:cNvSpPr>
            <a:spLocks noGrp="1" noChangeArrowheads="1"/>
          </p:cNvSpPr>
          <p:nvPr>
            <p:ph sz="half" idx="1"/>
          </p:nvPr>
        </p:nvSpPr>
        <p:spPr>
          <a:xfrm>
            <a:off x="533400" y="1752600"/>
            <a:ext cx="3565525" cy="4778375"/>
          </a:xfrm>
        </p:spPr>
        <p:txBody>
          <a:bodyPr/>
          <a:lstStyle/>
          <a:p>
            <a:r>
              <a:rPr lang="en-US" smtClean="0"/>
              <a:t>Divisibility and the division algorithm</a:t>
            </a:r>
          </a:p>
          <a:p>
            <a:r>
              <a:rPr lang="en-US" smtClean="0"/>
              <a:t>The Euclidean algorithm</a:t>
            </a:r>
          </a:p>
          <a:p>
            <a:r>
              <a:rPr lang="en-US" smtClean="0"/>
              <a:t>Modular arithmetic</a:t>
            </a:r>
          </a:p>
          <a:p>
            <a:r>
              <a:rPr lang="en-US" smtClean="0"/>
              <a:t>Groups, rings, and fields</a:t>
            </a:r>
            <a:endParaRPr lang="en-AU" smtClean="0"/>
          </a:p>
        </p:txBody>
      </p:sp>
      <p:sp>
        <p:nvSpPr>
          <p:cNvPr id="130052" name="Content Placeholder 11"/>
          <p:cNvSpPr>
            <a:spLocks noGrp="1"/>
          </p:cNvSpPr>
          <p:nvPr>
            <p:ph sz="half" idx="2"/>
          </p:nvPr>
        </p:nvSpPr>
        <p:spPr>
          <a:xfrm>
            <a:off x="5867400" y="1752600"/>
            <a:ext cx="3124200" cy="4778375"/>
          </a:xfrm>
        </p:spPr>
        <p:txBody>
          <a:bodyPr/>
          <a:lstStyle/>
          <a:p>
            <a:r>
              <a:rPr lang="en-US" dirty="0" smtClean="0"/>
              <a:t>Finite fields of the form GF(</a:t>
            </a:r>
            <a:r>
              <a:rPr lang="en-US" i="1" dirty="0" smtClean="0"/>
              <a:t>p</a:t>
            </a:r>
            <a:r>
              <a:rPr lang="en-US" dirty="0" smtClean="0"/>
              <a:t>)</a:t>
            </a:r>
          </a:p>
          <a:p>
            <a:r>
              <a:rPr lang="en-US" dirty="0" smtClean="0"/>
              <a:t>Polynomial arithmetic</a:t>
            </a:r>
          </a:p>
          <a:p>
            <a:r>
              <a:rPr lang="en-US" dirty="0" smtClean="0"/>
              <a:t>Finite fields of the form GF(2</a:t>
            </a:r>
            <a:r>
              <a:rPr lang="en-US" i="1" baseline="30000" dirty="0" smtClean="0"/>
              <a:t>n</a:t>
            </a:r>
            <a:r>
              <a:rPr lang="en-US" i="1" dirty="0" smtClean="0"/>
              <a:t>)</a:t>
            </a:r>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63888" y="2564904"/>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emeUWindsor">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10811</TotalTime>
  <Words>4300</Words>
  <Application>Microsoft Office PowerPoint</Application>
  <PresentationFormat>On-screen Show (4:3)</PresentationFormat>
  <Paragraphs>434</Paragraphs>
  <Slides>43</Slides>
  <Notes>30</Notes>
  <HiddenSlides>0</HiddenSlides>
  <MMClips>0</MMClips>
  <ScaleCrop>false</ScaleCrop>
  <HeadingPairs>
    <vt:vector size="4" baseType="variant">
      <vt:variant>
        <vt:lpstr>Theme</vt:lpstr>
      </vt:variant>
      <vt:variant>
        <vt:i4>3</vt:i4>
      </vt:variant>
      <vt:variant>
        <vt:lpstr>Slide Titles</vt:lpstr>
      </vt:variant>
      <vt:variant>
        <vt:i4>43</vt:i4>
      </vt:variant>
    </vt:vector>
  </HeadingPairs>
  <TitlesOfParts>
    <vt:vector size="46" baseType="lpstr">
      <vt:lpstr>ch01</vt:lpstr>
      <vt:lpstr>ThemeUWindsor</vt:lpstr>
      <vt:lpstr>Crypto</vt:lpstr>
      <vt:lpstr>Cryptography</vt:lpstr>
      <vt:lpstr>Chapter 5</vt:lpstr>
      <vt:lpstr>Chapter 5: Outline</vt:lpstr>
      <vt:lpstr>Groups</vt:lpstr>
      <vt:lpstr>Abel Group</vt:lpstr>
      <vt:lpstr>Cyclic Group</vt:lpstr>
      <vt:lpstr>Rings</vt:lpstr>
      <vt:lpstr>Rings (cont.)</vt:lpstr>
      <vt:lpstr>Fields</vt:lpstr>
      <vt:lpstr>Fields</vt:lpstr>
      <vt:lpstr>Group, Ring, and Field</vt:lpstr>
      <vt:lpstr>Ví dụ</vt:lpstr>
      <vt:lpstr>Finite Fields</vt:lpstr>
      <vt:lpstr>Finite Fields of the Form GF(p)</vt:lpstr>
      <vt:lpstr>In this section, we have shown how to construct a finite field of order p, where p  is prime.   GF(p) is defined with the following properties:</vt:lpstr>
      <vt:lpstr>Arithmetic in GF(2)</vt:lpstr>
      <vt:lpstr>Table 4.5(a) Arithmetic in GF(7)</vt:lpstr>
      <vt:lpstr>Table 4.5(b) Arithmetic in GF(7)</vt:lpstr>
      <vt:lpstr>Table 4.5(c)  Arithmetic  in GF(7)</vt:lpstr>
      <vt:lpstr>Excercise</vt:lpstr>
      <vt:lpstr>Finding the Multiplicative Inverse in GF(p)</vt:lpstr>
      <vt:lpstr>Summary: Finite Fields of GF(p)</vt:lpstr>
      <vt:lpstr>Polynomial Arithmetic</vt:lpstr>
      <vt:lpstr>Ordinary Polynomial Arithmetic Example</vt:lpstr>
      <vt:lpstr>PowerPoint Presentation</vt:lpstr>
      <vt:lpstr>Polynomial Arithmetic With Coefficients in Zp</vt:lpstr>
      <vt:lpstr>Polynomial Division</vt:lpstr>
      <vt:lpstr>Example</vt:lpstr>
      <vt:lpstr>E.g.2 Polynomial Arithmetic  Over GF(2)</vt:lpstr>
      <vt:lpstr>Polynomial GCD</vt:lpstr>
      <vt:lpstr>Euclidean Algorithm for Polynomials</vt:lpstr>
      <vt:lpstr>Exercise</vt:lpstr>
      <vt:lpstr>Table 4.6(a) Arithmetic in GF(23)</vt:lpstr>
      <vt:lpstr>Table 4.6(b) Arithmetic in GF(23)</vt:lpstr>
      <vt:lpstr>Table 4.6(c)  Arithmetic  in GF(23)</vt:lpstr>
      <vt:lpstr>PowerPoint Presentation</vt:lpstr>
      <vt:lpstr>PowerPoint Presentation</vt:lpstr>
      <vt:lpstr>PowerPoint Presentation</vt:lpstr>
      <vt:lpstr>Computational Considerations</vt:lpstr>
      <vt:lpstr>Using a Generator</vt:lpstr>
      <vt:lpstr>Table 4.9    Generator for GF(23) using x3 + x + 1 </vt:lpstr>
      <vt:lpstr>PowerPoint Presentation</vt:lpstr>
      <vt:lpstr>Summary</vt:lpstr>
    </vt:vector>
  </TitlesOfParts>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4</dc:subject>
  <dc:creator>Dr Lawrie Brown</dc:creator>
  <cp:lastModifiedBy>DELL</cp:lastModifiedBy>
  <cp:revision>188</cp:revision>
  <cp:lastPrinted>2014-09-29T19:06:58Z</cp:lastPrinted>
  <dcterms:created xsi:type="dcterms:W3CDTF">2013-02-04T18:58:23Z</dcterms:created>
  <dcterms:modified xsi:type="dcterms:W3CDTF">2024-09-25T08:45:39Z</dcterms:modified>
</cp:coreProperties>
</file>