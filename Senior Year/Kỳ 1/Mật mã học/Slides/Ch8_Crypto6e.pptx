
<file path=[Content_Types].xml><?xml version="1.0" encoding="utf-8"?>
<Types xmlns="http://schemas.openxmlformats.org/package/2006/content-types">
  <Default Extension="png" ContentType="image/png"/>
  <Default Extension="pdf" ContentType="application/pdf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1" r:id="rId1"/>
    <p:sldMasterId id="2147483824" r:id="rId2"/>
  </p:sldMasterIdLst>
  <p:notesMasterIdLst>
    <p:notesMasterId r:id="rId46"/>
  </p:notesMasterIdLst>
  <p:sldIdLst>
    <p:sldId id="320" r:id="rId3"/>
    <p:sldId id="331" r:id="rId4"/>
    <p:sldId id="374" r:id="rId5"/>
    <p:sldId id="33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  <p:sldId id="342" r:id="rId15"/>
    <p:sldId id="343" r:id="rId16"/>
    <p:sldId id="344" r:id="rId17"/>
    <p:sldId id="345" r:id="rId18"/>
    <p:sldId id="346" r:id="rId19"/>
    <p:sldId id="347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7" r:id="rId30"/>
    <p:sldId id="358" r:id="rId31"/>
    <p:sldId id="359" r:id="rId32"/>
    <p:sldId id="360" r:id="rId33"/>
    <p:sldId id="361" r:id="rId34"/>
    <p:sldId id="362" r:id="rId35"/>
    <p:sldId id="363" r:id="rId36"/>
    <p:sldId id="364" r:id="rId37"/>
    <p:sldId id="365" r:id="rId38"/>
    <p:sldId id="366" r:id="rId39"/>
    <p:sldId id="367" r:id="rId40"/>
    <p:sldId id="368" r:id="rId41"/>
    <p:sldId id="369" r:id="rId42"/>
    <p:sldId id="370" r:id="rId43"/>
    <p:sldId id="371" r:id="rId44"/>
    <p:sldId id="372" r:id="rId45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84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8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56" autoAdjust="0"/>
  </p:normalViewPr>
  <p:slideViewPr>
    <p:cSldViewPr>
      <p:cViewPr varScale="1">
        <p:scale>
          <a:sx n="75" d="100"/>
          <a:sy n="75" d="100"/>
        </p:scale>
        <p:origin x="-1843" y="-8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-1008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179B55-D89E-AA4A-8AEA-3A1012FDA6C4}" type="doc">
      <dgm:prSet loTypeId="urn:microsoft.com/office/officeart/2005/8/layout/hierarchy2" loCatId="hierarchy" qsTypeId="urn:microsoft.com/office/officeart/2005/8/quickstyle/simple4" qsCatId="simple" csTypeId="urn:microsoft.com/office/officeart/2005/8/colors/accent1_2" csCatId="accent1" phldr="1"/>
      <dgm:spPr/>
    </dgm:pt>
    <dgm:pt modelId="{C45142B6-9386-0E45-9A78-F6784D13BAE6}">
      <dgm:prSet phldrT="[Text]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AU" b="1" i="0" dirty="0" smtClean="0"/>
            <a:t>There are two distinct requirements for a sequence of random numbers:</a:t>
          </a:r>
          <a:endParaRPr lang="en-US" b="1" i="0" dirty="0"/>
        </a:p>
      </dgm:t>
    </dgm:pt>
    <dgm:pt modelId="{DA55B218-B0AB-ED46-9A2C-A72594C1E280}" type="parTrans" cxnId="{1D6DFD70-C9FA-7D42-863A-F36685D1BD7A}">
      <dgm:prSet/>
      <dgm:spPr/>
      <dgm:t>
        <a:bodyPr/>
        <a:lstStyle/>
        <a:p>
          <a:endParaRPr lang="en-US"/>
        </a:p>
      </dgm:t>
    </dgm:pt>
    <dgm:pt modelId="{B17C4B1F-0742-3D44-A35D-00DB893A4F2E}" type="sibTrans" cxnId="{1D6DFD70-C9FA-7D42-863A-F36685D1BD7A}">
      <dgm:prSet/>
      <dgm:spPr/>
      <dgm:t>
        <a:bodyPr/>
        <a:lstStyle/>
        <a:p>
          <a:endParaRPr lang="en-US"/>
        </a:p>
      </dgm:t>
    </dgm:pt>
    <dgm:pt modelId="{A37D92F6-2BD7-494C-98A9-70E0D4D55942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AU" b="1" i="0" dirty="0" smtClean="0"/>
            <a:t>Randomness</a:t>
          </a:r>
        </a:p>
      </dgm:t>
    </dgm:pt>
    <dgm:pt modelId="{B29DACFC-2BDC-DB43-8B86-DCDC6CCF7CEC}" type="parTrans" cxnId="{2CDE1357-A321-874D-9858-0F2B1E2906E7}">
      <dgm:prSet/>
      <dgm:spPr/>
      <dgm:t>
        <a:bodyPr/>
        <a:lstStyle/>
        <a:p>
          <a:endParaRPr lang="en-US"/>
        </a:p>
      </dgm:t>
    </dgm:pt>
    <dgm:pt modelId="{BD9A5390-DA55-B94C-BD4E-EA7968D192FC}" type="sibTrans" cxnId="{2CDE1357-A321-874D-9858-0F2B1E2906E7}">
      <dgm:prSet/>
      <dgm:spPr/>
      <dgm:t>
        <a:bodyPr/>
        <a:lstStyle/>
        <a:p>
          <a:endParaRPr lang="en-US"/>
        </a:p>
      </dgm:t>
    </dgm:pt>
    <dgm:pt modelId="{DF00F966-1688-8448-9384-24EE7BF2C544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AU" b="1" i="0" dirty="0" smtClean="0"/>
            <a:t>Unpredictability </a:t>
          </a:r>
        </a:p>
      </dgm:t>
    </dgm:pt>
    <dgm:pt modelId="{19536EE3-7471-D84A-BBCC-CBEEF112392E}" type="parTrans" cxnId="{ED14C9C3-1735-394C-A95C-2D4CE0B0FEBE}">
      <dgm:prSet/>
      <dgm:spPr/>
      <dgm:t>
        <a:bodyPr/>
        <a:lstStyle/>
        <a:p>
          <a:endParaRPr lang="en-US"/>
        </a:p>
      </dgm:t>
    </dgm:pt>
    <dgm:pt modelId="{A527BAD3-7E53-734B-85B1-27594380445F}" type="sibTrans" cxnId="{ED14C9C3-1735-394C-A95C-2D4CE0B0FEBE}">
      <dgm:prSet/>
      <dgm:spPr/>
      <dgm:t>
        <a:bodyPr/>
        <a:lstStyle/>
        <a:p>
          <a:endParaRPr lang="en-US"/>
        </a:p>
      </dgm:t>
    </dgm:pt>
    <dgm:pt modelId="{97EAF9DD-5438-A346-BC85-5A2BE82930B4}" type="pres">
      <dgm:prSet presAssocID="{F1179B55-D89E-AA4A-8AEA-3A1012FDA6C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551C3A0-A390-7245-BC6F-950A78F1E6A3}" type="pres">
      <dgm:prSet presAssocID="{C45142B6-9386-0E45-9A78-F6784D13BAE6}" presName="root1" presStyleCnt="0"/>
      <dgm:spPr/>
    </dgm:pt>
    <dgm:pt modelId="{6C38144C-E0E7-DF44-A75A-6D79F43B0A57}" type="pres">
      <dgm:prSet presAssocID="{C45142B6-9386-0E45-9A78-F6784D13BAE6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5616F3C-A580-1E4E-B880-F3024C5F741B}" type="pres">
      <dgm:prSet presAssocID="{C45142B6-9386-0E45-9A78-F6784D13BAE6}" presName="level2hierChild" presStyleCnt="0"/>
      <dgm:spPr/>
    </dgm:pt>
    <dgm:pt modelId="{AB9AE1B4-5E5A-CE4D-B264-9C1E1501248F}" type="pres">
      <dgm:prSet presAssocID="{B29DACFC-2BDC-DB43-8B86-DCDC6CCF7CEC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5330D150-8A53-C54C-A8D2-52C8D62B1EE2}" type="pres">
      <dgm:prSet presAssocID="{B29DACFC-2BDC-DB43-8B86-DCDC6CCF7CEC}" presName="connTx" presStyleLbl="parChTrans1D2" presStyleIdx="0" presStyleCnt="2"/>
      <dgm:spPr/>
      <dgm:t>
        <a:bodyPr/>
        <a:lstStyle/>
        <a:p>
          <a:endParaRPr lang="en-US"/>
        </a:p>
      </dgm:t>
    </dgm:pt>
    <dgm:pt modelId="{FF470FFA-E361-8E4E-911D-8D2E191359FA}" type="pres">
      <dgm:prSet presAssocID="{A37D92F6-2BD7-494C-98A9-70E0D4D55942}" presName="root2" presStyleCnt="0"/>
      <dgm:spPr/>
    </dgm:pt>
    <dgm:pt modelId="{B263507D-1E7A-5149-A781-2A4F350A5A27}" type="pres">
      <dgm:prSet presAssocID="{A37D92F6-2BD7-494C-98A9-70E0D4D55942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81A3355-80D6-4A48-A1CE-C443B3C2CE13}" type="pres">
      <dgm:prSet presAssocID="{A37D92F6-2BD7-494C-98A9-70E0D4D55942}" presName="level3hierChild" presStyleCnt="0"/>
      <dgm:spPr/>
    </dgm:pt>
    <dgm:pt modelId="{BA0BDC50-440E-5945-95B3-A9E109F3DF69}" type="pres">
      <dgm:prSet presAssocID="{19536EE3-7471-D84A-BBCC-CBEEF112392E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BCC815CE-9E6A-9B43-92AA-198BA1F32758}" type="pres">
      <dgm:prSet presAssocID="{19536EE3-7471-D84A-BBCC-CBEEF112392E}" presName="connTx" presStyleLbl="parChTrans1D2" presStyleIdx="1" presStyleCnt="2"/>
      <dgm:spPr/>
      <dgm:t>
        <a:bodyPr/>
        <a:lstStyle/>
        <a:p>
          <a:endParaRPr lang="en-US"/>
        </a:p>
      </dgm:t>
    </dgm:pt>
    <dgm:pt modelId="{3A76543B-F2B9-464D-9DF1-8B5B2BDA05A1}" type="pres">
      <dgm:prSet presAssocID="{DF00F966-1688-8448-9384-24EE7BF2C544}" presName="root2" presStyleCnt="0"/>
      <dgm:spPr/>
    </dgm:pt>
    <dgm:pt modelId="{903B1CDD-14EF-844D-B987-4E8D5F77335F}" type="pres">
      <dgm:prSet presAssocID="{DF00F966-1688-8448-9384-24EE7BF2C544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825E021-B097-AE4F-9635-2A6B38BBB2EC}" type="pres">
      <dgm:prSet presAssocID="{DF00F966-1688-8448-9384-24EE7BF2C544}" presName="level3hierChild" presStyleCnt="0"/>
      <dgm:spPr/>
    </dgm:pt>
  </dgm:ptLst>
  <dgm:cxnLst>
    <dgm:cxn modelId="{61ED7A1D-BBA9-49D7-A3D5-925451C18B0B}" type="presOf" srcId="{C45142B6-9386-0E45-9A78-F6784D13BAE6}" destId="{6C38144C-E0E7-DF44-A75A-6D79F43B0A57}" srcOrd="0" destOrd="0" presId="urn:microsoft.com/office/officeart/2005/8/layout/hierarchy2"/>
    <dgm:cxn modelId="{149D97DE-D94A-42BF-AFD1-0E3EF2D0B1C0}" type="presOf" srcId="{DF00F966-1688-8448-9384-24EE7BF2C544}" destId="{903B1CDD-14EF-844D-B987-4E8D5F77335F}" srcOrd="0" destOrd="0" presId="urn:microsoft.com/office/officeart/2005/8/layout/hierarchy2"/>
    <dgm:cxn modelId="{5DF0405A-18EC-4FE2-8A6A-BD65CD1FC809}" type="presOf" srcId="{19536EE3-7471-D84A-BBCC-CBEEF112392E}" destId="{BA0BDC50-440E-5945-95B3-A9E109F3DF69}" srcOrd="0" destOrd="0" presId="urn:microsoft.com/office/officeart/2005/8/layout/hierarchy2"/>
    <dgm:cxn modelId="{2D0A3C91-67AE-4AE2-8973-729540E6F735}" type="presOf" srcId="{19536EE3-7471-D84A-BBCC-CBEEF112392E}" destId="{BCC815CE-9E6A-9B43-92AA-198BA1F32758}" srcOrd="1" destOrd="0" presId="urn:microsoft.com/office/officeart/2005/8/layout/hierarchy2"/>
    <dgm:cxn modelId="{6A63BAEF-DA52-4CEF-B72B-CF749416ED4D}" type="presOf" srcId="{B29DACFC-2BDC-DB43-8B86-DCDC6CCF7CEC}" destId="{5330D150-8A53-C54C-A8D2-52C8D62B1EE2}" srcOrd="1" destOrd="0" presId="urn:microsoft.com/office/officeart/2005/8/layout/hierarchy2"/>
    <dgm:cxn modelId="{8CADC8F7-4C70-4A79-9C73-32BBB2651D71}" type="presOf" srcId="{A37D92F6-2BD7-494C-98A9-70E0D4D55942}" destId="{B263507D-1E7A-5149-A781-2A4F350A5A27}" srcOrd="0" destOrd="0" presId="urn:microsoft.com/office/officeart/2005/8/layout/hierarchy2"/>
    <dgm:cxn modelId="{1D6DFD70-C9FA-7D42-863A-F36685D1BD7A}" srcId="{F1179B55-D89E-AA4A-8AEA-3A1012FDA6C4}" destId="{C45142B6-9386-0E45-9A78-F6784D13BAE6}" srcOrd="0" destOrd="0" parTransId="{DA55B218-B0AB-ED46-9A2C-A72594C1E280}" sibTransId="{B17C4B1F-0742-3D44-A35D-00DB893A4F2E}"/>
    <dgm:cxn modelId="{2CDE1357-A321-874D-9858-0F2B1E2906E7}" srcId="{C45142B6-9386-0E45-9A78-F6784D13BAE6}" destId="{A37D92F6-2BD7-494C-98A9-70E0D4D55942}" srcOrd="0" destOrd="0" parTransId="{B29DACFC-2BDC-DB43-8B86-DCDC6CCF7CEC}" sibTransId="{BD9A5390-DA55-B94C-BD4E-EA7968D192FC}"/>
    <dgm:cxn modelId="{A29072CE-A50C-4D00-8717-2F56EB403D3A}" type="presOf" srcId="{F1179B55-D89E-AA4A-8AEA-3A1012FDA6C4}" destId="{97EAF9DD-5438-A346-BC85-5A2BE82930B4}" srcOrd="0" destOrd="0" presId="urn:microsoft.com/office/officeart/2005/8/layout/hierarchy2"/>
    <dgm:cxn modelId="{ED14C9C3-1735-394C-A95C-2D4CE0B0FEBE}" srcId="{C45142B6-9386-0E45-9A78-F6784D13BAE6}" destId="{DF00F966-1688-8448-9384-24EE7BF2C544}" srcOrd="1" destOrd="0" parTransId="{19536EE3-7471-D84A-BBCC-CBEEF112392E}" sibTransId="{A527BAD3-7E53-734B-85B1-27594380445F}"/>
    <dgm:cxn modelId="{F3FCCD37-E391-4C17-B6ED-1D40EDB4217C}" type="presOf" srcId="{B29DACFC-2BDC-DB43-8B86-DCDC6CCF7CEC}" destId="{AB9AE1B4-5E5A-CE4D-B264-9C1E1501248F}" srcOrd="0" destOrd="0" presId="urn:microsoft.com/office/officeart/2005/8/layout/hierarchy2"/>
    <dgm:cxn modelId="{2C7A8745-9350-4D22-A4AB-1E9C7EFF3908}" type="presParOf" srcId="{97EAF9DD-5438-A346-BC85-5A2BE82930B4}" destId="{0551C3A0-A390-7245-BC6F-950A78F1E6A3}" srcOrd="0" destOrd="0" presId="urn:microsoft.com/office/officeart/2005/8/layout/hierarchy2"/>
    <dgm:cxn modelId="{C0BA6C84-A104-4454-B999-75537F5D9E7B}" type="presParOf" srcId="{0551C3A0-A390-7245-BC6F-950A78F1E6A3}" destId="{6C38144C-E0E7-DF44-A75A-6D79F43B0A57}" srcOrd="0" destOrd="0" presId="urn:microsoft.com/office/officeart/2005/8/layout/hierarchy2"/>
    <dgm:cxn modelId="{5AEB619A-AE9E-471A-B276-261EF9E9B4B5}" type="presParOf" srcId="{0551C3A0-A390-7245-BC6F-950A78F1E6A3}" destId="{15616F3C-A580-1E4E-B880-F3024C5F741B}" srcOrd="1" destOrd="0" presId="urn:microsoft.com/office/officeart/2005/8/layout/hierarchy2"/>
    <dgm:cxn modelId="{02D1E3DD-B43C-4A7F-AD29-EA0B4081678B}" type="presParOf" srcId="{15616F3C-A580-1E4E-B880-F3024C5F741B}" destId="{AB9AE1B4-5E5A-CE4D-B264-9C1E1501248F}" srcOrd="0" destOrd="0" presId="urn:microsoft.com/office/officeart/2005/8/layout/hierarchy2"/>
    <dgm:cxn modelId="{7400CEF2-572C-4E2E-ADD2-A97BA122CEA7}" type="presParOf" srcId="{AB9AE1B4-5E5A-CE4D-B264-9C1E1501248F}" destId="{5330D150-8A53-C54C-A8D2-52C8D62B1EE2}" srcOrd="0" destOrd="0" presId="urn:microsoft.com/office/officeart/2005/8/layout/hierarchy2"/>
    <dgm:cxn modelId="{CBA6BF6F-E959-4984-BFC5-154C84659D81}" type="presParOf" srcId="{15616F3C-A580-1E4E-B880-F3024C5F741B}" destId="{FF470FFA-E361-8E4E-911D-8D2E191359FA}" srcOrd="1" destOrd="0" presId="urn:microsoft.com/office/officeart/2005/8/layout/hierarchy2"/>
    <dgm:cxn modelId="{FB441748-36F3-4A09-B359-52E2F4F86033}" type="presParOf" srcId="{FF470FFA-E361-8E4E-911D-8D2E191359FA}" destId="{B263507D-1E7A-5149-A781-2A4F350A5A27}" srcOrd="0" destOrd="0" presId="urn:microsoft.com/office/officeart/2005/8/layout/hierarchy2"/>
    <dgm:cxn modelId="{A77E612D-69C7-44D0-9BA1-40C511C96BD0}" type="presParOf" srcId="{FF470FFA-E361-8E4E-911D-8D2E191359FA}" destId="{981A3355-80D6-4A48-A1CE-C443B3C2CE13}" srcOrd="1" destOrd="0" presId="urn:microsoft.com/office/officeart/2005/8/layout/hierarchy2"/>
    <dgm:cxn modelId="{03C9F387-C2D6-43E8-B339-2702E9B3A080}" type="presParOf" srcId="{15616F3C-A580-1E4E-B880-F3024C5F741B}" destId="{BA0BDC50-440E-5945-95B3-A9E109F3DF69}" srcOrd="2" destOrd="0" presId="urn:microsoft.com/office/officeart/2005/8/layout/hierarchy2"/>
    <dgm:cxn modelId="{2DCEDAC1-5CAA-4006-8E7C-C5621A129B56}" type="presParOf" srcId="{BA0BDC50-440E-5945-95B3-A9E109F3DF69}" destId="{BCC815CE-9E6A-9B43-92AA-198BA1F32758}" srcOrd="0" destOrd="0" presId="urn:microsoft.com/office/officeart/2005/8/layout/hierarchy2"/>
    <dgm:cxn modelId="{7F76BEF0-8C9F-4E3C-ACAA-29A1DD19C4D0}" type="presParOf" srcId="{15616F3C-A580-1E4E-B880-F3024C5F741B}" destId="{3A76543B-F2B9-464D-9DF1-8B5B2BDA05A1}" srcOrd="3" destOrd="0" presId="urn:microsoft.com/office/officeart/2005/8/layout/hierarchy2"/>
    <dgm:cxn modelId="{46D437D9-5146-4E54-9663-C2D2A18BBA9C}" type="presParOf" srcId="{3A76543B-F2B9-464D-9DF1-8B5B2BDA05A1}" destId="{903B1CDD-14EF-844D-B987-4E8D5F77335F}" srcOrd="0" destOrd="0" presId="urn:microsoft.com/office/officeart/2005/8/layout/hierarchy2"/>
    <dgm:cxn modelId="{042DB3A1-93DB-4A5A-B091-4ADB09ACADB7}" type="presParOf" srcId="{3A76543B-F2B9-464D-9DF1-8B5B2BDA05A1}" destId="{3825E021-B097-AE4F-9635-2A6B38BBB2E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0CABDC-18D3-6742-9D41-7554DD90BF05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1783EF-3287-B74B-8307-4554EEE909DD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dirty="0" smtClean="0"/>
            <a:t>Two criteria are used to validate that a sequence of numbers is random:</a:t>
          </a:r>
          <a:endParaRPr lang="en-US" dirty="0"/>
        </a:p>
      </dgm:t>
    </dgm:pt>
    <dgm:pt modelId="{64B546B7-479E-8448-B89E-628AABA1E011}" type="parTrans" cxnId="{82C6425E-7872-EE43-B889-E6AE387CFFF0}">
      <dgm:prSet/>
      <dgm:spPr/>
      <dgm:t>
        <a:bodyPr/>
        <a:lstStyle/>
        <a:p>
          <a:endParaRPr lang="en-US"/>
        </a:p>
      </dgm:t>
    </dgm:pt>
    <dgm:pt modelId="{C2C095DA-C32E-AC45-803F-4D3ED42E2451}" type="sibTrans" cxnId="{82C6425E-7872-EE43-B889-E6AE387CFFF0}">
      <dgm:prSet/>
      <dgm:spPr/>
      <dgm:t>
        <a:bodyPr/>
        <a:lstStyle/>
        <a:p>
          <a:endParaRPr lang="en-US"/>
        </a:p>
      </dgm:t>
    </dgm:pt>
    <dgm:pt modelId="{73026147-E2EC-B843-B41D-0F749D9F5193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Uniform distribution</a:t>
          </a:r>
        </a:p>
      </dgm:t>
    </dgm:pt>
    <dgm:pt modelId="{DA6825E2-7EC6-734E-BCB8-50DB25E38383}" type="parTrans" cxnId="{A5608F25-1EC2-2E4F-BC1A-597943F08E1E}">
      <dgm:prSet/>
      <dgm:spPr/>
      <dgm:t>
        <a:bodyPr/>
        <a:lstStyle/>
        <a:p>
          <a:endParaRPr lang="en-US"/>
        </a:p>
      </dgm:t>
    </dgm:pt>
    <dgm:pt modelId="{896B5EF3-2411-2B41-948F-4AD5105B9075}" type="sibTrans" cxnId="{A5608F25-1EC2-2E4F-BC1A-597943F08E1E}">
      <dgm:prSet/>
      <dgm:spPr/>
      <dgm:t>
        <a:bodyPr/>
        <a:lstStyle/>
        <a:p>
          <a:endParaRPr lang="en-US"/>
        </a:p>
      </dgm:t>
    </dgm:pt>
    <dgm:pt modelId="{9629A499-686F-D441-8042-F6CF5DA0FB42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The frequency of occurrence of ones and zeros should be approximately equal</a:t>
          </a:r>
        </a:p>
      </dgm:t>
    </dgm:pt>
    <dgm:pt modelId="{CFBAD56C-D56B-7D45-A682-95E962E65A81}" type="parTrans" cxnId="{1194EF9A-7FF9-1249-8BCE-87F896A59AED}">
      <dgm:prSet/>
      <dgm:spPr/>
      <dgm:t>
        <a:bodyPr/>
        <a:lstStyle/>
        <a:p>
          <a:endParaRPr lang="en-US"/>
        </a:p>
      </dgm:t>
    </dgm:pt>
    <dgm:pt modelId="{7FA4DB43-1734-4C44-AC00-794425F71C8D}" type="sibTrans" cxnId="{1194EF9A-7FF9-1249-8BCE-87F896A59AED}">
      <dgm:prSet/>
      <dgm:spPr/>
      <dgm:t>
        <a:bodyPr/>
        <a:lstStyle/>
        <a:p>
          <a:endParaRPr lang="en-US"/>
        </a:p>
      </dgm:t>
    </dgm:pt>
    <dgm:pt modelId="{88C10996-33E1-8B4A-9153-84AEF719BF6C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Independence</a:t>
          </a:r>
        </a:p>
      </dgm:t>
    </dgm:pt>
    <dgm:pt modelId="{209CE791-6980-6545-B281-65413027D829}" type="parTrans" cxnId="{05918A42-2B98-A241-BFBE-D750702380FA}">
      <dgm:prSet/>
      <dgm:spPr/>
      <dgm:t>
        <a:bodyPr/>
        <a:lstStyle/>
        <a:p>
          <a:endParaRPr lang="en-US"/>
        </a:p>
      </dgm:t>
    </dgm:pt>
    <dgm:pt modelId="{31666733-10DE-C748-B69B-BF489F64A6C6}" type="sibTrans" cxnId="{05918A42-2B98-A241-BFBE-D750702380FA}">
      <dgm:prSet/>
      <dgm:spPr/>
      <dgm:t>
        <a:bodyPr/>
        <a:lstStyle/>
        <a:p>
          <a:endParaRPr lang="en-US"/>
        </a:p>
      </dgm:t>
    </dgm:pt>
    <dgm:pt modelId="{E64C7A51-88F0-4347-9F1F-CFAE8E869CBC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b="1" i="0" dirty="0" smtClean="0"/>
            <a:t>No one subsequence in the sequence can be inferred from the others</a:t>
          </a:r>
        </a:p>
      </dgm:t>
    </dgm:pt>
    <dgm:pt modelId="{EBD93B69-4110-7B4F-BCB6-19A6D3130B30}" type="parTrans" cxnId="{B1735CAC-77BC-A240-9E7F-309B1D591A11}">
      <dgm:prSet/>
      <dgm:spPr/>
      <dgm:t>
        <a:bodyPr/>
        <a:lstStyle/>
        <a:p>
          <a:endParaRPr lang="en-US"/>
        </a:p>
      </dgm:t>
    </dgm:pt>
    <dgm:pt modelId="{E3945E4A-09F3-914D-9653-E556DDA6526E}" type="sibTrans" cxnId="{B1735CAC-77BC-A240-9E7F-309B1D591A11}">
      <dgm:prSet/>
      <dgm:spPr/>
      <dgm:t>
        <a:bodyPr/>
        <a:lstStyle/>
        <a:p>
          <a:endParaRPr lang="en-US"/>
        </a:p>
      </dgm:t>
    </dgm:pt>
    <dgm:pt modelId="{945645CA-3FB5-CA46-9AA6-6F4CACA03AB4}" type="pres">
      <dgm:prSet presAssocID="{6C0CABDC-18D3-6742-9D41-7554DD90BF05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2FC6B5-4CDF-3844-9A30-CBE6E52CCEC5}" type="pres">
      <dgm:prSet presAssocID="{151783EF-3287-B74B-8307-4554EEE909DD}" presName="compNode" presStyleCnt="0"/>
      <dgm:spPr/>
    </dgm:pt>
    <dgm:pt modelId="{9BF75880-D8F3-C441-8887-72FB85A8F952}" type="pres">
      <dgm:prSet presAssocID="{151783EF-3287-B74B-8307-4554EEE909DD}" presName="aNode" presStyleLbl="bgShp" presStyleIdx="0" presStyleCnt="1" custLinFactNeighborX="20432" custLinFactNeighborY="5018"/>
      <dgm:spPr/>
      <dgm:t>
        <a:bodyPr/>
        <a:lstStyle/>
        <a:p>
          <a:endParaRPr lang="en-US"/>
        </a:p>
      </dgm:t>
    </dgm:pt>
    <dgm:pt modelId="{670AE361-5D16-A642-87E9-63F07239C467}" type="pres">
      <dgm:prSet presAssocID="{151783EF-3287-B74B-8307-4554EEE909DD}" presName="textNode" presStyleLbl="bgShp" presStyleIdx="0" presStyleCnt="1"/>
      <dgm:spPr/>
      <dgm:t>
        <a:bodyPr/>
        <a:lstStyle/>
        <a:p>
          <a:endParaRPr lang="en-US"/>
        </a:p>
      </dgm:t>
    </dgm:pt>
    <dgm:pt modelId="{334AAE5A-D07B-DE43-B7A9-49E7C9234A58}" type="pres">
      <dgm:prSet presAssocID="{151783EF-3287-B74B-8307-4554EEE909DD}" presName="compChildNode" presStyleCnt="0"/>
      <dgm:spPr/>
    </dgm:pt>
    <dgm:pt modelId="{D1A67D7E-8E35-934E-80CE-0341A132466F}" type="pres">
      <dgm:prSet presAssocID="{151783EF-3287-B74B-8307-4554EEE909DD}" presName="theInnerList" presStyleCnt="0"/>
      <dgm:spPr/>
    </dgm:pt>
    <dgm:pt modelId="{DA385708-885B-9A4A-AF9E-D8E49D65F369}" type="pres">
      <dgm:prSet presAssocID="{73026147-E2EC-B843-B41D-0F749D9F5193}" presName="child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F2FC3D-7317-E247-BEC9-FE5D6638F20F}" type="pres">
      <dgm:prSet presAssocID="{73026147-E2EC-B843-B41D-0F749D9F5193}" presName="aSpace2" presStyleCnt="0"/>
      <dgm:spPr/>
    </dgm:pt>
    <dgm:pt modelId="{15FE3627-301D-5E44-803D-42FA482F7C28}" type="pres">
      <dgm:prSet presAssocID="{88C10996-33E1-8B4A-9153-84AEF719BF6C}" presName="child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C16A54B-3DCA-49D5-BABE-8DE90F1BBD50}" type="presOf" srcId="{E64C7A51-88F0-4347-9F1F-CFAE8E869CBC}" destId="{15FE3627-301D-5E44-803D-42FA482F7C28}" srcOrd="0" destOrd="1" presId="urn:microsoft.com/office/officeart/2005/8/layout/lProcess2"/>
    <dgm:cxn modelId="{1194EF9A-7FF9-1249-8BCE-87F896A59AED}" srcId="{73026147-E2EC-B843-B41D-0F749D9F5193}" destId="{9629A499-686F-D441-8042-F6CF5DA0FB42}" srcOrd="0" destOrd="0" parTransId="{CFBAD56C-D56B-7D45-A682-95E962E65A81}" sibTransId="{7FA4DB43-1734-4C44-AC00-794425F71C8D}"/>
    <dgm:cxn modelId="{82C6425E-7872-EE43-B889-E6AE387CFFF0}" srcId="{6C0CABDC-18D3-6742-9D41-7554DD90BF05}" destId="{151783EF-3287-B74B-8307-4554EEE909DD}" srcOrd="0" destOrd="0" parTransId="{64B546B7-479E-8448-B89E-628AABA1E011}" sibTransId="{C2C095DA-C32E-AC45-803F-4D3ED42E2451}"/>
    <dgm:cxn modelId="{A5608F25-1EC2-2E4F-BC1A-597943F08E1E}" srcId="{151783EF-3287-B74B-8307-4554EEE909DD}" destId="{73026147-E2EC-B843-B41D-0F749D9F5193}" srcOrd="0" destOrd="0" parTransId="{DA6825E2-7EC6-734E-BCB8-50DB25E38383}" sibTransId="{896B5EF3-2411-2B41-948F-4AD5105B9075}"/>
    <dgm:cxn modelId="{D89F4457-1C1A-4A6B-824C-D89D95891BDD}" type="presOf" srcId="{151783EF-3287-B74B-8307-4554EEE909DD}" destId="{670AE361-5D16-A642-87E9-63F07239C467}" srcOrd="1" destOrd="0" presId="urn:microsoft.com/office/officeart/2005/8/layout/lProcess2"/>
    <dgm:cxn modelId="{B1735CAC-77BC-A240-9E7F-309B1D591A11}" srcId="{88C10996-33E1-8B4A-9153-84AEF719BF6C}" destId="{E64C7A51-88F0-4347-9F1F-CFAE8E869CBC}" srcOrd="0" destOrd="0" parTransId="{EBD93B69-4110-7B4F-BCB6-19A6D3130B30}" sibTransId="{E3945E4A-09F3-914D-9653-E556DDA6526E}"/>
    <dgm:cxn modelId="{08BCCC31-584D-4980-A227-A2417F27CE24}" type="presOf" srcId="{6C0CABDC-18D3-6742-9D41-7554DD90BF05}" destId="{945645CA-3FB5-CA46-9AA6-6F4CACA03AB4}" srcOrd="0" destOrd="0" presId="urn:microsoft.com/office/officeart/2005/8/layout/lProcess2"/>
    <dgm:cxn modelId="{8109643F-795C-4EFF-A281-C67E1763CD01}" type="presOf" srcId="{9629A499-686F-D441-8042-F6CF5DA0FB42}" destId="{DA385708-885B-9A4A-AF9E-D8E49D65F369}" srcOrd="0" destOrd="1" presId="urn:microsoft.com/office/officeart/2005/8/layout/lProcess2"/>
    <dgm:cxn modelId="{05918A42-2B98-A241-BFBE-D750702380FA}" srcId="{151783EF-3287-B74B-8307-4554EEE909DD}" destId="{88C10996-33E1-8B4A-9153-84AEF719BF6C}" srcOrd="1" destOrd="0" parTransId="{209CE791-6980-6545-B281-65413027D829}" sibTransId="{31666733-10DE-C748-B69B-BF489F64A6C6}"/>
    <dgm:cxn modelId="{685D0169-FF36-44B5-A6BF-3BF3B35F52CC}" type="presOf" srcId="{88C10996-33E1-8B4A-9153-84AEF719BF6C}" destId="{15FE3627-301D-5E44-803D-42FA482F7C28}" srcOrd="0" destOrd="0" presId="urn:microsoft.com/office/officeart/2005/8/layout/lProcess2"/>
    <dgm:cxn modelId="{1F61D363-3A79-4A25-97A8-A1A17A2E1C49}" type="presOf" srcId="{151783EF-3287-B74B-8307-4554EEE909DD}" destId="{9BF75880-D8F3-C441-8887-72FB85A8F952}" srcOrd="0" destOrd="0" presId="urn:microsoft.com/office/officeart/2005/8/layout/lProcess2"/>
    <dgm:cxn modelId="{9DF79BB4-99D5-44E0-B5DF-55EDE2E4C1A8}" type="presOf" srcId="{73026147-E2EC-B843-B41D-0F749D9F5193}" destId="{DA385708-885B-9A4A-AF9E-D8E49D65F369}" srcOrd="0" destOrd="0" presId="urn:microsoft.com/office/officeart/2005/8/layout/lProcess2"/>
    <dgm:cxn modelId="{4130F45E-FAA9-41A1-B245-6D9EE79393A1}" type="presParOf" srcId="{945645CA-3FB5-CA46-9AA6-6F4CACA03AB4}" destId="{602FC6B5-4CDF-3844-9A30-CBE6E52CCEC5}" srcOrd="0" destOrd="0" presId="urn:microsoft.com/office/officeart/2005/8/layout/lProcess2"/>
    <dgm:cxn modelId="{599B8576-4F80-425A-9FDD-A92A66A54305}" type="presParOf" srcId="{602FC6B5-4CDF-3844-9A30-CBE6E52CCEC5}" destId="{9BF75880-D8F3-C441-8887-72FB85A8F952}" srcOrd="0" destOrd="0" presId="urn:microsoft.com/office/officeart/2005/8/layout/lProcess2"/>
    <dgm:cxn modelId="{250618DA-D49E-4A17-8C0C-930045FB9B2B}" type="presParOf" srcId="{602FC6B5-4CDF-3844-9A30-CBE6E52CCEC5}" destId="{670AE361-5D16-A642-87E9-63F07239C467}" srcOrd="1" destOrd="0" presId="urn:microsoft.com/office/officeart/2005/8/layout/lProcess2"/>
    <dgm:cxn modelId="{F54EB1F9-CBC8-434A-815A-D2A391B0C58E}" type="presParOf" srcId="{602FC6B5-4CDF-3844-9A30-CBE6E52CCEC5}" destId="{334AAE5A-D07B-DE43-B7A9-49E7C9234A58}" srcOrd="2" destOrd="0" presId="urn:microsoft.com/office/officeart/2005/8/layout/lProcess2"/>
    <dgm:cxn modelId="{7089A74D-7307-4A88-A1AD-252796F02B36}" type="presParOf" srcId="{334AAE5A-D07B-DE43-B7A9-49E7C9234A58}" destId="{D1A67D7E-8E35-934E-80CE-0341A132466F}" srcOrd="0" destOrd="0" presId="urn:microsoft.com/office/officeart/2005/8/layout/lProcess2"/>
    <dgm:cxn modelId="{0540DE90-8BFA-44EB-9100-576DC8DB02D5}" type="presParOf" srcId="{D1A67D7E-8E35-934E-80CE-0341A132466F}" destId="{DA385708-885B-9A4A-AF9E-D8E49D65F369}" srcOrd="0" destOrd="0" presId="urn:microsoft.com/office/officeart/2005/8/layout/lProcess2"/>
    <dgm:cxn modelId="{F3938F50-3583-4A64-9C11-9562FBAEC7C3}" type="presParOf" srcId="{D1A67D7E-8E35-934E-80CE-0341A132466F}" destId="{BEF2FC3D-7317-E247-BEC9-FE5D6638F20F}" srcOrd="1" destOrd="0" presId="urn:microsoft.com/office/officeart/2005/8/layout/lProcess2"/>
    <dgm:cxn modelId="{3292911C-4FED-4C47-88BC-91BADBA430D0}" type="presParOf" srcId="{D1A67D7E-8E35-934E-80CE-0341A132466F}" destId="{15FE3627-301D-5E44-803D-42FA482F7C28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F690AC-4AC8-1E46-B042-C54C574FC5B4}" type="doc">
      <dgm:prSet loTypeId="urn:microsoft.com/office/officeart/2005/8/layout/hList6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61E9F7-003D-C142-9BA2-EA769B7B553C}">
      <dgm:prSet phldrT="[Text]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number generator</a:t>
          </a:r>
          <a:endParaRPr lang="en-US" b="1" i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A005344-DA0B-EE4E-921B-24E2F30AF104}" type="parTrans" cxnId="{B1CBACC1-F152-8A4B-A5D7-669CD8F62859}">
      <dgm:prSet/>
      <dgm:spPr/>
      <dgm:t>
        <a:bodyPr/>
        <a:lstStyle/>
        <a:p>
          <a:endParaRPr lang="en-US"/>
        </a:p>
      </dgm:t>
    </dgm:pt>
    <dgm:pt modelId="{FF3E3260-4AB6-0D4D-9F87-B6B3822CABBB}" type="sibTrans" cxnId="{B1CBACC1-F152-8A4B-A5D7-669CD8F62859}">
      <dgm:prSet/>
      <dgm:spPr/>
      <dgm:t>
        <a:bodyPr/>
        <a:lstStyle/>
        <a:p>
          <a:endParaRPr lang="en-US"/>
        </a:p>
      </dgm:t>
    </dgm:pt>
    <dgm:pt modelId="{7EC9AE6A-0177-1749-AAC3-F7538FACB750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algorithm that is used to produce an open-ended sequence of bits</a:t>
          </a:r>
        </a:p>
      </dgm:t>
    </dgm:pt>
    <dgm:pt modelId="{B8E78A37-322C-8748-9D2B-59D32145FAE2}" type="parTrans" cxnId="{FF7D27C0-F093-0A42-A9E2-77562AFD44EA}">
      <dgm:prSet/>
      <dgm:spPr/>
      <dgm:t>
        <a:bodyPr/>
        <a:lstStyle/>
        <a:p>
          <a:endParaRPr lang="en-US"/>
        </a:p>
      </dgm:t>
    </dgm:pt>
    <dgm:pt modelId="{07E4A36F-C8FB-F842-96E2-4837EA34A33E}" type="sibTrans" cxnId="{FF7D27C0-F093-0A42-A9E2-77562AFD44EA}">
      <dgm:prSet/>
      <dgm:spPr/>
      <dgm:t>
        <a:bodyPr/>
        <a:lstStyle/>
        <a:p>
          <a:endParaRPr lang="en-US"/>
        </a:p>
      </dgm:t>
    </dgm:pt>
    <dgm:pt modelId="{340AE848-91AC-E848-8A1F-ABE668D14F26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 to a symmetric stream cipher is a common application for an open-ended sequence of bits </a:t>
          </a:r>
        </a:p>
      </dgm:t>
    </dgm:pt>
    <dgm:pt modelId="{18FDDEE6-F9D6-2D42-8394-CDC4721FA4B7}" type="parTrans" cxnId="{5A9E4DD3-B45C-5D4F-964B-A4BAE209F9B2}">
      <dgm:prSet/>
      <dgm:spPr/>
      <dgm:t>
        <a:bodyPr/>
        <a:lstStyle/>
        <a:p>
          <a:endParaRPr lang="en-US"/>
        </a:p>
      </dgm:t>
    </dgm:pt>
    <dgm:pt modelId="{104F904F-54FE-6B4D-A072-8E0D4D6EE613}" type="sibTrans" cxnId="{5A9E4DD3-B45C-5D4F-964B-A4BAE209F9B2}">
      <dgm:prSet/>
      <dgm:spPr/>
      <dgm:t>
        <a:bodyPr/>
        <a:lstStyle/>
        <a:p>
          <a:endParaRPr lang="en-US"/>
        </a:p>
      </dgm:t>
    </dgm:pt>
    <dgm:pt modelId="{F2D21732-E37A-E14F-8218-F3C13E1EFF30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function (PRF)</a:t>
          </a:r>
        </a:p>
      </dgm:t>
    </dgm:pt>
    <dgm:pt modelId="{36403584-7DC4-A844-B13E-5284BC5B5856}" type="parTrans" cxnId="{0265CAD6-C0AA-3946-8F43-EE98B43A2B10}">
      <dgm:prSet/>
      <dgm:spPr/>
      <dgm:t>
        <a:bodyPr/>
        <a:lstStyle/>
        <a:p>
          <a:endParaRPr lang="en-US"/>
        </a:p>
      </dgm:t>
    </dgm:pt>
    <dgm:pt modelId="{1714E585-91A7-9E4D-A90B-213D1C5089CC}" type="sibTrans" cxnId="{0265CAD6-C0AA-3946-8F43-EE98B43A2B10}">
      <dgm:prSet/>
      <dgm:spPr/>
      <dgm:t>
        <a:bodyPr/>
        <a:lstStyle/>
        <a:p>
          <a:endParaRPr lang="en-US"/>
        </a:p>
      </dgm:t>
    </dgm:pt>
    <dgm:pt modelId="{960315DB-FF20-7645-8EE1-B787B69F30D1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produce a pseudorandom string of bits of some fixed length</a:t>
          </a:r>
        </a:p>
      </dgm:t>
    </dgm:pt>
    <dgm:pt modelId="{3521EEC9-40C5-8B4E-BF5B-63FA19608695}" type="parTrans" cxnId="{F188CBDC-8B4E-6C47-8312-5302C653870B}">
      <dgm:prSet/>
      <dgm:spPr/>
      <dgm:t>
        <a:bodyPr/>
        <a:lstStyle/>
        <a:p>
          <a:endParaRPr lang="en-US"/>
        </a:p>
      </dgm:t>
    </dgm:pt>
    <dgm:pt modelId="{7CCD285C-4E12-534D-937D-8B3C81F95697}" type="sibTrans" cxnId="{F188CBDC-8B4E-6C47-8312-5302C653870B}">
      <dgm:prSet/>
      <dgm:spPr/>
      <dgm:t>
        <a:bodyPr/>
        <a:lstStyle/>
        <a:p>
          <a:endParaRPr lang="en-US"/>
        </a:p>
      </dgm:t>
    </dgm:pt>
    <dgm:pt modelId="{8A34EE7C-F7F8-2D49-B7AD-AA472D069A0D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r>
            <a:rPr lang="en-US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Examples are symmetric encryption keys and </a:t>
          </a:r>
          <a:r>
            <a:rPr lang="en-US" b="1" i="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nonces</a:t>
          </a:r>
          <a:endParaRPr lang="en-US" b="1" i="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E4CDD8-1248-7F4D-A348-3C71F5342CAB}" type="parTrans" cxnId="{100E064E-B921-EE48-84E9-3A4C3FD9D670}">
      <dgm:prSet/>
      <dgm:spPr/>
      <dgm:t>
        <a:bodyPr/>
        <a:lstStyle/>
        <a:p>
          <a:endParaRPr lang="en-US"/>
        </a:p>
      </dgm:t>
    </dgm:pt>
    <dgm:pt modelId="{5DEB0BA6-88BA-3C4D-8E2E-AA0448B55B11}" type="sibTrans" cxnId="{100E064E-B921-EE48-84E9-3A4C3FD9D670}">
      <dgm:prSet/>
      <dgm:spPr/>
      <dgm:t>
        <a:bodyPr/>
        <a:lstStyle/>
        <a:p>
          <a:endParaRPr lang="en-US"/>
        </a:p>
      </dgm:t>
    </dgm:pt>
    <dgm:pt modelId="{F12D0FB5-A1B4-3F4F-B7D9-2524F29D5221}" type="pres">
      <dgm:prSet presAssocID="{93F690AC-4AC8-1E46-B042-C54C574FC5B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47DE0A-35D9-A94E-A41C-63488A6987C1}" type="pres">
      <dgm:prSet presAssocID="{2E61E9F7-003D-C142-9BA2-EA769B7B553C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05280-E737-2E47-B74F-A15B0043B043}" type="pres">
      <dgm:prSet presAssocID="{FF3E3260-4AB6-0D4D-9F87-B6B3822CABBB}" presName="sibTrans" presStyleCnt="0"/>
      <dgm:spPr/>
    </dgm:pt>
    <dgm:pt modelId="{4DC11B8D-90D6-0849-A4A4-A9312E6E1D3D}" type="pres">
      <dgm:prSet presAssocID="{F2D21732-E37A-E14F-8218-F3C13E1EFF30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265CAD6-C0AA-3946-8F43-EE98B43A2B10}" srcId="{93F690AC-4AC8-1E46-B042-C54C574FC5B4}" destId="{F2D21732-E37A-E14F-8218-F3C13E1EFF30}" srcOrd="1" destOrd="0" parTransId="{36403584-7DC4-A844-B13E-5284BC5B5856}" sibTransId="{1714E585-91A7-9E4D-A90B-213D1C5089CC}"/>
    <dgm:cxn modelId="{6E376491-143C-4BCB-B4EF-09E0F1183B58}" type="presOf" srcId="{7EC9AE6A-0177-1749-AAC3-F7538FACB750}" destId="{B547DE0A-35D9-A94E-A41C-63488A6987C1}" srcOrd="0" destOrd="1" presId="urn:microsoft.com/office/officeart/2005/8/layout/hList6"/>
    <dgm:cxn modelId="{F188CBDC-8B4E-6C47-8312-5302C653870B}" srcId="{F2D21732-E37A-E14F-8218-F3C13E1EFF30}" destId="{960315DB-FF20-7645-8EE1-B787B69F30D1}" srcOrd="0" destOrd="0" parTransId="{3521EEC9-40C5-8B4E-BF5B-63FA19608695}" sibTransId="{7CCD285C-4E12-534D-937D-8B3C81F95697}"/>
    <dgm:cxn modelId="{B1CBACC1-F152-8A4B-A5D7-669CD8F62859}" srcId="{93F690AC-4AC8-1E46-B042-C54C574FC5B4}" destId="{2E61E9F7-003D-C142-9BA2-EA769B7B553C}" srcOrd="0" destOrd="0" parTransId="{1A005344-DA0B-EE4E-921B-24E2F30AF104}" sibTransId="{FF3E3260-4AB6-0D4D-9F87-B6B3822CABBB}"/>
    <dgm:cxn modelId="{7372361D-8AF8-4A7B-8739-AC9DE31D3BC5}" type="presOf" srcId="{2E61E9F7-003D-C142-9BA2-EA769B7B553C}" destId="{B547DE0A-35D9-A94E-A41C-63488A6987C1}" srcOrd="0" destOrd="0" presId="urn:microsoft.com/office/officeart/2005/8/layout/hList6"/>
    <dgm:cxn modelId="{5A9E4DD3-B45C-5D4F-964B-A4BAE209F9B2}" srcId="{2E61E9F7-003D-C142-9BA2-EA769B7B553C}" destId="{340AE848-91AC-E848-8A1F-ABE668D14F26}" srcOrd="1" destOrd="0" parTransId="{18FDDEE6-F9D6-2D42-8394-CDC4721FA4B7}" sibTransId="{104F904F-54FE-6B4D-A072-8E0D4D6EE613}"/>
    <dgm:cxn modelId="{1B28AF46-3D99-48C3-8184-E00D8636B791}" type="presOf" srcId="{340AE848-91AC-E848-8A1F-ABE668D14F26}" destId="{B547DE0A-35D9-A94E-A41C-63488A6987C1}" srcOrd="0" destOrd="2" presId="urn:microsoft.com/office/officeart/2005/8/layout/hList6"/>
    <dgm:cxn modelId="{D3DF48CD-E4A1-47EC-A5A0-7468377D027D}" type="presOf" srcId="{8A34EE7C-F7F8-2D49-B7AD-AA472D069A0D}" destId="{4DC11B8D-90D6-0849-A4A4-A9312E6E1D3D}" srcOrd="0" destOrd="2" presId="urn:microsoft.com/office/officeart/2005/8/layout/hList6"/>
    <dgm:cxn modelId="{FF7D27C0-F093-0A42-A9E2-77562AFD44EA}" srcId="{2E61E9F7-003D-C142-9BA2-EA769B7B553C}" destId="{7EC9AE6A-0177-1749-AAC3-F7538FACB750}" srcOrd="0" destOrd="0" parTransId="{B8E78A37-322C-8748-9D2B-59D32145FAE2}" sibTransId="{07E4A36F-C8FB-F842-96E2-4837EA34A33E}"/>
    <dgm:cxn modelId="{A70E53A5-A966-4D6A-A1AC-EC7FDD4A3F0A}" type="presOf" srcId="{F2D21732-E37A-E14F-8218-F3C13E1EFF30}" destId="{4DC11B8D-90D6-0849-A4A4-A9312E6E1D3D}" srcOrd="0" destOrd="0" presId="urn:microsoft.com/office/officeart/2005/8/layout/hList6"/>
    <dgm:cxn modelId="{100E064E-B921-EE48-84E9-3A4C3FD9D670}" srcId="{F2D21732-E37A-E14F-8218-F3C13E1EFF30}" destId="{8A34EE7C-F7F8-2D49-B7AD-AA472D069A0D}" srcOrd="1" destOrd="0" parTransId="{92E4CDD8-1248-7F4D-A348-3C71F5342CAB}" sibTransId="{5DEB0BA6-88BA-3C4D-8E2E-AA0448B55B11}"/>
    <dgm:cxn modelId="{35B73DCC-F7AF-4E12-83A1-211F9FB4D7EF}" type="presOf" srcId="{960315DB-FF20-7645-8EE1-B787B69F30D1}" destId="{4DC11B8D-90D6-0849-A4A4-A9312E6E1D3D}" srcOrd="0" destOrd="1" presId="urn:microsoft.com/office/officeart/2005/8/layout/hList6"/>
    <dgm:cxn modelId="{EE9472AB-CF14-49C7-9674-F72329132964}" type="presOf" srcId="{93F690AC-4AC8-1E46-B042-C54C574FC5B4}" destId="{F12D0FB5-A1B4-3F4F-B7D9-2524F29D5221}" srcOrd="0" destOrd="0" presId="urn:microsoft.com/office/officeart/2005/8/layout/hList6"/>
    <dgm:cxn modelId="{91F9442D-D1F2-4918-B58A-A19BBB44F75B}" type="presParOf" srcId="{F12D0FB5-A1B4-3F4F-B7D9-2524F29D5221}" destId="{B547DE0A-35D9-A94E-A41C-63488A6987C1}" srcOrd="0" destOrd="0" presId="urn:microsoft.com/office/officeart/2005/8/layout/hList6"/>
    <dgm:cxn modelId="{F50B9A7F-E5D3-45D6-8813-2BDD00878DBE}" type="presParOf" srcId="{F12D0FB5-A1B4-3F4F-B7D9-2524F29D5221}" destId="{48E05280-E737-2E47-B74F-A15B0043B043}" srcOrd="1" destOrd="0" presId="urn:microsoft.com/office/officeart/2005/8/layout/hList6"/>
    <dgm:cxn modelId="{01016FD3-62A1-4915-A29F-5185C59625D4}" type="presParOf" srcId="{F12D0FB5-A1B4-3F4F-B7D9-2524F29D5221}" destId="{4DC11B8D-90D6-0849-A4A4-A9312E6E1D3D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0398700-417B-2141-BFFF-3526F229FC16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51AE82-1E87-D24A-A2A3-16B0CD9AEC28}">
      <dgm:prSet phldrT="[Text]" custT="1"/>
      <dgm:spPr>
        <a:solidFill>
          <a:schemeClr val="accent3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4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tests</a:t>
          </a:r>
          <a:endParaRPr lang="en-US" sz="4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6907DA8-E6CD-0F48-AC88-A376DAC261AE}" type="parTrans" cxnId="{CF481419-9597-B645-8B41-AD16B6783121}">
      <dgm:prSet/>
      <dgm:spPr/>
      <dgm:t>
        <a:bodyPr/>
        <a:lstStyle/>
        <a:p>
          <a:endParaRPr lang="en-US"/>
        </a:p>
      </dgm:t>
    </dgm:pt>
    <dgm:pt modelId="{543A5519-C82E-3249-A4DF-8F404BBCCE68}" type="sibTrans" cxnId="{CF481419-9597-B645-8B41-AD16B6783121}">
      <dgm:prSet/>
      <dgm:spPr/>
      <dgm:t>
        <a:bodyPr/>
        <a:lstStyle/>
        <a:p>
          <a:endParaRPr lang="en-US"/>
        </a:p>
      </dgm:t>
    </dgm:pt>
    <dgm:pt modelId="{D4389AC4-147F-EF45-9659-945814DF5AD6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Frequency test</a:t>
          </a:r>
        </a:p>
      </dgm:t>
    </dgm:pt>
    <dgm:pt modelId="{85EF3B60-C85E-6940-A934-742E868B7DED}" type="parTrans" cxnId="{64C3A88F-790B-7543-92D3-C093C49164AF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19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245007D3-8296-5549-B759-C7B89833C4B1}" type="sibTrans" cxnId="{64C3A88F-790B-7543-92D3-C093C49164AF}">
      <dgm:prSet/>
      <dgm:spPr/>
      <dgm:t>
        <a:bodyPr/>
        <a:lstStyle/>
        <a:p>
          <a:endParaRPr lang="en-US"/>
        </a:p>
      </dgm:t>
    </dgm:pt>
    <dgm:pt modelId="{C3A7160F-008B-024F-ADB5-BFCD38E7F185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most basic test and must be included in any test suite</a:t>
          </a:r>
        </a:p>
      </dgm:t>
    </dgm:pt>
    <dgm:pt modelId="{27EB9682-A1E6-DC44-9890-46A795A01786}" type="parTrans" cxnId="{D5168E0A-2595-C54D-8C5A-4714A0BE8689}">
      <dgm:prSet/>
      <dgm:spPr/>
      <dgm:t>
        <a:bodyPr/>
        <a:lstStyle/>
        <a:p>
          <a:endParaRPr lang="en-US"/>
        </a:p>
      </dgm:t>
    </dgm:pt>
    <dgm:pt modelId="{89FACB29-A5D3-5648-A61F-1CB11623491B}" type="sibTrans" cxnId="{D5168E0A-2595-C54D-8C5A-4714A0BE8689}">
      <dgm:prSet/>
      <dgm:spPr/>
      <dgm:t>
        <a:bodyPr/>
        <a:lstStyle/>
        <a:p>
          <a:endParaRPr lang="en-US"/>
        </a:p>
      </dgm:t>
    </dgm:pt>
    <dgm:pt modelId="{20BC5C97-BC12-A44A-A1F0-9808B82EB433}">
      <dgm:prSet custT="1"/>
      <dgm:spPr>
        <a:solidFill>
          <a:schemeClr val="accent4">
            <a:lumMod val="75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ones and zeros in a sequence is approximately the same as would be expected for a truly random sequence</a:t>
          </a:r>
        </a:p>
      </dgm:t>
    </dgm:pt>
    <dgm:pt modelId="{648824C5-4981-4B4C-B899-2D6A5DF616D9}" type="parTrans" cxnId="{434B82E6-1B27-F649-8CB9-3334DD792F1D}">
      <dgm:prSet/>
      <dgm:spPr/>
      <dgm:t>
        <a:bodyPr/>
        <a:lstStyle/>
        <a:p>
          <a:endParaRPr lang="en-US"/>
        </a:p>
      </dgm:t>
    </dgm:pt>
    <dgm:pt modelId="{84E7F774-B65D-8349-BFE6-DD55225C475F}" type="sibTrans" cxnId="{434B82E6-1B27-F649-8CB9-3334DD792F1D}">
      <dgm:prSet/>
      <dgm:spPr/>
      <dgm:t>
        <a:bodyPr/>
        <a:lstStyle/>
        <a:p>
          <a:endParaRPr lang="en-US"/>
        </a:p>
      </dgm:t>
    </dgm:pt>
    <dgm:pt modelId="{F302B261-417A-464F-B34E-DF89F74F4147}">
      <dgm:prSet custT="1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Runs test</a:t>
          </a:r>
        </a:p>
      </dgm:t>
    </dgm:pt>
    <dgm:pt modelId="{95DF85FD-1A44-774C-9F71-B3AA3065A8E4}" type="parTrans" cxnId="{422F1189-4476-9D49-A707-2422ADF6A602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16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D334E87F-F167-434B-80FC-F6A0725B26C3}" type="sibTrans" cxnId="{422F1189-4476-9D49-A707-2422ADF6A602}">
      <dgm:prSet/>
      <dgm:spPr/>
      <dgm:t>
        <a:bodyPr/>
        <a:lstStyle/>
        <a:p>
          <a:endParaRPr lang="en-US"/>
        </a:p>
      </dgm:t>
    </dgm:pt>
    <dgm:pt modelId="{44F1BF06-5B5A-494F-9A19-34196CAED9FC}">
      <dgm:prSet custT="1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of this test is the total number of runs in the sequence, where a run is an uninterrupted sequence of identical bits bounded before and after with a bit of the opposite value</a:t>
          </a:r>
        </a:p>
      </dgm:t>
    </dgm:pt>
    <dgm:pt modelId="{AEED730F-F6F6-5341-AAD8-76282DD4E40C}" type="parTrans" cxnId="{1DCF0CC4-0D47-3C4E-9B64-901B0FB53A91}">
      <dgm:prSet/>
      <dgm:spPr/>
      <dgm:t>
        <a:bodyPr/>
        <a:lstStyle/>
        <a:p>
          <a:endParaRPr lang="en-US"/>
        </a:p>
      </dgm:t>
    </dgm:pt>
    <dgm:pt modelId="{98BB1545-63FB-7645-B66C-7FE092DFC3F3}" type="sibTrans" cxnId="{1DCF0CC4-0D47-3C4E-9B64-901B0FB53A91}">
      <dgm:prSet/>
      <dgm:spPr/>
      <dgm:t>
        <a:bodyPr/>
        <a:lstStyle/>
        <a:p>
          <a:endParaRPr lang="en-US"/>
        </a:p>
      </dgm:t>
    </dgm:pt>
    <dgm:pt modelId="{6996DC63-43BD-4442-B873-BE8331128744}">
      <dgm:prSet custT="1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runs of ones and zeros of various lengths is as expected for a random sequence</a:t>
          </a:r>
        </a:p>
      </dgm:t>
    </dgm:pt>
    <dgm:pt modelId="{F89AEF70-79BE-9242-B156-CEA22FA1470D}" type="parTrans" cxnId="{C83EB562-6800-9746-9F9B-888284EBA158}">
      <dgm:prSet/>
      <dgm:spPr/>
      <dgm:t>
        <a:bodyPr/>
        <a:lstStyle/>
        <a:p>
          <a:endParaRPr lang="en-US"/>
        </a:p>
      </dgm:t>
    </dgm:pt>
    <dgm:pt modelId="{3148ADF6-FE10-5744-9D4B-2B776A47C66A}" type="sibTrans" cxnId="{C83EB562-6800-9746-9F9B-888284EBA158}">
      <dgm:prSet/>
      <dgm:spPr/>
      <dgm:t>
        <a:bodyPr/>
        <a:lstStyle/>
        <a:p>
          <a:endParaRPr lang="en-US"/>
        </a:p>
      </dgm:t>
    </dgm:pt>
    <dgm:pt modelId="{F2D8EB1C-6364-4742-ADBC-E6EE4CF7E930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Maurer’s universal statistical test</a:t>
          </a:r>
        </a:p>
      </dgm:t>
    </dgm:pt>
    <dgm:pt modelId="{AF32F520-6C1C-A240-8ABA-8C2B55354B2E}" type="parTrans" cxnId="{0A8F6849-529F-5544-B14B-E6C46604EAC7}">
      <dgm:prSet/>
      <dgm:spPr>
        <a:solidFill>
          <a:schemeClr val="bg1"/>
        </a:solidFill>
        <a:ln>
          <a:solidFill>
            <a:schemeClr val="tx1"/>
          </a:solidFill>
        </a:ln>
        <a:scene3d>
          <a:camera prst="orthographicFront">
            <a:rot lat="0" lon="10799999" rev="0"/>
          </a:camera>
          <a:lightRig rig="threePt" dir="t"/>
        </a:scene3d>
      </dgm:spPr>
      <dgm:t>
        <a:bodyPr/>
        <a:lstStyle/>
        <a:p>
          <a:endParaRPr lang="en-US"/>
        </a:p>
      </dgm:t>
    </dgm:pt>
    <dgm:pt modelId="{C5A9C7AC-9CC3-0B47-8AC1-5663995DF2ED}" type="sibTrans" cxnId="{0A8F6849-529F-5544-B14B-E6C46604EAC7}">
      <dgm:prSet/>
      <dgm:spPr/>
      <dgm:t>
        <a:bodyPr/>
        <a:lstStyle/>
        <a:p>
          <a:endParaRPr lang="en-US"/>
        </a:p>
      </dgm:t>
    </dgm:pt>
    <dgm:pt modelId="{32612D27-7C61-5D45-8797-A229D0757C08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is the number of bits between matching patterns</a:t>
          </a:r>
        </a:p>
      </dgm:t>
    </dgm:pt>
    <dgm:pt modelId="{349B561E-032D-A74A-B277-714CBB130817}" type="parTrans" cxnId="{CA9A74E7-6308-E246-8540-8CAA07315657}">
      <dgm:prSet/>
      <dgm:spPr/>
      <dgm:t>
        <a:bodyPr/>
        <a:lstStyle/>
        <a:p>
          <a:endParaRPr lang="en-US"/>
        </a:p>
      </dgm:t>
    </dgm:pt>
    <dgm:pt modelId="{111AF923-49D0-D148-ACE6-EB9A2F92958B}" type="sibTrans" cxnId="{CA9A74E7-6308-E246-8540-8CAA07315657}">
      <dgm:prSet/>
      <dgm:spPr/>
      <dgm:t>
        <a:bodyPr/>
        <a:lstStyle/>
        <a:p>
          <a:endParaRPr lang="en-US"/>
        </a:p>
      </dgm:t>
    </dgm:pt>
    <dgm:pt modelId="{66B4EE0F-9F11-6344-8D7C-A27B68DC63FF}">
      <dgm:prSet custT="1"/>
      <dgm:spPr>
        <a:solidFill>
          <a:schemeClr val="accent3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detect whether or not the sequence can be significantly compressed without loss of information.  A significantly compressible sequence is considered to be non-random</a:t>
          </a:r>
          <a:endParaRPr lang="en-US" sz="1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B4132C-44D5-EA4A-B720-625AA621F91F}" type="parTrans" cxnId="{598A7754-C645-134B-95AF-BBEBB64420D1}">
      <dgm:prSet/>
      <dgm:spPr/>
      <dgm:t>
        <a:bodyPr/>
        <a:lstStyle/>
        <a:p>
          <a:endParaRPr lang="en-US"/>
        </a:p>
      </dgm:t>
    </dgm:pt>
    <dgm:pt modelId="{CB0B696D-13B4-9140-BE70-CA2CB38DBC95}" type="sibTrans" cxnId="{598A7754-C645-134B-95AF-BBEBB64420D1}">
      <dgm:prSet/>
      <dgm:spPr/>
      <dgm:t>
        <a:bodyPr/>
        <a:lstStyle/>
        <a:p>
          <a:endParaRPr lang="en-US"/>
        </a:p>
      </dgm:t>
    </dgm:pt>
    <dgm:pt modelId="{A3DFCC93-D7E4-1E48-8F7E-2D7119A876CE}" type="pres">
      <dgm:prSet presAssocID="{10398700-417B-2141-BFFF-3526F229FC16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4F974F-999E-C64C-A7AC-D1911D36A5AE}" type="pres">
      <dgm:prSet presAssocID="{7651AE82-1E87-D24A-A2A3-16B0CD9AEC28}" presName="centerShape" presStyleLbl="node0" presStyleIdx="0" presStyleCnt="1" custLinFactNeighborX="-347" custLinFactNeighborY="3095"/>
      <dgm:spPr/>
      <dgm:t>
        <a:bodyPr/>
        <a:lstStyle/>
        <a:p>
          <a:endParaRPr lang="en-US"/>
        </a:p>
      </dgm:t>
    </dgm:pt>
    <dgm:pt modelId="{EC816666-D007-9744-B654-0F381FA367E7}" type="pres">
      <dgm:prSet presAssocID="{85EF3B60-C85E-6940-A934-742E868B7DED}" presName="parTrans" presStyleLbl="bgSibTrans2D1" presStyleIdx="0" presStyleCnt="3" custScaleX="34048" custScaleY="66422" custLinFactNeighborX="33082" custLinFactNeighborY="67752"/>
      <dgm:spPr/>
      <dgm:t>
        <a:bodyPr/>
        <a:lstStyle/>
        <a:p>
          <a:endParaRPr lang="en-US"/>
        </a:p>
      </dgm:t>
    </dgm:pt>
    <dgm:pt modelId="{73695E3A-BB74-AE4B-A8C5-D9253E7FDBB3}" type="pres">
      <dgm:prSet presAssocID="{D4389AC4-147F-EF45-9659-945814DF5AD6}" presName="node" presStyleLbl="node1" presStyleIdx="0" presStyleCnt="3" custScaleX="106140" custScaleY="196712" custRadScaleRad="110690" custRadScaleInc="-531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835BB5-6694-E646-92BA-0B693BBD92E3}" type="pres">
      <dgm:prSet presAssocID="{95DF85FD-1A44-774C-9F71-B3AA3065A8E4}" presName="parTrans" presStyleLbl="bgSibTrans2D1" presStyleIdx="1" presStyleCnt="3" custScaleX="28242" custScaleY="59137" custLinFactY="17851" custLinFactNeighborX="1775" custLinFactNeighborY="100000"/>
      <dgm:spPr/>
      <dgm:t>
        <a:bodyPr/>
        <a:lstStyle/>
        <a:p>
          <a:endParaRPr lang="en-US"/>
        </a:p>
      </dgm:t>
    </dgm:pt>
    <dgm:pt modelId="{70769229-F332-FD40-8E55-0BB5EDD7F938}" type="pres">
      <dgm:prSet presAssocID="{F302B261-417A-464F-B34E-DF89F74F4147}" presName="node" presStyleLbl="node1" presStyleIdx="1" presStyleCnt="3" custScaleX="157126" custScaleY="168537" custRadScaleRad="107197" custRadScaleInc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33EB83-07EC-EE41-B777-E6D006E71A17}" type="pres">
      <dgm:prSet presAssocID="{AF32F520-6C1C-A240-8ABA-8C2B55354B2E}" presName="parTrans" presStyleLbl="bgSibTrans2D1" presStyleIdx="2" presStyleCnt="3" custScaleX="30378" custScaleY="91433" custLinFactNeighborX="-33202" custLinFactNeighborY="82076"/>
      <dgm:spPr/>
      <dgm:t>
        <a:bodyPr/>
        <a:lstStyle/>
        <a:p>
          <a:endParaRPr lang="en-US"/>
        </a:p>
      </dgm:t>
    </dgm:pt>
    <dgm:pt modelId="{4227CD39-4A83-5B4E-A0FE-57CD62BEB35B}" type="pres">
      <dgm:prSet presAssocID="{F2D8EB1C-6364-4742-ADBC-E6EE4CF7E930}" presName="node" presStyleLbl="node1" presStyleIdx="2" presStyleCnt="3" custScaleX="100293" custScaleY="266537" custRadScaleRad="107021" custRadScaleInc="54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4C3A88F-790B-7543-92D3-C093C49164AF}" srcId="{7651AE82-1E87-D24A-A2A3-16B0CD9AEC28}" destId="{D4389AC4-147F-EF45-9659-945814DF5AD6}" srcOrd="0" destOrd="0" parTransId="{85EF3B60-C85E-6940-A934-742E868B7DED}" sibTransId="{245007D3-8296-5549-B759-C7B89833C4B1}"/>
    <dgm:cxn modelId="{D5168E0A-2595-C54D-8C5A-4714A0BE8689}" srcId="{D4389AC4-147F-EF45-9659-945814DF5AD6}" destId="{C3A7160F-008B-024F-ADB5-BFCD38E7F185}" srcOrd="0" destOrd="0" parTransId="{27EB9682-A1E6-DC44-9890-46A795A01786}" sibTransId="{89FACB29-A5D3-5648-A61F-1CB11623491B}"/>
    <dgm:cxn modelId="{DE290F0B-DE1D-4E89-818E-ADBD032779A6}" type="presOf" srcId="{7651AE82-1E87-D24A-A2A3-16B0CD9AEC28}" destId="{D34F974F-999E-C64C-A7AC-D1911D36A5AE}" srcOrd="0" destOrd="0" presId="urn:microsoft.com/office/officeart/2005/8/layout/radial4"/>
    <dgm:cxn modelId="{3B0D14FD-E99C-48F0-95AC-1215DA4B9771}" type="presOf" srcId="{95DF85FD-1A44-774C-9F71-B3AA3065A8E4}" destId="{05835BB5-6694-E646-92BA-0B693BBD92E3}" srcOrd="0" destOrd="0" presId="urn:microsoft.com/office/officeart/2005/8/layout/radial4"/>
    <dgm:cxn modelId="{011DA411-9B41-43FB-ABDB-8D3D7B19BC72}" type="presOf" srcId="{85EF3B60-C85E-6940-A934-742E868B7DED}" destId="{EC816666-D007-9744-B654-0F381FA367E7}" srcOrd="0" destOrd="0" presId="urn:microsoft.com/office/officeart/2005/8/layout/radial4"/>
    <dgm:cxn modelId="{D65A96CB-C451-405B-A04E-D3468BC7378A}" type="presOf" srcId="{C3A7160F-008B-024F-ADB5-BFCD38E7F185}" destId="{73695E3A-BB74-AE4B-A8C5-D9253E7FDBB3}" srcOrd="0" destOrd="1" presId="urn:microsoft.com/office/officeart/2005/8/layout/radial4"/>
    <dgm:cxn modelId="{0A8F6849-529F-5544-B14B-E6C46604EAC7}" srcId="{7651AE82-1E87-D24A-A2A3-16B0CD9AEC28}" destId="{F2D8EB1C-6364-4742-ADBC-E6EE4CF7E930}" srcOrd="2" destOrd="0" parTransId="{AF32F520-6C1C-A240-8ABA-8C2B55354B2E}" sibTransId="{C5A9C7AC-9CC3-0B47-8AC1-5663995DF2ED}"/>
    <dgm:cxn modelId="{EBFFA706-059C-4216-BBD6-31B3309D3F6D}" type="presOf" srcId="{66B4EE0F-9F11-6344-8D7C-A27B68DC63FF}" destId="{4227CD39-4A83-5B4E-A0FE-57CD62BEB35B}" srcOrd="0" destOrd="2" presId="urn:microsoft.com/office/officeart/2005/8/layout/radial4"/>
    <dgm:cxn modelId="{83B2A0C9-D934-4A3F-BDE5-E65BADE2301C}" type="presOf" srcId="{6996DC63-43BD-4442-B873-BE8331128744}" destId="{70769229-F332-FD40-8E55-0BB5EDD7F938}" srcOrd="0" destOrd="2" presId="urn:microsoft.com/office/officeart/2005/8/layout/radial4"/>
    <dgm:cxn modelId="{C83EB562-6800-9746-9F9B-888284EBA158}" srcId="{F302B261-417A-464F-B34E-DF89F74F4147}" destId="{6996DC63-43BD-4442-B873-BE8331128744}" srcOrd="1" destOrd="0" parTransId="{F89AEF70-79BE-9242-B156-CEA22FA1470D}" sibTransId="{3148ADF6-FE10-5744-9D4B-2B776A47C66A}"/>
    <dgm:cxn modelId="{E292A921-B487-4104-9D72-DDABF5BF367F}" type="presOf" srcId="{D4389AC4-147F-EF45-9659-945814DF5AD6}" destId="{73695E3A-BB74-AE4B-A8C5-D9253E7FDBB3}" srcOrd="0" destOrd="0" presId="urn:microsoft.com/office/officeart/2005/8/layout/radial4"/>
    <dgm:cxn modelId="{57012EF5-1F7C-4556-9CCC-3E4891DF6D33}" type="presOf" srcId="{F302B261-417A-464F-B34E-DF89F74F4147}" destId="{70769229-F332-FD40-8E55-0BB5EDD7F938}" srcOrd="0" destOrd="0" presId="urn:microsoft.com/office/officeart/2005/8/layout/radial4"/>
    <dgm:cxn modelId="{422F1189-4476-9D49-A707-2422ADF6A602}" srcId="{7651AE82-1E87-D24A-A2A3-16B0CD9AEC28}" destId="{F302B261-417A-464F-B34E-DF89F74F4147}" srcOrd="1" destOrd="0" parTransId="{95DF85FD-1A44-774C-9F71-B3AA3065A8E4}" sibTransId="{D334E87F-F167-434B-80FC-F6A0725B26C3}"/>
    <dgm:cxn modelId="{B885F97E-3FC5-4685-AE1D-DC767536C08D}" type="presOf" srcId="{F2D8EB1C-6364-4742-ADBC-E6EE4CF7E930}" destId="{4227CD39-4A83-5B4E-A0FE-57CD62BEB35B}" srcOrd="0" destOrd="0" presId="urn:microsoft.com/office/officeart/2005/8/layout/radial4"/>
    <dgm:cxn modelId="{CA91B8E0-9E0B-4D3E-BD90-E95C22D89A91}" type="presOf" srcId="{32612D27-7C61-5D45-8797-A229D0757C08}" destId="{4227CD39-4A83-5B4E-A0FE-57CD62BEB35B}" srcOrd="0" destOrd="1" presId="urn:microsoft.com/office/officeart/2005/8/layout/radial4"/>
    <dgm:cxn modelId="{598A7754-C645-134B-95AF-BBEBB64420D1}" srcId="{F2D8EB1C-6364-4742-ADBC-E6EE4CF7E930}" destId="{66B4EE0F-9F11-6344-8D7C-A27B68DC63FF}" srcOrd="1" destOrd="0" parTransId="{54B4132C-44D5-EA4A-B720-625AA621F91F}" sibTransId="{CB0B696D-13B4-9140-BE70-CA2CB38DBC95}"/>
    <dgm:cxn modelId="{329B2DC9-06EB-41DF-96A8-A732F4EC1BAF}" type="presOf" srcId="{20BC5C97-BC12-A44A-A1F0-9808B82EB433}" destId="{73695E3A-BB74-AE4B-A8C5-D9253E7FDBB3}" srcOrd="0" destOrd="2" presId="urn:microsoft.com/office/officeart/2005/8/layout/radial4"/>
    <dgm:cxn modelId="{CA9A74E7-6308-E246-8540-8CAA07315657}" srcId="{F2D8EB1C-6364-4742-ADBC-E6EE4CF7E930}" destId="{32612D27-7C61-5D45-8797-A229D0757C08}" srcOrd="0" destOrd="0" parTransId="{349B561E-032D-A74A-B277-714CBB130817}" sibTransId="{111AF923-49D0-D148-ACE6-EB9A2F92958B}"/>
    <dgm:cxn modelId="{7D93D5E1-3907-4355-9EC7-5E6037E3C821}" type="presOf" srcId="{44F1BF06-5B5A-494F-9A19-34196CAED9FC}" destId="{70769229-F332-FD40-8E55-0BB5EDD7F938}" srcOrd="0" destOrd="1" presId="urn:microsoft.com/office/officeart/2005/8/layout/radial4"/>
    <dgm:cxn modelId="{DF7BBFC9-B1C8-4D7E-9395-AE9399853630}" type="presOf" srcId="{AF32F520-6C1C-A240-8ABA-8C2B55354B2E}" destId="{5C33EB83-07EC-EE41-B777-E6D006E71A17}" srcOrd="0" destOrd="0" presId="urn:microsoft.com/office/officeart/2005/8/layout/radial4"/>
    <dgm:cxn modelId="{434B82E6-1B27-F649-8CB9-3334DD792F1D}" srcId="{D4389AC4-147F-EF45-9659-945814DF5AD6}" destId="{20BC5C97-BC12-A44A-A1F0-9808B82EB433}" srcOrd="1" destOrd="0" parTransId="{648824C5-4981-4B4C-B899-2D6A5DF616D9}" sibTransId="{84E7F774-B65D-8349-BFE6-DD55225C475F}"/>
    <dgm:cxn modelId="{CF481419-9597-B645-8B41-AD16B6783121}" srcId="{10398700-417B-2141-BFFF-3526F229FC16}" destId="{7651AE82-1E87-D24A-A2A3-16B0CD9AEC28}" srcOrd="0" destOrd="0" parTransId="{A6907DA8-E6CD-0F48-AC88-A376DAC261AE}" sibTransId="{543A5519-C82E-3249-A4DF-8F404BBCCE68}"/>
    <dgm:cxn modelId="{683B184E-48E8-49FA-97A3-902A2881D157}" type="presOf" srcId="{10398700-417B-2141-BFFF-3526F229FC16}" destId="{A3DFCC93-D7E4-1E48-8F7E-2D7119A876CE}" srcOrd="0" destOrd="0" presId="urn:microsoft.com/office/officeart/2005/8/layout/radial4"/>
    <dgm:cxn modelId="{1DCF0CC4-0D47-3C4E-9B64-901B0FB53A91}" srcId="{F302B261-417A-464F-B34E-DF89F74F4147}" destId="{44F1BF06-5B5A-494F-9A19-34196CAED9FC}" srcOrd="0" destOrd="0" parTransId="{AEED730F-F6F6-5341-AAD8-76282DD4E40C}" sibTransId="{98BB1545-63FB-7645-B66C-7FE092DFC3F3}"/>
    <dgm:cxn modelId="{9631FA6A-3859-4231-94BF-144DA614F8B6}" type="presParOf" srcId="{A3DFCC93-D7E4-1E48-8F7E-2D7119A876CE}" destId="{D34F974F-999E-C64C-A7AC-D1911D36A5AE}" srcOrd="0" destOrd="0" presId="urn:microsoft.com/office/officeart/2005/8/layout/radial4"/>
    <dgm:cxn modelId="{84E67CA1-C977-4B4A-98B7-5EF97A3710E1}" type="presParOf" srcId="{A3DFCC93-D7E4-1E48-8F7E-2D7119A876CE}" destId="{EC816666-D007-9744-B654-0F381FA367E7}" srcOrd="1" destOrd="0" presId="urn:microsoft.com/office/officeart/2005/8/layout/radial4"/>
    <dgm:cxn modelId="{06F3D7DA-B642-4C2D-AED1-41B5D454C894}" type="presParOf" srcId="{A3DFCC93-D7E4-1E48-8F7E-2D7119A876CE}" destId="{73695E3A-BB74-AE4B-A8C5-D9253E7FDBB3}" srcOrd="2" destOrd="0" presId="urn:microsoft.com/office/officeart/2005/8/layout/radial4"/>
    <dgm:cxn modelId="{41819FFE-ED6A-4F3F-9BF7-89B190484866}" type="presParOf" srcId="{A3DFCC93-D7E4-1E48-8F7E-2D7119A876CE}" destId="{05835BB5-6694-E646-92BA-0B693BBD92E3}" srcOrd="3" destOrd="0" presId="urn:microsoft.com/office/officeart/2005/8/layout/radial4"/>
    <dgm:cxn modelId="{61D0A1EC-0AA8-4571-B9CF-7A3C25667B6C}" type="presParOf" srcId="{A3DFCC93-D7E4-1E48-8F7E-2D7119A876CE}" destId="{70769229-F332-FD40-8E55-0BB5EDD7F938}" srcOrd="4" destOrd="0" presId="urn:microsoft.com/office/officeart/2005/8/layout/radial4"/>
    <dgm:cxn modelId="{66AA3BF8-F282-45EC-8865-9F99C4B490CE}" type="presParOf" srcId="{A3DFCC93-D7E4-1E48-8F7E-2D7119A876CE}" destId="{5C33EB83-07EC-EE41-B777-E6D006E71A17}" srcOrd="5" destOrd="0" presId="urn:microsoft.com/office/officeart/2005/8/layout/radial4"/>
    <dgm:cxn modelId="{8911D13C-F02C-4FA5-BABE-F0BD20FE1A50}" type="presParOf" srcId="{A3DFCC93-D7E4-1E48-8F7E-2D7119A876CE}" destId="{4227CD39-4A83-5B4E-A0FE-57CD62BEB35B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6A22A1A-F6E0-6B4C-8FAD-514F73C23B5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7C695A-A56F-E84C-BB40-E4D2165FBBD8}">
      <dgm:prSet phldrT="[Text]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broad categories of cryptographic algorithms are commonly used to create </a:t>
          </a:r>
          <a:r>
            <a:rPr lang="en-US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PRNGs</a:t>
          </a:r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12AE749-0130-944B-ACCE-03B10C1CCA01}" type="parTrans" cxnId="{EB82B1B8-8B3C-2A44-BFBC-A287E06A759C}">
      <dgm:prSet/>
      <dgm:spPr/>
      <dgm:t>
        <a:bodyPr/>
        <a:lstStyle/>
        <a:p>
          <a:endParaRPr lang="en-US"/>
        </a:p>
      </dgm:t>
    </dgm:pt>
    <dgm:pt modelId="{82A56808-0D56-0A43-9683-3A94B3DD589B}" type="sibTrans" cxnId="{EB82B1B8-8B3C-2A44-BFBC-A287E06A759C}">
      <dgm:prSet/>
      <dgm:spPr/>
      <dgm:t>
        <a:bodyPr/>
        <a:lstStyle/>
        <a:p>
          <a:endParaRPr lang="en-US"/>
        </a:p>
      </dgm:t>
    </dgm:pt>
    <dgm:pt modelId="{632E4FAE-BF30-8B40-BE2F-B889663E1FE4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smtClean="0"/>
            <a:t>Symmetric block ciphers</a:t>
          </a:r>
          <a:endParaRPr lang="en-US" dirty="0" smtClean="0"/>
        </a:p>
      </dgm:t>
    </dgm:pt>
    <dgm:pt modelId="{F2D292CB-429B-4340-B281-735492988D6C}" type="parTrans" cxnId="{904487DC-AEC9-A64C-85E2-48CD8DE0FBA2}">
      <dgm:prSet/>
      <dgm:spPr/>
      <dgm:t>
        <a:bodyPr/>
        <a:lstStyle/>
        <a:p>
          <a:endParaRPr lang="en-US"/>
        </a:p>
      </dgm:t>
    </dgm:pt>
    <dgm:pt modelId="{FAF37F8E-0CB7-0848-A298-5A652C5F226A}" type="sibTrans" cxnId="{904487DC-AEC9-A64C-85E2-48CD8DE0FBA2}">
      <dgm:prSet/>
      <dgm:spPr/>
      <dgm:t>
        <a:bodyPr/>
        <a:lstStyle/>
        <a:p>
          <a:endParaRPr lang="en-US"/>
        </a:p>
      </dgm:t>
    </dgm:pt>
    <dgm:pt modelId="{0BEC1EE3-1E1F-714B-948D-37D9529684B2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/>
            <a:t>Asymmetric ciphers</a:t>
          </a:r>
        </a:p>
      </dgm:t>
    </dgm:pt>
    <dgm:pt modelId="{D2701C57-CAA3-9E4A-9C3A-4A42F5279E4F}" type="parTrans" cxnId="{0D834ED2-01A5-1447-8149-526980A4DFAF}">
      <dgm:prSet/>
      <dgm:spPr/>
      <dgm:t>
        <a:bodyPr/>
        <a:lstStyle/>
        <a:p>
          <a:endParaRPr lang="en-US"/>
        </a:p>
      </dgm:t>
    </dgm:pt>
    <dgm:pt modelId="{F4A17777-BE37-5B40-80D8-408AF8EDC1AB}" type="sibTrans" cxnId="{0D834ED2-01A5-1447-8149-526980A4DFAF}">
      <dgm:prSet/>
      <dgm:spPr/>
      <dgm:t>
        <a:bodyPr/>
        <a:lstStyle/>
        <a:p>
          <a:endParaRPr lang="en-US"/>
        </a:p>
      </dgm:t>
    </dgm:pt>
    <dgm:pt modelId="{C2ECFB37-480B-E546-9D00-8540C6B05524}">
      <dgm:prSet/>
      <dgm:spPr>
        <a:solidFill>
          <a:schemeClr val="bg1"/>
        </a:solidFill>
        <a:ln w="41275"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 smtClean="0"/>
            <a:t>Hash functions and message authentication codes</a:t>
          </a:r>
          <a:endParaRPr lang="en-US" dirty="0"/>
        </a:p>
      </dgm:t>
    </dgm:pt>
    <dgm:pt modelId="{D6186C35-E3E9-9B43-A2D7-954D3780CB91}" type="parTrans" cxnId="{ED8006B2-78DE-0245-8E33-94F2A7201D9D}">
      <dgm:prSet/>
      <dgm:spPr/>
      <dgm:t>
        <a:bodyPr/>
        <a:lstStyle/>
        <a:p>
          <a:endParaRPr lang="en-US"/>
        </a:p>
      </dgm:t>
    </dgm:pt>
    <dgm:pt modelId="{A633C9F2-14C4-A849-8C49-91CE910C173D}" type="sibTrans" cxnId="{ED8006B2-78DE-0245-8E33-94F2A7201D9D}">
      <dgm:prSet/>
      <dgm:spPr/>
      <dgm:t>
        <a:bodyPr/>
        <a:lstStyle/>
        <a:p>
          <a:endParaRPr lang="en-US"/>
        </a:p>
      </dgm:t>
    </dgm:pt>
    <dgm:pt modelId="{1C6FC90A-780B-5948-9C0D-516476B2074F}" type="pres">
      <dgm:prSet presAssocID="{66A22A1A-F6E0-6B4C-8FAD-514F73C23B5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4456865-5BBB-C849-89AE-DEDF7838FB35}" type="pres">
      <dgm:prSet presAssocID="{017C695A-A56F-E84C-BB40-E4D2165FBBD8}" presName="composite" presStyleCnt="0"/>
      <dgm:spPr/>
    </dgm:pt>
    <dgm:pt modelId="{D62329B7-67B5-1B42-8A0F-233B3F56D7B7}" type="pres">
      <dgm:prSet presAssocID="{017C695A-A56F-E84C-BB40-E4D2165FBBD8}" presName="parTx" presStyleLbl="alignNode1" presStyleIdx="0" presStyleCnt="1" custLinFactNeighborY="-6073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C2A5B0-C2A6-674A-9001-8537AD5AD575}" type="pres">
      <dgm:prSet presAssocID="{017C695A-A56F-E84C-BB40-E4D2165FBBD8}" presName="desTx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04487DC-AEC9-A64C-85E2-48CD8DE0FBA2}" srcId="{017C695A-A56F-E84C-BB40-E4D2165FBBD8}" destId="{632E4FAE-BF30-8B40-BE2F-B889663E1FE4}" srcOrd="0" destOrd="0" parTransId="{F2D292CB-429B-4340-B281-735492988D6C}" sibTransId="{FAF37F8E-0CB7-0848-A298-5A652C5F226A}"/>
    <dgm:cxn modelId="{29471C1E-73CF-4E53-8B5F-83AF64FFBD5A}" type="presOf" srcId="{66A22A1A-F6E0-6B4C-8FAD-514F73C23B5A}" destId="{1C6FC90A-780B-5948-9C0D-516476B2074F}" srcOrd="0" destOrd="0" presId="urn:microsoft.com/office/officeart/2005/8/layout/hList1"/>
    <dgm:cxn modelId="{0D834ED2-01A5-1447-8149-526980A4DFAF}" srcId="{017C695A-A56F-E84C-BB40-E4D2165FBBD8}" destId="{0BEC1EE3-1E1F-714B-948D-37D9529684B2}" srcOrd="1" destOrd="0" parTransId="{D2701C57-CAA3-9E4A-9C3A-4A42F5279E4F}" sibTransId="{F4A17777-BE37-5B40-80D8-408AF8EDC1AB}"/>
    <dgm:cxn modelId="{67A1CC3C-6862-4AC9-B11A-A509A0765721}" type="presOf" srcId="{0BEC1EE3-1E1F-714B-948D-37D9529684B2}" destId="{97C2A5B0-C2A6-674A-9001-8537AD5AD575}" srcOrd="0" destOrd="1" presId="urn:microsoft.com/office/officeart/2005/8/layout/hList1"/>
    <dgm:cxn modelId="{D9775599-1F2E-419B-BA36-A31C085A49C8}" type="presOf" srcId="{632E4FAE-BF30-8B40-BE2F-B889663E1FE4}" destId="{97C2A5B0-C2A6-674A-9001-8537AD5AD575}" srcOrd="0" destOrd="0" presId="urn:microsoft.com/office/officeart/2005/8/layout/hList1"/>
    <dgm:cxn modelId="{ED8006B2-78DE-0245-8E33-94F2A7201D9D}" srcId="{017C695A-A56F-E84C-BB40-E4D2165FBBD8}" destId="{C2ECFB37-480B-E546-9D00-8540C6B05524}" srcOrd="2" destOrd="0" parTransId="{D6186C35-E3E9-9B43-A2D7-954D3780CB91}" sibTransId="{A633C9F2-14C4-A849-8C49-91CE910C173D}"/>
    <dgm:cxn modelId="{499A1611-5590-4A4D-8926-E02C0FAD6D84}" type="presOf" srcId="{017C695A-A56F-E84C-BB40-E4D2165FBBD8}" destId="{D62329B7-67B5-1B42-8A0F-233B3F56D7B7}" srcOrd="0" destOrd="0" presId="urn:microsoft.com/office/officeart/2005/8/layout/hList1"/>
    <dgm:cxn modelId="{A8CFA8FA-431B-49EB-A75A-3322086591D0}" type="presOf" srcId="{C2ECFB37-480B-E546-9D00-8540C6B05524}" destId="{97C2A5B0-C2A6-674A-9001-8537AD5AD575}" srcOrd="0" destOrd="2" presId="urn:microsoft.com/office/officeart/2005/8/layout/hList1"/>
    <dgm:cxn modelId="{EB82B1B8-8B3C-2A44-BFBC-A287E06A759C}" srcId="{66A22A1A-F6E0-6B4C-8FAD-514F73C23B5A}" destId="{017C695A-A56F-E84C-BB40-E4D2165FBBD8}" srcOrd="0" destOrd="0" parTransId="{A12AE749-0130-944B-ACCE-03B10C1CCA01}" sibTransId="{82A56808-0D56-0A43-9683-3A94B3DD589B}"/>
    <dgm:cxn modelId="{41FBFC23-D4D3-41BB-8788-F0B73D1DCAEF}" type="presParOf" srcId="{1C6FC90A-780B-5948-9C0D-516476B2074F}" destId="{A4456865-5BBB-C849-89AE-DEDF7838FB35}" srcOrd="0" destOrd="0" presId="urn:microsoft.com/office/officeart/2005/8/layout/hList1"/>
    <dgm:cxn modelId="{37F84500-67AF-4885-9B46-4ED571E10F0D}" type="presParOf" srcId="{A4456865-5BBB-C849-89AE-DEDF7838FB35}" destId="{D62329B7-67B5-1B42-8A0F-233B3F56D7B7}" srcOrd="0" destOrd="0" presId="urn:microsoft.com/office/officeart/2005/8/layout/hList1"/>
    <dgm:cxn modelId="{C2C0E624-0AFA-433D-91B5-7377027C1D41}" type="presParOf" srcId="{A4456865-5BBB-C849-89AE-DEDF7838FB35}" destId="{97C2A5B0-C2A6-674A-9001-8537AD5AD57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FD9B44-A292-A140-8869-A4903384BD1E}" type="doc">
      <dgm:prSet loTypeId="urn:microsoft.com/office/officeart/2005/8/layout/cycle3" loCatId="cycle" qsTypeId="urn:microsoft.com/office/officeart/2005/8/quickstyle/simple4" qsCatId="simple" csTypeId="urn:microsoft.com/office/officeart/2005/8/colors/accent1_2" csCatId="accent1" phldr="1"/>
      <dgm:spPr/>
    </dgm:pt>
    <dgm:pt modelId="{25AA8E2D-F39C-D54F-A24B-159768F3E3AE}">
      <dgm:prSet phldrT="[Text]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</a:t>
          </a:r>
          <a:endParaRPr lang="en-US" sz="1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5F5BDC2-55DB-6046-AB79-225F1DED8C7B}" type="parTrans" cxnId="{25DE0C1F-54B7-DF4A-A9B9-1BC16E30D4B1}">
      <dgm:prSet/>
      <dgm:spPr/>
      <dgm:t>
        <a:bodyPr/>
        <a:lstStyle/>
        <a:p>
          <a:endParaRPr lang="en-US"/>
        </a:p>
      </dgm:t>
    </dgm:pt>
    <dgm:pt modelId="{A55DC1FF-E509-0B46-B35C-DAB6F5D348B4}" type="sibTrans" cxnId="{25DE0C1F-54B7-DF4A-A9B9-1BC16E30D4B1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218EA638-F4EB-004A-80B8-F524F33E4437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pseudorandom inputs drive the generator. One is a 64-bit representation of the current date and time. The other is a 64-bit seed value; this is initialized to some arbitrary value and is updated during the generation process.</a:t>
          </a:r>
        </a:p>
      </dgm:t>
    </dgm:pt>
    <dgm:pt modelId="{C17074B8-A52C-ED47-9D12-792CD88F59E8}" type="parTrans" cxnId="{9253E69A-FEDE-F14E-87F7-879A6F27620F}">
      <dgm:prSet/>
      <dgm:spPr/>
      <dgm:t>
        <a:bodyPr/>
        <a:lstStyle/>
        <a:p>
          <a:endParaRPr lang="en-US"/>
        </a:p>
      </dgm:t>
    </dgm:pt>
    <dgm:pt modelId="{BA694DEA-02E0-3846-90E3-6D3DA5551B84}" type="sibTrans" cxnId="{9253E69A-FEDE-F14E-87F7-879A6F27620F}">
      <dgm:prSet/>
      <dgm:spPr/>
      <dgm:t>
        <a:bodyPr/>
        <a:lstStyle/>
        <a:p>
          <a:endParaRPr lang="en-US"/>
        </a:p>
      </dgm:t>
    </dgm:pt>
    <dgm:pt modelId="{C63032D3-F84E-E943-BC72-51FA1A6BFB74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</a:p>
      </dgm:t>
    </dgm:pt>
    <dgm:pt modelId="{31BFE598-B7D8-094B-9678-52EB3BA8B8D5}" type="parTrans" cxnId="{4576E4C1-5034-4C4B-A905-3D07EF74CCFB}">
      <dgm:prSet/>
      <dgm:spPr/>
      <dgm:t>
        <a:bodyPr/>
        <a:lstStyle/>
        <a:p>
          <a:endParaRPr lang="en-US"/>
        </a:p>
      </dgm:t>
    </dgm:pt>
    <dgm:pt modelId="{06D883D4-9539-5B4A-971A-27515D772604}" type="sibTrans" cxnId="{4576E4C1-5034-4C4B-A905-3D07EF74CCFB}">
      <dgm:prSet/>
      <dgm:spPr/>
      <dgm:t>
        <a:bodyPr/>
        <a:lstStyle/>
        <a:p>
          <a:endParaRPr lang="en-US"/>
        </a:p>
      </dgm:t>
    </dgm:pt>
    <dgm:pt modelId="{A69C498D-E075-CC4F-B85C-2EA45A530EF1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generator makes use of three triple DES encryption modules. All three make use of the same pair of 56-bit keys, which must be kept secret and are used only for pseudorandom number generation.</a:t>
          </a:r>
        </a:p>
      </dgm:t>
    </dgm:pt>
    <dgm:pt modelId="{ADA05193-8BF0-0849-9E10-CAC1A334626C}" type="parTrans" cxnId="{67A24157-92BA-C044-8AD0-D84056CD25BE}">
      <dgm:prSet/>
      <dgm:spPr/>
      <dgm:t>
        <a:bodyPr/>
        <a:lstStyle/>
        <a:p>
          <a:endParaRPr lang="en-US"/>
        </a:p>
      </dgm:t>
    </dgm:pt>
    <dgm:pt modelId="{5F7F9556-9260-F248-81BE-8E5C8EE8FA86}" type="sibTrans" cxnId="{67A24157-92BA-C044-8AD0-D84056CD25BE}">
      <dgm:prSet/>
      <dgm:spPr/>
      <dgm:t>
        <a:bodyPr/>
        <a:lstStyle/>
        <a:p>
          <a:endParaRPr lang="en-US"/>
        </a:p>
      </dgm:t>
    </dgm:pt>
    <dgm:pt modelId="{694AECD1-E149-A548-BE38-7702C6CC2DB3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</a:t>
          </a:r>
        </a:p>
      </dgm:t>
    </dgm:pt>
    <dgm:pt modelId="{9A86E60D-5F10-C241-AA41-72B9DD04F516}" type="parTrans" cxnId="{706BC246-C401-D547-B0F4-1640677820A9}">
      <dgm:prSet/>
      <dgm:spPr/>
      <dgm:t>
        <a:bodyPr/>
        <a:lstStyle/>
        <a:p>
          <a:endParaRPr lang="en-US"/>
        </a:p>
      </dgm:t>
    </dgm:pt>
    <dgm:pt modelId="{6DCA784C-7314-A04D-949C-14A3A8D19A2C}" type="sibTrans" cxnId="{706BC246-C401-D547-B0F4-1640677820A9}">
      <dgm:prSet/>
      <dgm:spPr/>
      <dgm:t>
        <a:bodyPr/>
        <a:lstStyle/>
        <a:p>
          <a:endParaRPr lang="en-US"/>
        </a:p>
      </dgm:t>
    </dgm:pt>
    <dgm:pt modelId="{12398F35-C137-B145-B9FA-E4BE84F112C5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output consists of a 64-bit pseudorandom number and a 64-bit seed value.</a:t>
          </a:r>
        </a:p>
      </dgm:t>
    </dgm:pt>
    <dgm:pt modelId="{F3764C98-B448-6848-8038-078AD0FA67E4}" type="parTrans" cxnId="{DDAF4EA0-C9A5-FC40-8456-FEF6F71EDEE0}">
      <dgm:prSet/>
      <dgm:spPr/>
      <dgm:t>
        <a:bodyPr/>
        <a:lstStyle/>
        <a:p>
          <a:endParaRPr lang="en-US"/>
        </a:p>
      </dgm:t>
    </dgm:pt>
    <dgm:pt modelId="{281D26B5-EE85-EF41-A7E4-72F70DE1C07A}" type="sibTrans" cxnId="{DDAF4EA0-C9A5-FC40-8456-FEF6F71EDEE0}">
      <dgm:prSet/>
      <dgm:spPr/>
      <dgm:t>
        <a:bodyPr/>
        <a:lstStyle/>
        <a:p>
          <a:endParaRPr lang="en-US"/>
        </a:p>
      </dgm:t>
    </dgm:pt>
    <dgm:pt modelId="{4A41B123-F3C2-1543-AAA2-DF1F527B9B71}" type="pres">
      <dgm:prSet presAssocID="{14FD9B44-A292-A140-8869-A4903384BD1E}" presName="Name0" presStyleCnt="0">
        <dgm:presLayoutVars>
          <dgm:dir/>
          <dgm:resizeHandles val="exact"/>
        </dgm:presLayoutVars>
      </dgm:prSet>
      <dgm:spPr/>
    </dgm:pt>
    <dgm:pt modelId="{A43EB366-F9EF-164F-8F16-666C8C00DA3A}" type="pres">
      <dgm:prSet presAssocID="{14FD9B44-A292-A140-8869-A4903384BD1E}" presName="cycle" presStyleCnt="0"/>
      <dgm:spPr/>
    </dgm:pt>
    <dgm:pt modelId="{B356C3C3-176D-5E4F-96FD-10D88EEF7922}" type="pres">
      <dgm:prSet presAssocID="{25AA8E2D-F39C-D54F-A24B-159768F3E3AE}" presName="nodeFirs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8F1FF0D-80C7-B143-B4DC-FA633776886F}" type="pres">
      <dgm:prSet presAssocID="{A55DC1FF-E509-0B46-B35C-DAB6F5D348B4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5006A93B-B9AC-A244-BAF9-EA105FE88F8A}" type="pres">
      <dgm:prSet presAssocID="{C63032D3-F84E-E943-BC72-51FA1A6BFB74}" presName="nodeFollowingNode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FE789F-A4A1-1F4A-9A03-B121D4D9510A}" type="pres">
      <dgm:prSet presAssocID="{694AECD1-E149-A548-BE38-7702C6CC2DB3}" presName="nodeFollowingNodes" presStyleLbl="node1" presStyleIdx="2" presStyleCnt="3" custScaleY="7995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76E4C1-5034-4C4B-A905-3D07EF74CCFB}" srcId="{14FD9B44-A292-A140-8869-A4903384BD1E}" destId="{C63032D3-F84E-E943-BC72-51FA1A6BFB74}" srcOrd="1" destOrd="0" parTransId="{31BFE598-B7D8-094B-9678-52EB3BA8B8D5}" sibTransId="{06D883D4-9539-5B4A-971A-27515D772604}"/>
    <dgm:cxn modelId="{A9BDC789-0D84-4B73-B851-E38703174068}" type="presOf" srcId="{14FD9B44-A292-A140-8869-A4903384BD1E}" destId="{4A41B123-F3C2-1543-AAA2-DF1F527B9B71}" srcOrd="0" destOrd="0" presId="urn:microsoft.com/office/officeart/2005/8/layout/cycle3"/>
    <dgm:cxn modelId="{A6F8B48E-7303-4660-AE63-8B2B47DAAFB5}" type="presOf" srcId="{12398F35-C137-B145-B9FA-E4BE84F112C5}" destId="{8FFE789F-A4A1-1F4A-9A03-B121D4D9510A}" srcOrd="0" destOrd="1" presId="urn:microsoft.com/office/officeart/2005/8/layout/cycle3"/>
    <dgm:cxn modelId="{06CAB552-58FB-4B55-BE63-7DFC013353ED}" type="presOf" srcId="{694AECD1-E149-A548-BE38-7702C6CC2DB3}" destId="{8FFE789F-A4A1-1F4A-9A03-B121D4D9510A}" srcOrd="0" destOrd="0" presId="urn:microsoft.com/office/officeart/2005/8/layout/cycle3"/>
    <dgm:cxn modelId="{350D3AED-B903-427E-B668-A0E58F256010}" type="presOf" srcId="{C63032D3-F84E-E943-BC72-51FA1A6BFB74}" destId="{5006A93B-B9AC-A244-BAF9-EA105FE88F8A}" srcOrd="0" destOrd="0" presId="urn:microsoft.com/office/officeart/2005/8/layout/cycle3"/>
    <dgm:cxn modelId="{DDAF4EA0-C9A5-FC40-8456-FEF6F71EDEE0}" srcId="{694AECD1-E149-A548-BE38-7702C6CC2DB3}" destId="{12398F35-C137-B145-B9FA-E4BE84F112C5}" srcOrd="0" destOrd="0" parTransId="{F3764C98-B448-6848-8038-078AD0FA67E4}" sibTransId="{281D26B5-EE85-EF41-A7E4-72F70DE1C07A}"/>
    <dgm:cxn modelId="{1BEA6764-ED92-478C-B5F3-C2F8286AE981}" type="presOf" srcId="{A55DC1FF-E509-0B46-B35C-DAB6F5D348B4}" destId="{A8F1FF0D-80C7-B143-B4DC-FA633776886F}" srcOrd="0" destOrd="0" presId="urn:microsoft.com/office/officeart/2005/8/layout/cycle3"/>
    <dgm:cxn modelId="{DE61F2FF-0F9C-4633-B88C-CC12EACC634E}" type="presOf" srcId="{A69C498D-E075-CC4F-B85C-2EA45A530EF1}" destId="{5006A93B-B9AC-A244-BAF9-EA105FE88F8A}" srcOrd="0" destOrd="1" presId="urn:microsoft.com/office/officeart/2005/8/layout/cycle3"/>
    <dgm:cxn modelId="{9253E69A-FEDE-F14E-87F7-879A6F27620F}" srcId="{25AA8E2D-F39C-D54F-A24B-159768F3E3AE}" destId="{218EA638-F4EB-004A-80B8-F524F33E4437}" srcOrd="0" destOrd="0" parTransId="{C17074B8-A52C-ED47-9D12-792CD88F59E8}" sibTransId="{BA694DEA-02E0-3846-90E3-6D3DA5551B84}"/>
    <dgm:cxn modelId="{1C38D63E-9BCA-4747-B0DE-72B98382E7D6}" type="presOf" srcId="{218EA638-F4EB-004A-80B8-F524F33E4437}" destId="{B356C3C3-176D-5E4F-96FD-10D88EEF7922}" srcOrd="0" destOrd="1" presId="urn:microsoft.com/office/officeart/2005/8/layout/cycle3"/>
    <dgm:cxn modelId="{1F6188CB-1DF6-44E0-9357-B427CB75A50D}" type="presOf" srcId="{25AA8E2D-F39C-D54F-A24B-159768F3E3AE}" destId="{B356C3C3-176D-5E4F-96FD-10D88EEF7922}" srcOrd="0" destOrd="0" presId="urn:microsoft.com/office/officeart/2005/8/layout/cycle3"/>
    <dgm:cxn modelId="{706BC246-C401-D547-B0F4-1640677820A9}" srcId="{14FD9B44-A292-A140-8869-A4903384BD1E}" destId="{694AECD1-E149-A548-BE38-7702C6CC2DB3}" srcOrd="2" destOrd="0" parTransId="{9A86E60D-5F10-C241-AA41-72B9DD04F516}" sibTransId="{6DCA784C-7314-A04D-949C-14A3A8D19A2C}"/>
    <dgm:cxn modelId="{67A24157-92BA-C044-8AD0-D84056CD25BE}" srcId="{C63032D3-F84E-E943-BC72-51FA1A6BFB74}" destId="{A69C498D-E075-CC4F-B85C-2EA45A530EF1}" srcOrd="0" destOrd="0" parTransId="{ADA05193-8BF0-0849-9E10-CAC1A334626C}" sibTransId="{5F7F9556-9260-F248-81BE-8E5C8EE8FA86}"/>
    <dgm:cxn modelId="{25DE0C1F-54B7-DF4A-A9B9-1BC16E30D4B1}" srcId="{14FD9B44-A292-A140-8869-A4903384BD1E}" destId="{25AA8E2D-F39C-D54F-A24B-159768F3E3AE}" srcOrd="0" destOrd="0" parTransId="{75F5BDC2-55DB-6046-AB79-225F1DED8C7B}" sibTransId="{A55DC1FF-E509-0B46-B35C-DAB6F5D348B4}"/>
    <dgm:cxn modelId="{9718D06E-499C-4F3B-AA3D-DF9D2BCF0D7E}" type="presParOf" srcId="{4A41B123-F3C2-1543-AAA2-DF1F527B9B71}" destId="{A43EB366-F9EF-164F-8F16-666C8C00DA3A}" srcOrd="0" destOrd="0" presId="urn:microsoft.com/office/officeart/2005/8/layout/cycle3"/>
    <dgm:cxn modelId="{DDFE38F1-3457-42D9-A33C-F45B52D526E1}" type="presParOf" srcId="{A43EB366-F9EF-164F-8F16-666C8C00DA3A}" destId="{B356C3C3-176D-5E4F-96FD-10D88EEF7922}" srcOrd="0" destOrd="0" presId="urn:microsoft.com/office/officeart/2005/8/layout/cycle3"/>
    <dgm:cxn modelId="{641BF162-CDF6-4FCA-B388-5B41E4DE3A44}" type="presParOf" srcId="{A43EB366-F9EF-164F-8F16-666C8C00DA3A}" destId="{A8F1FF0D-80C7-B143-B4DC-FA633776886F}" srcOrd="1" destOrd="0" presId="urn:microsoft.com/office/officeart/2005/8/layout/cycle3"/>
    <dgm:cxn modelId="{8A3333DD-B8C0-4BB4-A211-D04766B05993}" type="presParOf" srcId="{A43EB366-F9EF-164F-8F16-666C8C00DA3A}" destId="{5006A93B-B9AC-A244-BAF9-EA105FE88F8A}" srcOrd="2" destOrd="0" presId="urn:microsoft.com/office/officeart/2005/8/layout/cycle3"/>
    <dgm:cxn modelId="{2331CB78-621D-42AC-94A9-1D8A45816527}" type="presParOf" srcId="{A43EB366-F9EF-164F-8F16-666C8C00DA3A}" destId="{8FFE789F-A4A1-1F4A-9A03-B121D4D9510A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7C226B-1D9E-284E-ABFB-E2FCB67F1E95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E6009B-0BCA-B044-8AAF-6A3F1A073FDB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encryption sequence should have a large period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A73CED-AE7A-E74D-B0D8-DB0B8D8F9094}" type="parTrans" cxnId="{A1C57CAA-4B6F-0240-AD7D-F94207A9A609}">
      <dgm:prSet/>
      <dgm:spPr/>
      <dgm:t>
        <a:bodyPr/>
        <a:lstStyle/>
        <a:p>
          <a:endParaRPr lang="en-US"/>
        </a:p>
      </dgm:t>
    </dgm:pt>
    <dgm:pt modelId="{96921BB6-F564-A946-BB1C-5ECBB7C32FE7}" type="sibTrans" cxnId="{A1C57CAA-4B6F-0240-AD7D-F94207A9A609}">
      <dgm:prSet/>
      <dgm:spPr/>
      <dgm:t>
        <a:bodyPr/>
        <a:lstStyle/>
        <a:p>
          <a:endParaRPr lang="en-US"/>
        </a:p>
      </dgm:t>
    </dgm:pt>
    <dgm:pt modelId="{5CAB22FB-9851-3C4F-A038-20CA627548A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A pseudorandom number generator uses a function that produces a deterministic stream of bits that eventually repeats;  the longer the period of repeat the more difficult it will be to do cryptanalysis</a:t>
          </a:r>
          <a:endParaRPr lang="en-US" dirty="0"/>
        </a:p>
      </dgm:t>
    </dgm:pt>
    <dgm:pt modelId="{C77EC44B-C743-7441-8826-4F2FD46C77BB}" type="parTrans" cxnId="{66505DE4-011D-4945-BF82-8C0B58BF0602}">
      <dgm:prSet/>
      <dgm:spPr/>
      <dgm:t>
        <a:bodyPr/>
        <a:lstStyle/>
        <a:p>
          <a:endParaRPr lang="en-US"/>
        </a:p>
      </dgm:t>
    </dgm:pt>
    <dgm:pt modelId="{A6C4B935-EA6D-9B4D-9C5F-8D0ED0882F93}" type="sibTrans" cxnId="{66505DE4-011D-4945-BF82-8C0B58BF0602}">
      <dgm:prSet/>
      <dgm:spPr/>
      <dgm:t>
        <a:bodyPr/>
        <a:lstStyle/>
        <a:p>
          <a:endParaRPr lang="en-US"/>
        </a:p>
      </dgm:t>
    </dgm:pt>
    <dgm:pt modelId="{FF83F01D-A9F6-3643-AB48-CC295FA77287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</a:t>
          </a:r>
          <a:r>
            <a:rPr lang="en-US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keystream</a:t>
          </a:r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should approximate the properties of a true random number stream as close as possible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DCC986A-F851-1543-BA4F-7272A0D4EBE9}" type="parTrans" cxnId="{C35F3613-513F-2748-A327-F6DBFA01CC4E}">
      <dgm:prSet/>
      <dgm:spPr/>
      <dgm:t>
        <a:bodyPr/>
        <a:lstStyle/>
        <a:p>
          <a:endParaRPr lang="en-US"/>
        </a:p>
      </dgm:t>
    </dgm:pt>
    <dgm:pt modelId="{E3F4A284-D537-8845-8E5C-94442DAB92BA}" type="sibTrans" cxnId="{C35F3613-513F-2748-A327-F6DBFA01CC4E}">
      <dgm:prSet/>
      <dgm:spPr/>
      <dgm:t>
        <a:bodyPr/>
        <a:lstStyle/>
        <a:p>
          <a:endParaRPr lang="en-US"/>
        </a:p>
      </dgm:t>
    </dgm:pt>
    <dgm:pt modelId="{12860769-CBB5-6C42-9930-B0FE3D445E2C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There should be an approximately equal number of 1s and 0s</a:t>
          </a:r>
          <a:endParaRPr lang="en-US" dirty="0"/>
        </a:p>
      </dgm:t>
    </dgm:pt>
    <dgm:pt modelId="{00019D7B-7AE6-3242-943D-09860589527C}" type="parTrans" cxnId="{E101E2C3-9F93-5745-B591-27BE8E0F5D04}">
      <dgm:prSet/>
      <dgm:spPr/>
      <dgm:t>
        <a:bodyPr/>
        <a:lstStyle/>
        <a:p>
          <a:endParaRPr lang="en-US"/>
        </a:p>
      </dgm:t>
    </dgm:pt>
    <dgm:pt modelId="{60C87F0B-F30A-5749-BB59-E6278A1D1ABB}" type="sibTrans" cxnId="{E101E2C3-9F93-5745-B591-27BE8E0F5D04}">
      <dgm:prSet/>
      <dgm:spPr/>
      <dgm:t>
        <a:bodyPr/>
        <a:lstStyle/>
        <a:p>
          <a:endParaRPr lang="en-US"/>
        </a:p>
      </dgm:t>
    </dgm:pt>
    <dgm:pt modelId="{CFDCEF11-EADE-8945-876F-DA0E223FC7DA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If the </a:t>
          </a:r>
          <a:r>
            <a:rPr lang="en-US" dirty="0" err="1" smtClean="0"/>
            <a:t>keystream</a:t>
          </a:r>
          <a:r>
            <a:rPr lang="en-US" dirty="0" smtClean="0"/>
            <a:t> is treated as a stream of bytes, then all of the 256 possible byte values should appear approximately equally often</a:t>
          </a:r>
          <a:endParaRPr lang="en-US" dirty="0"/>
        </a:p>
      </dgm:t>
    </dgm:pt>
    <dgm:pt modelId="{B908A7B6-BCB7-6E40-9BBC-43554892AEC8}" type="parTrans" cxnId="{50670E59-0762-664B-8550-CD2BD08A57F9}">
      <dgm:prSet/>
      <dgm:spPr/>
      <dgm:t>
        <a:bodyPr/>
        <a:lstStyle/>
        <a:p>
          <a:endParaRPr lang="en-US"/>
        </a:p>
      </dgm:t>
    </dgm:pt>
    <dgm:pt modelId="{E3CF9A06-5904-5643-A249-92F316AF3179}" type="sibTrans" cxnId="{50670E59-0762-664B-8550-CD2BD08A57F9}">
      <dgm:prSet/>
      <dgm:spPr/>
      <dgm:t>
        <a:bodyPr/>
        <a:lstStyle/>
        <a:p>
          <a:endParaRPr lang="en-US"/>
        </a:p>
      </dgm:t>
    </dgm:pt>
    <dgm:pt modelId="{E785F470-007E-834B-A97E-A312F7594748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key length of at least 128 bits is desirable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415A13E-8CDC-DA47-8255-C50A6A2B4F0A}" type="parTrans" cxnId="{0F457521-C1DA-1548-98EB-E0E1CEAD543D}">
      <dgm:prSet/>
      <dgm:spPr/>
      <dgm:t>
        <a:bodyPr/>
        <a:lstStyle/>
        <a:p>
          <a:endParaRPr lang="en-US"/>
        </a:p>
      </dgm:t>
    </dgm:pt>
    <dgm:pt modelId="{5A21B085-B5EA-FE4E-89FC-8A2699988F2D}" type="sibTrans" cxnId="{0F457521-C1DA-1548-98EB-E0E1CEAD543D}">
      <dgm:prSet/>
      <dgm:spPr/>
      <dgm:t>
        <a:bodyPr/>
        <a:lstStyle/>
        <a:p>
          <a:endParaRPr lang="en-US"/>
        </a:p>
      </dgm:t>
    </dgm:pt>
    <dgm:pt modelId="{D6691194-F350-4846-8856-9895BC15645E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output of the pseudorandom number generator is conditioned on the value of the input key</a:t>
          </a:r>
          <a:endParaRPr lang="en-US" dirty="0"/>
        </a:p>
      </dgm:t>
    </dgm:pt>
    <dgm:pt modelId="{D16307BC-809D-F54F-ADAC-D7399A84E7AF}" type="parTrans" cxnId="{E4882E99-70AB-A345-A709-F9F420577C2E}">
      <dgm:prSet/>
      <dgm:spPr/>
      <dgm:t>
        <a:bodyPr/>
        <a:lstStyle/>
        <a:p>
          <a:endParaRPr lang="en-US"/>
        </a:p>
      </dgm:t>
    </dgm:pt>
    <dgm:pt modelId="{B0D232E9-CCE7-8640-9F99-AF0A519FF3CB}" type="sibTrans" cxnId="{E4882E99-70AB-A345-A709-F9F420577C2E}">
      <dgm:prSet/>
      <dgm:spPr/>
      <dgm:t>
        <a:bodyPr/>
        <a:lstStyle/>
        <a:p>
          <a:endParaRPr lang="en-US"/>
        </a:p>
      </dgm:t>
    </dgm:pt>
    <dgm:pt modelId="{48F218B3-1B17-EE49-A611-0E9761B3E204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US" dirty="0" smtClean="0"/>
            <a:t>The same considerations that apply to block ciphers are valid</a:t>
          </a:r>
          <a:endParaRPr lang="en-US" dirty="0"/>
        </a:p>
      </dgm:t>
    </dgm:pt>
    <dgm:pt modelId="{C648821A-4C85-6A44-B621-B0C782F2DA57}" type="parTrans" cxnId="{C6E30B14-0072-3F40-ACC2-7116F2E83AEC}">
      <dgm:prSet/>
      <dgm:spPr/>
      <dgm:t>
        <a:bodyPr/>
        <a:lstStyle/>
        <a:p>
          <a:endParaRPr lang="en-US"/>
        </a:p>
      </dgm:t>
    </dgm:pt>
    <dgm:pt modelId="{C6257022-0CDE-B84B-ADF5-B6090575930C}" type="sibTrans" cxnId="{C6E30B14-0072-3F40-ACC2-7116F2E83AEC}">
      <dgm:prSet/>
      <dgm:spPr/>
      <dgm:t>
        <a:bodyPr/>
        <a:lstStyle/>
        <a:p>
          <a:endParaRPr lang="en-US"/>
        </a:p>
      </dgm:t>
    </dgm:pt>
    <dgm:pt modelId="{CC969CCA-2815-6240-98A2-21DE6D8FBE4A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a properly designed pseudorandom number generator a stream cipher can be as secure as a block cipher of comparable key length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5F5A781-FA30-1546-BFAA-8B243277B826}" type="parTrans" cxnId="{BC21047C-F731-A342-BD5A-D07182EFC5A1}">
      <dgm:prSet/>
      <dgm:spPr/>
      <dgm:t>
        <a:bodyPr/>
        <a:lstStyle/>
        <a:p>
          <a:endParaRPr lang="en-US"/>
        </a:p>
      </dgm:t>
    </dgm:pt>
    <dgm:pt modelId="{4925DBD4-83C4-C14C-A299-07F6BA4BF8E7}" type="sibTrans" cxnId="{BC21047C-F731-A342-BD5A-D07182EFC5A1}">
      <dgm:prSet/>
      <dgm:spPr/>
      <dgm:t>
        <a:bodyPr/>
        <a:lstStyle/>
        <a:p>
          <a:endParaRPr lang="en-US"/>
        </a:p>
      </dgm:t>
    </dgm:pt>
    <dgm:pt modelId="{7CE2E1C5-373F-3940-AEF3-7D3B3572E9AF}">
      <dgm:prSet/>
      <dgm:spPr>
        <a:ln>
          <a:solidFill>
            <a:schemeClr val="accent3">
              <a:lumMod val="75000"/>
            </a:schemeClr>
          </a:solidFill>
        </a:ln>
      </dgm:spPr>
      <dgm:t>
        <a:bodyPr/>
        <a:lstStyle/>
        <a:p>
          <a:pPr rtl="0"/>
          <a:r>
            <a:rPr lang="en-AU" dirty="0" smtClean="0"/>
            <a:t>A potential advantage is that stream ciphers that do not use block ciphers as a building block are typically faster and use far less code than block ciphers</a:t>
          </a:r>
          <a:endParaRPr lang="en-AU" dirty="0"/>
        </a:p>
      </dgm:t>
    </dgm:pt>
    <dgm:pt modelId="{B1B20878-674A-714F-B13F-9E593484C31E}" type="parTrans" cxnId="{5ABD712D-7854-B74C-BC9A-F5AB882C05E5}">
      <dgm:prSet/>
      <dgm:spPr/>
      <dgm:t>
        <a:bodyPr/>
        <a:lstStyle/>
        <a:p>
          <a:endParaRPr lang="en-US"/>
        </a:p>
      </dgm:t>
    </dgm:pt>
    <dgm:pt modelId="{8427CDE1-5DD7-1E40-B77F-8AE4B7F22D2B}" type="sibTrans" cxnId="{5ABD712D-7854-B74C-BC9A-F5AB882C05E5}">
      <dgm:prSet/>
      <dgm:spPr/>
      <dgm:t>
        <a:bodyPr/>
        <a:lstStyle/>
        <a:p>
          <a:endParaRPr lang="en-US"/>
        </a:p>
      </dgm:t>
    </dgm:pt>
    <dgm:pt modelId="{53D77C70-2298-CF43-82AD-7BAED5A08B37}" type="pres">
      <dgm:prSet presAssocID="{3B7C226B-1D9E-284E-ABFB-E2FCB67F1E9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A47D600-01CB-CA41-AB50-C040FFDA7F94}" type="pres">
      <dgm:prSet presAssocID="{4FE6009B-0BCA-B044-8AAF-6A3F1A073FDB}" presName="linNode" presStyleCnt="0"/>
      <dgm:spPr/>
    </dgm:pt>
    <dgm:pt modelId="{DF8243A5-C0B6-FE4F-A1A4-CBEFD28A1F47}" type="pres">
      <dgm:prSet presAssocID="{4FE6009B-0BCA-B044-8AAF-6A3F1A073FDB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3FB94-56E6-4343-815A-4C88DE8E4629}" type="pres">
      <dgm:prSet presAssocID="{4FE6009B-0BCA-B044-8AAF-6A3F1A073FDB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739046-BC2B-0742-8108-739E25EE09DF}" type="pres">
      <dgm:prSet presAssocID="{96921BB6-F564-A946-BB1C-5ECBB7C32FE7}" presName="sp" presStyleCnt="0"/>
      <dgm:spPr/>
    </dgm:pt>
    <dgm:pt modelId="{A59A3CBD-9545-F344-B04E-A6370A344E4B}" type="pres">
      <dgm:prSet presAssocID="{FF83F01D-A9F6-3643-AB48-CC295FA77287}" presName="linNode" presStyleCnt="0"/>
      <dgm:spPr/>
    </dgm:pt>
    <dgm:pt modelId="{92B1AF1B-DF41-0A49-BDA3-2FD01C54A696}" type="pres">
      <dgm:prSet presAssocID="{FF83F01D-A9F6-3643-AB48-CC295FA77287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DB7628-7D36-B74C-9F78-063350B6C244}" type="pres">
      <dgm:prSet presAssocID="{FF83F01D-A9F6-3643-AB48-CC295FA77287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783702-C7AE-164F-B2B8-76693071F884}" type="pres">
      <dgm:prSet presAssocID="{E3F4A284-D537-8845-8E5C-94442DAB92BA}" presName="sp" presStyleCnt="0"/>
      <dgm:spPr/>
    </dgm:pt>
    <dgm:pt modelId="{72E6CE48-A16F-3443-96CD-67CEEC82D930}" type="pres">
      <dgm:prSet presAssocID="{E785F470-007E-834B-A97E-A312F7594748}" presName="linNode" presStyleCnt="0"/>
      <dgm:spPr/>
    </dgm:pt>
    <dgm:pt modelId="{C4F89D33-03C4-0649-AC4F-4D7DAC421B0B}" type="pres">
      <dgm:prSet presAssocID="{E785F470-007E-834B-A97E-A312F759474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B08EE9-CD81-E344-AF3D-8514986ABB33}" type="pres">
      <dgm:prSet presAssocID="{E785F470-007E-834B-A97E-A312F759474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305F2C-AB9F-D145-B7F7-B082FB6BFD6D}" type="pres">
      <dgm:prSet presAssocID="{5A21B085-B5EA-FE4E-89FC-8A2699988F2D}" presName="sp" presStyleCnt="0"/>
      <dgm:spPr/>
    </dgm:pt>
    <dgm:pt modelId="{1989FDFE-CBB8-7448-AB70-02E3D1A88949}" type="pres">
      <dgm:prSet presAssocID="{CC969CCA-2815-6240-98A2-21DE6D8FBE4A}" presName="linNode" presStyleCnt="0"/>
      <dgm:spPr/>
    </dgm:pt>
    <dgm:pt modelId="{130DEB4F-07F2-074F-9A55-A205477665FB}" type="pres">
      <dgm:prSet presAssocID="{CC969CCA-2815-6240-98A2-21DE6D8FBE4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4A4BEF-EB38-4E4C-9C67-7A7D0104F848}" type="pres">
      <dgm:prSet presAssocID="{CC969CCA-2815-6240-98A2-21DE6D8FBE4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0670E59-0762-664B-8550-CD2BD08A57F9}" srcId="{FF83F01D-A9F6-3643-AB48-CC295FA77287}" destId="{CFDCEF11-EADE-8945-876F-DA0E223FC7DA}" srcOrd="1" destOrd="0" parTransId="{B908A7B6-BCB7-6E40-9BBC-43554892AEC8}" sibTransId="{E3CF9A06-5904-5643-A249-92F316AF3179}"/>
    <dgm:cxn modelId="{792ACB8C-E1EB-46ED-AD5D-B3EB968C7F61}" type="presOf" srcId="{12860769-CBB5-6C42-9930-B0FE3D445E2C}" destId="{F5DB7628-7D36-B74C-9F78-063350B6C244}" srcOrd="0" destOrd="0" presId="urn:microsoft.com/office/officeart/2005/8/layout/vList5"/>
    <dgm:cxn modelId="{C6E30B14-0072-3F40-ACC2-7116F2E83AEC}" srcId="{E785F470-007E-834B-A97E-A312F7594748}" destId="{48F218B3-1B17-EE49-A611-0E9761B3E204}" srcOrd="1" destOrd="0" parTransId="{C648821A-4C85-6A44-B621-B0C782F2DA57}" sibTransId="{C6257022-0CDE-B84B-ADF5-B6090575930C}"/>
    <dgm:cxn modelId="{9D661BE0-16F3-4F26-9F4E-1105D1A07142}" type="presOf" srcId="{D6691194-F350-4846-8856-9895BC15645E}" destId="{8FB08EE9-CD81-E344-AF3D-8514986ABB33}" srcOrd="0" destOrd="0" presId="urn:microsoft.com/office/officeart/2005/8/layout/vList5"/>
    <dgm:cxn modelId="{E101E2C3-9F93-5745-B591-27BE8E0F5D04}" srcId="{FF83F01D-A9F6-3643-AB48-CC295FA77287}" destId="{12860769-CBB5-6C42-9930-B0FE3D445E2C}" srcOrd="0" destOrd="0" parTransId="{00019D7B-7AE6-3242-943D-09860589527C}" sibTransId="{60C87F0B-F30A-5749-BB59-E6278A1D1ABB}"/>
    <dgm:cxn modelId="{F3426630-6482-4822-929E-65A31B342815}" type="presOf" srcId="{CC969CCA-2815-6240-98A2-21DE6D8FBE4A}" destId="{130DEB4F-07F2-074F-9A55-A205477665FB}" srcOrd="0" destOrd="0" presId="urn:microsoft.com/office/officeart/2005/8/layout/vList5"/>
    <dgm:cxn modelId="{F36B673B-BB27-4B53-8A17-FBBA0EF50D0D}" type="presOf" srcId="{4FE6009B-0BCA-B044-8AAF-6A3F1A073FDB}" destId="{DF8243A5-C0B6-FE4F-A1A4-CBEFD28A1F47}" srcOrd="0" destOrd="0" presId="urn:microsoft.com/office/officeart/2005/8/layout/vList5"/>
    <dgm:cxn modelId="{EC39A8FB-9DBD-4759-896A-18EC1F3C26BB}" type="presOf" srcId="{E785F470-007E-834B-A97E-A312F7594748}" destId="{C4F89D33-03C4-0649-AC4F-4D7DAC421B0B}" srcOrd="0" destOrd="0" presId="urn:microsoft.com/office/officeart/2005/8/layout/vList5"/>
    <dgm:cxn modelId="{66505DE4-011D-4945-BF82-8C0B58BF0602}" srcId="{4FE6009B-0BCA-B044-8AAF-6A3F1A073FDB}" destId="{5CAB22FB-9851-3C4F-A038-20CA627548AA}" srcOrd="0" destOrd="0" parTransId="{C77EC44B-C743-7441-8826-4F2FD46C77BB}" sibTransId="{A6C4B935-EA6D-9B4D-9C5F-8D0ED0882F93}"/>
    <dgm:cxn modelId="{3D9EDE14-1CBC-4CD6-A908-33E68F733189}" type="presOf" srcId="{7CE2E1C5-373F-3940-AEF3-7D3B3572E9AF}" destId="{424A4BEF-EB38-4E4C-9C67-7A7D0104F848}" srcOrd="0" destOrd="0" presId="urn:microsoft.com/office/officeart/2005/8/layout/vList5"/>
    <dgm:cxn modelId="{C35F3613-513F-2748-A327-F6DBFA01CC4E}" srcId="{3B7C226B-1D9E-284E-ABFB-E2FCB67F1E95}" destId="{FF83F01D-A9F6-3643-AB48-CC295FA77287}" srcOrd="1" destOrd="0" parTransId="{2DCC986A-F851-1543-BA4F-7272A0D4EBE9}" sibTransId="{E3F4A284-D537-8845-8E5C-94442DAB92BA}"/>
    <dgm:cxn modelId="{A1C57CAA-4B6F-0240-AD7D-F94207A9A609}" srcId="{3B7C226B-1D9E-284E-ABFB-E2FCB67F1E95}" destId="{4FE6009B-0BCA-B044-8AAF-6A3F1A073FDB}" srcOrd="0" destOrd="0" parTransId="{4CA73CED-AE7A-E74D-B0D8-DB0B8D8F9094}" sibTransId="{96921BB6-F564-A946-BB1C-5ECBB7C32FE7}"/>
    <dgm:cxn modelId="{5ABD712D-7854-B74C-BC9A-F5AB882C05E5}" srcId="{CC969CCA-2815-6240-98A2-21DE6D8FBE4A}" destId="{7CE2E1C5-373F-3940-AEF3-7D3B3572E9AF}" srcOrd="0" destOrd="0" parTransId="{B1B20878-674A-714F-B13F-9E593484C31E}" sibTransId="{8427CDE1-5DD7-1E40-B77F-8AE4B7F22D2B}"/>
    <dgm:cxn modelId="{7C8EE1D6-7B9A-43BE-BE6A-F24FCE8E1ED0}" type="presOf" srcId="{3B7C226B-1D9E-284E-ABFB-E2FCB67F1E95}" destId="{53D77C70-2298-CF43-82AD-7BAED5A08B37}" srcOrd="0" destOrd="0" presId="urn:microsoft.com/office/officeart/2005/8/layout/vList5"/>
    <dgm:cxn modelId="{E4882E99-70AB-A345-A709-F9F420577C2E}" srcId="{E785F470-007E-834B-A97E-A312F7594748}" destId="{D6691194-F350-4846-8856-9895BC15645E}" srcOrd="0" destOrd="0" parTransId="{D16307BC-809D-F54F-ADAC-D7399A84E7AF}" sibTransId="{B0D232E9-CCE7-8640-9F99-AF0A519FF3CB}"/>
    <dgm:cxn modelId="{BC21047C-F731-A342-BD5A-D07182EFC5A1}" srcId="{3B7C226B-1D9E-284E-ABFB-E2FCB67F1E95}" destId="{CC969CCA-2815-6240-98A2-21DE6D8FBE4A}" srcOrd="3" destOrd="0" parTransId="{B5F5A781-FA30-1546-BFAA-8B243277B826}" sibTransId="{4925DBD4-83C4-C14C-A299-07F6BA4BF8E7}"/>
    <dgm:cxn modelId="{BC1B341E-C8CD-4A9B-8D76-975BD58365A2}" type="presOf" srcId="{5CAB22FB-9851-3C4F-A038-20CA627548AA}" destId="{EAC3FB94-56E6-4343-815A-4C88DE8E4629}" srcOrd="0" destOrd="0" presId="urn:microsoft.com/office/officeart/2005/8/layout/vList5"/>
    <dgm:cxn modelId="{2B88B7F7-6083-4432-ADC8-9AE6C2DB83B6}" type="presOf" srcId="{CFDCEF11-EADE-8945-876F-DA0E223FC7DA}" destId="{F5DB7628-7D36-B74C-9F78-063350B6C244}" srcOrd="0" destOrd="1" presId="urn:microsoft.com/office/officeart/2005/8/layout/vList5"/>
    <dgm:cxn modelId="{A50FDABC-CCFA-4409-81FC-74061AF86200}" type="presOf" srcId="{48F218B3-1B17-EE49-A611-0E9761B3E204}" destId="{8FB08EE9-CD81-E344-AF3D-8514986ABB33}" srcOrd="0" destOrd="1" presId="urn:microsoft.com/office/officeart/2005/8/layout/vList5"/>
    <dgm:cxn modelId="{0F457521-C1DA-1548-98EB-E0E1CEAD543D}" srcId="{3B7C226B-1D9E-284E-ABFB-E2FCB67F1E95}" destId="{E785F470-007E-834B-A97E-A312F7594748}" srcOrd="2" destOrd="0" parTransId="{C415A13E-8CDC-DA47-8255-C50A6A2B4F0A}" sibTransId="{5A21B085-B5EA-FE4E-89FC-8A2699988F2D}"/>
    <dgm:cxn modelId="{FD872534-192C-4610-9267-1E538495101C}" type="presOf" srcId="{FF83F01D-A9F6-3643-AB48-CC295FA77287}" destId="{92B1AF1B-DF41-0A49-BDA3-2FD01C54A696}" srcOrd="0" destOrd="0" presId="urn:microsoft.com/office/officeart/2005/8/layout/vList5"/>
    <dgm:cxn modelId="{F226CB76-7B7A-4B6D-ABAA-012347B05DDA}" type="presParOf" srcId="{53D77C70-2298-CF43-82AD-7BAED5A08B37}" destId="{CA47D600-01CB-CA41-AB50-C040FFDA7F94}" srcOrd="0" destOrd="0" presId="urn:microsoft.com/office/officeart/2005/8/layout/vList5"/>
    <dgm:cxn modelId="{79618E84-247E-4E14-A0C5-DA6EF6A7C136}" type="presParOf" srcId="{CA47D600-01CB-CA41-AB50-C040FFDA7F94}" destId="{DF8243A5-C0B6-FE4F-A1A4-CBEFD28A1F47}" srcOrd="0" destOrd="0" presId="urn:microsoft.com/office/officeart/2005/8/layout/vList5"/>
    <dgm:cxn modelId="{1E90B903-DE36-483A-BC5B-775391C49DEA}" type="presParOf" srcId="{CA47D600-01CB-CA41-AB50-C040FFDA7F94}" destId="{EAC3FB94-56E6-4343-815A-4C88DE8E4629}" srcOrd="1" destOrd="0" presId="urn:microsoft.com/office/officeart/2005/8/layout/vList5"/>
    <dgm:cxn modelId="{33ABF4DF-F8BD-4B56-8FA5-770527C9402E}" type="presParOf" srcId="{53D77C70-2298-CF43-82AD-7BAED5A08B37}" destId="{20739046-BC2B-0742-8108-739E25EE09DF}" srcOrd="1" destOrd="0" presId="urn:microsoft.com/office/officeart/2005/8/layout/vList5"/>
    <dgm:cxn modelId="{EB080ECA-1C1D-4ED5-B672-EDE77F05442C}" type="presParOf" srcId="{53D77C70-2298-CF43-82AD-7BAED5A08B37}" destId="{A59A3CBD-9545-F344-B04E-A6370A344E4B}" srcOrd="2" destOrd="0" presId="urn:microsoft.com/office/officeart/2005/8/layout/vList5"/>
    <dgm:cxn modelId="{4002B921-5C9E-4558-B21F-5152A33821A2}" type="presParOf" srcId="{A59A3CBD-9545-F344-B04E-A6370A344E4B}" destId="{92B1AF1B-DF41-0A49-BDA3-2FD01C54A696}" srcOrd="0" destOrd="0" presId="urn:microsoft.com/office/officeart/2005/8/layout/vList5"/>
    <dgm:cxn modelId="{B24BEB7F-4566-4F21-BB59-CDB4583D963A}" type="presParOf" srcId="{A59A3CBD-9545-F344-B04E-A6370A344E4B}" destId="{F5DB7628-7D36-B74C-9F78-063350B6C244}" srcOrd="1" destOrd="0" presId="urn:microsoft.com/office/officeart/2005/8/layout/vList5"/>
    <dgm:cxn modelId="{09C50F61-2050-4A9B-B7BB-5D7A7A91F51B}" type="presParOf" srcId="{53D77C70-2298-CF43-82AD-7BAED5A08B37}" destId="{E1783702-C7AE-164F-B2B8-76693071F884}" srcOrd="3" destOrd="0" presId="urn:microsoft.com/office/officeart/2005/8/layout/vList5"/>
    <dgm:cxn modelId="{4C68D28B-F224-44DC-A227-461DE0970887}" type="presParOf" srcId="{53D77C70-2298-CF43-82AD-7BAED5A08B37}" destId="{72E6CE48-A16F-3443-96CD-67CEEC82D930}" srcOrd="4" destOrd="0" presId="urn:microsoft.com/office/officeart/2005/8/layout/vList5"/>
    <dgm:cxn modelId="{9A5808D9-3660-4967-90DC-E3C16BB0AEAF}" type="presParOf" srcId="{72E6CE48-A16F-3443-96CD-67CEEC82D930}" destId="{C4F89D33-03C4-0649-AC4F-4D7DAC421B0B}" srcOrd="0" destOrd="0" presId="urn:microsoft.com/office/officeart/2005/8/layout/vList5"/>
    <dgm:cxn modelId="{527143B0-398B-48C6-B4C3-34EBE339ABA1}" type="presParOf" srcId="{72E6CE48-A16F-3443-96CD-67CEEC82D930}" destId="{8FB08EE9-CD81-E344-AF3D-8514986ABB33}" srcOrd="1" destOrd="0" presId="urn:microsoft.com/office/officeart/2005/8/layout/vList5"/>
    <dgm:cxn modelId="{089B05F7-7F07-478D-A538-4607B1FEF85C}" type="presParOf" srcId="{53D77C70-2298-CF43-82AD-7BAED5A08B37}" destId="{B9305F2C-AB9F-D145-B7F7-B082FB6BFD6D}" srcOrd="5" destOrd="0" presId="urn:microsoft.com/office/officeart/2005/8/layout/vList5"/>
    <dgm:cxn modelId="{93B9A8C2-FE80-48A0-978F-584D91B807D0}" type="presParOf" srcId="{53D77C70-2298-CF43-82AD-7BAED5A08B37}" destId="{1989FDFE-CBB8-7448-AB70-02E3D1A88949}" srcOrd="6" destOrd="0" presId="urn:microsoft.com/office/officeart/2005/8/layout/vList5"/>
    <dgm:cxn modelId="{7A03A984-D63E-4F36-9882-FB3CF1E0154C}" type="presParOf" srcId="{1989FDFE-CBB8-7448-AB70-02E3D1A88949}" destId="{130DEB4F-07F2-074F-9A55-A205477665FB}" srcOrd="0" destOrd="0" presId="urn:microsoft.com/office/officeart/2005/8/layout/vList5"/>
    <dgm:cxn modelId="{8F2A7A9D-C5C8-456A-9990-6EA03ACCE2AE}" type="presParOf" srcId="{1989FDFE-CBB8-7448-AB70-02E3D1A88949}" destId="{424A4BEF-EB38-4E4C-9C67-7A7D0104F84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7418C78-ADCD-F845-8C0A-9AE64AD4C796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265E15-F7AA-C346-A61C-2C888F848326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dirty="0" smtClean="0"/>
            <a:t>A number of papers have been published analyzing methods of attacking RC4</a:t>
          </a:r>
          <a:endParaRPr lang="en-US" dirty="0"/>
        </a:p>
      </dgm:t>
    </dgm:pt>
    <dgm:pt modelId="{4DBE5B92-3B23-9547-87A2-449BA83BB4BF}" type="parTrans" cxnId="{B07ADCD4-FEEC-E348-BF44-6F55CB5EFA14}">
      <dgm:prSet/>
      <dgm:spPr/>
      <dgm:t>
        <a:bodyPr/>
        <a:lstStyle/>
        <a:p>
          <a:endParaRPr lang="en-US"/>
        </a:p>
      </dgm:t>
    </dgm:pt>
    <dgm:pt modelId="{9996F099-554B-6048-9A1C-7F094BB93442}" type="sibTrans" cxnId="{B07ADCD4-FEEC-E348-BF44-6F55CB5EFA14}">
      <dgm:prSet/>
      <dgm:spPr/>
      <dgm:t>
        <a:bodyPr/>
        <a:lstStyle/>
        <a:p>
          <a:endParaRPr lang="en-US"/>
        </a:p>
      </dgm:t>
    </dgm:pt>
    <dgm:pt modelId="{95E33A95-A849-B94C-A9AE-FF103441DC41}">
      <dgm:prSet/>
      <dgm:spPr/>
      <dgm:t>
        <a:bodyPr/>
        <a:lstStyle/>
        <a:p>
          <a:pPr rtl="0"/>
          <a:r>
            <a:rPr lang="en-US" dirty="0" smtClean="0"/>
            <a:t>None of these approaches is practical against RC4 with a reasonable key length</a:t>
          </a:r>
          <a:endParaRPr lang="en-US" dirty="0"/>
        </a:p>
      </dgm:t>
    </dgm:pt>
    <dgm:pt modelId="{5F2A104C-A4AA-F94B-85EA-9C19F395B68F}" type="parTrans" cxnId="{7C3DEB7C-A0EB-A447-A489-8FADC7AFB209}">
      <dgm:prSet/>
      <dgm:spPr/>
      <dgm:t>
        <a:bodyPr/>
        <a:lstStyle/>
        <a:p>
          <a:endParaRPr lang="en-US"/>
        </a:p>
      </dgm:t>
    </dgm:pt>
    <dgm:pt modelId="{221C2CCD-E1A2-924C-8873-61B320C35AB0}" type="sibTrans" cxnId="{7C3DEB7C-A0EB-A447-A489-8FADC7AFB209}">
      <dgm:prSet/>
      <dgm:spPr/>
      <dgm:t>
        <a:bodyPr/>
        <a:lstStyle/>
        <a:p>
          <a:endParaRPr lang="en-US"/>
        </a:p>
      </dgm:t>
    </dgm:pt>
    <dgm:pt modelId="{F80718D0-2C1E-5E46-9636-398BF60DE8FA}">
      <dgm:prSet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</dgm:spPr>
      <dgm:t>
        <a:bodyPr/>
        <a:lstStyle/>
        <a:p>
          <a:pPr rtl="0"/>
          <a:r>
            <a:rPr lang="en-US" dirty="0" smtClean="0"/>
            <a:t>A more serious problem is that the WEP protocol intended to provide confidentiality on 802.11 wireless LAN networks is vulnerable to a particular attack approach</a:t>
          </a:r>
          <a:endParaRPr lang="en-US" dirty="0"/>
        </a:p>
      </dgm:t>
    </dgm:pt>
    <dgm:pt modelId="{062EDA50-4651-4141-AB6E-94704B510D5D}" type="parTrans" cxnId="{1CFECA2A-6B7D-9341-8EEC-439014422499}">
      <dgm:prSet/>
      <dgm:spPr/>
      <dgm:t>
        <a:bodyPr/>
        <a:lstStyle/>
        <a:p>
          <a:endParaRPr lang="en-US"/>
        </a:p>
      </dgm:t>
    </dgm:pt>
    <dgm:pt modelId="{062FEBAE-D0C0-0D4C-8F62-FC245CF1619F}" type="sibTrans" cxnId="{1CFECA2A-6B7D-9341-8EEC-439014422499}">
      <dgm:prSet/>
      <dgm:spPr/>
      <dgm:t>
        <a:bodyPr/>
        <a:lstStyle/>
        <a:p>
          <a:endParaRPr lang="en-US"/>
        </a:p>
      </dgm:t>
    </dgm:pt>
    <dgm:pt modelId="{87E81351-A855-0D44-9C82-34E421E8019F}">
      <dgm:prSet/>
      <dgm:spPr/>
      <dgm:t>
        <a:bodyPr/>
        <a:lstStyle/>
        <a:p>
          <a:pPr rtl="0"/>
          <a:r>
            <a:rPr lang="en-US" dirty="0" smtClean="0"/>
            <a:t>The problem is not with RC4 itself, but the way in which keys are generated for use as input</a:t>
          </a:r>
          <a:endParaRPr lang="en-US" dirty="0"/>
        </a:p>
      </dgm:t>
    </dgm:pt>
    <dgm:pt modelId="{5969D586-0960-D14A-B8D6-0FD0F0AD86D3}" type="parTrans" cxnId="{B92FB296-E907-594E-969C-C9FFA15BF9AD}">
      <dgm:prSet/>
      <dgm:spPr/>
      <dgm:t>
        <a:bodyPr/>
        <a:lstStyle/>
        <a:p>
          <a:endParaRPr lang="en-US"/>
        </a:p>
      </dgm:t>
    </dgm:pt>
    <dgm:pt modelId="{3F65EAD0-894B-CA4A-9BF8-07CB54CE7668}" type="sibTrans" cxnId="{B92FB296-E907-594E-969C-C9FFA15BF9AD}">
      <dgm:prSet/>
      <dgm:spPr/>
      <dgm:t>
        <a:bodyPr/>
        <a:lstStyle/>
        <a:p>
          <a:endParaRPr lang="en-US"/>
        </a:p>
      </dgm:t>
    </dgm:pt>
    <dgm:pt modelId="{828BF4B4-81C9-6442-B8E3-9054574F0694}">
      <dgm:prSet/>
      <dgm:spPr/>
      <dgm:t>
        <a:bodyPr/>
        <a:lstStyle/>
        <a:p>
          <a:pPr rtl="0"/>
          <a:r>
            <a:rPr lang="en-US" dirty="0" smtClean="0"/>
            <a:t>Problem does not appear to be relevant to other applications and can be remedied in WEP by changing the way in which keys are generated</a:t>
          </a:r>
          <a:endParaRPr lang="en-US" dirty="0"/>
        </a:p>
      </dgm:t>
    </dgm:pt>
    <dgm:pt modelId="{1433EC2C-A2BA-C247-9546-409FFCCAD0AF}" type="parTrans" cxnId="{5D0B647D-F806-C54D-AC72-6B643334818F}">
      <dgm:prSet/>
      <dgm:spPr/>
      <dgm:t>
        <a:bodyPr/>
        <a:lstStyle/>
        <a:p>
          <a:endParaRPr lang="en-US"/>
        </a:p>
      </dgm:t>
    </dgm:pt>
    <dgm:pt modelId="{6CEF2E58-3E46-B04E-B466-786B5986EA11}" type="sibTrans" cxnId="{5D0B647D-F806-C54D-AC72-6B643334818F}">
      <dgm:prSet/>
      <dgm:spPr/>
      <dgm:t>
        <a:bodyPr/>
        <a:lstStyle/>
        <a:p>
          <a:endParaRPr lang="en-US"/>
        </a:p>
      </dgm:t>
    </dgm:pt>
    <dgm:pt modelId="{86DF7888-3AFB-5D40-9402-AD05B0DEDD5A}">
      <dgm:prSet/>
      <dgm:spPr/>
      <dgm:t>
        <a:bodyPr/>
        <a:lstStyle/>
        <a:p>
          <a:pPr rtl="0"/>
          <a:r>
            <a:rPr lang="en-AU" dirty="0" smtClean="0"/>
            <a:t>Problem points out the difficulty in designing a secure system that involves both cryptographic functions and protocols that make use of them</a:t>
          </a:r>
          <a:endParaRPr lang="en-AU" dirty="0"/>
        </a:p>
      </dgm:t>
    </dgm:pt>
    <dgm:pt modelId="{25D4DCD4-560C-FF43-92D0-0A30C356FA9F}" type="parTrans" cxnId="{F46A1813-1CEC-C542-A10B-477214869AD7}">
      <dgm:prSet/>
      <dgm:spPr/>
      <dgm:t>
        <a:bodyPr/>
        <a:lstStyle/>
        <a:p>
          <a:endParaRPr lang="en-US"/>
        </a:p>
      </dgm:t>
    </dgm:pt>
    <dgm:pt modelId="{7CC96C37-0E9D-2D43-B515-F57C1BAE1B84}" type="sibTrans" cxnId="{F46A1813-1CEC-C542-A10B-477214869AD7}">
      <dgm:prSet/>
      <dgm:spPr/>
      <dgm:t>
        <a:bodyPr/>
        <a:lstStyle/>
        <a:p>
          <a:endParaRPr lang="en-US"/>
        </a:p>
      </dgm:t>
    </dgm:pt>
    <dgm:pt modelId="{15746E6B-6C51-9240-B6C5-2DA127587A40}" type="pres">
      <dgm:prSet presAssocID="{47418C78-ADCD-F845-8C0A-9AE64AD4C7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C10BDBC-57FC-3D40-BED8-E946A2A506FD}" type="pres">
      <dgm:prSet presAssocID="{6D265E15-F7AA-C346-A61C-2C888F848326}" presName="composite" presStyleCnt="0"/>
      <dgm:spPr/>
    </dgm:pt>
    <dgm:pt modelId="{6F22BD45-7193-A345-9D31-D31A315076FC}" type="pres">
      <dgm:prSet presAssocID="{6D265E15-F7AA-C346-A61C-2C888F848326}" presName="parTx" presStyleLbl="alignNode1" presStyleIdx="0" presStyleCnt="2" custLinFactNeighborX="201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A2E574-D180-F746-991E-694C914B2EBC}" type="pres">
      <dgm:prSet presAssocID="{6D265E15-F7AA-C346-A61C-2C888F848326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B7940A-42C4-2942-BDCD-6DCC4F0A7396}" type="pres">
      <dgm:prSet presAssocID="{9996F099-554B-6048-9A1C-7F094BB93442}" presName="space" presStyleCnt="0"/>
      <dgm:spPr/>
    </dgm:pt>
    <dgm:pt modelId="{950A7932-BA9E-294A-9402-B98B46074D81}" type="pres">
      <dgm:prSet presAssocID="{F80718D0-2C1E-5E46-9636-398BF60DE8FA}" presName="composite" presStyleCnt="0"/>
      <dgm:spPr/>
    </dgm:pt>
    <dgm:pt modelId="{BD59E623-B9B1-824E-ABA5-E5CD4F95CCF8}" type="pres">
      <dgm:prSet presAssocID="{F80718D0-2C1E-5E46-9636-398BF60DE8FA}" presName="parTx" presStyleLbl="alignNode1" presStyleIdx="1" presStyleCnt="2" custLinFactNeighborX="201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F66C4B-979B-7C4A-8125-4D7434486A65}" type="pres">
      <dgm:prSet presAssocID="{F80718D0-2C1E-5E46-9636-398BF60DE8FA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46A1813-1CEC-C542-A10B-477214869AD7}" srcId="{F80718D0-2C1E-5E46-9636-398BF60DE8FA}" destId="{86DF7888-3AFB-5D40-9402-AD05B0DEDD5A}" srcOrd="2" destOrd="0" parTransId="{25D4DCD4-560C-FF43-92D0-0A30C356FA9F}" sibTransId="{7CC96C37-0E9D-2D43-B515-F57C1BAE1B84}"/>
    <dgm:cxn modelId="{1431CF35-6D73-404E-A711-E29A1798C22A}" type="presOf" srcId="{F80718D0-2C1E-5E46-9636-398BF60DE8FA}" destId="{BD59E623-B9B1-824E-ABA5-E5CD4F95CCF8}" srcOrd="0" destOrd="0" presId="urn:microsoft.com/office/officeart/2005/8/layout/hList1"/>
    <dgm:cxn modelId="{C3C07750-F981-4EE2-BDA0-AD5D0842F376}" type="presOf" srcId="{828BF4B4-81C9-6442-B8E3-9054574F0694}" destId="{1BF66C4B-979B-7C4A-8125-4D7434486A65}" srcOrd="0" destOrd="1" presId="urn:microsoft.com/office/officeart/2005/8/layout/hList1"/>
    <dgm:cxn modelId="{CBAC73AE-E418-44C9-AAD4-8153148AB5C2}" type="presOf" srcId="{47418C78-ADCD-F845-8C0A-9AE64AD4C796}" destId="{15746E6B-6C51-9240-B6C5-2DA127587A40}" srcOrd="0" destOrd="0" presId="urn:microsoft.com/office/officeart/2005/8/layout/hList1"/>
    <dgm:cxn modelId="{B92FB296-E907-594E-969C-C9FFA15BF9AD}" srcId="{F80718D0-2C1E-5E46-9636-398BF60DE8FA}" destId="{87E81351-A855-0D44-9C82-34E421E8019F}" srcOrd="0" destOrd="0" parTransId="{5969D586-0960-D14A-B8D6-0FD0F0AD86D3}" sibTransId="{3F65EAD0-894B-CA4A-9BF8-07CB54CE7668}"/>
    <dgm:cxn modelId="{D229DE4E-3E08-4EFC-AF1D-6F102238EC32}" type="presOf" srcId="{6D265E15-F7AA-C346-A61C-2C888F848326}" destId="{6F22BD45-7193-A345-9D31-D31A315076FC}" srcOrd="0" destOrd="0" presId="urn:microsoft.com/office/officeart/2005/8/layout/hList1"/>
    <dgm:cxn modelId="{D5729814-EC34-4CDC-911E-64DF79F07CFC}" type="presOf" srcId="{87E81351-A855-0D44-9C82-34E421E8019F}" destId="{1BF66C4B-979B-7C4A-8125-4D7434486A65}" srcOrd="0" destOrd="0" presId="urn:microsoft.com/office/officeart/2005/8/layout/hList1"/>
    <dgm:cxn modelId="{5D0B647D-F806-C54D-AC72-6B643334818F}" srcId="{F80718D0-2C1E-5E46-9636-398BF60DE8FA}" destId="{828BF4B4-81C9-6442-B8E3-9054574F0694}" srcOrd="1" destOrd="0" parTransId="{1433EC2C-A2BA-C247-9546-409FFCCAD0AF}" sibTransId="{6CEF2E58-3E46-B04E-B466-786B5986EA11}"/>
    <dgm:cxn modelId="{D43BCE22-9A2A-4AB8-90E5-03BC53EB13D6}" type="presOf" srcId="{86DF7888-3AFB-5D40-9402-AD05B0DEDD5A}" destId="{1BF66C4B-979B-7C4A-8125-4D7434486A65}" srcOrd="0" destOrd="2" presId="urn:microsoft.com/office/officeart/2005/8/layout/hList1"/>
    <dgm:cxn modelId="{3B90EF5C-43A3-471C-84B2-185D948A8F99}" type="presOf" srcId="{95E33A95-A849-B94C-A9AE-FF103441DC41}" destId="{2CA2E574-D180-F746-991E-694C914B2EBC}" srcOrd="0" destOrd="0" presId="urn:microsoft.com/office/officeart/2005/8/layout/hList1"/>
    <dgm:cxn modelId="{7C3DEB7C-A0EB-A447-A489-8FADC7AFB209}" srcId="{6D265E15-F7AA-C346-A61C-2C888F848326}" destId="{95E33A95-A849-B94C-A9AE-FF103441DC41}" srcOrd="0" destOrd="0" parTransId="{5F2A104C-A4AA-F94B-85EA-9C19F395B68F}" sibTransId="{221C2CCD-E1A2-924C-8873-61B320C35AB0}"/>
    <dgm:cxn modelId="{1CFECA2A-6B7D-9341-8EEC-439014422499}" srcId="{47418C78-ADCD-F845-8C0A-9AE64AD4C796}" destId="{F80718D0-2C1E-5E46-9636-398BF60DE8FA}" srcOrd="1" destOrd="0" parTransId="{062EDA50-4651-4141-AB6E-94704B510D5D}" sibTransId="{062FEBAE-D0C0-0D4C-8F62-FC245CF1619F}"/>
    <dgm:cxn modelId="{B07ADCD4-FEEC-E348-BF44-6F55CB5EFA14}" srcId="{47418C78-ADCD-F845-8C0A-9AE64AD4C796}" destId="{6D265E15-F7AA-C346-A61C-2C888F848326}" srcOrd="0" destOrd="0" parTransId="{4DBE5B92-3B23-9547-87A2-449BA83BB4BF}" sibTransId="{9996F099-554B-6048-9A1C-7F094BB93442}"/>
    <dgm:cxn modelId="{46F554D5-B91E-4A96-BBF5-681AD7B0AA15}" type="presParOf" srcId="{15746E6B-6C51-9240-B6C5-2DA127587A40}" destId="{1C10BDBC-57FC-3D40-BED8-E946A2A506FD}" srcOrd="0" destOrd="0" presId="urn:microsoft.com/office/officeart/2005/8/layout/hList1"/>
    <dgm:cxn modelId="{ADCB4F8A-D7CB-419D-906D-9FF92CDEEF53}" type="presParOf" srcId="{1C10BDBC-57FC-3D40-BED8-E946A2A506FD}" destId="{6F22BD45-7193-A345-9D31-D31A315076FC}" srcOrd="0" destOrd="0" presId="urn:microsoft.com/office/officeart/2005/8/layout/hList1"/>
    <dgm:cxn modelId="{29BD4EFE-988B-4A29-A262-57076AE3B7D1}" type="presParOf" srcId="{1C10BDBC-57FC-3D40-BED8-E946A2A506FD}" destId="{2CA2E574-D180-F746-991E-694C914B2EBC}" srcOrd="1" destOrd="0" presId="urn:microsoft.com/office/officeart/2005/8/layout/hList1"/>
    <dgm:cxn modelId="{C31C874F-8C9E-4A62-A0FD-157591E814D6}" type="presParOf" srcId="{15746E6B-6C51-9240-B6C5-2DA127587A40}" destId="{DEB7940A-42C4-2942-BDCD-6DCC4F0A7396}" srcOrd="1" destOrd="0" presId="urn:microsoft.com/office/officeart/2005/8/layout/hList1"/>
    <dgm:cxn modelId="{FCC7EBF9-2BB1-43DE-A9B7-E41C4D112119}" type="presParOf" srcId="{15746E6B-6C51-9240-B6C5-2DA127587A40}" destId="{950A7932-BA9E-294A-9402-B98B46074D81}" srcOrd="2" destOrd="0" presId="urn:microsoft.com/office/officeart/2005/8/layout/hList1"/>
    <dgm:cxn modelId="{6E9632C3-9E12-43FA-B6BE-BB1AE7A881D6}" type="presParOf" srcId="{950A7932-BA9E-294A-9402-B98B46074D81}" destId="{BD59E623-B9B1-824E-ABA5-E5CD4F95CCF8}" srcOrd="0" destOrd="0" presId="urn:microsoft.com/office/officeart/2005/8/layout/hList1"/>
    <dgm:cxn modelId="{3CF4AEF9-4C70-44E6-8C42-B552AE1EC35E}" type="presParOf" srcId="{950A7932-BA9E-294A-9402-B98B46074D81}" destId="{1BF66C4B-979B-7C4A-8125-4D7434486A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66B9E7-D807-B447-9C44-E37A5BEF245C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48DBD-073D-C846-9979-DEFB919FFC4F}">
      <dgm:prSet phldrT="[Text]"/>
      <dgm:spPr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Sound/video input</a:t>
          </a:r>
          <a:endParaRPr lang="en-US" sz="1600" b="1" dirty="0"/>
        </a:p>
      </dgm:t>
    </dgm:pt>
    <dgm:pt modelId="{0A6B4B41-9CD2-DA4C-A3C5-C9AF496B3534}" type="parTrans" cxnId="{8F135AE3-87CF-954F-908A-4C2523DB6D11}">
      <dgm:prSet/>
      <dgm:spPr/>
      <dgm:t>
        <a:bodyPr/>
        <a:lstStyle/>
        <a:p>
          <a:endParaRPr lang="en-US"/>
        </a:p>
      </dgm:t>
    </dgm:pt>
    <dgm:pt modelId="{C161864A-0312-404E-8963-26FBA48BA6FC}" type="sibTrans" cxnId="{8F135AE3-87CF-954F-908A-4C2523DB6D11}">
      <dgm:prSet/>
      <dgm:spPr/>
      <dgm:t>
        <a:bodyPr/>
        <a:lstStyle/>
        <a:p>
          <a:endParaRPr lang="en-US"/>
        </a:p>
      </dgm:t>
    </dgm:pt>
    <dgm:pt modelId="{22436AC2-4462-E545-B157-F4EA280420DA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The input from a sound digitizer with no source plugged in or from a camera with the lens cap on is essentially thermal noise</a:t>
          </a:r>
        </a:p>
      </dgm:t>
    </dgm:pt>
    <dgm:pt modelId="{9797F238-2D34-4D4A-8460-9AB1EE5768F5}" type="parTrans" cxnId="{6ADCFFBA-8B5A-114F-84D8-E865E029F1D6}">
      <dgm:prSet/>
      <dgm:spPr/>
      <dgm:t>
        <a:bodyPr/>
        <a:lstStyle/>
        <a:p>
          <a:endParaRPr lang="en-US"/>
        </a:p>
      </dgm:t>
    </dgm:pt>
    <dgm:pt modelId="{303C654D-F271-614A-87AA-C7093BAF9D2B}" type="sibTrans" cxnId="{6ADCFFBA-8B5A-114F-84D8-E865E029F1D6}">
      <dgm:prSet/>
      <dgm:spPr/>
      <dgm:t>
        <a:bodyPr/>
        <a:lstStyle/>
        <a:p>
          <a:endParaRPr lang="en-US"/>
        </a:p>
      </dgm:t>
    </dgm:pt>
    <dgm:pt modelId="{31E05760-0675-7B4D-A394-165AC597ABF2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If the system has enough gain to detect anything, such input can provide reasonable high quality random bits</a:t>
          </a:r>
        </a:p>
      </dgm:t>
    </dgm:pt>
    <dgm:pt modelId="{31B8A6E1-5C4F-DA44-BC56-685CDB03A401}" type="parTrans" cxnId="{E9C6D842-295A-3244-8F76-460C4103ACFD}">
      <dgm:prSet/>
      <dgm:spPr/>
      <dgm:t>
        <a:bodyPr/>
        <a:lstStyle/>
        <a:p>
          <a:endParaRPr lang="en-US"/>
        </a:p>
      </dgm:t>
    </dgm:pt>
    <dgm:pt modelId="{E7006342-DD26-5B45-8CEF-481CF5FA9A2B}" type="sibTrans" cxnId="{E9C6D842-295A-3244-8F76-460C4103ACFD}">
      <dgm:prSet/>
      <dgm:spPr/>
      <dgm:t>
        <a:bodyPr/>
        <a:lstStyle/>
        <a:p>
          <a:endParaRPr lang="en-US"/>
        </a:p>
      </dgm:t>
    </dgm:pt>
    <dgm:pt modelId="{B01EE417-5435-444E-91E0-C31EC73B0CED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US" sz="1600" b="1" dirty="0" smtClean="0"/>
            <a:t>Disk drives</a:t>
          </a:r>
        </a:p>
      </dgm:t>
    </dgm:pt>
    <dgm:pt modelId="{9CAAC1EC-3075-7F4F-9732-FA0BED4EEB63}" type="parTrans" cxnId="{0764EBED-8D9D-3843-9B94-9EA8AAF24A52}">
      <dgm:prSet/>
      <dgm:spPr/>
      <dgm:t>
        <a:bodyPr/>
        <a:lstStyle/>
        <a:p>
          <a:endParaRPr lang="en-US"/>
        </a:p>
      </dgm:t>
    </dgm:pt>
    <dgm:pt modelId="{DF33B6D4-7DBC-D542-94B9-1E4211298007}" type="sibTrans" cxnId="{0764EBED-8D9D-3843-9B94-9EA8AAF24A52}">
      <dgm:prSet/>
      <dgm:spPr/>
      <dgm:t>
        <a:bodyPr/>
        <a:lstStyle/>
        <a:p>
          <a:endParaRPr lang="en-US"/>
        </a:p>
      </dgm:t>
    </dgm:pt>
    <dgm:pt modelId="{F06B65E5-C31D-734D-95F5-179F586DAF5E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Have small random fluctuations in their rotational speed due to chaotic air turbulence</a:t>
          </a:r>
        </a:p>
      </dgm:t>
    </dgm:pt>
    <dgm:pt modelId="{81DEC58F-1222-8A4C-A60C-E3CDF45A4E59}" type="parTrans" cxnId="{411807AC-EA35-3D40-BAF1-605AFD24662E}">
      <dgm:prSet/>
      <dgm:spPr/>
      <dgm:t>
        <a:bodyPr/>
        <a:lstStyle/>
        <a:p>
          <a:endParaRPr lang="en-US"/>
        </a:p>
      </dgm:t>
    </dgm:pt>
    <dgm:pt modelId="{BACAE7E6-0B84-D647-AF3E-49BBEB48B660}" type="sibTrans" cxnId="{411807AC-EA35-3D40-BAF1-605AFD24662E}">
      <dgm:prSet/>
      <dgm:spPr/>
      <dgm:t>
        <a:bodyPr/>
        <a:lstStyle/>
        <a:p>
          <a:endParaRPr lang="en-US"/>
        </a:p>
      </dgm:t>
    </dgm:pt>
    <dgm:pt modelId="{84BEBE7E-AB53-DC46-94CA-5CD028A46310}">
      <dgm:prSet custT="1"/>
      <dgm:spPr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400" b="1" dirty="0" smtClean="0"/>
            <a:t>The addition of low-level disk seek-time instrumentation produces a series of measurements that contain this randomness</a:t>
          </a:r>
        </a:p>
      </dgm:t>
    </dgm:pt>
    <dgm:pt modelId="{5C759E9C-2DD4-6349-90D6-4EE19518286B}" type="parTrans" cxnId="{1DBF4DCE-2B0E-8548-B874-8E16D182B538}">
      <dgm:prSet/>
      <dgm:spPr/>
      <dgm:t>
        <a:bodyPr/>
        <a:lstStyle/>
        <a:p>
          <a:endParaRPr lang="en-US"/>
        </a:p>
      </dgm:t>
    </dgm:pt>
    <dgm:pt modelId="{F3073DBD-3CBE-7743-A8FA-1AB135F26B04}" type="sibTrans" cxnId="{1DBF4DCE-2B0E-8548-B874-8E16D182B538}">
      <dgm:prSet/>
      <dgm:spPr/>
      <dgm:t>
        <a:bodyPr/>
        <a:lstStyle/>
        <a:p>
          <a:endParaRPr lang="en-US"/>
        </a:p>
      </dgm:t>
    </dgm:pt>
    <dgm:pt modelId="{60A44B51-A046-FC49-B689-9A1ADBE3081A}" type="pres">
      <dgm:prSet presAssocID="{3466B9E7-D807-B447-9C44-E37A5BEF245C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7071F5-8F93-2F48-91A0-39D315C2F446}" type="pres">
      <dgm:prSet presAssocID="{A9E48DBD-073D-C846-9979-DEFB919FFC4F}" presName="compNode" presStyleCnt="0"/>
      <dgm:spPr/>
    </dgm:pt>
    <dgm:pt modelId="{3647BACD-1F98-A247-9FFB-85F148D93206}" type="pres">
      <dgm:prSet presAssocID="{A9E48DBD-073D-C846-9979-DEFB919FFC4F}" presName="aNode" presStyleLbl="bgShp" presStyleIdx="0" presStyleCnt="2"/>
      <dgm:spPr/>
      <dgm:t>
        <a:bodyPr/>
        <a:lstStyle/>
        <a:p>
          <a:endParaRPr lang="en-US"/>
        </a:p>
      </dgm:t>
    </dgm:pt>
    <dgm:pt modelId="{7AA24A03-AC03-3840-BF8F-BA64927AF1FE}" type="pres">
      <dgm:prSet presAssocID="{A9E48DBD-073D-C846-9979-DEFB919FFC4F}" presName="textNode" presStyleLbl="bgShp" presStyleIdx="0" presStyleCnt="2"/>
      <dgm:spPr/>
      <dgm:t>
        <a:bodyPr/>
        <a:lstStyle/>
        <a:p>
          <a:endParaRPr lang="en-US"/>
        </a:p>
      </dgm:t>
    </dgm:pt>
    <dgm:pt modelId="{9B0950EB-8D1A-1A4E-9E51-4E4700CA65AF}" type="pres">
      <dgm:prSet presAssocID="{A9E48DBD-073D-C846-9979-DEFB919FFC4F}" presName="compChildNode" presStyleCnt="0"/>
      <dgm:spPr/>
    </dgm:pt>
    <dgm:pt modelId="{2409B444-D6D7-1044-A3D0-C577FC864A8D}" type="pres">
      <dgm:prSet presAssocID="{A9E48DBD-073D-C846-9979-DEFB919FFC4F}" presName="theInnerList" presStyleCnt="0"/>
      <dgm:spPr/>
    </dgm:pt>
    <dgm:pt modelId="{A6E376E8-25CE-0043-97C5-EB861FB57237}" type="pres">
      <dgm:prSet presAssocID="{22436AC2-4462-E545-B157-F4EA280420DA}" presName="child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BD3F7E-482B-1F46-B0DA-6FFE9C252EEA}" type="pres">
      <dgm:prSet presAssocID="{22436AC2-4462-E545-B157-F4EA280420DA}" presName="aSpace2" presStyleCnt="0"/>
      <dgm:spPr/>
    </dgm:pt>
    <dgm:pt modelId="{AF796BFB-3925-0C47-A6CE-13A1100DB9DD}" type="pres">
      <dgm:prSet presAssocID="{31E05760-0675-7B4D-A394-165AC597ABF2}" presName="child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B787C6-AAFB-EE44-B9A6-1FB000398DA3}" type="pres">
      <dgm:prSet presAssocID="{A9E48DBD-073D-C846-9979-DEFB919FFC4F}" presName="aSpace" presStyleCnt="0"/>
      <dgm:spPr/>
    </dgm:pt>
    <dgm:pt modelId="{30B22191-0B64-554C-856F-1B9AB9D15C31}" type="pres">
      <dgm:prSet presAssocID="{B01EE417-5435-444E-91E0-C31EC73B0CED}" presName="compNode" presStyleCnt="0"/>
      <dgm:spPr/>
    </dgm:pt>
    <dgm:pt modelId="{0D2A5CB5-1755-D24A-84F3-543A1BE3078E}" type="pres">
      <dgm:prSet presAssocID="{B01EE417-5435-444E-91E0-C31EC73B0CED}" presName="aNode" presStyleLbl="bgShp" presStyleIdx="1" presStyleCnt="2"/>
      <dgm:spPr/>
      <dgm:t>
        <a:bodyPr/>
        <a:lstStyle/>
        <a:p>
          <a:endParaRPr lang="en-US"/>
        </a:p>
      </dgm:t>
    </dgm:pt>
    <dgm:pt modelId="{7DCF60C1-C547-FE42-8E47-BAD151D0549C}" type="pres">
      <dgm:prSet presAssocID="{B01EE417-5435-444E-91E0-C31EC73B0CED}" presName="textNode" presStyleLbl="bgShp" presStyleIdx="1" presStyleCnt="2"/>
      <dgm:spPr/>
      <dgm:t>
        <a:bodyPr/>
        <a:lstStyle/>
        <a:p>
          <a:endParaRPr lang="en-US"/>
        </a:p>
      </dgm:t>
    </dgm:pt>
    <dgm:pt modelId="{59A16DF5-C535-E34A-AE72-037AFBF0596B}" type="pres">
      <dgm:prSet presAssocID="{B01EE417-5435-444E-91E0-C31EC73B0CED}" presName="compChildNode" presStyleCnt="0"/>
      <dgm:spPr/>
    </dgm:pt>
    <dgm:pt modelId="{21E28DA6-36AE-BD4E-BF08-6B68655D00A1}" type="pres">
      <dgm:prSet presAssocID="{B01EE417-5435-444E-91E0-C31EC73B0CED}" presName="theInnerList" presStyleCnt="0"/>
      <dgm:spPr/>
    </dgm:pt>
    <dgm:pt modelId="{6D884ED3-FD7F-454A-8509-2A46F0170E2E}" type="pres">
      <dgm:prSet presAssocID="{F06B65E5-C31D-734D-95F5-179F586DAF5E}" presName="child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7EE503-5B01-FA41-80F5-1912595547DB}" type="pres">
      <dgm:prSet presAssocID="{F06B65E5-C31D-734D-95F5-179F586DAF5E}" presName="aSpace2" presStyleCnt="0"/>
      <dgm:spPr/>
    </dgm:pt>
    <dgm:pt modelId="{7C552FF8-E85B-AB41-A161-770BD96CE149}" type="pres">
      <dgm:prSet presAssocID="{84BEBE7E-AB53-DC46-94CA-5CD028A46310}" presName="child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ADCFFBA-8B5A-114F-84D8-E865E029F1D6}" srcId="{A9E48DBD-073D-C846-9979-DEFB919FFC4F}" destId="{22436AC2-4462-E545-B157-F4EA280420DA}" srcOrd="0" destOrd="0" parTransId="{9797F238-2D34-4D4A-8460-9AB1EE5768F5}" sibTransId="{303C654D-F271-614A-87AA-C7093BAF9D2B}"/>
    <dgm:cxn modelId="{8F135AE3-87CF-954F-908A-4C2523DB6D11}" srcId="{3466B9E7-D807-B447-9C44-E37A5BEF245C}" destId="{A9E48DBD-073D-C846-9979-DEFB919FFC4F}" srcOrd="0" destOrd="0" parTransId="{0A6B4B41-9CD2-DA4C-A3C5-C9AF496B3534}" sibTransId="{C161864A-0312-404E-8963-26FBA48BA6FC}"/>
    <dgm:cxn modelId="{8929657B-1011-49D6-9FE8-432508A1A58F}" type="presOf" srcId="{A9E48DBD-073D-C846-9979-DEFB919FFC4F}" destId="{3647BACD-1F98-A247-9FFB-85F148D93206}" srcOrd="0" destOrd="0" presId="urn:microsoft.com/office/officeart/2005/8/layout/lProcess2"/>
    <dgm:cxn modelId="{5B3A22F3-F403-434D-B1D0-B14C38A6D712}" type="presOf" srcId="{3466B9E7-D807-B447-9C44-E37A5BEF245C}" destId="{60A44B51-A046-FC49-B689-9A1ADBE3081A}" srcOrd="0" destOrd="0" presId="urn:microsoft.com/office/officeart/2005/8/layout/lProcess2"/>
    <dgm:cxn modelId="{E9C6D842-295A-3244-8F76-460C4103ACFD}" srcId="{A9E48DBD-073D-C846-9979-DEFB919FFC4F}" destId="{31E05760-0675-7B4D-A394-165AC597ABF2}" srcOrd="1" destOrd="0" parTransId="{31B8A6E1-5C4F-DA44-BC56-685CDB03A401}" sibTransId="{E7006342-DD26-5B45-8CEF-481CF5FA9A2B}"/>
    <dgm:cxn modelId="{57B9806C-1C9E-4175-8868-32AE2665FBC7}" type="presOf" srcId="{84BEBE7E-AB53-DC46-94CA-5CD028A46310}" destId="{7C552FF8-E85B-AB41-A161-770BD96CE149}" srcOrd="0" destOrd="0" presId="urn:microsoft.com/office/officeart/2005/8/layout/lProcess2"/>
    <dgm:cxn modelId="{0764EBED-8D9D-3843-9B94-9EA8AAF24A52}" srcId="{3466B9E7-D807-B447-9C44-E37A5BEF245C}" destId="{B01EE417-5435-444E-91E0-C31EC73B0CED}" srcOrd="1" destOrd="0" parTransId="{9CAAC1EC-3075-7F4F-9732-FA0BED4EEB63}" sibTransId="{DF33B6D4-7DBC-D542-94B9-1E4211298007}"/>
    <dgm:cxn modelId="{34CD647A-B5C8-4583-8F19-22CC217B3DAE}" type="presOf" srcId="{22436AC2-4462-E545-B157-F4EA280420DA}" destId="{A6E376E8-25CE-0043-97C5-EB861FB57237}" srcOrd="0" destOrd="0" presId="urn:microsoft.com/office/officeart/2005/8/layout/lProcess2"/>
    <dgm:cxn modelId="{1DBF4DCE-2B0E-8548-B874-8E16D182B538}" srcId="{B01EE417-5435-444E-91E0-C31EC73B0CED}" destId="{84BEBE7E-AB53-DC46-94CA-5CD028A46310}" srcOrd="1" destOrd="0" parTransId="{5C759E9C-2DD4-6349-90D6-4EE19518286B}" sibTransId="{F3073DBD-3CBE-7743-A8FA-1AB135F26B04}"/>
    <dgm:cxn modelId="{184E7B6C-FE01-48B1-909A-361C13280ADE}" type="presOf" srcId="{A9E48DBD-073D-C846-9979-DEFB919FFC4F}" destId="{7AA24A03-AC03-3840-BF8F-BA64927AF1FE}" srcOrd="1" destOrd="0" presId="urn:microsoft.com/office/officeart/2005/8/layout/lProcess2"/>
    <dgm:cxn modelId="{607D957D-4A73-4EDB-8B6B-C63109D72F77}" type="presOf" srcId="{B01EE417-5435-444E-91E0-C31EC73B0CED}" destId="{7DCF60C1-C547-FE42-8E47-BAD151D0549C}" srcOrd="1" destOrd="0" presId="urn:microsoft.com/office/officeart/2005/8/layout/lProcess2"/>
    <dgm:cxn modelId="{D360BDFD-792D-4EBC-A4F9-A418C86F5414}" type="presOf" srcId="{B01EE417-5435-444E-91E0-C31EC73B0CED}" destId="{0D2A5CB5-1755-D24A-84F3-543A1BE3078E}" srcOrd="0" destOrd="0" presId="urn:microsoft.com/office/officeart/2005/8/layout/lProcess2"/>
    <dgm:cxn modelId="{411807AC-EA35-3D40-BAF1-605AFD24662E}" srcId="{B01EE417-5435-444E-91E0-C31EC73B0CED}" destId="{F06B65E5-C31D-734D-95F5-179F586DAF5E}" srcOrd="0" destOrd="0" parTransId="{81DEC58F-1222-8A4C-A60C-E3CDF45A4E59}" sibTransId="{BACAE7E6-0B84-D647-AF3E-49BBEB48B660}"/>
    <dgm:cxn modelId="{27898ED6-320E-41F9-9CBC-986E7E92CC3D}" type="presOf" srcId="{F06B65E5-C31D-734D-95F5-179F586DAF5E}" destId="{6D884ED3-FD7F-454A-8509-2A46F0170E2E}" srcOrd="0" destOrd="0" presId="urn:microsoft.com/office/officeart/2005/8/layout/lProcess2"/>
    <dgm:cxn modelId="{5F9314D2-DBD7-4272-BCE7-19151BDCABA4}" type="presOf" srcId="{31E05760-0675-7B4D-A394-165AC597ABF2}" destId="{AF796BFB-3925-0C47-A6CE-13A1100DB9DD}" srcOrd="0" destOrd="0" presId="urn:microsoft.com/office/officeart/2005/8/layout/lProcess2"/>
    <dgm:cxn modelId="{B7B4EEDD-88C1-4252-9AC1-DDA7CC846CEF}" type="presParOf" srcId="{60A44B51-A046-FC49-B689-9A1ADBE3081A}" destId="{927071F5-8F93-2F48-91A0-39D315C2F446}" srcOrd="0" destOrd="0" presId="urn:microsoft.com/office/officeart/2005/8/layout/lProcess2"/>
    <dgm:cxn modelId="{4038D468-07CA-4BA4-AD70-4896B8A4CD6F}" type="presParOf" srcId="{927071F5-8F93-2F48-91A0-39D315C2F446}" destId="{3647BACD-1F98-A247-9FFB-85F148D93206}" srcOrd="0" destOrd="0" presId="urn:microsoft.com/office/officeart/2005/8/layout/lProcess2"/>
    <dgm:cxn modelId="{E567AB05-6A88-4DEB-AB73-E527F2FC0C61}" type="presParOf" srcId="{927071F5-8F93-2F48-91A0-39D315C2F446}" destId="{7AA24A03-AC03-3840-BF8F-BA64927AF1FE}" srcOrd="1" destOrd="0" presId="urn:microsoft.com/office/officeart/2005/8/layout/lProcess2"/>
    <dgm:cxn modelId="{13CB69DB-2D69-4191-8702-93276CE0C9AB}" type="presParOf" srcId="{927071F5-8F93-2F48-91A0-39D315C2F446}" destId="{9B0950EB-8D1A-1A4E-9E51-4E4700CA65AF}" srcOrd="2" destOrd="0" presId="urn:microsoft.com/office/officeart/2005/8/layout/lProcess2"/>
    <dgm:cxn modelId="{DB24139D-D29D-4F36-B060-32AC3F27DB11}" type="presParOf" srcId="{9B0950EB-8D1A-1A4E-9E51-4E4700CA65AF}" destId="{2409B444-D6D7-1044-A3D0-C577FC864A8D}" srcOrd="0" destOrd="0" presId="urn:microsoft.com/office/officeart/2005/8/layout/lProcess2"/>
    <dgm:cxn modelId="{F3772987-A3DF-4874-90BE-0EEBED91A339}" type="presParOf" srcId="{2409B444-D6D7-1044-A3D0-C577FC864A8D}" destId="{A6E376E8-25CE-0043-97C5-EB861FB57237}" srcOrd="0" destOrd="0" presId="urn:microsoft.com/office/officeart/2005/8/layout/lProcess2"/>
    <dgm:cxn modelId="{8369CD96-82C1-4C74-8851-C0A9507BBEA9}" type="presParOf" srcId="{2409B444-D6D7-1044-A3D0-C577FC864A8D}" destId="{C0BD3F7E-482B-1F46-B0DA-6FFE9C252EEA}" srcOrd="1" destOrd="0" presId="urn:microsoft.com/office/officeart/2005/8/layout/lProcess2"/>
    <dgm:cxn modelId="{3F1CD264-779B-48D1-A1CE-F1F363930053}" type="presParOf" srcId="{2409B444-D6D7-1044-A3D0-C577FC864A8D}" destId="{AF796BFB-3925-0C47-A6CE-13A1100DB9DD}" srcOrd="2" destOrd="0" presId="urn:microsoft.com/office/officeart/2005/8/layout/lProcess2"/>
    <dgm:cxn modelId="{A8A185E0-ED3A-404A-9A5C-B9EEDEF1E44E}" type="presParOf" srcId="{60A44B51-A046-FC49-B689-9A1ADBE3081A}" destId="{7FB787C6-AAFB-EE44-B9A6-1FB000398DA3}" srcOrd="1" destOrd="0" presId="urn:microsoft.com/office/officeart/2005/8/layout/lProcess2"/>
    <dgm:cxn modelId="{7B783B20-1F81-45E5-84A1-14EA64F91AA7}" type="presParOf" srcId="{60A44B51-A046-FC49-B689-9A1ADBE3081A}" destId="{30B22191-0B64-554C-856F-1B9AB9D15C31}" srcOrd="2" destOrd="0" presId="urn:microsoft.com/office/officeart/2005/8/layout/lProcess2"/>
    <dgm:cxn modelId="{B9C52C83-CEC3-49F8-983D-76BFCEABFD4A}" type="presParOf" srcId="{30B22191-0B64-554C-856F-1B9AB9D15C31}" destId="{0D2A5CB5-1755-D24A-84F3-543A1BE3078E}" srcOrd="0" destOrd="0" presId="urn:microsoft.com/office/officeart/2005/8/layout/lProcess2"/>
    <dgm:cxn modelId="{DFC4127E-2B2A-474D-A390-3AF14190BA34}" type="presParOf" srcId="{30B22191-0B64-554C-856F-1B9AB9D15C31}" destId="{7DCF60C1-C547-FE42-8E47-BAD151D0549C}" srcOrd="1" destOrd="0" presId="urn:microsoft.com/office/officeart/2005/8/layout/lProcess2"/>
    <dgm:cxn modelId="{69E964A9-D737-4400-9DAB-B59E9C8CF86B}" type="presParOf" srcId="{30B22191-0B64-554C-856F-1B9AB9D15C31}" destId="{59A16DF5-C535-E34A-AE72-037AFBF0596B}" srcOrd="2" destOrd="0" presId="urn:microsoft.com/office/officeart/2005/8/layout/lProcess2"/>
    <dgm:cxn modelId="{A0B6A64E-1821-4609-898B-C6B2A5A34E97}" type="presParOf" srcId="{59A16DF5-C535-E34A-AE72-037AFBF0596B}" destId="{21E28DA6-36AE-BD4E-BF08-6B68655D00A1}" srcOrd="0" destOrd="0" presId="urn:microsoft.com/office/officeart/2005/8/layout/lProcess2"/>
    <dgm:cxn modelId="{A643D8F1-0CF7-4BEF-BB85-5DA714848D46}" type="presParOf" srcId="{21E28DA6-36AE-BD4E-BF08-6B68655D00A1}" destId="{6D884ED3-FD7F-454A-8509-2A46F0170E2E}" srcOrd="0" destOrd="0" presId="urn:microsoft.com/office/officeart/2005/8/layout/lProcess2"/>
    <dgm:cxn modelId="{EF89ED26-680D-4B7E-BC26-59D2562785C4}" type="presParOf" srcId="{21E28DA6-36AE-BD4E-BF08-6B68655D00A1}" destId="{347EE503-5B01-FA41-80F5-1912595547DB}" srcOrd="1" destOrd="0" presId="urn:microsoft.com/office/officeart/2005/8/layout/lProcess2"/>
    <dgm:cxn modelId="{BAF9277D-1D26-4E55-88CA-38217115118D}" type="presParOf" srcId="{21E28DA6-36AE-BD4E-BF08-6B68655D00A1}" destId="{7C552FF8-E85B-AB41-A161-770BD96CE149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38144C-E0E7-DF44-A75A-6D79F43B0A57}">
      <dsp:nvSpPr>
        <dsp:cNvPr id="0" name=""/>
        <dsp:cNvSpPr/>
      </dsp:nvSpPr>
      <dsp:spPr>
        <a:xfrm>
          <a:off x="1182528" y="584497"/>
          <a:ext cx="2030809" cy="10154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i="0" kern="1200" dirty="0" smtClean="0"/>
            <a:t>There are two distinct requirements for a sequence of random numbers:</a:t>
          </a:r>
          <a:endParaRPr lang="en-US" sz="1500" b="1" i="0" kern="1200" dirty="0"/>
        </a:p>
      </dsp:txBody>
      <dsp:txXfrm>
        <a:off x="1212268" y="614237"/>
        <a:ext cx="1971329" cy="955924"/>
      </dsp:txXfrm>
    </dsp:sp>
    <dsp:sp modelId="{AB9AE1B4-5E5A-CE4D-B264-9C1E1501248F}">
      <dsp:nvSpPr>
        <dsp:cNvPr id="0" name=""/>
        <dsp:cNvSpPr/>
      </dsp:nvSpPr>
      <dsp:spPr>
        <a:xfrm rot="19457599">
          <a:off x="3119310" y="758435"/>
          <a:ext cx="100037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00379" y="418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594490" y="775261"/>
        <a:ext cx="50018" cy="50018"/>
      </dsp:txXfrm>
    </dsp:sp>
    <dsp:sp modelId="{B263507D-1E7A-5149-A781-2A4F350A5A27}">
      <dsp:nvSpPr>
        <dsp:cNvPr id="0" name=""/>
        <dsp:cNvSpPr/>
      </dsp:nvSpPr>
      <dsp:spPr>
        <a:xfrm>
          <a:off x="4025661" y="639"/>
          <a:ext cx="2030809" cy="10154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i="0" kern="1200" dirty="0" smtClean="0"/>
            <a:t>Randomness</a:t>
          </a:r>
        </a:p>
      </dsp:txBody>
      <dsp:txXfrm>
        <a:off x="4055401" y="30379"/>
        <a:ext cx="1971329" cy="955924"/>
      </dsp:txXfrm>
    </dsp:sp>
    <dsp:sp modelId="{BA0BDC50-440E-5945-95B3-A9E109F3DF69}">
      <dsp:nvSpPr>
        <dsp:cNvPr id="0" name=""/>
        <dsp:cNvSpPr/>
      </dsp:nvSpPr>
      <dsp:spPr>
        <a:xfrm rot="2142401">
          <a:off x="3119310" y="1342292"/>
          <a:ext cx="1000379" cy="83671"/>
        </a:xfrm>
        <a:custGeom>
          <a:avLst/>
          <a:gdLst/>
          <a:ahLst/>
          <a:cxnLst/>
          <a:rect l="0" t="0" r="0" b="0"/>
          <a:pathLst>
            <a:path>
              <a:moveTo>
                <a:pt x="0" y="41835"/>
              </a:moveTo>
              <a:lnTo>
                <a:pt x="1000379" y="4183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594490" y="1359119"/>
        <a:ext cx="50018" cy="50018"/>
      </dsp:txXfrm>
    </dsp:sp>
    <dsp:sp modelId="{903B1CDD-14EF-844D-B987-4E8D5F77335F}">
      <dsp:nvSpPr>
        <dsp:cNvPr id="0" name=""/>
        <dsp:cNvSpPr/>
      </dsp:nvSpPr>
      <dsp:spPr>
        <a:xfrm>
          <a:off x="4025661" y="1168355"/>
          <a:ext cx="2030809" cy="10154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500" b="1" i="0" kern="1200" dirty="0" smtClean="0"/>
            <a:t>Unpredictability </a:t>
          </a:r>
        </a:p>
      </dsp:txBody>
      <dsp:txXfrm>
        <a:off x="4055401" y="1198095"/>
        <a:ext cx="1971329" cy="9559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75880-D8F3-C441-8887-72FB85A8F952}">
      <dsp:nvSpPr>
        <dsp:cNvPr id="0" name=""/>
        <dsp:cNvSpPr/>
      </dsp:nvSpPr>
      <dsp:spPr>
        <a:xfrm>
          <a:off x="0" y="0"/>
          <a:ext cx="5638800" cy="2870200"/>
        </a:xfrm>
        <a:prstGeom prst="roundRect">
          <a:avLst>
            <a:gd name="adj" fmla="val 1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Two criteria are used to validate that a sequence of numbers is random:</a:t>
          </a:r>
          <a:endParaRPr lang="en-US" sz="2500" kern="1200" dirty="0"/>
        </a:p>
      </dsp:txBody>
      <dsp:txXfrm>
        <a:off x="0" y="0"/>
        <a:ext cx="5638800" cy="861060"/>
      </dsp:txXfrm>
    </dsp:sp>
    <dsp:sp modelId="{DA385708-885B-9A4A-AF9E-D8E49D65F369}">
      <dsp:nvSpPr>
        <dsp:cNvPr id="0" name=""/>
        <dsp:cNvSpPr/>
      </dsp:nvSpPr>
      <dsp:spPr>
        <a:xfrm>
          <a:off x="563879" y="861900"/>
          <a:ext cx="4511040" cy="8654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dirty="0" smtClean="0"/>
            <a:t>Uniform distribution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i="0" kern="1200" dirty="0" smtClean="0"/>
            <a:t>The frequency of occurrence of ones and zeros should be approximately equal</a:t>
          </a:r>
        </a:p>
      </dsp:txBody>
      <dsp:txXfrm>
        <a:off x="589226" y="887247"/>
        <a:ext cx="4460346" cy="814710"/>
      </dsp:txXfrm>
    </dsp:sp>
    <dsp:sp modelId="{15FE3627-301D-5E44-803D-42FA482F7C28}">
      <dsp:nvSpPr>
        <dsp:cNvPr id="0" name=""/>
        <dsp:cNvSpPr/>
      </dsp:nvSpPr>
      <dsp:spPr>
        <a:xfrm>
          <a:off x="563879" y="1860444"/>
          <a:ext cx="4511040" cy="86540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8260" tIns="36195" rIns="48260" bIns="36195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i="0" kern="1200" dirty="0" smtClean="0"/>
            <a:t>Independence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500" b="1" i="0" kern="1200" dirty="0" smtClean="0"/>
            <a:t>No one subsequence in the sequence can be inferred from the others</a:t>
          </a:r>
        </a:p>
      </dsp:txBody>
      <dsp:txXfrm>
        <a:off x="589226" y="1885791"/>
        <a:ext cx="4460346" cy="814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7DE0A-35D9-A94E-A41C-63488A6987C1}">
      <dsp:nvSpPr>
        <dsp:cNvPr id="0" name=""/>
        <dsp:cNvSpPr/>
      </dsp:nvSpPr>
      <dsp:spPr>
        <a:xfrm rot="16200000">
          <a:off x="-1387223" y="1389223"/>
          <a:ext cx="4702174" cy="1923728"/>
        </a:xfrm>
        <a:prstGeom prst="flowChartManualOperation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513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number generator</a:t>
          </a:r>
          <a:endParaRPr lang="en-US" sz="1700" b="1" i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algorithm that is used to produce an open-ended sequence of bits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 to a symmetric stream cipher is a common application for an open-ended sequence of bits </a:t>
          </a:r>
        </a:p>
      </dsp:txBody>
      <dsp:txXfrm rot="5400000">
        <a:off x="2000" y="940435"/>
        <a:ext cx="1923728" cy="2821304"/>
      </dsp:txXfrm>
    </dsp:sp>
    <dsp:sp modelId="{4DC11B8D-90D6-0849-A4A4-A9312E6E1D3D}">
      <dsp:nvSpPr>
        <dsp:cNvPr id="0" name=""/>
        <dsp:cNvSpPr/>
      </dsp:nvSpPr>
      <dsp:spPr>
        <a:xfrm rot="16200000">
          <a:off x="680785" y="1389223"/>
          <a:ext cx="4702174" cy="1923728"/>
        </a:xfrm>
        <a:prstGeom prst="flowChartManualOperation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7950" tIns="0" rIns="109513" bIns="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Pseudorandom function (PRF)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Used to produce a pseudorandom string of bits of some fixed length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Examples are symmetric encryption keys and </a:t>
          </a:r>
          <a:r>
            <a:rPr lang="en-US" sz="1300" b="1" i="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nonces</a:t>
          </a:r>
          <a:endParaRPr lang="en-US" sz="1300" b="1" i="0" kern="1200"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2070008" y="940435"/>
        <a:ext cx="1923728" cy="28213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F974F-999E-C64C-A7AC-D1911D36A5AE}">
      <dsp:nvSpPr>
        <dsp:cNvPr id="0" name=""/>
        <dsp:cNvSpPr/>
      </dsp:nvSpPr>
      <dsp:spPr>
        <a:xfrm>
          <a:off x="2650130" y="2794514"/>
          <a:ext cx="1954530" cy="1954530"/>
        </a:xfrm>
        <a:prstGeom prst="ellipse">
          <a:avLst/>
        </a:prstGeom>
        <a:solidFill>
          <a:schemeClr val="accent3">
            <a:lumMod val="7500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tests</a:t>
          </a:r>
          <a:endParaRPr lang="en-US" sz="4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936364" y="3080748"/>
        <a:ext cx="1382062" cy="1382062"/>
      </dsp:txXfrm>
    </dsp:sp>
    <dsp:sp modelId="{EC816666-D007-9744-B654-0F381FA367E7}">
      <dsp:nvSpPr>
        <dsp:cNvPr id="0" name=""/>
        <dsp:cNvSpPr/>
      </dsp:nvSpPr>
      <dsp:spPr>
        <a:xfrm rot="12719937">
          <a:off x="2184911" y="2866004"/>
          <a:ext cx="667999" cy="369997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119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695E3A-BB74-AE4B-A8C5-D9253E7FDBB3}">
      <dsp:nvSpPr>
        <dsp:cNvPr id="0" name=""/>
        <dsp:cNvSpPr/>
      </dsp:nvSpPr>
      <dsp:spPr>
        <a:xfrm>
          <a:off x="52542" y="692756"/>
          <a:ext cx="1970811" cy="292204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Frequency test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most basic test and must be included in any test suite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ones and zeros in a sequence is approximately the same as would be expected for a truly random sequence</a:t>
          </a:r>
        </a:p>
      </dsp:txBody>
      <dsp:txXfrm>
        <a:off x="110265" y="750479"/>
        <a:ext cx="1855365" cy="2806598"/>
      </dsp:txXfrm>
    </dsp:sp>
    <dsp:sp modelId="{05835BB5-6694-E646-92BA-0B693BBD92E3}">
      <dsp:nvSpPr>
        <dsp:cNvPr id="0" name=""/>
        <dsp:cNvSpPr/>
      </dsp:nvSpPr>
      <dsp:spPr>
        <a:xfrm rot="16223858">
          <a:off x="3431206" y="2338906"/>
          <a:ext cx="479346" cy="329417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116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769229-F332-FD40-8E55-0BB5EDD7F938}">
      <dsp:nvSpPr>
        <dsp:cNvPr id="0" name=""/>
        <dsp:cNvSpPr/>
      </dsp:nvSpPr>
      <dsp:spPr>
        <a:xfrm>
          <a:off x="2187881" y="-253244"/>
          <a:ext cx="2917521" cy="2503520"/>
        </a:xfrm>
        <a:prstGeom prst="roundRect">
          <a:avLst>
            <a:gd name="adj" fmla="val 10000"/>
          </a:avLst>
        </a:prstGeom>
        <a:solidFill>
          <a:schemeClr val="accent1">
            <a:lumMod val="5000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Runs test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of this test is the total number of runs in the sequence, where a run is an uninterrupted sequence of identical bits bounded before and after with a bit of the opposite value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determine whether the number of runs of ones and zeros of various lengths is as expected for a random sequence</a:t>
          </a:r>
        </a:p>
      </dsp:txBody>
      <dsp:txXfrm>
        <a:off x="2261207" y="-179918"/>
        <a:ext cx="2770869" cy="2356868"/>
      </dsp:txXfrm>
    </dsp:sp>
    <dsp:sp modelId="{5C33EB83-07EC-EE41-B777-E6D006E71A17}">
      <dsp:nvSpPr>
        <dsp:cNvPr id="0" name=""/>
        <dsp:cNvSpPr/>
      </dsp:nvSpPr>
      <dsp:spPr>
        <a:xfrm rot="19708540">
          <a:off x="4445090" y="2909767"/>
          <a:ext cx="576181" cy="509319"/>
        </a:xfrm>
        <a:prstGeom prst="leftArrow">
          <a:avLst>
            <a:gd name="adj1" fmla="val 60000"/>
            <a:gd name="adj2" fmla="val 50000"/>
          </a:avLst>
        </a:prstGeom>
        <a:solidFill>
          <a:schemeClr val="bg1"/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10799999" rev="0"/>
          </a:camera>
          <a:lightRig rig="threePt" dir="t"/>
        </a:scene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27CD39-4A83-5B4E-A0FE-57CD62BEB35B}">
      <dsp:nvSpPr>
        <dsp:cNvPr id="0" name=""/>
        <dsp:cNvSpPr/>
      </dsp:nvSpPr>
      <dsp:spPr>
        <a:xfrm>
          <a:off x="5240198" y="231746"/>
          <a:ext cx="1862243" cy="3959254"/>
        </a:xfrm>
        <a:prstGeom prst="roundRect">
          <a:avLst>
            <a:gd name="adj" fmla="val 10000"/>
          </a:avLst>
        </a:prstGeom>
        <a:solidFill>
          <a:schemeClr val="accent3">
            <a:lumMod val="5000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Maurer’s universal statistical test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Focus is the number of bits between matching patterns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Purpose is to detect whether or not the sequence can be significantly compressed without loss of information.  A significantly compressible sequence is considered to be non-random</a:t>
          </a:r>
          <a:endParaRPr lang="en-US" sz="1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294741" y="286289"/>
        <a:ext cx="1753157" cy="38501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329B7-67B5-1B42-8A0F-233B3F56D7B7}">
      <dsp:nvSpPr>
        <dsp:cNvPr id="0" name=""/>
        <dsp:cNvSpPr/>
      </dsp:nvSpPr>
      <dsp:spPr>
        <a:xfrm>
          <a:off x="0" y="0"/>
          <a:ext cx="6019800" cy="636494"/>
        </a:xfrm>
        <a:prstGeom prst="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 w="9525" cap="flat" cmpd="sng" algn="ctr">
          <a:solidFill>
            <a:schemeClr val="accent1">
              <a:lumMod val="7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Three broad categories of cryptographic algorithms are commonly used to create </a:t>
          </a:r>
          <a:r>
            <a:rPr lang="en-US" sz="18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PRNGs</a:t>
          </a:r>
          <a:r>
            <a:rPr lang="en-US" sz="18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:</a:t>
          </a:r>
          <a:endParaRPr lang="en-US" sz="18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0"/>
        <a:ext cx="6019800" cy="636494"/>
      </dsp:txXfrm>
    </dsp:sp>
    <dsp:sp modelId="{97C2A5B0-C2A6-674A-9001-8537AD5AD575}">
      <dsp:nvSpPr>
        <dsp:cNvPr id="0" name=""/>
        <dsp:cNvSpPr/>
      </dsp:nvSpPr>
      <dsp:spPr>
        <a:xfrm>
          <a:off x="0" y="663042"/>
          <a:ext cx="6019800" cy="1037610"/>
        </a:xfrm>
        <a:prstGeom prst="rect">
          <a:avLst/>
        </a:prstGeom>
        <a:solidFill>
          <a:schemeClr val="bg1"/>
        </a:solidFill>
        <a:ln w="41275" cap="flat" cmpd="sng" algn="ctr">
          <a:solidFill>
            <a:schemeClr val="accent1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smtClean="0"/>
            <a:t>Symmetric block ciphers</a:t>
          </a:r>
          <a:endParaRPr lang="en-US" sz="1800" kern="1200" dirty="0" smtClean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Asymmetric ciphers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Hash functions and message authentication codes</a:t>
          </a:r>
          <a:endParaRPr lang="en-US" sz="1800" kern="1200" dirty="0"/>
        </a:p>
      </dsp:txBody>
      <dsp:txXfrm>
        <a:off x="0" y="663042"/>
        <a:ext cx="6019800" cy="10376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1FF0D-80C7-B143-B4DC-FA633776886F}">
      <dsp:nvSpPr>
        <dsp:cNvPr id="0" name=""/>
        <dsp:cNvSpPr/>
      </dsp:nvSpPr>
      <dsp:spPr>
        <a:xfrm>
          <a:off x="1192553" y="-286512"/>
          <a:ext cx="5006293" cy="5006293"/>
        </a:xfrm>
        <a:prstGeom prst="circularArrow">
          <a:avLst>
            <a:gd name="adj1" fmla="val 5689"/>
            <a:gd name="adj2" fmla="val 340510"/>
            <a:gd name="adj3" fmla="val 12406616"/>
            <a:gd name="adj4" fmla="val 18280596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356C3C3-176D-5E4F-96FD-10D88EEF7922}">
      <dsp:nvSpPr>
        <dsp:cNvPr id="0" name=""/>
        <dsp:cNvSpPr/>
      </dsp:nvSpPr>
      <dsp:spPr>
        <a:xfrm>
          <a:off x="1929054" y="773"/>
          <a:ext cx="3533291" cy="1766645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Input</a:t>
          </a:r>
          <a:endParaRPr lang="en-US" sz="1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Two pseudorandom inputs drive the generator. One is a 64-bit representation of the current date and time. The other is a 64-bit seed value; this is initialized to some arbitrary value and is updated during the generation process.</a:t>
          </a:r>
        </a:p>
      </dsp:txBody>
      <dsp:txXfrm>
        <a:off x="2015295" y="87014"/>
        <a:ext cx="3360809" cy="1594163"/>
      </dsp:txXfrm>
    </dsp:sp>
    <dsp:sp modelId="{5006A93B-B9AC-A244-BAF9-EA105FE88F8A}">
      <dsp:nvSpPr>
        <dsp:cNvPr id="0" name=""/>
        <dsp:cNvSpPr/>
      </dsp:nvSpPr>
      <dsp:spPr>
        <a:xfrm>
          <a:off x="3826462" y="3287180"/>
          <a:ext cx="3533291" cy="1766645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generator makes use of three triple DES encryption modules. All three make use of the same pair of 56-bit keys, which must be kept secret and are used only for pseudorandom number generation.</a:t>
          </a:r>
        </a:p>
      </dsp:txBody>
      <dsp:txXfrm>
        <a:off x="3912703" y="3373421"/>
        <a:ext cx="3360809" cy="1594163"/>
      </dsp:txXfrm>
    </dsp:sp>
    <dsp:sp modelId="{8FFE789F-A4A1-1F4A-9A03-B121D4D9510A}">
      <dsp:nvSpPr>
        <dsp:cNvPr id="0" name=""/>
        <dsp:cNvSpPr/>
      </dsp:nvSpPr>
      <dsp:spPr>
        <a:xfrm>
          <a:off x="31646" y="3464207"/>
          <a:ext cx="3533291" cy="1412592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i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output consists of a 64-bit pseudorandom number and a 64-bit seed value.</a:t>
          </a:r>
        </a:p>
      </dsp:txBody>
      <dsp:txXfrm>
        <a:off x="100603" y="3533164"/>
        <a:ext cx="3395377" cy="12746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3FB94-56E6-4343-815A-4C88DE8E4629}">
      <dsp:nvSpPr>
        <dsp:cNvPr id="0" name=""/>
        <dsp:cNvSpPr/>
      </dsp:nvSpPr>
      <dsp:spPr>
        <a:xfrm rot="5400000">
          <a:off x="4679469" y="-1834384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A pseudorandom number generator uses a function that produces a deterministic stream of bits that eventually repeats;  the longer the period of repeat the more difficult it will be to do cryptanalysis</a:t>
          </a:r>
          <a:endParaRPr lang="en-US" sz="1300" kern="1200" dirty="0"/>
        </a:p>
      </dsp:txBody>
      <dsp:txXfrm rot="-5400000">
        <a:off x="2725483" y="165359"/>
        <a:ext cx="4799546" cy="845816"/>
      </dsp:txXfrm>
    </dsp:sp>
    <dsp:sp modelId="{DF8243A5-C0B6-FE4F-A1A4-CBEFD28A1F47}">
      <dsp:nvSpPr>
        <dsp:cNvPr id="0" name=""/>
        <dsp:cNvSpPr/>
      </dsp:nvSpPr>
      <dsp:spPr>
        <a:xfrm>
          <a:off x="0" y="2436"/>
          <a:ext cx="2725483" cy="1171663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encryption sequence should have a large period</a:t>
          </a:r>
          <a:endParaRPr lang="en-US" sz="1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7196" y="59632"/>
        <a:ext cx="2611091" cy="1057271"/>
      </dsp:txXfrm>
    </dsp:sp>
    <dsp:sp modelId="{F5DB7628-7D36-B74C-9F78-063350B6C244}">
      <dsp:nvSpPr>
        <dsp:cNvPr id="0" name=""/>
        <dsp:cNvSpPr/>
      </dsp:nvSpPr>
      <dsp:spPr>
        <a:xfrm rot="5400000">
          <a:off x="4679469" y="-604137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There should be an approximately equal number of 1s and 0s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If the </a:t>
          </a:r>
          <a:r>
            <a:rPr lang="en-US" sz="1300" kern="1200" dirty="0" err="1" smtClean="0"/>
            <a:t>keystream</a:t>
          </a:r>
          <a:r>
            <a:rPr lang="en-US" sz="1300" kern="1200" dirty="0" smtClean="0"/>
            <a:t> is treated as a stream of bytes, then all of the 256 possible byte values should appear approximately equally often</a:t>
          </a:r>
          <a:endParaRPr lang="en-US" sz="1300" kern="1200" dirty="0"/>
        </a:p>
      </dsp:txBody>
      <dsp:txXfrm rot="-5400000">
        <a:off x="2725483" y="1395606"/>
        <a:ext cx="4799546" cy="845816"/>
      </dsp:txXfrm>
    </dsp:sp>
    <dsp:sp modelId="{92B1AF1B-DF41-0A49-BDA3-2FD01C54A696}">
      <dsp:nvSpPr>
        <dsp:cNvPr id="0" name=""/>
        <dsp:cNvSpPr/>
      </dsp:nvSpPr>
      <dsp:spPr>
        <a:xfrm>
          <a:off x="0" y="1232682"/>
          <a:ext cx="2725483" cy="1171663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The </a:t>
          </a:r>
          <a:r>
            <a:rPr lang="en-US" sz="13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keystream</a:t>
          </a: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should approximate the properties of a true random number stream as close as possible</a:t>
          </a:r>
          <a:endParaRPr lang="en-US" sz="1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7196" y="1289878"/>
        <a:ext cx="2611091" cy="1057271"/>
      </dsp:txXfrm>
    </dsp:sp>
    <dsp:sp modelId="{8FB08EE9-CD81-E344-AF3D-8514986ABB33}">
      <dsp:nvSpPr>
        <dsp:cNvPr id="0" name=""/>
        <dsp:cNvSpPr/>
      </dsp:nvSpPr>
      <dsp:spPr>
        <a:xfrm rot="5400000">
          <a:off x="4679469" y="626108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output of the pseudorandom number generator is conditioned on the value of the input key</a:t>
          </a:r>
          <a:endParaRPr lang="en-US" sz="1300" kern="1200" dirty="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300" kern="1200" dirty="0" smtClean="0"/>
            <a:t>The same considerations that apply to block ciphers are valid</a:t>
          </a:r>
          <a:endParaRPr lang="en-US" sz="1300" kern="1200" dirty="0"/>
        </a:p>
      </dsp:txBody>
      <dsp:txXfrm rot="-5400000">
        <a:off x="2725483" y="2625852"/>
        <a:ext cx="4799546" cy="845816"/>
      </dsp:txXfrm>
    </dsp:sp>
    <dsp:sp modelId="{C4F89D33-03C4-0649-AC4F-4D7DAC421B0B}">
      <dsp:nvSpPr>
        <dsp:cNvPr id="0" name=""/>
        <dsp:cNvSpPr/>
      </dsp:nvSpPr>
      <dsp:spPr>
        <a:xfrm>
          <a:off x="0" y="2462929"/>
          <a:ext cx="2725483" cy="1171663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key length of at least 128 bits is desirable</a:t>
          </a:r>
          <a:endParaRPr lang="en-US" sz="1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7196" y="2520125"/>
        <a:ext cx="2611091" cy="1057271"/>
      </dsp:txXfrm>
    </dsp:sp>
    <dsp:sp modelId="{424A4BEF-EB38-4E4C-9C67-7A7D0104F848}">
      <dsp:nvSpPr>
        <dsp:cNvPr id="0" name=""/>
        <dsp:cNvSpPr/>
      </dsp:nvSpPr>
      <dsp:spPr>
        <a:xfrm rot="5400000">
          <a:off x="4679469" y="1856355"/>
          <a:ext cx="937330" cy="484530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lumMod val="7500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300" kern="1200" dirty="0" smtClean="0"/>
            <a:t>A potential advantage is that stream ciphers that do not use block ciphers as a building block are typically faster and use far less code than block ciphers</a:t>
          </a:r>
          <a:endParaRPr lang="en-AU" sz="1300" kern="1200" dirty="0"/>
        </a:p>
      </dsp:txBody>
      <dsp:txXfrm rot="-5400000">
        <a:off x="2725483" y="3856099"/>
        <a:ext cx="4799546" cy="845816"/>
      </dsp:txXfrm>
    </dsp:sp>
    <dsp:sp modelId="{130DEB4F-07F2-074F-9A55-A205477665FB}">
      <dsp:nvSpPr>
        <dsp:cNvPr id="0" name=""/>
        <dsp:cNvSpPr/>
      </dsp:nvSpPr>
      <dsp:spPr>
        <a:xfrm>
          <a:off x="0" y="3693175"/>
          <a:ext cx="2725483" cy="1171663"/>
        </a:xfrm>
        <a:prstGeom prst="round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With a properly designed pseudorandom number generator a stream cipher can be as secure as a block cipher of comparable key length</a:t>
          </a:r>
          <a:endParaRPr lang="en-US" sz="1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7196" y="3750371"/>
        <a:ext cx="2611091" cy="105727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2BD45-7193-A345-9D31-D31A315076FC}">
      <dsp:nvSpPr>
        <dsp:cNvPr id="0" name=""/>
        <dsp:cNvSpPr/>
      </dsp:nvSpPr>
      <dsp:spPr>
        <a:xfrm>
          <a:off x="71463" y="139418"/>
          <a:ext cx="3537716" cy="1270479"/>
        </a:xfrm>
        <a:prstGeom prst="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 number of papers have been published analyzing methods of attacking RC4</a:t>
          </a:r>
          <a:endParaRPr lang="en-US" sz="1700" kern="1200" dirty="0"/>
        </a:p>
      </dsp:txBody>
      <dsp:txXfrm>
        <a:off x="71463" y="139418"/>
        <a:ext cx="3537716" cy="1270479"/>
      </dsp:txXfrm>
    </dsp:sp>
    <dsp:sp modelId="{2CA2E574-D180-F746-991E-694C914B2EBC}">
      <dsp:nvSpPr>
        <dsp:cNvPr id="0" name=""/>
        <dsp:cNvSpPr/>
      </dsp:nvSpPr>
      <dsp:spPr>
        <a:xfrm>
          <a:off x="36" y="1409897"/>
          <a:ext cx="3537716" cy="32417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None of these approaches is practical against RC4 with a reasonable key length</a:t>
          </a:r>
          <a:endParaRPr lang="en-US" sz="1700" kern="1200" dirty="0"/>
        </a:p>
      </dsp:txBody>
      <dsp:txXfrm>
        <a:off x="36" y="1409897"/>
        <a:ext cx="3537716" cy="3241759"/>
      </dsp:txXfrm>
    </dsp:sp>
    <dsp:sp modelId="{BD59E623-B9B1-824E-ABA5-E5CD4F95CCF8}">
      <dsp:nvSpPr>
        <dsp:cNvPr id="0" name=""/>
        <dsp:cNvSpPr/>
      </dsp:nvSpPr>
      <dsp:spPr>
        <a:xfrm>
          <a:off x="4033070" y="139418"/>
          <a:ext cx="3537716" cy="1270479"/>
        </a:xfrm>
        <a:prstGeom prst="rect">
          <a:avLst/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lvl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 more serious problem is that the WEP protocol intended to provide confidentiality on 802.11 wireless LAN networks is vulnerable to a particular attack approach</a:t>
          </a:r>
          <a:endParaRPr lang="en-US" sz="1700" kern="1200" dirty="0"/>
        </a:p>
      </dsp:txBody>
      <dsp:txXfrm>
        <a:off x="4033070" y="139418"/>
        <a:ext cx="3537716" cy="1270479"/>
      </dsp:txXfrm>
    </dsp:sp>
    <dsp:sp modelId="{1BF66C4B-979B-7C4A-8125-4D7434486A65}">
      <dsp:nvSpPr>
        <dsp:cNvPr id="0" name=""/>
        <dsp:cNvSpPr/>
      </dsp:nvSpPr>
      <dsp:spPr>
        <a:xfrm>
          <a:off x="4033033" y="1409897"/>
          <a:ext cx="3537716" cy="32417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The problem is not with RC4 itself, but the way in which keys are generated for use as input</a:t>
          </a:r>
          <a:endParaRPr lang="en-US" sz="1700" kern="1200" dirty="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kern="1200" dirty="0" smtClean="0"/>
            <a:t>Problem does not appear to be relevant to other applications and can be remedied in WEP by changing the way in which keys are generated</a:t>
          </a:r>
          <a:endParaRPr lang="en-US" sz="1700" kern="1200" dirty="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AU" sz="1700" kern="1200" dirty="0" smtClean="0"/>
            <a:t>Problem points out the difficulty in designing a secure system that involves both cryptographic functions and protocols that make use of them</a:t>
          </a:r>
          <a:endParaRPr lang="en-AU" sz="1700" kern="1200" dirty="0"/>
        </a:p>
      </dsp:txBody>
      <dsp:txXfrm>
        <a:off x="4033033" y="1409897"/>
        <a:ext cx="3537716" cy="32417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7BACD-1F98-A247-9FFB-85F148D93206}">
      <dsp:nvSpPr>
        <dsp:cNvPr id="0" name=""/>
        <dsp:cNvSpPr/>
      </dsp:nvSpPr>
      <dsp:spPr>
        <a:xfrm>
          <a:off x="3699" y="0"/>
          <a:ext cx="3558554" cy="3200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Sound/video input</a:t>
          </a:r>
          <a:endParaRPr lang="en-US" sz="3000" b="1" kern="1200" dirty="0"/>
        </a:p>
      </dsp:txBody>
      <dsp:txXfrm>
        <a:off x="3699" y="0"/>
        <a:ext cx="3558554" cy="960120"/>
      </dsp:txXfrm>
    </dsp:sp>
    <dsp:sp modelId="{A6E376E8-25CE-0043-97C5-EB861FB57237}">
      <dsp:nvSpPr>
        <dsp:cNvPr id="0" name=""/>
        <dsp:cNvSpPr/>
      </dsp:nvSpPr>
      <dsp:spPr>
        <a:xfrm>
          <a:off x="359554" y="961057"/>
          <a:ext cx="2846843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The input from a sound digitizer with no source plugged in or from a camera with the lens cap on is essentially thermal noise</a:t>
          </a:r>
        </a:p>
      </dsp:txBody>
      <dsp:txXfrm>
        <a:off x="387817" y="989320"/>
        <a:ext cx="2790317" cy="908438"/>
      </dsp:txXfrm>
    </dsp:sp>
    <dsp:sp modelId="{AF796BFB-3925-0C47-A6CE-13A1100DB9DD}">
      <dsp:nvSpPr>
        <dsp:cNvPr id="0" name=""/>
        <dsp:cNvSpPr/>
      </dsp:nvSpPr>
      <dsp:spPr>
        <a:xfrm>
          <a:off x="359554" y="2074478"/>
          <a:ext cx="2846843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If the system has enough gain to detect anything, such input can provide reasonable high quality random bits</a:t>
          </a:r>
        </a:p>
      </dsp:txBody>
      <dsp:txXfrm>
        <a:off x="387817" y="2102741"/>
        <a:ext cx="2790317" cy="908438"/>
      </dsp:txXfrm>
    </dsp:sp>
    <dsp:sp modelId="{0D2A5CB5-1755-D24A-84F3-543A1BE3078E}">
      <dsp:nvSpPr>
        <dsp:cNvPr id="0" name=""/>
        <dsp:cNvSpPr/>
      </dsp:nvSpPr>
      <dsp:spPr>
        <a:xfrm>
          <a:off x="3829145" y="0"/>
          <a:ext cx="3558554" cy="32004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b="1" kern="1200" dirty="0" smtClean="0"/>
            <a:t>Disk drives</a:t>
          </a:r>
        </a:p>
      </dsp:txBody>
      <dsp:txXfrm>
        <a:off x="3829145" y="0"/>
        <a:ext cx="3558554" cy="960120"/>
      </dsp:txXfrm>
    </dsp:sp>
    <dsp:sp modelId="{6D884ED3-FD7F-454A-8509-2A46F0170E2E}">
      <dsp:nvSpPr>
        <dsp:cNvPr id="0" name=""/>
        <dsp:cNvSpPr/>
      </dsp:nvSpPr>
      <dsp:spPr>
        <a:xfrm>
          <a:off x="4185001" y="961057"/>
          <a:ext cx="2846843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Have small random fluctuations in their rotational speed due to chaotic air turbulence</a:t>
          </a:r>
        </a:p>
      </dsp:txBody>
      <dsp:txXfrm>
        <a:off x="4213264" y="989320"/>
        <a:ext cx="2790317" cy="908438"/>
      </dsp:txXfrm>
    </dsp:sp>
    <dsp:sp modelId="{7C552FF8-E85B-AB41-A161-770BD96CE149}">
      <dsp:nvSpPr>
        <dsp:cNvPr id="0" name=""/>
        <dsp:cNvSpPr/>
      </dsp:nvSpPr>
      <dsp:spPr>
        <a:xfrm>
          <a:off x="4185001" y="2074478"/>
          <a:ext cx="2846843" cy="964964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00"/>
            </a:gs>
            <a:gs pos="39999">
              <a:srgbClr val="0A128C"/>
            </a:gs>
            <a:gs pos="70000">
              <a:srgbClr val="181CC7"/>
            </a:gs>
            <a:gs pos="88000">
              <a:srgbClr val="7005D4"/>
            </a:gs>
            <a:gs pos="100000">
              <a:srgbClr val="8C3D91"/>
            </a:gs>
          </a:gsLst>
          <a:lin ang="16200000" scaled="0"/>
        </a:gra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The addition of low-level disk seek-time instrumentation produces a series of measurements that contain this randomness</a:t>
          </a:r>
        </a:p>
      </dsp:txBody>
      <dsp:txXfrm>
        <a:off x="4213264" y="2102741"/>
        <a:ext cx="2790317" cy="9084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Arial" pitchFamily="-107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-107" charset="0"/>
              </a:defRPr>
            </a:lvl1pPr>
          </a:lstStyle>
          <a:p>
            <a:pPr>
              <a:defRPr/>
            </a:pPr>
            <a:fld id="{38076705-864B-4D45-B85F-06B6083622B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09137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DAC19D-5794-124D-943B-99E3BD3527A0}" type="slidenum">
              <a:rPr lang="en-AU">
                <a:latin typeface="Arial" pitchFamily="-84" charset="0"/>
              </a:rPr>
              <a:pPr/>
              <a:t>1</a:t>
            </a:fld>
            <a:endParaRPr lang="en-AU">
              <a:latin typeface="Arial" pitchFamily="-8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>
                <a:latin typeface="Times New Roman" pitchFamily="-84" charset="0"/>
                <a:ea typeface="ＭＳ Ｐゴシック" pitchFamily="-84" charset="-128"/>
                <a:cs typeface="ＭＳ Ｐゴシック" pitchFamily="-84" charset="-128"/>
              </a:rPr>
              <a:t>Lecture slides prepared for “Cryptography and Network Security”, 6/e, by William Stallings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Chapter 6 – “</a:t>
            </a:r>
            <a:r>
              <a:rPr lang="en-AU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Cipher Operation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”.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AU" dirty="0" smtClean="0">
              <a:latin typeface="Times New Roman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eaLnBrk="1" hangingPunct="1"/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 important cryptographic function is cryptographically strong pseudorandom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generation. Pseudorandom number generators (PRNGs) are used in a variety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cryptographic and security applications. We begin the chapter with a look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basic principles of PRNGs and contrast these with true random number generators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(TRNGs).  Next, we look at some common PRNGs, including PRNGs based on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 of a symmetric block cipher.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chapter then moves on to the topic of symmetric stream ciphers, which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based on the use of a PRNG. The chapter next examines the most important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cipher, RC4. Finally, we examine TRNGs.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2FC93-0B5F-CF43-A3BC-5631C10C9A3C}" type="slidenum">
              <a:rPr lang="en-AU" smtClean="0">
                <a:latin typeface="Arial" pitchFamily="-84" charset="0"/>
              </a:rPr>
              <a:pPr/>
              <a:t>2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B84D38-AE22-994D-815E-7BA953888EEA}" type="slidenum">
              <a:rPr lang="en-AU">
                <a:latin typeface="Arial" pitchFamily="-84" charset="0"/>
              </a:rPr>
              <a:pPr/>
              <a:t>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number of network security algorithms and protocols based on cryptography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make use of random binary numbers. For example,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Key distribution and reciprocal (mutual) authentication schemes,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those discussed in Chapters 14 and 15. In such schemes, two communicating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parties cooperate by exchanging messages to distribute keys and/or authenticate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each other. In many cases, nonces are used for handshaking to prevent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replay attacks. The use of random numbers for the nonces frustrates an opponent’s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efforts to determine or guess the nonce, in order to repeat an obsolete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transaction.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Session key generation. We will see a number of protocols in this book where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secret key for symmetric encryption is generated for use for a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transaction (or session) and is valid for a short period of time. This key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generally called a session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Generation of keys for the RSA public-key encryption algorithm (described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Chapter 9).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 Generation of a bit stream for symmetric stream encryption (described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chapter).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applications give rise to two distinct and not necessarily compatible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requirements for a sequence of random numbers: randomness and unpredictability.</a:t>
            </a:r>
            <a:endParaRPr lang="en-AU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Traditionally, the concern in the generation of a sequence of allegedly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numbers has been that the sequence of numbers be random in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well-defined statistical sense. The following two criteria are used to validate that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numbers is random: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Uniform distribution:  The distribution of bits in the sequence should be uniform;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the frequency of occurrence of ones and zeros should be approximately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Independence:  No one subsequence in the sequence can be inferred from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Although there are well-defined tests for determining that a sequence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matches a particular distribution, such as the uniform distribution, there is no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 to “prove” independence. Rather, a number of tests can be applied to demonstrate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a sequence does not exhibit independence. The general strategy is to apply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number of such tests until the confidence that independence exists is sufficiently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strong. That is, if each of a number of tests fails to show that a sequence of bits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not independent, then we can have a high level of confidence that the sequence is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fact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5</a:t>
            </a:fld>
            <a:endParaRPr lang="en-A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In applications such as reciprocal authentication, session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generation, and stream ciphers, the requirement is not just that the sequence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numbers be statistically random but that the successive members of the 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unpredictable. With “true” random sequences, each number is statistically independent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other numbers in the sequence and therefore unpredictable. Although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true random numbers are used in some applications, they have their limitations,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inefficiency, as is discussed shortly. Thus, it is more common to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that generate sequences of numbers that appear to be random.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latter case, care must be taken that an opponent not be able to predict future elements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sequence on the basis of earlier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6</a:t>
            </a:fld>
            <a:endParaRPr lang="en-A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F5C907-1631-6E4F-8EDD-16FFD139DE41}" type="slidenum">
              <a:rPr lang="en-AU">
                <a:latin typeface="Arial" pitchFamily="-84" charset="0"/>
              </a:rPr>
              <a:pPr/>
              <a:t>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Cryptographic applications typically make use of algorithmic techniques for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generation. These algorithms are deterministic and therefore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sequences of numbers that are not statistically random. However, if the algorithm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good, the resulting sequences will pass many tests of randomness. Such numbers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referred to as pseudorandom numbers 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TRNG takes as input a source that is effectively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random; the source is often referred to as an entropy source.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essence, the entropy source is drawn from the physical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environment of the computer and could include things such as keystroke timing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patterns, disk electrical activity, mouse movements, and instantaneous values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clock. 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source, or combination of sources, serve as input to an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produces random binary output. The TRNG may simply involve conversion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analog source to a binary output. The TRNG may involve additional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overcome any bias in the source; this is discussed in Section 7.6.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8</a:t>
            </a:fld>
            <a:endParaRPr lang="en-A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In contrast, a PRNG takes as input a fixed value, called the seed , and produces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sequence of output bits using a deterministic algorithm. Quite often, the seed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generated by a TRNG. Typically, as shown, there is some feedback path by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 of the results of the algorithm are fed back as input as additional output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produced. The important thing to note is that the output bit stream is determined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solely by the input value or values, so that an adversary who knows the algorithm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the seed can reproduce the entire bit stream.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7.1 shows two different forms of PRNGs, based on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Pseudorandom number generator:  An algorithm that is used to produce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open-ended sequence of bits is referred to as a PRNG. A common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an open-ended sequence of bits is as input to a symmetric stream cipher,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discussed in Section 7.4. Also, see Figure 3.1a.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Pseudorandom function (PRF):  A PRF is used to produced a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string of bits of some fixed length. Examples are symmetric encryption keys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nonces. Typically, the PRF takes as input a seed plus some context specific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values, such as a user ID or an application ID. A number of examples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PRFs will be seen throughout this book, notably in Chapters 17 and 18.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Other than the number of bits produced, there is no difference between a PRNG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 PRF. The same algorithms can be used in both applications. Both require a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and both must exhibit randomness and unpredictability. Further, a PRNG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also employ context-specific input. In what follows, we make no distinction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between these two applications.</a:t>
            </a:r>
            <a:endParaRPr lang="en-US" dirty="0" smtClean="0">
              <a:latin typeface="Arial" pitchFamily="-84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F8586F-F3DB-F04E-955C-E1B70DD45E1C}" type="slidenum">
              <a:rPr lang="en-AU" smtClean="0">
                <a:latin typeface="Arial" pitchFamily="-84" charset="0"/>
              </a:rPr>
              <a:pPr/>
              <a:t>9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7.1 contrasts a true random number generator  (TRNG) with two 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number generators.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C5BF08-E75D-1B42-AB62-CA439651F4F6}" type="slidenum">
              <a:rPr lang="en-AU" smtClean="0">
                <a:latin typeface="Arial" pitchFamily="-84" charset="0"/>
              </a:rPr>
              <a:pPr/>
              <a:t>10</a:t>
            </a:fld>
            <a:endParaRPr lang="en-AU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When a PRNG or PRF is used for a cryptographic application, then the basic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requirement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that an adversary who does not know the seed is unable to determine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pseudorandom string. For example, if the pseudorandom bit stream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used in a stream cipher, then knowledge of the pseudorandom bit stream would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enable the adversary to recover the plaintext from the ciphertext. Similarly,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wish to protect the output value of a PRF. In this latter case, consider the following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scenario. A 128-bit seed, together with some context-specific values, are used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generate a 128-bit secret key that is subsequently used for symmetric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Under normal circumstances, a 128-bit key is safe from a brute-force attack.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However, if the PRF does not generate effectively random 128-bit output values,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 may be possible for an adversary to narrow the possibilities and successfully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brute force attack.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general requirement for secrecy of the output of a PRNG or PRF leads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specific requirements in the areas of randomness, unpredictability, and the characteristics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seed. We now look at these in 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11</a:t>
            </a:fld>
            <a:endParaRPr lang="en-A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terms of randomness, the requirement for a PRNG is that the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stream appear random even though it is deterministic. There is no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 that can determine if a PRNG generates numbers that have the characteristic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randomness. The best that can be done is to apply a sequence of tests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PRNG. If the PRNG exhibits randomness on the basis of multiple tests, then it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assumed to satisfy the randomness requirement. NIST SP 800-22 (A Statistical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 Suite for Random and Pseudorandom Number Generators for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Applications ) specifies that the tests should seek to establish the following three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characteristics.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Uniformity:  At any point in the generation of a sequence of random or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bits, the occurrence of a zero or one is equally likely, i.e., the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each is exactly 1/2. The expected number of zeros (or ones) is n /2,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 n =  the sequence length.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Scalability:  Any test applicable to a sequence can also be applied to subsequences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extracted at random. If a sequence is random, then any such extracted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subsequence should also be random. Hence, any extracted subsequence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should pass any test for randomness.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Consistency:  The behavior of a generator must be consistent across starting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values (seeds). It is inadequate to test a PRNG based on the output from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single seed or an TRNG on the basis of an output produced from a single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physical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12</a:t>
            </a:fld>
            <a:endParaRPr lang="en-A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 800-22 lists 15 separate tests of randomness. An understanding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tests requires a basic knowledge of statistical analysis, so we don’t attempt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technical description here. Instead, to give some flavor for the tests, we list three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tests and the purpose of each test,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Frequency test:  This is the most basic test and must be included in any test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suite. The purpose of this test is to determine whether the number of ones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zeros in a sequence is approximately the same as would be expected for a truly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Runs test:  The focus of this test is the total number of runs in the sequence,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where a run is an uninterrupted sequence of identical bits bounded before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after with a bit of the opposite value. The purpose of the runs test is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determine whether the number of runs of ones and zeros of various lengths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expected for a random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Maurer’s universal statistical test:  The focus of this test is the number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between matching patterns (a measure that is related to the length of a compressed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sequence). The purpose of the test is to detect whether or not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can be significantly compressed without loss of information. A significantly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compressible sequence is considered to be non-random.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13</a:t>
            </a:fld>
            <a:endParaRPr lang="en-A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stream of pseudorandom numbers should exhibit two forms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unpredictability: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Forward unpredictability : If the seed is unknown, the next output bit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should be unpredictable in spite of any knowledge of previous bits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sequence.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Backward unpredictability : It should also not be feasible to determine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 from knowledge of any generated values. No correlation between a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any value generated from that seed should be evident; each element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should appear to be the outcome of an independent random event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whose probability is 1/2.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same set of tests for randomness also provide a test of unpredictability.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generated bit stream appears random, then it is not possible to predict some bit or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from knowledge of any previous bits. Similarly, if the bit sequence appears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random, then there is no feasible way to deduce the seed based on the bit sequence.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a random sequence will have no correlation with a fixed value (the seed).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14</a:t>
            </a:fld>
            <a:endParaRPr lang="en-A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 cryptographic applications, the seed that serves as input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PRNG must be secure. Because the PRNG is a deterministic algorithm,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adversary can deduce the seed, then the output can also be determined. Therefore,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seed must be unpredictable. In fact, the seed itself must be a random or pseudorandom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15</a:t>
            </a:fld>
            <a:endParaRPr lang="en-A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Typically, the seed is generated by a TRNG, as shown in Figure 7.2. This 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scheme recommended by SP800-90. The reader may wonder, if a TRNG is available,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why it is necessary to use a PRNG. If the application is a stream cipher, then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TRNG is not practical. The sender would need to generate a keystream of bits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long as the plaintext and then transmit the keystream and the ciphertext securely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receiver. If a PRNG is used, the sender need only find a way to deliver the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key, which is typically 54 or 128 bits, to the receiver in a secure fashion.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Even in the case of a PRF application, in which only a limited number of bits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generated, it is generally desirable to use a TRNG to provide the seed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PRF and use the PRF output rather than use the TRNG directly. As is explained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Section 7.6, a TRNG may produce a binary string with some bias. The PRF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would have the effect of “randomizing” the output of the TRNG so as to eliminate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bias.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Finally, the mechanism used to generate true random numbers may not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able to generate bits at a rate sufficient to keep up with the application requiring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random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16</a:t>
            </a:fld>
            <a:endParaRPr lang="en-A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Cryptographic PRNGs have been the subject of much research over the years,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a wide variety of algorithms have been developed. These fall roughly into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categories.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Purpose-built algorithms:  These are algorithms designed specifically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solely for the purpose of generating pseudorandom bit streams. Some of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are used for a variety of PRNG applications; several of these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described in the next section. Others are designed specifically for use 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cipher. The most important example of the latter is RC4, described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Section 7.5.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Algorithms based on existing cryptographic algorithms:  Cryptographic algorithms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the effect of randomizing input data. Indeed, this is a requirement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such algorithms. For example, if a symmetric block cipher produced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that had certain regular patterns in it, it would aid in the process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cryptanalysis. Thus, cryptographic algorithms can serve as the core of PRNGs.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Three broad categories of cryptographic algorithms are commonly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create PRNGs: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—Symmetric block ciphers:  This approach is discussed in Section 7.3.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—Asymmetric ciphers:  The number theoretic concepts used for an asymmetric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can also be adapted for a PRNG; this approach is examined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Chapter 10.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—Hash functions and message authentication codes:  This approach is examined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Chapter 12.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 of these approaches can yield a cryptographically strong PRNG.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purpose-built algorithm may be provided by an operating system for general use.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applications that already use certain cryptographic algorithms for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 authentication, it makes sense to reuse the same code for the PRNG. Thus, all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these approaches are in common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17</a:t>
            </a:fld>
            <a:endParaRPr lang="en-A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9A2CE6-D78D-C04F-9E2F-E1C2CC77EAD3}" type="slidenum">
              <a:rPr lang="en-AU">
                <a:latin typeface="Arial" pitchFamily="-84" charset="0"/>
              </a:rPr>
              <a:pPr/>
              <a:t>18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widely used technique for pseudorandom number generation is an algorithm first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proposed by Lehmer [LEHM51], which is known as the linear congruential method.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algorithm is parameterized with four numbers, as follows: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	the modulus  	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&gt; 0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	the multiplier 		0 &lt;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a&lt; m</a:t>
            </a:r>
          </a:p>
          <a:p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	the increment 	0≤ c &lt;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	the starting value, or seed 	0 ≤ X</a:t>
            </a:r>
            <a:r>
              <a:rPr lang="en-US" sz="1200" b="0" kern="1200" baseline="-25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&lt;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</a:p>
          <a:p>
            <a:endParaRPr lang="en-US" sz="1200" b="0" i="1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pPr>
              <a:spcBef>
                <a:spcPts val="600"/>
              </a:spcBef>
            </a:pPr>
            <a:r>
              <a:rPr lang="en-US" sz="2737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sequence of random numbers {X</a:t>
            </a:r>
            <a:r>
              <a:rPr lang="en-US" sz="2737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2737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 lvl="1">
              <a:buNone/>
            </a:pPr>
            <a:r>
              <a:rPr lang="en-AU" b="0" dirty="0" smtClean="0"/>
              <a:t>			</a:t>
            </a:r>
            <a:r>
              <a:rPr lang="en-AU" sz="2750" b="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n+1 </a:t>
            </a:r>
            <a:r>
              <a:rPr lang="en-AU" b="0" dirty="0" smtClean="0"/>
              <a:t>= (</a:t>
            </a:r>
            <a:r>
              <a:rPr lang="en-AU" b="0" i="1" dirty="0" smtClean="0"/>
              <a:t>a</a:t>
            </a:r>
            <a:r>
              <a:rPr lang="en-AU" b="0" dirty="0" smtClean="0"/>
              <a:t>X</a:t>
            </a:r>
            <a:r>
              <a:rPr lang="en-AU" sz="2750" b="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AU" b="0" dirty="0" smtClean="0"/>
              <a:t> + c) mod </a:t>
            </a:r>
            <a:r>
              <a:rPr lang="en-AU" b="0" i="1" dirty="0" smtClean="0"/>
              <a:t>m</a:t>
            </a:r>
            <a:endParaRPr lang="en-US" b="0" i="0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pPr lvl="1">
              <a:buNone/>
            </a:pPr>
            <a:endParaRPr lang="en-US" b="0" i="0" dirty="0" smtClean="0">
              <a:latin typeface="Arial" pitchFamily="-84" charset="0"/>
              <a:ea typeface="Arial" pitchFamily="-84" charset="0"/>
              <a:cs typeface="Arial" pitchFamily="-84" charset="0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 , a , 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X</a:t>
            </a:r>
            <a:r>
              <a:rPr lang="en-US" sz="2600" kern="1200" baseline="-25000" dirty="0" smtClean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0</a:t>
            </a:r>
            <a:r>
              <a:rPr lang="en-US" sz="8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are integers, then this technique will produce a sequence of integers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each integer in the range 0 ≤ X</a:t>
            </a:r>
            <a:r>
              <a:rPr lang="en-US" sz="2500" kern="1200" baseline="-25000" dirty="0" smtClean="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rPr>
              <a:t>n</a:t>
            </a:r>
            <a:r>
              <a:rPr lang="en-US" sz="8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&lt; m 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, c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and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is critical in developing a good 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generator.</a:t>
            </a:r>
          </a:p>
          <a:p>
            <a:endParaRPr lang="en-US" sz="1200" b="0" i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would like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to be very large, so that there is the potential for producing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long series of distinct random numbers. A common criterion is that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be nearly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 to the maximum representable nonnegative integer for a given computer.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Thus, a value of m  near to or equal to 231  is typically chosen.</a:t>
            </a:r>
            <a:endParaRPr lang="en-AU" b="0" i="0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662A90-914D-4946-A5B0-E5682A4AA02E}" type="slidenum">
              <a:rPr lang="en-AU">
                <a:latin typeface="Arial" pitchFamily="-84" charset="0"/>
              </a:rPr>
              <a:pPr/>
              <a:t>19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popular approach to generating secure pseudorandom numbers is known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Blum, Blum, Shub </a:t>
            </a:r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(BBS) generator (see Figure 7.3), named for its developers.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It has perhaps the strongest public proof of its cryptographic strength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any purpose-built algorithm.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BBS is referred to as a cryptographically secure pseudorandom bit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(CSPRBG). A CSPRBG is defined as one that passes the next-bit test , which,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turn, is defined as follows [MENE97]: A pseudorandom bit generator is said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pass the next-bit test if there is not a polynomial-time algorithm  that, on input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first k  bits of an output sequence, can predict the (k +  1)st bit with probability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significantly greater than 1/2. In other words, given the first k  bits of the sequence,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is not a practical algorithm that can even allow you to state that the next 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will be 1 (or 0) with probability greater than 1/2. For all practical purposes,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is unpredictable. The security of BBS is based on the difficulty of factoring n 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is, given n , we need to determine its two prime factors p  and q .</a:t>
            </a:r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popular approach to generating secure pseudorandom numbers is known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Blum, Blum, Shub (BBS) generator (see Figure 7.3), named for its developers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[BLUM86].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20</a:t>
            </a:fld>
            <a:endParaRPr lang="en-A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7.1, shows an example of BBS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21</a:t>
            </a:fld>
            <a:endParaRPr lang="en-A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DAD4C9-FAD0-E346-B4A7-A35DBF1A2EFF}" type="slidenum">
              <a:rPr lang="en-AU">
                <a:latin typeface="Arial" pitchFamily="-84" charset="0"/>
              </a:rPr>
              <a:pPr/>
              <a:t>22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Two approaches that use a block cipher to build a PNRG have gained widespread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acceptance: the CTR mode and the OFB mode. The CTR mode is recommended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NIST SP 800-90, in the ANSI standard X9.82 (Random Number Generation ), and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RFC 4086. The OFB mode is recommended in X9.82 and RFC 4086.</a:t>
            </a:r>
            <a:endParaRPr lang="en-US" dirty="0" smtClean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7.4 illustrates the two methods. In each case, the seed consists of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parts: the encryption key value and a value V  that will be updated after each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numbers is generated. Thus, for AES-128, the seed consists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128-bit key and a 128-bit V  value. In the CTR case, the value of V  is incremented by 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after each encryption. In the case of OFB, the value of V  is updated to equal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value of the preceding PRNG block. In both cases, pseudorandom bits are produced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block at a time (e.g., for AES, PRNG bits are generated 128 bits at a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23</a:t>
            </a:fld>
            <a:endParaRPr lang="en-A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For the OFB PRNG, Table 7.2 shows the first eight output blocks (1024 bits)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two rough measures of security. The second column shows the fraction of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in each 128-bit block. This corresponds to one of the NIST tests. The results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indicate that the output is split roughly equally between zero and one bits. The third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column shows the fraction of bits that match between adjacent blocks. If this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differs substantially from 0.5, that suggests a correlation between blocks,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be a security weakness. The results suggest no correlation.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24</a:t>
            </a:fld>
            <a:endParaRPr lang="en-A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7.3 shows the results using the same key and V  values for CTR mode.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Again, the results are favorable.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25</a:t>
            </a:fld>
            <a:endParaRPr lang="en-A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of the strongest (cryptographically speaking) PRNGs is specified in ANSI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X9.17. A number of applications employ this technique, including financial security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applications and PGP (the latter described in Chapter 19).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7.5 illustrates the algorithm, which makes use of triple DES for encryption.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ingredients are as follows.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Input:  Two pseudorandom inputs drive the generator. One is a 64-bit representation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current date and time, which is updated on each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generation. The other is a 64-bit seed value; this is initialized to some arbitrary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and is updated during the generation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Keys:  The generator makes use of three triple DES encryption modules.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three make use of the same pair of 56-bit keys, which must be kept secret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are used only for pseudorandom number generation.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Output: The output consists of a 64-bit pseudorandom number and a 64-bit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26</a:t>
            </a:fld>
            <a:endParaRPr lang="en-A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20F9B0-2854-C941-B1F6-A7DBB4F90621}" type="slidenum">
              <a:rPr lang="en-AU">
                <a:latin typeface="Arial" pitchFamily="-84" charset="0"/>
              </a:rPr>
              <a:pPr/>
              <a:t>27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7.5 illustrates the algorithm, which makes use of triple DES for encryption.</a:t>
            </a:r>
            <a:endParaRPr lang="en-US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We now look more closely at the details of the PRNG defined in NIST SP 800-90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based on the CTR mode of operation. The PRNG is referred to as CTR_DRBG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(counter mode–deterministic random bit generator). CTR_DRBG is widely implemented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is part of the hardware random number generator implemented on all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recent Intel processor chips (discussed in Section 7.6).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DRBG assumes that an entropy source is available to provide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bits. Typically, the entropy source will be a TRNG based on some physical source.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Other sources are possible if they meet the required entropy measure of the application.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Entropy is an information theoretic concept that measures unpredictability,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 randomness; see Appendix F for details. The encryption algorithm used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 may be 3DES with three keys or AES with a key size of 128, 192, or 256 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28</a:t>
            </a:fld>
            <a:endParaRPr lang="en-A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Four parameters are associated with the algorithm: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Output block length  (outlen ): Length of the output block of the encryption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Key length  (keylen ): Length of the encryption key.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Seed length  (seedlen ): The seed is a string of bits that is used as input to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DRBG mechanism. The seed will determine a portion of the internal state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DRBG, and its entropy must be sufficient to support the security strength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DRBG. seedlen  = outlen + keylen 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Reseed interval  (reseed_interval ): Length of the encryption key. It is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 of output blocks generated before updating the algorithm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new seed.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Table 7.4 lists the values specified in SP 800-90 for these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29</a:t>
            </a:fld>
            <a:endParaRPr lang="en-A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7.6 shows the two principal functions that comprise CTR_DRBG.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 first consider how CTR_DRBG is initialized, using the initialize and update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 (Figure 7.6a). Recall that the CTR block cipher mode requires both an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encryption key K  and an initial counter value, referred to in SP 800-90 as the counter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 . The combination of K  and V  is referred to as the seed . To start the DRGB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operation, initial values for K  and V  are needed, and can be chosen arbitrarily. As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example, the Intel Digital Random Number Generator, discussed in Section 7.6,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uses the values K =  0 and V =  0. These values are used as parameters for the CTR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 of operation to produce at least seedlen  bits. In addition, exactly seedlen  bits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must be supplied from what is referred to as an entropy source . Typically, the entropy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source would be some form of TRNG.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these inputs, the CTR mode of encryption is iterated to produce a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of output blocks, with V  incremented by 1 after each encryption. The process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continues until at least seedlen  bits have been generated. The leftmost seedlen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bits of output are then XORed with the seedlen  entropy bits to produce a new seed.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turn, the leftmost keylen  bits of the seed form the new key and the rightmost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outlen bits of the seed form the new counter value V 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Once values of Key and V  are obtained, the DRBG enters the generate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phase and is able to generate pseudorandom bits, one output block at a time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(Figure 7.6b). The encryption function is iterated to generate the number of pseudorandom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bits desired. Each iteration uses the same encryption key. The counter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value V  is incremented by 1 for each iteration.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enhance security, the number of bits generated by any PRNG should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limited. CTR_DRGB uses the parameter reseed_interval  to set that limit. During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generate phase, a reseed counter is initialized to 1 and then incremented with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each iteration (each production of an output block). When the reseed counter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reaches reseed_interval , the update function is invoked (Figure 7.6a). The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 is the same as the initialize function. In the update case the Key and V  values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last used by the generate function serve as the input parameters to the update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function. The update function takes seedlen  new bits from an entropy source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produces a new seed (Key, V ). The generate function can then resume production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pseudorandom bits. Note that the result of the update function is to change 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Key and V  values used by the generate function.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30</a:t>
            </a:fld>
            <a:endParaRPr lang="en-A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E2CE8-BDD8-AF46-BCFA-F424C32FD42B}" type="slidenum">
              <a:rPr lang="en-AU">
                <a:latin typeface="Arial" pitchFamily="-84" charset="0"/>
              </a:rPr>
              <a:pPr/>
              <a:t>31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typical stream cipher encrypts plaintext one byte at a time, although a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 may be designed to operate on one bit at a time or on units larger than a 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 a time. Figure 7.7 is a representative diagram of stream cipher structure. In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structure, a key is input to a pseudorandom bit generator that produces a stream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8-bit numbers that are apparently random. The output of the generator,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keystream , is combined one byte at a time with the plaintext stream using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bitwise exclusive-OR (XOR) operation.</a:t>
            </a:r>
            <a:endParaRPr lang="en-US" sz="1200" dirty="0" smtClean="0">
              <a:latin typeface="Arial" pitchFamily="-8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57DABF-6FCC-1647-961A-D1E91497B28E}" type="slidenum">
              <a:rPr lang="en-AU">
                <a:latin typeface="Arial" pitchFamily="-84" charset="0"/>
              </a:rPr>
              <a:pPr/>
              <a:t>32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stream cipher is similar to the one-time pad discussed in Chapter 2.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difference is that a one-time pad uses a genuine random number stream, whereas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 uses a pseudorandom number stream.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[KUMA97] lists the following important design considerations for a stream cipher.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encryption sequence should have a large period. A pseudorandom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generator uses a function that produces a deterministic stream of bits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eventually repeats. The longer the period of repeat the more difficult it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to do cryptanalysis. This is essentially the same consideration that was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reference to the Vigenère cipher, namely that the longer the keyword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more difficult the cryptanalysis.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keystream should approximate the properties of a true random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as close as possible. For example, there should be an approximately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equal number of 1s and 0s. If the keystream is treated as a stream of bytes,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then all of the 256 possible byte values should appear approximately equally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often. The more random-appearing the keystream is, the more randomized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ciphertext is, making cryptanalysis more difficult.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 Note from Figure 7.7 that the output of the pseudorandom number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conditioned on the value of the input key. To guard against brute-force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attacks, the key needs to be sufficiently long. The same considerations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apply to block ciphers are valid here. Thus, with current technology, a key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length of at least 128 bits is desirable.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a properly designed pseudorandom number generator, a stream cipher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can be as secure as a block cipher of comparable key length. A potential advantage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 stream cipher is that stream ciphers that do not use block ciphers as a building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 are typically faster and use far less code than do block ciphers. The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this chapter, RC4, can be implemented in just a few lines of code. In recent years,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advantage has diminished with the introduction of AES, which is quite efficient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software. Furthermore, hardware acceleration techniques are now available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AES. For example, the Intel AES Instruction Set has machine instructions for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round of encryption and decryption and key generation. Using the hardware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results in speedups of about an order of magnitude compared to pure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software implementations [XU10].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 advantage of a block cipher is that you can reuse keys. In contrast, if two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plaintexts are encrypted with the same key using a stream cipher, then cryptanalysis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often quite simple [DAWS96]. If the two ciphertext streams are XORed together,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result is the XOR of the original plaintexts. If the plaintexts are text strings,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credit card numbers, or other byte streams with known properties, then cryptanalysis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may be successful.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applications that require encryption/decryption of a stream of data,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over a data communications channel or a browser/Web link, a stream cipher might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be the better alternative. For applications that deal with blocks of data, such as file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transfer, e-mail, and database, block ciphers may be more appropriate.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either type of cipher can be used in virtually any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stream cipher can be constructed with any cryptographically strong PRNG,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the ones discussed in Sections 7.2 and 7.3. In the next section, we look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stream cipher that uses a PRNG designed specifically for the stream cipher.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6F59BA-7783-0143-BED9-BDD37BBB21F8}" type="slidenum">
              <a:rPr lang="en-AU">
                <a:latin typeface="Arial" pitchFamily="-84" charset="0"/>
              </a:rPr>
              <a:pPr/>
              <a:t>33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RC4 is a stream cipher designed in 1987 by Ron Rivest for RSA Security. It is a variable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size stream cipher with byte-oriented operations. The algorithm is based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 the use of a random permutation. Analysis shows that the period of the cipher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overwhelmingly likely to be greater than 10</a:t>
            </a:r>
            <a:r>
              <a:rPr lang="en-US" sz="1200" b="0" kern="1200" baseline="3000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100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 [ROBS95a]. Eight to sixteen machine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operations are required per output byte, and the cipher can be expected to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run very quickly in software. RC4 is used in the Secure Sockets Layer/Transport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Layer Security (SSL/TLS) standards that have been defined for communication between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Web browsers and servers. It is also used in the Wired Equivalent Privacy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(WEP) protocol and the newer WiFi Protected Access (WPA) protocol that are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part of the IEEE 802.11 wireless LAN standard. RC4 was kept as a trade secret by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RSA Security. In September 1994, the RC4 algorithm was anonymously posted 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Internet on the Cypherpunks anonymous remailers list.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RC4 algorithm is remarkably simple and quite easy to explain. A variable-length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key of from 1 to 256 bytes (8 to 2048 bits) is used to initialize a 256-byte state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vector S, with elements S[0], S[1], c , S[255]. At all times, S contains a permutation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all 8-bit numbers from 0 through 255. For encryption and decryption, a byte k  (see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7.7) is generated from S by selecting one of the 255 entries in a systematic</a:t>
            </a: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fashion. As each value of k  is generated, the entries in S are once again permuted.</a:t>
            </a:r>
            <a:endParaRPr lang="en-US" b="0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5AF9FE-FAAB-404B-9C6C-94022C2AF404}" type="slidenum">
              <a:rPr lang="en-AU">
                <a:latin typeface="Arial" pitchFamily="-84" charset="0"/>
              </a:rPr>
              <a:pPr/>
              <a:t>34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Figure 7.8 illustrates the RC4 logic.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F6375B-C00B-5D4B-A158-5BF2296F9DF6}" type="slidenum">
              <a:rPr lang="en-AU">
                <a:latin typeface="Arial" pitchFamily="-84" charset="0"/>
              </a:rPr>
              <a:pPr/>
              <a:t>35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number of papers have been published analyzing methods of attacking RC4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(e.g., [KNUD98], [FLUH00], [MANT01]). None of these approaches is practical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against RC4 with a reasonable key length, such as 128 bits. A more serious problem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reported in [FLUH01]. The authors demonstrate that the WEP protocol,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intended to provide confidentiality on 802.11 wireless LAN networks, is vulnerable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a particular attack approach. In essence, the problem is not with RC4 itself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but the way in which keys are generated for use as input to RC4. This particular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problem does not appear to be relevant to other applications using RC4 and can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remedied in WEP by changing the way in which keys are generated. This problem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points out the difficulty in designing a secure system that involves both cryptographic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functions and protocols that make use of them.</a:t>
            </a:r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true random number generator (TRNG) uses a nondeterministic source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randomness. Most operate by measuring unpredictable natural processes,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pulse detectors of ionizing radiation events, gas discharge tubes,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leaky capacitors. Intel has developed a commercially available chip that samples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thermal noise by amplifying the voltage measured across undriven resistors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[JUN99]. LavaRnd is an open source project for creating truly random numbers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using inexpensive cameras, open source code, and inexpensive hardware.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uses a saturated CCD in a light-tight can as a chaotic source to produce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seed. Software processes the result into truly random numbers in a variety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formats.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36</a:t>
            </a:fld>
            <a:endParaRPr lang="en-A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RFC 4086 lists the following possible sources of randomness that, with care,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easily can be used on a computer to generate true random sequences.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Sound/video input:  Many computers are built with inputs that digitize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real-world analog source, such as sound from a microphone or video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a camera. The “input” from a sound digitizer with no source plugged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or from a camera with the lens cap on is essentially thermal noise.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system has enough gain to detect anything, such input can provide reasonably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high quality random bits.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• Disk drives:  Disk drives have small random fluctuations in their rotational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speed due to chaotic air turbulence [JAKO98]. The addition of low-level disk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seek-time instrumentation produces a series of measurements that contain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randomness. Such data is usually highly correlated, so significant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is needed. Nevertheless, experimentation a decade ago showed that,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processing, even slow disk drives on the slower computers of that day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easily produce 100 bits a minute or more of excellent random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There is also an online service (random.org), which can deliver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sequences securely over the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37</a:t>
            </a:fld>
            <a:endParaRPr lang="en-A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Table 7.5 summarizes the principal differences between PRNGs and TRNGs.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PRNGs are efficient, meaning they can produce many numbers in a short time,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deterministic, meaning that a given sequence of numbers can be reproduced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later date if the starting point in the sequence is known. Efficiency is a nice characteristic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if your application needs many numbers, and determinism is handy if you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need to replay the same sequence of numbers again at a later stage. PRNGs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typically also periodic, which means that the sequence will eventually repeat itself.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While periodicity is hardly ever a desirable characteristic, modern PRNGs have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period that is so long that it can be ignored for most practical purposes.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TRNGs are generally rather inefficient compared to PRNGs, taking considerably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longer time to produce numbers. This presents a difficulty in many applications.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example, cryptography system in banking or national security might need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generate millions of random bits per second. TRNGs are also nondeterministic,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meaning that a given sequence of numbers cannot be reproduced, although the same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sequence may of course occur several times by chance. TRNGs have no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38</a:t>
            </a:fld>
            <a:endParaRPr lang="en-A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 TRNG may produce an output that is biased in some way, such as having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ones than zeros or vice versa. Various methods of modifying a bit stream to reduce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or eliminate the bias have been developed. These are referred to as deskewing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algorithms . One approach to deskew is to pass the bit stream through a hash function,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such as MD5 or SHA-1 (described in Chapter 11). The hash function produces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 -bit output from an input of arbitrary length. For deskewing, blocks of m  input bits,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m ≥ n , can be passed through the hash function. RFC 4086 recommends collecting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 from multiple hardware sources and then mixing these using a hash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produce random output.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Operating systems typically provide a built-in mechanism for generating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numbers. For example, Linux uses four entropy sources: mouse and keyboard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activity, disk I/O operations, and specific interrupts. Bits are generated from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four sources and combined in a pooled buffer. When random bits are needed,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appropriate number of bits are read from the buffer and passed through the SHA-1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hash function [GUTT06].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39</a:t>
            </a:fld>
            <a:endParaRPr lang="en-A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was mentioned, TRNGs have traditionally been used only for key generation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and other applications where only a small number of random bits were required.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is because TRNGs have generally been inefficient, with a low bit rate of random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bit production.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first commercially available TRNG that achieves bit production rates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comparable with that of PRNGs is the Intel digital random number generator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(DRNG) [TAYL11], offered on new multicore chips since May 2012.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notable aspects of the DRNG: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It is implemented entirely in hardware. This provides greater security than a facility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includes a software component. A hardware-only implementation should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also be able to achieve greater computation speed than a software module.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entire DRNG is on the same multicore chip as the processors. This eliminates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I/O delays found in other hardware random number generators.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40</a:t>
            </a:fld>
            <a:endParaRPr lang="en-A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7.9 shows the overall structure of the DRNG. The first stage of the DRNG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generates random numbers from thermal noise. The heart of the stage consists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inverters (NOT gates), with the output of each inverter connected to the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of the other. Such an arrangement has two stable states, with one inverter having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 of logical 1 and the other having an output of logical 0. The circuit is then configured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 that both inverters are forced to have the same indeterminate state (both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inputs and both outputs at logical 1) by clock pulses. Random thermal noise within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inverters soon jostles the two inverters into a mutually stable state.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circuitry is intended to compensate for any biases or correlations. This stage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capable, with current hardware, of generating random bits at a rate of 4 Gbps.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first stage is generated 512 bits at a time. To assure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bit stream does not have skew or bias, a second stage of processing randomizes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its input using a cryptographic function. In this case, the function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CBC-MAC or CMAC, as specified in NIST SP 800-38B. In essence, CMAC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encrypts its input using the cipher block chaining (CBC) mode (Figure 6.4)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outputs the final block. We examine CMAC in detail in Chapters 12. The output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this stage is generated 256 bits at a time and is intended to exhibit true randomness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no skew or bias.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While the hardware’s circuitry generates random numbers from thermal noise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much more quickly than its predecessors, it’s still not fast enough for some of today’s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computing requirements. To enable the DRNG to generate random numbers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as quickly as software PRNG, and also maintain the high quality of the random numbers,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third stage is added. This stage uses the 256-bit random numbers to seed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 cryptographically secure PRNG that creates 128-bit numbers. From one 256-bit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seed, the PRNG can output many pseudorandom numbers, exceeding the 3-Gbps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rate of the entropy source. An upper bound of 511 128-bit samples can be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per seed. The algorithm used for this stage is CTR_DRBG, described in Section 7.3.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DRNG is available to each of the cores on the chip via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RDRAND instruction. RDRAND retrieves a 16-, 32-, or 64-bit random value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makes it available in a software-accessible register.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Preliminary data from a pre-production sample on a system with a third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generation Intel® Core™ family processor produced the following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[INTE12]: up to 70 million RDRAND invocations per second, and a random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production rate of over 4 Gbps.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41</a:t>
            </a:fld>
            <a:endParaRPr lang="en-A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Figure 7. 10 provides a simplified view of the logical flow of the Intel DRNG. As was described,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heart of the hardware entropy source is a pair of inverters that feed each other.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Two transistors, driven by the same clock, force the inputs and outputs of both inverters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logical 1 state. Because this an unstable state, thermal noise will cause the configuration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to settle randomly into a stable state with either Node A at logical 1 and Node B 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logical 0, or the reverse. Thus the module generates random bits at the clock rate.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entropy source is collected 512 bits at a time and used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feed to two CBC hardware implementations using AES encryption. Each implementation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takes two blocks of 128 bits of “plaintext” and encrypts using the CBC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mode. The output of the second encryption is retained. For both CBC modules,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all-zeros key is used initially. Subsequently, the output of the PRNG stage is fed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back to become the key for the conditioner stage.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output of the conditioner stage consists of 256 bits. This block is provided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as input to the update function of the PRNG stage. The update function is initialized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 the all-zeros key and the counter value 0. The function is iterated twice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produce a 256-bit block, which is then XORed with the input from the conditioner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stage. The results are used as the 128-bit key and the 128-bit seed for the generate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function. The generate function produces pseudorandom bits in 128-bit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16DA7F-D295-D64F-8BDF-D26BF0159656}" type="slidenum">
              <a:rPr lang="en-AU" smtClean="0"/>
              <a:pPr>
                <a:defRPr/>
              </a:pPr>
              <a:t>42</a:t>
            </a:fld>
            <a:endParaRPr lang="en-A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04227B-0D45-634C-B0F1-92C4B4963907}" type="slidenum">
              <a:rPr lang="en-AU">
                <a:latin typeface="Arial" pitchFamily="-84" charset="0"/>
              </a:rPr>
              <a:pPr/>
              <a:t>43</a:t>
            </a:fld>
            <a:endParaRPr lang="en-AU" dirty="0">
              <a:latin typeface="Arial" pitchFamily="-8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Chapter</a:t>
            </a:r>
            <a:r>
              <a:rPr lang="en-US" dirty="0" smtClean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7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summary.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00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1175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11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4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83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1240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8666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8833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86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4801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with Pictu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200" y="3693645"/>
            <a:ext cx="5446713" cy="1470025"/>
          </a:xfrm>
        </p:spPr>
        <p:txBody>
          <a:bodyPr anchor="b"/>
          <a:lstStyle>
            <a:lvl1pPr>
              <a:lnSpc>
                <a:spcPts val="6800"/>
              </a:lnSpc>
              <a:defRPr sz="65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4200" y="5204011"/>
            <a:ext cx="5446713" cy="85164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3307977" y="950260"/>
            <a:ext cx="2528046" cy="2528046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</a:ln>
          <a:effectLst>
            <a:innerShdw blurRad="762000">
              <a:schemeClr val="accent1">
                <a:alpha val="80000"/>
              </a:schemeClr>
            </a:innerShdw>
            <a:softEdge rad="317500"/>
          </a:effectLst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2400"/>
              </a:spcBef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 dirty="0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52578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17526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00775"/>
            <a:ext cx="91440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 descr="UW_Logo_1L_horz.jp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269038"/>
            <a:ext cx="2301875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pic>
        <p:nvPicPr>
          <p:cNvPr id="1028" name="Picture 6" descr="UWindsor powerpoint bottom1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5305"/>
            <a:ext cx="9144000" cy="69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61" y="6216757"/>
            <a:ext cx="655494" cy="396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536" y="648866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Vietnam</a:t>
            </a:r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 – Korea University </a:t>
            </a:r>
          </a:p>
          <a:p>
            <a:r>
              <a:rPr lang="en-US" sz="9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inux Biolinum" panose="02000503000000000000" pitchFamily="2" charset="0"/>
                <a:cs typeface="Linux Biolinum" panose="02000503000000000000" pitchFamily="2" charset="0"/>
              </a:rPr>
              <a:t>of Information and Communication Technology</a:t>
            </a:r>
            <a:endParaRPr lang="en-US" sz="900" dirty="0">
              <a:solidFill>
                <a:schemeClr val="tx1"/>
              </a:solidFill>
              <a:latin typeface="Arial Narrow" panose="020B0606020202030204" pitchFamily="34" charset="0"/>
              <a:ea typeface="Linux Biolinum" panose="02000503000000000000" pitchFamily="2" charset="0"/>
              <a:cs typeface="Linux Biolinum" panose="02000503000000000000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wmf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andom.org/" TargetMode="External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d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d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d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ea typeface="+mj-ea"/>
                <a:cs typeface="+mj-cs"/>
              </a:rPr>
              <a:t>Cryptography and Network Security</a:t>
            </a:r>
            <a:endParaRPr lang="en-AU" dirty="0">
              <a:ea typeface="+mj-ea"/>
              <a:cs typeface="+mj-cs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itchFamily="-84" charset="2"/>
              <a:buNone/>
            </a:pPr>
            <a:r>
              <a:rPr lang="en-US" smtClean="0"/>
              <a:t>Sixth Edition</a:t>
            </a:r>
          </a:p>
          <a:p>
            <a:pPr eaLnBrk="1" hangingPunct="1">
              <a:buFont typeface="Wingdings" pitchFamily="-84" charset="2"/>
              <a:buNone/>
            </a:pPr>
            <a:r>
              <a:rPr lang="en-US" smtClean="0"/>
              <a:t>by William Stallings	</a:t>
            </a:r>
          </a:p>
          <a:p>
            <a:pPr eaLnBrk="1" hangingPunct="1">
              <a:buFont typeface="Wingdings" pitchFamily="-84" charset="2"/>
              <a:buNone/>
            </a:pPr>
            <a:endParaRPr lang="en-US" smtClean="0"/>
          </a:p>
        </p:txBody>
      </p:sp>
      <p:pic>
        <p:nvPicPr>
          <p:cNvPr id="5" name="Picture Placeholder 4" descr="crypto.jpg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>
          <a:xfrm>
            <a:off x="3581400" y="1447800"/>
            <a:ext cx="2109547" cy="1209027"/>
          </a:xfrm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ctrTitle"/>
          </p:nvPr>
        </p:nvSpPr>
        <p:spPr>
          <a:xfrm>
            <a:off x="1835696" y="2996952"/>
            <a:ext cx="5446713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Chapter </a:t>
            </a:r>
            <a:r>
              <a:rPr lang="en-US" dirty="0" smtClean="0">
                <a:ea typeface="+mj-ea"/>
                <a:cs typeface="+mj-cs"/>
              </a:rPr>
              <a:t>8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18435" name="Subtitle 13"/>
          <p:cNvSpPr>
            <a:spLocks noGrp="1"/>
          </p:cNvSpPr>
          <p:nvPr>
            <p:ph type="subTitle" idx="1"/>
          </p:nvPr>
        </p:nvSpPr>
        <p:spPr>
          <a:xfrm>
            <a:off x="1187624" y="4506663"/>
            <a:ext cx="6696744" cy="134937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600" dirty="0" smtClean="0"/>
              <a:t>Pseudorandom Number Generation and Stream Ciphers</a:t>
            </a:r>
          </a:p>
        </p:txBody>
      </p:sp>
      <p:pic>
        <p:nvPicPr>
          <p:cNvPr id="4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81400" y="1447800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426969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8: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Principles </a:t>
            </a:r>
            <a:r>
              <a:rPr lang="en-US" sz="2800" dirty="0"/>
              <a:t>of Pseudorandom Number Generation</a:t>
            </a:r>
          </a:p>
          <a:p>
            <a:r>
              <a:rPr lang="en-US" sz="2800" dirty="0" smtClean="0"/>
              <a:t>Pseudorandom </a:t>
            </a:r>
            <a:r>
              <a:rPr lang="en-US" sz="2800" dirty="0"/>
              <a:t>Number Generators</a:t>
            </a:r>
          </a:p>
          <a:p>
            <a:r>
              <a:rPr lang="en-US" sz="2800" dirty="0" smtClean="0"/>
              <a:t>Pseudorandom </a:t>
            </a:r>
            <a:r>
              <a:rPr lang="en-US" sz="2800" dirty="0"/>
              <a:t>Number Generation Using a Block Cipher</a:t>
            </a:r>
          </a:p>
          <a:p>
            <a:r>
              <a:rPr lang="en-US" sz="2800" dirty="0" smtClean="0"/>
              <a:t>Stream </a:t>
            </a:r>
            <a:r>
              <a:rPr lang="en-US" sz="2800" dirty="0"/>
              <a:t>Ciphers</a:t>
            </a:r>
          </a:p>
          <a:p>
            <a:r>
              <a:rPr lang="en-US" sz="2800" dirty="0" smtClean="0"/>
              <a:t>RC4</a:t>
            </a:r>
            <a:endParaRPr lang="en-US" sz="2800" dirty="0"/>
          </a:p>
          <a:p>
            <a:r>
              <a:rPr lang="en-US" sz="2800" dirty="0" smtClean="0"/>
              <a:t>True </a:t>
            </a:r>
            <a:r>
              <a:rPr lang="en-US" sz="2800" dirty="0"/>
              <a:t>Random Number </a:t>
            </a:r>
            <a:r>
              <a:rPr lang="en-US" sz="2800" dirty="0" smtClean="0"/>
              <a:t>Generators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4692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AU" dirty="0" smtClean="0"/>
              <a:t>Random Numbers</a:t>
            </a:r>
            <a:endParaRPr lang="en-AU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124744"/>
            <a:ext cx="7570787" cy="2895600"/>
          </a:xfrm>
        </p:spPr>
        <p:txBody>
          <a:bodyPr>
            <a:normAutofit fontScale="70000" lnSpcReduction="20000"/>
          </a:bodyPr>
          <a:lstStyle/>
          <a:p>
            <a:r>
              <a:rPr lang="en-AU" dirty="0" smtClean="0"/>
              <a:t>A number of network security algorithms and protocols based on cryptography make use of random binary numbers:</a:t>
            </a:r>
          </a:p>
          <a:p>
            <a:pPr lvl="1"/>
            <a:r>
              <a:rPr lang="en-AU" dirty="0" smtClean="0"/>
              <a:t>Key distribution and reciprocal authentication schemes</a:t>
            </a:r>
          </a:p>
          <a:p>
            <a:pPr lvl="1"/>
            <a:r>
              <a:rPr lang="en-AU" dirty="0" smtClean="0"/>
              <a:t>Session key generation</a:t>
            </a:r>
          </a:p>
          <a:p>
            <a:pPr lvl="1"/>
            <a:r>
              <a:rPr lang="en-AU" dirty="0" smtClean="0"/>
              <a:t>Generation of keys for the RSA public-key encryption algorithm</a:t>
            </a:r>
          </a:p>
          <a:p>
            <a:pPr lvl="1"/>
            <a:r>
              <a:rPr lang="en-AU" dirty="0" smtClean="0"/>
              <a:t>Generation of a bit stream for symmetric stream encryption</a:t>
            </a:r>
          </a:p>
          <a:p>
            <a:endParaRPr lang="en-AU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507838136"/>
              </p:ext>
            </p:extLst>
          </p:nvPr>
        </p:nvGraphicFramePr>
        <p:xfrm>
          <a:off x="1043608" y="3717032"/>
          <a:ext cx="7239000" cy="218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33695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Randomness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600" y="1268760"/>
            <a:ext cx="7570787" cy="463867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The generation of a sequence of allegedly random numbers being random in some well-defined statistical sense has been a concern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788328557"/>
              </p:ext>
            </p:extLst>
          </p:nvPr>
        </p:nvGraphicFramePr>
        <p:xfrm>
          <a:off x="3059832" y="3140968"/>
          <a:ext cx="5638800" cy="287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1934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Unpredictability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268760"/>
            <a:ext cx="7786811" cy="48672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requirement is not just that the sequence of numbers be statistically random, but that the successive members of the sequence are unpredictable</a:t>
            </a:r>
          </a:p>
          <a:p>
            <a:r>
              <a:rPr lang="en-US" dirty="0" smtClean="0"/>
              <a:t>With “true” random sequences each number is statistically independent of other numbers in the sequence and therefore unpredictable</a:t>
            </a:r>
          </a:p>
          <a:p>
            <a:pPr lvl="1"/>
            <a:r>
              <a:rPr lang="en-US" dirty="0" smtClean="0"/>
              <a:t>True random numbers have their limitations, such as inefficiency, so it is more common to implement algorithms that generate sequences of numbers that appear to be random</a:t>
            </a:r>
          </a:p>
          <a:p>
            <a:pPr lvl="1"/>
            <a:r>
              <a:rPr lang="en-US" dirty="0" smtClean="0"/>
              <a:t>Care must be taken that an opponent not be able to predict future elements of the sequence on the basis of earlier elements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703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AU" dirty="0" smtClean="0"/>
              <a:t>Pseudorandom Numbers</a:t>
            </a:r>
            <a:endParaRPr lang="en-AU" dirty="0"/>
          </a:p>
        </p:txBody>
      </p:sp>
      <p:sp>
        <p:nvSpPr>
          <p:cNvPr id="63491" name="Rectangle 1027"/>
          <p:cNvSpPr>
            <a:spLocks noGrp="1" noChangeArrowheads="1"/>
          </p:cNvSpPr>
          <p:nvPr>
            <p:ph idx="1"/>
          </p:nvPr>
        </p:nvSpPr>
        <p:spPr>
          <a:xfrm>
            <a:off x="827584" y="1196752"/>
            <a:ext cx="7570787" cy="4562475"/>
          </a:xfrm>
        </p:spPr>
        <p:txBody>
          <a:bodyPr/>
          <a:lstStyle/>
          <a:p>
            <a:r>
              <a:rPr lang="en-US" sz="2800" dirty="0" smtClean="0"/>
              <a:t>Cryptographic applications typically make use of algorithmic techniques for random number generation</a:t>
            </a:r>
          </a:p>
          <a:p>
            <a:r>
              <a:rPr lang="en-US" sz="2800" dirty="0" smtClean="0"/>
              <a:t>These algorithms are deterministic and therefore produce sequences of numbers that are not statistically random</a:t>
            </a:r>
          </a:p>
          <a:p>
            <a:r>
              <a:rPr lang="en-US" sz="2800" dirty="0" smtClean="0"/>
              <a:t>If the algorithm is good, the resulting sequences will pass many tests of randomness and are referred to as </a:t>
            </a:r>
            <a:r>
              <a:rPr lang="en-US" sz="2800" i="1" dirty="0" smtClean="0"/>
              <a:t>pseudorandom numbers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07952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True Random Number Generator (TRNG)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7148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Takes as input a source that is effectively random</a:t>
            </a:r>
          </a:p>
          <a:p>
            <a:r>
              <a:rPr lang="en-US" dirty="0" smtClean="0"/>
              <a:t>The source is referred to as an </a:t>
            </a:r>
            <a:r>
              <a:rPr lang="en-US" i="1" dirty="0" smtClean="0"/>
              <a:t>entropy source </a:t>
            </a:r>
            <a:r>
              <a:rPr lang="en-US" dirty="0" smtClean="0"/>
              <a:t>and is drawn from the physical environment of the computer</a:t>
            </a:r>
          </a:p>
          <a:p>
            <a:pPr lvl="1"/>
            <a:r>
              <a:rPr lang="en-US" dirty="0" smtClean="0"/>
              <a:t>Includes things such as keystroke timing patterns, disk electrical activity, mouse movements, and instantaneous values of the system clock</a:t>
            </a:r>
          </a:p>
          <a:p>
            <a:pPr lvl="1"/>
            <a:r>
              <a:rPr lang="en-US" dirty="0" smtClean="0"/>
              <a:t>The source, or combination of sources, serve as input to an algorithm that produces random binary output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The TRNG may simply involve conversion of an analog source to a binary output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The TRNG may involve additional processing to overcome any bias in the source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9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706090"/>
          </a:xfrm>
        </p:spPr>
        <p:txBody>
          <a:bodyPr/>
          <a:lstStyle/>
          <a:p>
            <a:r>
              <a:rPr lang="en-AU" sz="3200" dirty="0" smtClean="0"/>
              <a:t>Pseudorandom Number Generator (PRNG)</a:t>
            </a:r>
            <a:endParaRPr lang="en-US" sz="32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980728"/>
            <a:ext cx="3566160" cy="4716016"/>
          </a:xfrm>
        </p:spPr>
        <p:txBody>
          <a:bodyPr>
            <a:noAutofit/>
          </a:bodyPr>
          <a:lstStyle/>
          <a:p>
            <a:r>
              <a:rPr lang="en-US" sz="1800" dirty="0" smtClean="0"/>
              <a:t>Takes as input a fixed value, called the </a:t>
            </a:r>
            <a:r>
              <a:rPr lang="en-US" sz="1800" i="1" dirty="0" smtClean="0"/>
              <a:t>seed, </a:t>
            </a:r>
            <a:r>
              <a:rPr lang="en-US" sz="1800" dirty="0" smtClean="0"/>
              <a:t>and produces a sequence of output bits using a deterministic algorithm</a:t>
            </a:r>
          </a:p>
          <a:p>
            <a:pPr lvl="1"/>
            <a:r>
              <a:rPr lang="en-US" sz="1600" dirty="0" smtClean="0"/>
              <a:t>Quite often the seed is generated by a TRNG</a:t>
            </a:r>
          </a:p>
          <a:p>
            <a:r>
              <a:rPr lang="en-US" sz="1800" dirty="0" smtClean="0"/>
              <a:t>The output bit stream is determined solely by the input value or values, so an adversary who knows the algorithm and the seed can reproduce the entire bit stream</a:t>
            </a:r>
          </a:p>
          <a:p>
            <a:r>
              <a:rPr lang="en-US" sz="1800" dirty="0" smtClean="0">
                <a:cs typeface="ＭＳ Ｐゴシック" pitchFamily="-84" charset="-128"/>
              </a:rPr>
              <a:t>Other than the number of bits produced there is no difference between a PRNG and a PRF</a:t>
            </a:r>
          </a:p>
          <a:p>
            <a:endParaRPr lang="en-US" sz="1800" dirty="0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7847891"/>
              </p:ext>
            </p:extLst>
          </p:nvPr>
        </p:nvGraphicFramePr>
        <p:xfrm>
          <a:off x="4800600" y="1196752"/>
          <a:ext cx="3995737" cy="47021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833937" y="1479327"/>
            <a:ext cx="34290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Two different forms of PRNG</a:t>
            </a:r>
          </a:p>
        </p:txBody>
      </p:sp>
    </p:spTree>
    <p:extLst>
      <p:ext uri="{BB962C8B-B14F-4D97-AF65-F5344CB8AC3E}">
        <p14:creationId xmlns:p14="http://schemas.microsoft.com/office/powerpoint/2010/main" val="3585981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4706" t="14545" r="3529" b="29091"/>
              <a:stretch>
                <a:fillRect/>
              </a:stretch>
            </p:blipFill>
          </mc:Choice>
          <mc:Fallback>
            <p:blipFill>
              <a:blip r:embed="rId4"/>
              <a:srcRect l="4706" t="14545" r="3529" b="29091"/>
              <a:stretch>
                <a:fillRect/>
              </a:stretch>
            </p:blipFill>
          </mc:Fallback>
        </mc:AlternateContent>
        <p:spPr>
          <a:xfrm>
            <a:off x="381000" y="0"/>
            <a:ext cx="8627824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783635"/>
      </p:ext>
    </p:extLst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PRNG Requirements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27584" y="1268760"/>
            <a:ext cx="7570787" cy="4562475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basic requirement when a PRNG or PRF is used for a cryptographic application is that an adversary who does not know the seed is unable to determine the pseudorandom string</a:t>
            </a:r>
          </a:p>
          <a:p>
            <a:r>
              <a:rPr lang="en-US" sz="2400" dirty="0" smtClean="0"/>
              <a:t>The requirement for secrecy of the output of a PRNG or PRF leads to specific requirements in the areas of:</a:t>
            </a:r>
          </a:p>
          <a:p>
            <a:pPr lvl="1"/>
            <a:r>
              <a:rPr lang="en-US" sz="2000" dirty="0" smtClean="0"/>
              <a:t>Randomness</a:t>
            </a:r>
          </a:p>
          <a:p>
            <a:pPr lvl="1"/>
            <a:r>
              <a:rPr lang="en-US" sz="2000" dirty="0" smtClean="0"/>
              <a:t>Unpredictability</a:t>
            </a:r>
          </a:p>
          <a:p>
            <a:pPr lvl="1"/>
            <a:r>
              <a:rPr lang="en-US" sz="2000" dirty="0" smtClean="0"/>
              <a:t>Characteristics of the seed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648200"/>
            <a:ext cx="2152674" cy="194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Randomness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240025"/>
            <a:ext cx="7570787" cy="47910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The generated bit stream needs to appear random even though it is deterministic</a:t>
            </a:r>
          </a:p>
          <a:p>
            <a:r>
              <a:rPr lang="en-US" dirty="0" smtClean="0"/>
              <a:t>There is no single test that can determine if a PRNG generates numbers that have the characteristic of randomness</a:t>
            </a:r>
          </a:p>
          <a:p>
            <a:pPr lvl="1"/>
            <a:r>
              <a:rPr lang="en-US" dirty="0" smtClean="0"/>
              <a:t>If the PRNG exhibits randomness on the basis of multiple tests, then it can be assumed to satisfy the randomness requirement</a:t>
            </a:r>
          </a:p>
          <a:p>
            <a:r>
              <a:rPr lang="en-US" dirty="0" smtClean="0"/>
              <a:t>NIST SP 800-22 specifies that the tests should seek to establish three characteristics:</a:t>
            </a:r>
          </a:p>
          <a:p>
            <a:pPr lvl="1"/>
            <a:r>
              <a:rPr lang="en-US" dirty="0" smtClean="0"/>
              <a:t>Uniformity</a:t>
            </a:r>
          </a:p>
          <a:p>
            <a:pPr lvl="1"/>
            <a:r>
              <a:rPr lang="en-US" dirty="0" smtClean="0"/>
              <a:t>Scalability</a:t>
            </a:r>
          </a:p>
          <a:p>
            <a:pPr lvl="1"/>
            <a:r>
              <a:rPr lang="en-US" dirty="0" smtClean="0"/>
              <a:t>Consistency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5334000"/>
            <a:ext cx="1357313" cy="135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Randomness Tests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3505200" cy="990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SP 800-22 lists 15 separate tests of randomness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752053397"/>
              </p:ext>
            </p:extLst>
          </p:nvPr>
        </p:nvGraphicFramePr>
        <p:xfrm>
          <a:off x="1676400" y="2057400"/>
          <a:ext cx="72390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1005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Unpredictability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124744"/>
            <a:ext cx="7570787" cy="49434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 stream of pseudorandom numbers should exhibit two forms of unpredictability:</a:t>
            </a:r>
          </a:p>
          <a:p>
            <a:r>
              <a:rPr lang="en-US" dirty="0" smtClean="0"/>
              <a:t>Forward unpredictability</a:t>
            </a:r>
          </a:p>
          <a:p>
            <a:pPr lvl="1"/>
            <a:r>
              <a:rPr lang="en-US" dirty="0" smtClean="0"/>
              <a:t>If the seed is unknown, the next output bit in the sequence should be unpredictable in spite of any knowledge of previous bits in the sequence</a:t>
            </a:r>
          </a:p>
          <a:p>
            <a:r>
              <a:rPr lang="en-US" dirty="0" smtClean="0"/>
              <a:t>Backward unpredictability</a:t>
            </a:r>
          </a:p>
          <a:p>
            <a:pPr lvl="1"/>
            <a:r>
              <a:rPr lang="en-US" dirty="0" smtClean="0"/>
              <a:t>It should not be feasible to determine the seed from knowledge of any generated values.  No correlation between a seed and any value generated from that seed should be evident; each element of the sequence should appear to be the outcome of an independent random event whose probability is 1/2</a:t>
            </a:r>
          </a:p>
          <a:p>
            <a:r>
              <a:rPr lang="en-US" dirty="0" smtClean="0"/>
              <a:t>The same set of tests for randomness also provides a test of unpredictability</a:t>
            </a:r>
          </a:p>
          <a:p>
            <a:pPr lvl="1"/>
            <a:r>
              <a:rPr lang="en-US" dirty="0" smtClean="0"/>
              <a:t>A random sequence will have no correlation with a fixed value (the seed)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9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Seed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seed that serves as input to the PRNG must be secure and unpredictable</a:t>
            </a:r>
          </a:p>
          <a:p>
            <a:r>
              <a:rPr lang="en-US" dirty="0" smtClean="0"/>
              <a:t>The seed itself must be a random or pseudorandom number</a:t>
            </a:r>
          </a:p>
          <a:p>
            <a:r>
              <a:rPr lang="en-US" dirty="0" smtClean="0"/>
              <a:t>Typically the seed is generated by TRNG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800600"/>
            <a:ext cx="1512887" cy="180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1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8824" t="4545" r="18824" b="9091"/>
              <a:stretch>
                <a:fillRect/>
              </a:stretch>
            </p:blipFill>
          </mc:Choice>
          <mc:Fallback>
            <p:blipFill>
              <a:blip r:embed="rId4"/>
              <a:srcRect l="18824" t="4545" r="18824" b="9091"/>
              <a:stretch>
                <a:fillRect/>
              </a:stretch>
            </p:blipFill>
          </mc:Fallback>
        </mc:AlternateContent>
        <p:spPr>
          <a:xfrm>
            <a:off x="4724400" y="-4861"/>
            <a:ext cx="3828761" cy="6862861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457200"/>
            <a:ext cx="3612776" cy="2323728"/>
          </a:xfrm>
        </p:spPr>
        <p:txBody>
          <a:bodyPr/>
          <a:lstStyle/>
          <a:p>
            <a:pPr algn="ctr"/>
            <a:r>
              <a:rPr lang="en-US" dirty="0" smtClean="0"/>
              <a:t>Generation of Seed Input </a:t>
            </a:r>
            <a:br>
              <a:rPr lang="en-US" dirty="0" smtClean="0"/>
            </a:br>
            <a:r>
              <a:rPr lang="en-US" dirty="0" smtClean="0"/>
              <a:t>to PRNG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078732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Algorithm Design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27584" y="1196752"/>
            <a:ext cx="7570787" cy="334327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Algorithms fall into two categories:</a:t>
            </a:r>
          </a:p>
          <a:p>
            <a:pPr lvl="1"/>
            <a:r>
              <a:rPr lang="en-US" sz="2400" dirty="0" smtClean="0"/>
              <a:t>Purpose-built algorithms</a:t>
            </a:r>
          </a:p>
          <a:p>
            <a:pPr lvl="2"/>
            <a:r>
              <a:rPr lang="en-US" sz="2000" dirty="0" smtClean="0"/>
              <a:t>Algorithms designed specifically and solely for the purpose of generating pseudorandom bit streams</a:t>
            </a:r>
          </a:p>
          <a:p>
            <a:pPr lvl="1"/>
            <a:r>
              <a:rPr lang="en-US" sz="2400" dirty="0" smtClean="0"/>
              <a:t>Algorithms based on existing cryptographic algorithms</a:t>
            </a:r>
          </a:p>
          <a:p>
            <a:pPr lvl="2"/>
            <a:r>
              <a:rPr lang="en-US" sz="2000" dirty="0" smtClean="0"/>
              <a:t>Have the effect of randomizing input data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30346297"/>
              </p:ext>
            </p:extLst>
          </p:nvPr>
        </p:nvGraphicFramePr>
        <p:xfrm>
          <a:off x="1835696" y="4293096"/>
          <a:ext cx="6019800" cy="172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5803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39689"/>
            <a:ext cx="9143999" cy="941040"/>
          </a:xfrm>
        </p:spPr>
        <p:txBody>
          <a:bodyPr/>
          <a:lstStyle/>
          <a:p>
            <a:r>
              <a:rPr lang="en-AU" dirty="0" smtClean="0"/>
              <a:t>Linear Congruential Generator</a:t>
            </a:r>
            <a:endParaRPr lang="en-AU" dirty="0"/>
          </a:p>
        </p:txBody>
      </p:sp>
      <p:sp>
        <p:nvSpPr>
          <p:cNvPr id="64515" name="Rectangle 1027"/>
          <p:cNvSpPr>
            <a:spLocks noGrp="1" noChangeArrowheads="1"/>
          </p:cNvSpPr>
          <p:nvPr>
            <p:ph idx="1"/>
          </p:nvPr>
        </p:nvSpPr>
        <p:spPr>
          <a:xfrm>
            <a:off x="827584" y="1196752"/>
            <a:ext cx="7570787" cy="4562475"/>
          </a:xfrm>
        </p:spPr>
        <p:txBody>
          <a:bodyPr>
            <a:normAutofit fontScale="62500" lnSpcReduction="20000"/>
          </a:bodyPr>
          <a:lstStyle/>
          <a:p>
            <a:pPr>
              <a:spcBef>
                <a:spcPts val="600"/>
              </a:spcBef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An algorithm first proposed by Lehmer that is parameterized with four numbers: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modulus  			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&gt; 0</a:t>
            </a:r>
          </a:p>
          <a:p>
            <a:pPr>
              <a:spcBef>
                <a:spcPts val="600"/>
              </a:spcBef>
              <a:buNone/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	the multiplier 			0 &lt;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a&lt; m</a:t>
            </a:r>
          </a:p>
          <a:p>
            <a:pPr>
              <a:spcBef>
                <a:spcPts val="600"/>
              </a:spcBef>
              <a:buNone/>
            </a:pP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increment 			0≤ c &lt;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X</a:t>
            </a:r>
            <a:r>
              <a:rPr lang="en-US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	the starting value, or seed 	0 ≤ X</a:t>
            </a:r>
            <a:r>
              <a:rPr lang="en-US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&lt;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</a:p>
          <a:p>
            <a:pPr>
              <a:spcBef>
                <a:spcPts val="600"/>
              </a:spcBef>
              <a:buNone/>
            </a:pPr>
            <a:endParaRPr lang="en-US" i="1" dirty="0" smtClean="0">
              <a:ea typeface="Arial" pitchFamily="-84" charset="0"/>
              <a:cs typeface="Arial" pitchFamily="-84" charset="0"/>
            </a:endParaRPr>
          </a:p>
          <a:p>
            <a:pPr>
              <a:spcBef>
                <a:spcPts val="600"/>
              </a:spcBef>
            </a:pPr>
            <a:r>
              <a:rPr lang="en-US" sz="2737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sequence of random numbers {X</a:t>
            </a:r>
            <a:r>
              <a:rPr lang="en-US" sz="2737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2737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} is obtained via the following iterative equation:</a:t>
            </a:r>
          </a:p>
          <a:p>
            <a:pPr>
              <a:spcBef>
                <a:spcPts val="600"/>
              </a:spcBef>
              <a:buNone/>
            </a:pPr>
            <a:r>
              <a:rPr lang="en-AU" dirty="0" smtClean="0"/>
              <a:t>			</a:t>
            </a:r>
            <a:r>
              <a:rPr lang="en-AU" sz="275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AU" sz="275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n+1 </a:t>
            </a:r>
            <a:r>
              <a:rPr lang="en-AU" dirty="0" smtClean="0"/>
              <a:t>= (</a:t>
            </a:r>
            <a:r>
              <a:rPr lang="en-AU" i="1" dirty="0" smtClean="0"/>
              <a:t>a</a:t>
            </a:r>
            <a:r>
              <a:rPr lang="en-AU" dirty="0" smtClean="0"/>
              <a:t>X</a:t>
            </a:r>
            <a:r>
              <a:rPr lang="en-AU" sz="275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AU" dirty="0" smtClean="0"/>
              <a:t> + c) mod </a:t>
            </a:r>
            <a:r>
              <a:rPr lang="en-AU" i="1" dirty="0" smtClean="0"/>
              <a:t>m</a:t>
            </a:r>
            <a:endParaRPr lang="en-US" sz="1200" dirty="0" smtClean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If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 , a , 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X</a:t>
            </a:r>
            <a:r>
              <a:rPr lang="en-US" sz="2880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0</a:t>
            </a:r>
            <a:r>
              <a:rPr lang="en-US" sz="14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are integers, then this technique will produce a sequence of integers with each integer in the range 0 ≤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X</a:t>
            </a:r>
            <a:r>
              <a:rPr lang="en-US" sz="2880" i="1" baseline="-25000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n</a:t>
            </a:r>
            <a:r>
              <a:rPr lang="en-US" sz="1400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&lt; m</a:t>
            </a:r>
          </a:p>
          <a:p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The selection of values for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a , c 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, and </a:t>
            </a:r>
            <a:r>
              <a:rPr lang="en-US" i="1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m</a:t>
            </a:r>
            <a:r>
              <a:rPr lang="en-US" dirty="0" smtClean="0">
                <a:solidFill>
                  <a:schemeClr val="tx1"/>
                </a:solidFill>
                <a:ea typeface="ＭＳ Ｐゴシック" charset="-128"/>
                <a:cs typeface="ＭＳ Ｐゴシック" charset="-128"/>
              </a:rPr>
              <a:t>  is critical in developing a good random number generator</a:t>
            </a:r>
            <a:endParaRPr lang="en-AU" b="0" i="0" dirty="0" smtClean="0"/>
          </a:p>
          <a:p>
            <a:pPr>
              <a:spcBef>
                <a:spcPts val="600"/>
              </a:spcBef>
            </a:pP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3991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AU" sz="3600" dirty="0" smtClean="0"/>
              <a:t>Blum Blum Shub (BBS) Generator</a:t>
            </a:r>
            <a:endParaRPr lang="en-AU" sz="3600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124744"/>
            <a:ext cx="7677150" cy="4714875"/>
          </a:xfrm>
        </p:spPr>
        <p:txBody>
          <a:bodyPr>
            <a:noAutofit/>
          </a:bodyPr>
          <a:lstStyle/>
          <a:p>
            <a:r>
              <a:rPr lang="en-AU" sz="2400" dirty="0" smtClean="0"/>
              <a:t>Has perhaps the strongest public proof of its cryptographic strength of any purpose-built algorithm</a:t>
            </a:r>
          </a:p>
          <a:p>
            <a:r>
              <a:rPr lang="en-AU" sz="2400" dirty="0" smtClean="0"/>
              <a:t>Referred to as a </a:t>
            </a:r>
            <a:r>
              <a:rPr lang="en-AU" sz="2400" i="1" dirty="0" smtClean="0"/>
              <a:t>cryptographically secure pseudorandom bit generator </a:t>
            </a:r>
            <a:r>
              <a:rPr lang="en-AU" sz="2400" dirty="0" smtClean="0"/>
              <a:t>(CSPRBG)</a:t>
            </a:r>
          </a:p>
          <a:p>
            <a:pPr lvl="1"/>
            <a:r>
              <a:rPr lang="en-AU" sz="2000" dirty="0" smtClean="0"/>
              <a:t>A CSPRBG is defined as one that passes the </a:t>
            </a:r>
            <a:r>
              <a:rPr lang="en-AU" sz="2000" i="1" dirty="0" smtClean="0"/>
              <a:t>next-bit-test </a:t>
            </a:r>
            <a:r>
              <a:rPr lang="en-AU" sz="2000" dirty="0" smtClean="0"/>
              <a:t>if there is not a polynomial-time algorithm that, on input of the first </a:t>
            </a:r>
            <a:r>
              <a:rPr lang="en-AU" sz="2000" i="1" dirty="0" smtClean="0"/>
              <a:t>k </a:t>
            </a:r>
            <a:r>
              <a:rPr lang="en-AU" sz="2000" dirty="0" smtClean="0"/>
              <a:t>bits of an output sequence, can predict the (</a:t>
            </a:r>
            <a:r>
              <a:rPr lang="en-AU" sz="2000" i="1" dirty="0" smtClean="0"/>
              <a:t>k </a:t>
            </a:r>
            <a:r>
              <a:rPr lang="en-AU" sz="2000" dirty="0" smtClean="0"/>
              <a:t>+ 1)st bit with probability significantly greater than 1/2</a:t>
            </a:r>
          </a:p>
          <a:p>
            <a:r>
              <a:rPr lang="en-US" sz="2400" dirty="0" smtClean="0"/>
              <a:t>The security of BBS is based on the difficulty of factoring </a:t>
            </a:r>
            <a:r>
              <a:rPr lang="en-US" sz="2400" i="1" dirty="0" smtClean="0"/>
              <a:t>n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18894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3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0000" t="16364" r="20000" b="29091"/>
              <a:stretch>
                <a:fillRect/>
              </a:stretch>
            </p:blipFill>
          </mc:Choice>
          <mc:Fallback>
            <p:blipFill>
              <a:blip r:embed="rId4"/>
              <a:srcRect l="20000" t="16364" r="20000" b="29091"/>
              <a:stretch>
                <a:fillRect/>
              </a:stretch>
            </p:blipFill>
          </mc:Fallback>
        </mc:AlternateContent>
        <p:spPr>
          <a:xfrm>
            <a:off x="1471976" y="0"/>
            <a:ext cx="5424211" cy="638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19498"/>
      </p:ext>
    </p:extLst>
  </p:cSld>
  <p:clrMapOvr>
    <a:masterClrMapping/>
  </p:clrMapOvr>
  <p:transition spd="med">
    <p:pull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228601"/>
            <a:ext cx="8839199" cy="1112168"/>
          </a:xfrm>
        </p:spPr>
        <p:txBody>
          <a:bodyPr/>
          <a:lstStyle/>
          <a:p>
            <a:r>
              <a:rPr lang="en-US" sz="3600" dirty="0" smtClean="0"/>
              <a:t>Table 7.1  </a:t>
            </a:r>
            <a:br>
              <a:rPr lang="en-US" sz="3600" dirty="0" smtClean="0"/>
            </a:br>
            <a:r>
              <a:rPr lang="en-US" sz="3200" dirty="0" smtClean="0"/>
              <a:t>Example Operation of BBS Generator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323528" y="1484784"/>
            <a:ext cx="8662456" cy="47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914941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39689"/>
            <a:ext cx="9143999" cy="1301080"/>
          </a:xfrm>
        </p:spPr>
        <p:txBody>
          <a:bodyPr/>
          <a:lstStyle/>
          <a:p>
            <a:r>
              <a:rPr lang="en-AU" sz="3600" dirty="0" smtClean="0"/>
              <a:t>PRNG Using Block Cipher Modes of Operation</a:t>
            </a:r>
            <a:endParaRPr lang="en-AU" sz="36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792163" y="1762125"/>
            <a:ext cx="7570787" cy="4562475"/>
          </a:xfrm>
        </p:spPr>
        <p:txBody>
          <a:bodyPr>
            <a:normAutofit/>
          </a:bodyPr>
          <a:lstStyle/>
          <a:p>
            <a:r>
              <a:rPr lang="en-US" dirty="0" smtClean="0"/>
              <a:t>Two approaches that use a block cipher to build a PNRG have gained widespread acceptance:</a:t>
            </a:r>
          </a:p>
          <a:p>
            <a:pPr lvl="1"/>
            <a:r>
              <a:rPr lang="en-US" dirty="0" smtClean="0"/>
              <a:t>CTR mode</a:t>
            </a:r>
          </a:p>
          <a:p>
            <a:pPr lvl="2"/>
            <a:r>
              <a:rPr lang="en-US" dirty="0" smtClean="0"/>
              <a:t>Recommended in NIST SP 800-90, ANSI standard X.82, and RFC 4086</a:t>
            </a:r>
          </a:p>
          <a:p>
            <a:pPr lvl="1"/>
            <a:r>
              <a:rPr lang="en-US" dirty="0" smtClean="0"/>
              <a:t>OFB mode</a:t>
            </a:r>
          </a:p>
          <a:p>
            <a:pPr lvl="2"/>
            <a:r>
              <a:rPr lang="en-US" dirty="0" smtClean="0"/>
              <a:t>Recommended in X9.82 and RFC 4086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53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7059" t="4545" r="8235" b="47273"/>
              <a:stretch>
                <a:fillRect/>
              </a:stretch>
            </p:blipFill>
          </mc:Choice>
          <mc:Fallback>
            <p:blipFill>
              <a:blip r:embed="rId4"/>
              <a:srcRect l="7059" t="4545" r="8235" b="47273"/>
              <a:stretch>
                <a:fillRect/>
              </a:stretch>
            </p:blipFill>
          </mc:Fallback>
        </mc:AlternateContent>
        <p:spPr>
          <a:xfrm>
            <a:off x="402206" y="186668"/>
            <a:ext cx="8513194" cy="626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144389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" y="39688"/>
            <a:ext cx="9144000" cy="1412875"/>
          </a:xfrm>
        </p:spPr>
        <p:txBody>
          <a:bodyPr/>
          <a:lstStyle/>
          <a:p>
            <a:r>
              <a:rPr lang="en-US" dirty="0" smtClean="0"/>
              <a:t>Table 7.2 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56611" y="1789829"/>
            <a:ext cx="8751416" cy="3124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011" y="5218829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Example Results for PRNG Using OFB </a:t>
            </a:r>
          </a:p>
        </p:txBody>
      </p:sp>
    </p:spTree>
    <p:extLst>
      <p:ext uri="{BB962C8B-B14F-4D97-AF65-F5344CB8AC3E}">
        <p14:creationId xmlns:p14="http://schemas.microsoft.com/office/powerpoint/2010/main" val="414623316"/>
      </p:ext>
    </p:extLst>
  </p:cSld>
  <p:clrMapOvr>
    <a:masterClrMapping/>
  </p:clrMapOvr>
  <p:transition spd="med">
    <p:pull dir="ld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7.3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76336" y="1772816"/>
            <a:ext cx="8591327" cy="3067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229200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Example Results for PRNG Using CTR </a:t>
            </a:r>
            <a:endParaRPr lang="en-US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5087366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ANSI X9.17 PRNG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524000"/>
            <a:ext cx="2590800" cy="31242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One of the strongest PRNGs is specified in ANSI X9.17</a:t>
            </a:r>
          </a:p>
          <a:p>
            <a:pPr lvl="1"/>
            <a:r>
              <a:rPr lang="en-US" dirty="0" smtClean="0"/>
              <a:t>A number of applications employ this technique including financial security applications and PGP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618780686"/>
              </p:ext>
            </p:extLst>
          </p:nvPr>
        </p:nvGraphicFramePr>
        <p:xfrm>
          <a:off x="1524000" y="1524000"/>
          <a:ext cx="7391400" cy="505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038600" y="3581400"/>
            <a:ext cx="304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algorithm makes use of triple DES for encryption.</a:t>
            </a:r>
          </a:p>
          <a:p>
            <a:pPr lvl="1"/>
            <a:r>
              <a:rPr lang="en-US" dirty="0" smtClean="0"/>
              <a:t>Ingredients are: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613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51520" y="0"/>
            <a:ext cx="8674748" cy="670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47836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NIST CTR_DRBG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412776"/>
            <a:ext cx="7570787" cy="4714875"/>
          </a:xfrm>
        </p:spPr>
        <p:txBody>
          <a:bodyPr>
            <a:noAutofit/>
          </a:bodyPr>
          <a:lstStyle/>
          <a:p>
            <a:r>
              <a:rPr lang="en-US" sz="2000" dirty="0" smtClean="0"/>
              <a:t>Counter mode-deterministic random bit generator</a:t>
            </a:r>
          </a:p>
          <a:p>
            <a:r>
              <a:rPr lang="en-US" sz="2000" dirty="0" smtClean="0"/>
              <a:t>PRNG defined in NIST SP 800-90 based on the CTR mode of operation</a:t>
            </a:r>
          </a:p>
          <a:p>
            <a:r>
              <a:rPr lang="en-US" sz="2000" dirty="0" smtClean="0"/>
              <a:t>Is widely implemented and is part of the hardware random number generator implemented on all recent Intel processor chips</a:t>
            </a:r>
          </a:p>
          <a:p>
            <a:r>
              <a:rPr lang="en-US" sz="2000" dirty="0" smtClean="0"/>
              <a:t>DRBG assumes that an entropy source is available to provide random bits</a:t>
            </a:r>
          </a:p>
          <a:p>
            <a:pPr lvl="1"/>
            <a:r>
              <a:rPr lang="en-US" sz="1800" dirty="0" smtClean="0"/>
              <a:t>Entropy is an information theoretic concept that measures unpredictability or randomness</a:t>
            </a:r>
          </a:p>
          <a:p>
            <a:r>
              <a:rPr lang="en-US" sz="2000" dirty="0" smtClean="0"/>
              <a:t>The encryption algorithm used in the DRBG may be 3DES with three keys or AES with a key size of 128, 192, or 256 bits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6641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7.4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57655" y="2692400"/>
            <a:ext cx="8723586" cy="2108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86400"/>
            <a:ext cx="91440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CTR_DRBG Parameters </a:t>
            </a:r>
          </a:p>
        </p:txBody>
      </p:sp>
    </p:spTree>
    <p:extLst>
      <p:ext uri="{BB962C8B-B14F-4D97-AF65-F5344CB8AC3E}">
        <p14:creationId xmlns:p14="http://schemas.microsoft.com/office/powerpoint/2010/main" val="135112654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6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r="25882"/>
              <a:stretch>
                <a:fillRect/>
              </a:stretch>
            </p:blipFill>
          </mc:Choice>
          <mc:Fallback>
            <p:blipFill>
              <a:blip r:embed="rId4"/>
              <a:srcRect r="25882"/>
              <a:stretch>
                <a:fillRect/>
              </a:stretch>
            </p:blipFill>
          </mc:Fallback>
        </mc:AlternateContent>
        <p:spPr>
          <a:xfrm>
            <a:off x="4572000" y="0"/>
            <a:ext cx="3927745" cy="68580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990600"/>
            <a:ext cx="3612776" cy="2286000"/>
          </a:xfrm>
        </p:spPr>
        <p:txBody>
          <a:bodyPr/>
          <a:lstStyle/>
          <a:p>
            <a:r>
              <a:rPr lang="en-US" dirty="0" smtClean="0"/>
              <a:t>CTR_DRBG Functions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733800"/>
            <a:ext cx="2413000" cy="1790700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557840672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dirty="0" smtClean="0"/>
              <a:t>Stream Ciphers</a:t>
            </a:r>
            <a:endParaRPr lang="en-AU" dirty="0"/>
          </a:p>
        </p:txBody>
      </p:sp>
      <p:pic>
        <p:nvPicPr>
          <p:cNvPr id="6" name="Picture 5" descr="f7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1818" t="5882" r="5455" b="20000"/>
              <a:stretch>
                <a:fillRect/>
              </a:stretch>
            </p:blipFill>
          </mc:Choice>
          <mc:Fallback>
            <p:blipFill>
              <a:blip r:embed="rId4"/>
              <a:srcRect l="1818" t="5882" r="5455" b="20000"/>
              <a:stretch>
                <a:fillRect/>
              </a:stretch>
            </p:blipFill>
          </mc:Fallback>
        </mc:AlternateContent>
        <p:spPr>
          <a:xfrm>
            <a:off x="52835" y="764704"/>
            <a:ext cx="9017774" cy="556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63363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9689"/>
            <a:ext cx="9143999" cy="869032"/>
          </a:xfrm>
        </p:spPr>
        <p:txBody>
          <a:bodyPr/>
          <a:lstStyle/>
          <a:p>
            <a:r>
              <a:rPr lang="en-US" sz="3600" dirty="0" smtClean="0"/>
              <a:t>Stream Cipher Design Considerations</a:t>
            </a:r>
            <a:endParaRPr lang="en-AU" sz="3600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936825"/>
              </p:ext>
            </p:extLst>
          </p:nvPr>
        </p:nvGraphicFramePr>
        <p:xfrm>
          <a:off x="899592" y="1124744"/>
          <a:ext cx="7570787" cy="4867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6799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RC4</a:t>
            </a:r>
            <a:endParaRPr lang="en-AU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340768"/>
            <a:ext cx="7570787" cy="4867275"/>
          </a:xfrm>
        </p:spPr>
        <p:txBody>
          <a:bodyPr>
            <a:normAutofit fontScale="70000" lnSpcReduction="20000"/>
          </a:bodyPr>
          <a:lstStyle/>
          <a:p>
            <a:r>
              <a:rPr lang="en-AU" dirty="0" smtClean="0"/>
              <a:t>Designed in 1987 by Ron Rivest for RSA Security</a:t>
            </a:r>
          </a:p>
          <a:p>
            <a:r>
              <a:rPr lang="en-AU" dirty="0" smtClean="0"/>
              <a:t>Variable key size stream cipher with byte-oriented operations</a:t>
            </a:r>
          </a:p>
          <a:p>
            <a:r>
              <a:rPr lang="en-AU" dirty="0" smtClean="0"/>
              <a:t>Based on the use of a random permutation</a:t>
            </a:r>
          </a:p>
          <a:p>
            <a:r>
              <a:rPr lang="en-AU" dirty="0" smtClean="0"/>
              <a:t>Eight to sixteen machine operations are required per output byte and the cipher can be expected to run very quickly in software</a:t>
            </a:r>
          </a:p>
          <a:p>
            <a:r>
              <a:rPr lang="en-AU" dirty="0" smtClean="0"/>
              <a:t>Used in the Secure Sockets Layer/Transport Layer Security (SSL/TLS) standards that have been defined for communication between Web browsers and servers</a:t>
            </a:r>
          </a:p>
          <a:p>
            <a:r>
              <a:rPr lang="en-AU" dirty="0" smtClean="0"/>
              <a:t>Is also used in the Wired Equivalent Privacy (WEP) protocol and the newer WiFi Protected Access (WPA) protocol that are part of the IEEE 802.11 wireless LAN standard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3006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0" y="0"/>
            <a:ext cx="887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18075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39689"/>
            <a:ext cx="9144000" cy="1013048"/>
          </a:xfrm>
        </p:spPr>
        <p:txBody>
          <a:bodyPr/>
          <a:lstStyle/>
          <a:p>
            <a:r>
              <a:rPr lang="en-AU" dirty="0" smtClean="0"/>
              <a:t>Strength of RC4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568114"/>
              </p:ext>
            </p:extLst>
          </p:nvPr>
        </p:nvGraphicFramePr>
        <p:xfrm>
          <a:off x="827584" y="1340768"/>
          <a:ext cx="7570787" cy="4791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017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Entropy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4" y="1340768"/>
            <a:ext cx="7570787" cy="48672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 true random number generator (TRNG) uses a nondeterministic source to produce randomness</a:t>
            </a:r>
          </a:p>
          <a:p>
            <a:r>
              <a:rPr lang="en-US" dirty="0" smtClean="0"/>
              <a:t>Most operate by measuring unpredictable natural processes such as pulse detectors of ionizing radiation events, gas discharge tubes, and leaky capacitors</a:t>
            </a:r>
          </a:p>
          <a:p>
            <a:r>
              <a:rPr lang="en-US" dirty="0" smtClean="0"/>
              <a:t>Intel has developed a commercially available chip that samples thermal noise by amplifying the voltage measured across undriven resistors</a:t>
            </a:r>
          </a:p>
          <a:p>
            <a:r>
              <a:rPr lang="en-US" dirty="0" smtClean="0"/>
              <a:t>LavaRnd is an open source project for creating truly random numbers using inexpensive cameras, open source code, and inexpensive hardware</a:t>
            </a:r>
          </a:p>
          <a:p>
            <a:pPr lvl="1"/>
            <a:r>
              <a:rPr lang="en-US" dirty="0" smtClean="0"/>
              <a:t>The system uses a saturated CCD in a light-tight can as a chaotic source to produce the seed; software processes the result into truly random numbers in a variety of formats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11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9"/>
            <a:ext cx="9143999" cy="941040"/>
          </a:xfrm>
        </p:spPr>
        <p:txBody>
          <a:bodyPr/>
          <a:lstStyle/>
          <a:p>
            <a:r>
              <a:rPr lang="en-US" dirty="0" smtClean="0"/>
              <a:t>Possible Sources of Randomness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2537" y="1052736"/>
            <a:ext cx="5715001" cy="4572000"/>
          </a:xfrm>
        </p:spPr>
        <p:txBody>
          <a:bodyPr>
            <a:noAutofit/>
          </a:bodyPr>
          <a:lstStyle/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r>
              <a:rPr lang="en-US" sz="1800" dirty="0" smtClean="0"/>
              <a:t>RFC 4086 lists the following possible sources of randomness that can be used on a computer to generate true random sequences:</a:t>
            </a:r>
          </a:p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endParaRPr lang="en-US" sz="1800" dirty="0" smtClean="0"/>
          </a:p>
          <a:p>
            <a:pPr algn="ctr">
              <a:lnSpc>
                <a:spcPct val="120000"/>
              </a:lnSpc>
              <a:spcBef>
                <a:spcPts val="3600"/>
              </a:spcBef>
              <a:buNone/>
            </a:pPr>
            <a:endParaRPr lang="en-US" sz="1800" dirty="0" smtClean="0"/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endParaRPr lang="en-US" sz="14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  <a:buNone/>
            </a:pPr>
            <a:endParaRPr lang="en-US" sz="1400" dirty="0" smtClean="0">
              <a:cs typeface="ＭＳ Ｐゴシック" pitchFamily="-84" charset="-128"/>
            </a:endParaRP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  <a:buNone/>
            </a:pPr>
            <a:endParaRPr lang="en-US" sz="1400" dirty="0" smtClean="0">
              <a:cs typeface="ＭＳ Ｐゴシック" pitchFamily="-84" charset="-128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772975433"/>
              </p:ext>
            </p:extLst>
          </p:nvPr>
        </p:nvGraphicFramePr>
        <p:xfrm>
          <a:off x="1080537" y="2195736"/>
          <a:ext cx="7391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5548537"/>
            <a:ext cx="81369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algn="ctr">
              <a:lnSpc>
                <a:spcPct val="150000"/>
              </a:lnSpc>
              <a:spcBef>
                <a:spcPts val="0"/>
              </a:spcBef>
              <a:buClr>
                <a:srgbClr val="BAABE3"/>
              </a:buClr>
              <a:buNone/>
            </a:pP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rPr>
              <a:t>There is also an online service ( </a:t>
            </a: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  <a:hlinkClick r:id="rId8"/>
              </a:rPr>
              <a:t>http</a:t>
            </a:r>
            <a:r>
              <a:rPr lang="en-US" sz="1400" dirty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  <a:hlinkClick r:id="rId8"/>
              </a:rPr>
              <a:t>://www.random.org</a:t>
            </a: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  <a:hlinkClick r:id="rId8"/>
              </a:rPr>
              <a:t>/</a:t>
            </a:r>
            <a:r>
              <a:rPr lang="en-US" sz="1400" dirty="0" smtClean="0">
                <a:solidFill>
                  <a:schemeClr val="tx2"/>
                </a:solidFill>
                <a:latin typeface="+mn-lt"/>
                <a:ea typeface="ＭＳ Ｐゴシック" pitchFamily="-84" charset="-128"/>
                <a:cs typeface="ＭＳ Ｐゴシック" pitchFamily="-84" charset="-128"/>
              </a:rPr>
              <a:t> ) which can deliver random sequences securely over the Internet.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0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7.5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2730499"/>
            <a:ext cx="8721436" cy="19986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638800"/>
            <a:ext cx="9143999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atin typeface="+mn-lt"/>
              </a:rPr>
              <a:t>Comparison of PRNGs and TRNGs </a:t>
            </a:r>
          </a:p>
        </p:txBody>
      </p:sp>
    </p:spTree>
    <p:extLst>
      <p:ext uri="{BB962C8B-B14F-4D97-AF65-F5344CB8AC3E}">
        <p14:creationId xmlns:p14="http://schemas.microsoft.com/office/powerpoint/2010/main" val="2406923254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en-US" dirty="0" smtClean="0"/>
              <a:t>Skew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340768"/>
            <a:ext cx="7742237" cy="48672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A TRNG may produce an output that is biased in some way, such as having more ones than zeros or vice versa</a:t>
            </a:r>
          </a:p>
          <a:p>
            <a:pPr lvl="1"/>
            <a:r>
              <a:rPr lang="en-US" dirty="0" smtClean="0"/>
              <a:t>Deskewing algorithms</a:t>
            </a:r>
          </a:p>
          <a:p>
            <a:pPr lvl="2"/>
            <a:r>
              <a:rPr lang="en-US" dirty="0" smtClean="0"/>
              <a:t>Methods of modifying a bit stream to reduce or eliminate the bias</a:t>
            </a:r>
          </a:p>
          <a:p>
            <a:pPr lvl="2"/>
            <a:r>
              <a:rPr lang="en-US" dirty="0" smtClean="0"/>
              <a:t>One approach is to pass the bit stream through a hash function such as MD5 or SHA-1</a:t>
            </a:r>
          </a:p>
          <a:p>
            <a:pPr lvl="2"/>
            <a:r>
              <a:rPr lang="en-US" dirty="0" smtClean="0"/>
              <a:t>RFC 4086 recommends collecting input from multiple hardware sources and then mixing these using a hash function to produce random output</a:t>
            </a:r>
          </a:p>
          <a:p>
            <a:pPr marL="342900" lvl="1" indent="-342900">
              <a:spcBef>
                <a:spcPts val="2400"/>
              </a:spcBef>
              <a:buClr>
                <a:srgbClr val="BAABE3"/>
              </a:buClr>
            </a:pPr>
            <a:r>
              <a:rPr lang="en-US" sz="2824" dirty="0" smtClean="0">
                <a:cs typeface="ＭＳ Ｐゴシック" pitchFamily="-84" charset="-128"/>
              </a:rPr>
              <a:t>Operating systems typically provide a built-in mechanism for generating random numbers</a:t>
            </a:r>
          </a:p>
          <a:p>
            <a:pPr lvl="1"/>
            <a:r>
              <a:rPr lang="en-US" sz="2571" dirty="0" smtClean="0"/>
              <a:t>Linux uses four entropy sources:  mouse and keyboard activity, disk I/O operations, and specific interrupts</a:t>
            </a:r>
          </a:p>
          <a:p>
            <a:pPr lvl="2"/>
            <a:r>
              <a:rPr lang="en-US" sz="2371" dirty="0" smtClean="0"/>
              <a:t>Bits are generated from these four sources and combined in a pooled buffer</a:t>
            </a:r>
          </a:p>
          <a:p>
            <a:pPr lvl="2"/>
            <a:r>
              <a:rPr lang="en-US" sz="2371" dirty="0" smtClean="0"/>
              <a:t>When random bits are needed the appropriate number of bits are read from the buffer and passed through the SHA-1 hash function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6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689"/>
            <a:ext cx="9143999" cy="941040"/>
          </a:xfrm>
        </p:spPr>
        <p:txBody>
          <a:bodyPr/>
          <a:lstStyle/>
          <a:p>
            <a:r>
              <a:rPr lang="en-US" sz="3600" dirty="0" smtClean="0"/>
              <a:t>Intel Digital Random Number Generator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1340768"/>
            <a:ext cx="7570787" cy="463867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TRNGs have traditionally been used only for key generation and other applications where only a small number of random bits were required</a:t>
            </a:r>
          </a:p>
          <a:p>
            <a:pPr lvl="1"/>
            <a:r>
              <a:rPr lang="en-US" dirty="0" smtClean="0"/>
              <a:t>This is because TRNGs have generally been inefficient with a low bit rate of random bit production</a:t>
            </a:r>
          </a:p>
          <a:p>
            <a:r>
              <a:rPr lang="en-US" dirty="0" smtClean="0"/>
              <a:t>The first commercially available TRNG that achieves bit production rates comparable with that of PRNGs is the Intel digital random number generator offered on new multicore chips since May 2012</a:t>
            </a:r>
          </a:p>
          <a:p>
            <a:pPr lvl="1"/>
            <a:r>
              <a:rPr lang="en-US" dirty="0" smtClean="0"/>
              <a:t>It is implemented entirely in hardware</a:t>
            </a:r>
          </a:p>
          <a:p>
            <a:pPr lvl="1"/>
            <a:r>
              <a:rPr lang="en-US" dirty="0" smtClean="0"/>
              <a:t>The entire DRNG is on the same multicore chip as the processors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75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t="23636" b="11818"/>
              <a:stretch>
                <a:fillRect/>
              </a:stretch>
            </p:blipFill>
          </mc:Choice>
          <mc:Fallback>
            <p:blipFill>
              <a:blip r:embed="rId4"/>
              <a:srcRect t="23636" b="11818"/>
              <a:stretch>
                <a:fillRect/>
              </a:stretch>
            </p:blipFill>
          </mc:Fallback>
        </mc:AlternateContent>
        <p:spPr>
          <a:xfrm>
            <a:off x="893074" y="0"/>
            <a:ext cx="7639630" cy="638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8728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rcRect l="2353" r="4706"/>
              <a:stretch>
                <a:fillRect/>
              </a:stretch>
            </p:blipFill>
          </mc:Choice>
          <mc:Fallback>
            <p:blipFill>
              <a:blip r:embed="rId4"/>
              <a:srcRect l="2353" r="4706"/>
              <a:stretch>
                <a:fillRect/>
              </a:stretch>
            </p:blipFill>
          </mc:Fallback>
        </mc:AlternateContent>
        <p:spPr>
          <a:xfrm>
            <a:off x="4218806" y="0"/>
            <a:ext cx="4925194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1143000"/>
            <a:ext cx="3612776" cy="3048000"/>
          </a:xfrm>
        </p:spPr>
        <p:txBody>
          <a:bodyPr/>
          <a:lstStyle/>
          <a:p>
            <a:r>
              <a:rPr lang="en-US" sz="4400" dirty="0" smtClean="0"/>
              <a:t>Intel</a:t>
            </a:r>
            <a:br>
              <a:rPr lang="en-US" sz="4400" dirty="0" smtClean="0"/>
            </a:br>
            <a:r>
              <a:rPr lang="en-US" sz="4400" dirty="0" smtClean="0"/>
              <a:t>DRNG</a:t>
            </a:r>
            <a:br>
              <a:rPr lang="en-US" sz="4400" dirty="0" smtClean="0"/>
            </a:br>
            <a:r>
              <a:rPr lang="en-US" sz="4400" dirty="0" smtClean="0"/>
              <a:t>Logical</a:t>
            </a:r>
            <a:br>
              <a:rPr lang="en-US" sz="4400" dirty="0" smtClean="0"/>
            </a:br>
            <a:r>
              <a:rPr lang="en-US" sz="4400" dirty="0" smtClean="0"/>
              <a:t>Structure</a:t>
            </a:r>
            <a:endParaRPr lang="en-US" sz="4400" dirty="0"/>
          </a:p>
        </p:txBody>
      </p:sp>
      <p:sp>
        <p:nvSpPr>
          <p:cNvPr id="8" name="TextBox 7"/>
          <p:cNvSpPr txBox="1"/>
          <p:nvPr/>
        </p:nvSpPr>
        <p:spPr>
          <a:xfrm>
            <a:off x="3379" y="5373216"/>
            <a:ext cx="3962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(Figure 7.10 is located on page 226 in textbook)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2774015"/>
      </p:ext>
    </p:extLst>
  </p:cSld>
  <p:clrMapOvr>
    <a:masterClrMapping/>
  </p:clrMapOvr>
  <p:transition spd="med"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pPr eaLnBrk="1" hangingPunct="1"/>
            <a:r>
              <a:rPr lang="en-US" dirty="0" smtClean="0"/>
              <a:t>Summary</a:t>
            </a:r>
            <a:endParaRPr lang="en-AU" dirty="0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51520" y="1340768"/>
            <a:ext cx="3565525" cy="4854575"/>
          </a:xfrm>
        </p:spPr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Principles of pseudorandom number generation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The use of random numbers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TRNGs, PRNGs</a:t>
            </a:r>
            <a:r>
              <a:rPr lang="en-US" dirty="0" smtClean="0">
                <a:ea typeface="+mn-ea"/>
              </a:rPr>
              <a:t>, and PRFs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PRNG requirements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Algorithm design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Pseudorandom number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Linear congruential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Blum Blum Shub generator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Pseudorandom number generation using a block cipher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PRNG using block cipher modes of operation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ANSI X9.17 PRNG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NIST CTR_DRBG</a:t>
            </a:r>
            <a:endParaRPr lang="en-AU" dirty="0" smtClean="0">
              <a:ea typeface="+mn-ea"/>
              <a:cs typeface="+mn-cs"/>
            </a:endParaRPr>
          </a:p>
        </p:txBody>
      </p:sp>
      <p:sp>
        <p:nvSpPr>
          <p:cNvPr id="76804" name="Content Placeholder 11"/>
          <p:cNvSpPr>
            <a:spLocks noGrp="1"/>
          </p:cNvSpPr>
          <p:nvPr>
            <p:ph sz="half" idx="2"/>
          </p:nvPr>
        </p:nvSpPr>
        <p:spPr>
          <a:xfrm>
            <a:off x="5410200" y="2057400"/>
            <a:ext cx="3565525" cy="3891880"/>
          </a:xfrm>
        </p:spPr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Stream ciphers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RC4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Initialization of 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Stream generation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Strength of RC4</a:t>
            </a:r>
            <a:endParaRPr lang="en-US" dirty="0" smtClean="0">
              <a:ea typeface="+mn-ea"/>
              <a:cs typeface="+mn-cs"/>
            </a:endParaRP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  <a:cs typeface="+mn-cs"/>
              </a:rPr>
              <a:t>True random number generators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Entropy sources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Comparison of PRNGs and TRNGs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Skew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Intel digital random number generator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DRNG hardware architecture</a:t>
            </a:r>
          </a:p>
          <a:p>
            <a:pPr lvl="1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Candara" pitchFamily="34" charset="0"/>
              <a:buChar char="•"/>
              <a:defRPr/>
            </a:pPr>
            <a:r>
              <a:rPr lang="en-US" dirty="0" smtClean="0">
                <a:ea typeface="+mn-ea"/>
              </a:rPr>
              <a:t>DRNG logical structure</a:t>
            </a:r>
          </a:p>
        </p:txBody>
      </p:sp>
      <p:pic>
        <p:nvPicPr>
          <p:cNvPr id="9" name="Picture Placeholder 4" descr="crypto.jpg"/>
          <p:cNvPicPr>
            <a:picLocks noChangeAspect="1"/>
          </p:cNvPicPr>
          <p:nvPr/>
        </p:nvPicPr>
        <p:blipFill>
          <a:blip r:embed="rId3">
            <a:alphaModFix/>
            <a:lum bright="28000"/>
          </a:blip>
          <a:srcRect l="-16674" t="-1111" r="-18211" b="44444"/>
          <a:stretch>
            <a:fillRect/>
          </a:stretch>
        </p:blipFill>
        <p:spPr bwMode="auto">
          <a:xfrm>
            <a:off x="3505200" y="3428261"/>
            <a:ext cx="2109547" cy="1209027"/>
          </a:xfrm>
          <a:prstGeom prst="ellipse">
            <a:avLst/>
          </a:prstGeom>
          <a:solidFill>
            <a:schemeClr val="bg1">
              <a:lumMod val="85000"/>
            </a:schemeClr>
          </a:solidFill>
          <a:ln w="101600">
            <a:noFill/>
            <a:miter lim="800000"/>
            <a:headEnd/>
            <a:tailEnd/>
          </a:ln>
          <a:effectLst>
            <a:innerShdw blurRad="762000">
              <a:schemeClr val="accent1">
                <a:alpha val="80000"/>
              </a:schemeClr>
            </a:innerShdw>
            <a:softEdge rad="76200"/>
          </a:effectLst>
        </p:spPr>
      </p:pic>
    </p:spTree>
    <p:extLst>
      <p:ext uri="{BB962C8B-B14F-4D97-AF65-F5344CB8AC3E}">
        <p14:creationId xmlns:p14="http://schemas.microsoft.com/office/powerpoint/2010/main" val="394822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UWindsor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rypto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ThemeUWindsor</Template>
  <TotalTime>6978</TotalTime>
  <Words>9668</Words>
  <Application>Microsoft Office PowerPoint</Application>
  <PresentationFormat>On-screen Show (4:3)</PresentationFormat>
  <Paragraphs>908</Paragraphs>
  <Slides>43</Slides>
  <Notes>42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ThemeUWindsor</vt:lpstr>
      <vt:lpstr>Crypto</vt:lpstr>
      <vt:lpstr>Cryptography and Network Security</vt:lpstr>
      <vt:lpstr>Chapter 8</vt:lpstr>
      <vt:lpstr>Chapter 8: Outline</vt:lpstr>
      <vt:lpstr>Random Numbers</vt:lpstr>
      <vt:lpstr>Randomness</vt:lpstr>
      <vt:lpstr>Unpredictability</vt:lpstr>
      <vt:lpstr>Pseudorandom Numbers</vt:lpstr>
      <vt:lpstr>True Random Number Generator (TRNG)</vt:lpstr>
      <vt:lpstr>Pseudorandom Number Generator (PRNG)</vt:lpstr>
      <vt:lpstr>PowerPoint Presentation</vt:lpstr>
      <vt:lpstr>PRNG Requirements</vt:lpstr>
      <vt:lpstr>Randomness </vt:lpstr>
      <vt:lpstr>Randomness Tests</vt:lpstr>
      <vt:lpstr>Unpredictability </vt:lpstr>
      <vt:lpstr>Seed Requirements</vt:lpstr>
      <vt:lpstr>Generation of Seed Input  to PRNG</vt:lpstr>
      <vt:lpstr>Algorithm Design</vt:lpstr>
      <vt:lpstr>Linear Congruential Generator</vt:lpstr>
      <vt:lpstr>Blum Blum Shub (BBS) Generator</vt:lpstr>
      <vt:lpstr>PowerPoint Presentation</vt:lpstr>
      <vt:lpstr>Table 7.1   Example Operation of BBS Generator</vt:lpstr>
      <vt:lpstr>PRNG Using Block Cipher Modes of Operation</vt:lpstr>
      <vt:lpstr>PowerPoint Presentation</vt:lpstr>
      <vt:lpstr>Table 7.2  </vt:lpstr>
      <vt:lpstr>Table 7.3</vt:lpstr>
      <vt:lpstr>ANSI X9.17 PRNG</vt:lpstr>
      <vt:lpstr>PowerPoint Presentation</vt:lpstr>
      <vt:lpstr>NIST CTR_DRBG</vt:lpstr>
      <vt:lpstr>Table 7.4</vt:lpstr>
      <vt:lpstr>CTR_DRBG Functions</vt:lpstr>
      <vt:lpstr>Stream Ciphers</vt:lpstr>
      <vt:lpstr>Stream Cipher Design Considerations</vt:lpstr>
      <vt:lpstr>RC4</vt:lpstr>
      <vt:lpstr>PowerPoint Presentation</vt:lpstr>
      <vt:lpstr>Strength of RC4</vt:lpstr>
      <vt:lpstr>Entropy Sources</vt:lpstr>
      <vt:lpstr>Possible Sources of Randomness</vt:lpstr>
      <vt:lpstr>Table 7.5</vt:lpstr>
      <vt:lpstr>Skew</vt:lpstr>
      <vt:lpstr>Intel Digital Random Number Generator</vt:lpstr>
      <vt:lpstr>PowerPoint Presentation</vt:lpstr>
      <vt:lpstr>Intel DRNG Logical Structure</vt:lpstr>
      <vt:lpstr>Summary</vt:lpstr>
    </vt:vector>
  </TitlesOfParts>
  <Company>School of Eng &amp; IT, UNSW@ADFA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William Stallings, Cryptography and Network Security 5/e</dc:title>
  <dc:subject>Lecture Overheads - Ch 6</dc:subject>
  <dc:creator>Dr Lawrie Brown</dc:creator>
  <cp:lastModifiedBy>tran the son</cp:lastModifiedBy>
  <cp:revision>66</cp:revision>
  <dcterms:created xsi:type="dcterms:W3CDTF">2013-02-05T05:17:37Z</dcterms:created>
  <dcterms:modified xsi:type="dcterms:W3CDTF">2021-12-24T03:57:32Z</dcterms:modified>
</cp:coreProperties>
</file>