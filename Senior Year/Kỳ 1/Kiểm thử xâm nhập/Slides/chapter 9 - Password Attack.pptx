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9" r:id="rId4"/>
    <p:sldId id="260" r:id="rId5"/>
    <p:sldId id="261" r:id="rId6"/>
    <p:sldId id="258" r:id="rId7"/>
    <p:sldId id="262" r:id="rId8"/>
    <p:sldId id="263" r:id="rId9"/>
    <p:sldId id="264" r:id="rId10"/>
    <p:sldId id="265" r:id="rId11"/>
    <p:sldId id="266" r:id="rId12"/>
    <p:sldId id="268" r:id="rId13"/>
    <p:sldId id="270" r:id="rId14"/>
    <p:sldId id="271" r:id="rId15"/>
    <p:sldId id="272" r:id="rId16"/>
    <p:sldId id="274" r:id="rId17"/>
    <p:sldId id="267" r:id="rId18"/>
    <p:sldId id="275" r:id="rId19"/>
    <p:sldId id="269"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9008" autoAdjust="0"/>
  </p:normalViewPr>
  <p:slideViewPr>
    <p:cSldViewPr>
      <p:cViewPr varScale="1">
        <p:scale>
          <a:sx n="88" d="100"/>
          <a:sy n="88" d="100"/>
        </p:scale>
        <p:origin x="-1670" y="-178"/>
      </p:cViewPr>
      <p:guideLst>
        <p:guide orient="horz" pos="2160"/>
        <p:guide pos="2880"/>
      </p:guideLst>
    </p:cSldViewPr>
  </p:slideViewPr>
  <p:outlineViewPr>
    <p:cViewPr>
      <p:scale>
        <a:sx n="33" d="100"/>
        <a:sy n="33" d="100"/>
      </p:scale>
      <p:origin x="0" y="45990"/>
    </p:cViewPr>
  </p:outlineViewPr>
  <p:notesTextViewPr>
    <p:cViewPr>
      <p:scale>
        <a:sx n="1" d="1"/>
        <a:sy n="1" d="1"/>
      </p:scale>
      <p:origin x="0" y="0"/>
    </p:cViewPr>
  </p:notesTextViewPr>
  <p:sorterViewPr>
    <p:cViewPr>
      <p:scale>
        <a:sx n="100" d="100"/>
        <a:sy n="100" d="100"/>
      </p:scale>
      <p:origin x="0" y="10956"/>
    </p:cViewPr>
  </p:sorterViewPr>
  <p:notesViewPr>
    <p:cSldViewPr>
      <p:cViewPr>
        <p:scale>
          <a:sx n="150" d="100"/>
          <a:sy n="150" d="100"/>
        </p:scale>
        <p:origin x="-810" y="29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EB0644-BD0B-40B8-AF7A-8CD10AC08897}" type="datetimeFigureOut">
              <a:rPr lang="en-GB" smtClean="0"/>
              <a:t>11/09/2023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03A334-FE4D-4C3E-A61B-575B8EC3A56A}" type="slidenum">
              <a:rPr lang="en-GB" smtClean="0"/>
              <a:t>‹#›</a:t>
            </a:fld>
            <a:endParaRPr lang="en-GB"/>
          </a:p>
        </p:txBody>
      </p:sp>
    </p:spTree>
    <p:extLst>
      <p:ext uri="{BB962C8B-B14F-4D97-AF65-F5344CB8AC3E}">
        <p14:creationId xmlns:p14="http://schemas.microsoft.com/office/powerpoint/2010/main" val="536197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1</a:t>
            </a:fld>
            <a:endParaRPr lang="en-GB"/>
          </a:p>
        </p:txBody>
      </p:sp>
    </p:spTree>
    <p:extLst>
      <p:ext uri="{BB962C8B-B14F-4D97-AF65-F5344CB8AC3E}">
        <p14:creationId xmlns:p14="http://schemas.microsoft.com/office/powerpoint/2010/main" val="2862845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t>11/09/2023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260014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10"/>
          </p:nvPr>
        </p:nvSpPr>
        <p:spPr/>
        <p:txBody>
          <a:bodyPr/>
          <a:lstStyle/>
          <a:p>
            <a:fld id="{CC004B57-344B-4127-95E0-C4D70C1DB92C}" type="datetimeFigureOut">
              <a:rPr lang="en-GB" smtClean="0"/>
              <a:t>11/09/2023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4149625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004B57-344B-4127-95E0-C4D70C1DB92C}" type="datetimeFigureOut">
              <a:rPr lang="en-GB" smtClean="0"/>
              <a:t>11/09/2023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50623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C004B57-344B-4127-95E0-C4D70C1DB92C}" type="datetimeFigureOut">
              <a:rPr lang="en-GB" smtClean="0"/>
              <a:t>11/09/2023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3294769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C004B57-344B-4127-95E0-C4D70C1DB92C}" type="datetimeFigureOut">
              <a:rPr lang="en-GB" smtClean="0"/>
              <a:t>11/09/2023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3583090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C004B57-344B-4127-95E0-C4D70C1DB92C}" type="datetimeFigureOut">
              <a:rPr lang="en-GB" smtClean="0"/>
              <a:t>11/09/2023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401228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04B57-344B-4127-95E0-C4D70C1DB92C}" type="datetimeFigureOut">
              <a:rPr lang="en-GB" smtClean="0"/>
              <a:t>11/09/2023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3967862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t>11/09/2023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1801021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t>11/09/2023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1037908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t>11/09/2023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337880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t>11/09/2023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39032E-7B51-4E15-9222-EB0F43ABC83B}" type="slidenum">
              <a:rPr lang="en-GB" smtClean="0"/>
              <a:t>‹#›</a:t>
            </a:fld>
            <a:endParaRPr lang="en-GB"/>
          </a:p>
        </p:txBody>
      </p:sp>
    </p:spTree>
    <p:extLst>
      <p:ext uri="{BB962C8B-B14F-4D97-AF65-F5344CB8AC3E}">
        <p14:creationId xmlns:p14="http://schemas.microsoft.com/office/powerpoint/2010/main" val="2397214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4B57-344B-4127-95E0-C4D70C1DB92C}" type="datetimeFigureOut">
              <a:rPr lang="en-GB" smtClean="0"/>
              <a:t>11/09/2023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9032E-7B51-4E15-9222-EB0F43ABC83B}" type="slidenum">
              <a:rPr lang="en-GB" smtClean="0"/>
              <a:t>‹#›</a:t>
            </a:fld>
            <a:endParaRPr lang="en-GB"/>
          </a:p>
        </p:txBody>
      </p:sp>
    </p:spTree>
    <p:extLst>
      <p:ext uri="{BB962C8B-B14F-4D97-AF65-F5344CB8AC3E}">
        <p14:creationId xmlns:p14="http://schemas.microsoft.com/office/powerpoint/2010/main" val="3027438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acketstormsecurity.com/Crackers/wordlists/"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openwall.com/wordlist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2800" dirty="0" smtClean="0"/>
              <a:t>Penetration </a:t>
            </a:r>
            <a:r>
              <a:rPr lang="en-GB" sz="2800" dirty="0"/>
              <a:t>Testing</a:t>
            </a:r>
            <a:r>
              <a:rPr lang="en-GB" dirty="0"/>
              <a:t/>
            </a:r>
            <a:br>
              <a:rPr lang="en-GB" dirty="0"/>
            </a:br>
            <a:r>
              <a:rPr lang="en-GB" dirty="0" smtClean="0"/>
              <a:t>Password Attack</a:t>
            </a:r>
            <a:endParaRPr lang="en-GB" dirty="0"/>
          </a:p>
        </p:txBody>
      </p:sp>
      <p:sp>
        <p:nvSpPr>
          <p:cNvPr id="3" name="Subtitle 2"/>
          <p:cNvSpPr>
            <a:spLocks noGrp="1"/>
          </p:cNvSpPr>
          <p:nvPr>
            <p:ph type="subTitle" idx="1"/>
          </p:nvPr>
        </p:nvSpPr>
        <p:spPr/>
        <p:txBody>
          <a:bodyPr/>
          <a:lstStyle/>
          <a:p>
            <a:r>
              <a:rPr lang="en-GB" dirty="0" err="1" smtClean="0">
                <a:latin typeface="Arial Narrow" panose="020B0606020202030204" pitchFamily="34" charset="0"/>
              </a:rPr>
              <a:t>Dr.</a:t>
            </a:r>
            <a:r>
              <a:rPr lang="en-GB" dirty="0" smtClean="0">
                <a:latin typeface="Arial Narrow" panose="020B0606020202030204" pitchFamily="34" charset="0"/>
              </a:rPr>
              <a:t> Tran The Son</a:t>
            </a:r>
          </a:p>
          <a:p>
            <a:r>
              <a:rPr lang="en-GB" sz="2000" dirty="0" smtClean="0">
                <a:latin typeface="Arial Narrow" panose="020B0606020202030204" pitchFamily="34" charset="0"/>
              </a:rPr>
              <a:t>Vietnam – Korea University</a:t>
            </a:r>
            <a:endParaRPr lang="en-GB" sz="2000" dirty="0">
              <a:latin typeface="Arial Narrow" panose="020B0606020202030204" pitchFamily="34" charset="0"/>
            </a:endParaRPr>
          </a:p>
        </p:txBody>
      </p:sp>
    </p:spTree>
    <p:extLst>
      <p:ext uri="{BB962C8B-B14F-4D97-AF65-F5344CB8AC3E}">
        <p14:creationId xmlns:p14="http://schemas.microsoft.com/office/powerpoint/2010/main" val="19537150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Passwords are often the path of least resistance </a:t>
            </a:r>
            <a:r>
              <a:rPr lang="en-US" dirty="0" smtClean="0"/>
              <a:t>on </a:t>
            </a:r>
            <a:r>
              <a:rPr lang="en-US" dirty="0" err="1" smtClean="0"/>
              <a:t>pentesting</a:t>
            </a:r>
            <a:r>
              <a:rPr lang="en-US" dirty="0" smtClean="0"/>
              <a:t> </a:t>
            </a:r>
            <a:r>
              <a:rPr lang="en-US" dirty="0"/>
              <a:t>engagements. A client with a strong </a:t>
            </a:r>
            <a:r>
              <a:rPr lang="en-US" dirty="0" smtClean="0"/>
              <a:t>security </a:t>
            </a:r>
            <a:r>
              <a:rPr lang="en-US" dirty="0"/>
              <a:t>program can fix missing Windows patches and </a:t>
            </a:r>
            <a:r>
              <a:rPr lang="en-US" dirty="0" smtClean="0"/>
              <a:t>out-of-date </a:t>
            </a:r>
            <a:r>
              <a:rPr lang="en-US" dirty="0"/>
              <a:t>software, but the users themselves can’t </a:t>
            </a:r>
            <a:r>
              <a:rPr lang="en-US" dirty="0" smtClean="0"/>
              <a:t>be patched </a:t>
            </a:r>
            <a:r>
              <a:rPr lang="en-US" dirty="0"/>
              <a:t>=&gt; social engineering</a:t>
            </a:r>
            <a:endParaRPr lang="en-US" dirty="0" smtClean="0"/>
          </a:p>
          <a:p>
            <a:endParaRPr lang="en-US" dirty="0"/>
          </a:p>
          <a:p>
            <a:pPr lvl="1"/>
            <a:r>
              <a:rPr lang="en-US" dirty="0" smtClean="0"/>
              <a:t>On-line attack</a:t>
            </a:r>
          </a:p>
          <a:p>
            <a:pPr lvl="1"/>
            <a:r>
              <a:rPr lang="en-US" dirty="0" smtClean="0"/>
              <a:t>Off-line attack</a:t>
            </a:r>
            <a:endParaRPr lang="en-US" dirty="0"/>
          </a:p>
        </p:txBody>
      </p:sp>
    </p:spTree>
    <p:extLst>
      <p:ext uri="{BB962C8B-B14F-4D97-AF65-F5344CB8AC3E}">
        <p14:creationId xmlns:p14="http://schemas.microsoft.com/office/powerpoint/2010/main" val="213584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Authentication Types</a:t>
            </a:r>
            <a:endParaRPr lang="en-US" dirty="0"/>
          </a:p>
        </p:txBody>
      </p:sp>
      <p:sp>
        <p:nvSpPr>
          <p:cNvPr id="3" name="Content Placeholder 2"/>
          <p:cNvSpPr>
            <a:spLocks noGrp="1"/>
          </p:cNvSpPr>
          <p:nvPr>
            <p:ph idx="1"/>
          </p:nvPr>
        </p:nvSpPr>
        <p:spPr/>
        <p:txBody>
          <a:bodyPr/>
          <a:lstStyle/>
          <a:p>
            <a:r>
              <a:rPr lang="en-US" dirty="0" smtClean="0"/>
              <a:t>Username/Password </a:t>
            </a:r>
          </a:p>
          <a:p>
            <a:r>
              <a:rPr lang="en-US" dirty="0"/>
              <a:t>T</a:t>
            </a:r>
            <a:r>
              <a:rPr lang="en-US" dirty="0" smtClean="0"/>
              <a:t>wo-factor </a:t>
            </a:r>
            <a:r>
              <a:rPr lang="en-US" dirty="0"/>
              <a:t>authentication</a:t>
            </a:r>
            <a:endParaRPr lang="en-US" dirty="0" smtClean="0"/>
          </a:p>
          <a:p>
            <a:r>
              <a:rPr lang="en-US" dirty="0"/>
              <a:t>Biometric </a:t>
            </a:r>
            <a:r>
              <a:rPr lang="en-US" dirty="0" smtClean="0"/>
              <a:t>(fingerprint </a:t>
            </a:r>
            <a:r>
              <a:rPr lang="en-US" dirty="0"/>
              <a:t>or retinal </a:t>
            </a:r>
            <a:r>
              <a:rPr lang="en-US" dirty="0" smtClean="0"/>
              <a:t>scan-based)</a:t>
            </a:r>
            <a:endParaRPr lang="en-US" dirty="0"/>
          </a:p>
        </p:txBody>
      </p:sp>
    </p:spTree>
    <p:extLst>
      <p:ext uri="{BB962C8B-B14F-4D97-AF65-F5344CB8AC3E}">
        <p14:creationId xmlns:p14="http://schemas.microsoft.com/office/powerpoint/2010/main" val="408275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Online Password Attack</a:t>
            </a:r>
            <a:endParaRPr lang="en-US" dirty="0"/>
          </a:p>
        </p:txBody>
      </p:sp>
      <p:sp>
        <p:nvSpPr>
          <p:cNvPr id="3" name="Content Placeholder 2"/>
          <p:cNvSpPr>
            <a:spLocks noGrp="1"/>
          </p:cNvSpPr>
          <p:nvPr>
            <p:ph idx="1"/>
          </p:nvPr>
        </p:nvSpPr>
        <p:spPr/>
        <p:txBody>
          <a:bodyPr/>
          <a:lstStyle/>
          <a:p>
            <a:r>
              <a:rPr lang="en-US" dirty="0" smtClean="0"/>
              <a:t>Brute-forcing tool</a:t>
            </a:r>
          </a:p>
          <a:p>
            <a:pPr lvl="1"/>
            <a:r>
              <a:rPr lang="en-US" dirty="0"/>
              <a:t>try every possible </a:t>
            </a:r>
            <a:r>
              <a:rPr lang="en-US" dirty="0" smtClean="0"/>
              <a:t>username </a:t>
            </a:r>
            <a:r>
              <a:rPr lang="en-US" dirty="0"/>
              <a:t>and password </a:t>
            </a:r>
            <a:r>
              <a:rPr lang="en-US" dirty="0" smtClean="0"/>
              <a:t>combinations, </a:t>
            </a:r>
            <a:r>
              <a:rPr lang="en-US" dirty="0"/>
              <a:t>and given enough time, they will </a:t>
            </a:r>
            <a:r>
              <a:rPr lang="en-US" dirty="0" smtClean="0"/>
              <a:t>find </a:t>
            </a:r>
            <a:r>
              <a:rPr lang="en-US" dirty="0"/>
              <a:t>valid credentials =&gt; </a:t>
            </a:r>
            <a:r>
              <a:rPr lang="en-US" dirty="0" smtClean="0"/>
              <a:t>takes hours </a:t>
            </a:r>
            <a:r>
              <a:rPr lang="en-US" dirty="0"/>
              <a:t>to years and </a:t>
            </a:r>
            <a:r>
              <a:rPr lang="en-US" dirty="0" smtClean="0"/>
              <a:t>even beyond </a:t>
            </a:r>
            <a:r>
              <a:rPr lang="en-US" dirty="0"/>
              <a:t>your natural </a:t>
            </a:r>
            <a:r>
              <a:rPr lang="en-US" dirty="0" smtClean="0"/>
              <a:t>lifetime</a:t>
            </a:r>
          </a:p>
          <a:p>
            <a:r>
              <a:rPr lang="en-US" dirty="0"/>
              <a:t> Dictionary words </a:t>
            </a:r>
            <a:endParaRPr lang="en-US" dirty="0" smtClean="0"/>
          </a:p>
          <a:p>
            <a:pPr lvl="1"/>
            <a:r>
              <a:rPr lang="en-US" dirty="0" smtClean="0"/>
              <a:t>are </a:t>
            </a:r>
            <a:r>
              <a:rPr lang="en-US" dirty="0"/>
              <a:t>easy to remember, so despite </a:t>
            </a:r>
            <a:r>
              <a:rPr lang="en-US" dirty="0" smtClean="0"/>
              <a:t>the </a:t>
            </a:r>
            <a:r>
              <a:rPr lang="en-US" dirty="0"/>
              <a:t>security warnings, many users incorporate them into passwords</a:t>
            </a:r>
          </a:p>
        </p:txBody>
      </p:sp>
    </p:spTree>
    <p:extLst>
      <p:ext uri="{BB962C8B-B14F-4D97-AF65-F5344CB8AC3E}">
        <p14:creationId xmlns:p14="http://schemas.microsoft.com/office/powerpoint/2010/main" val="4007675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Wordlists</a:t>
            </a:r>
            <a:endParaRPr lang="en-US" dirty="0"/>
          </a:p>
        </p:txBody>
      </p:sp>
      <p:sp>
        <p:nvSpPr>
          <p:cNvPr id="3" name="Content Placeholder 2"/>
          <p:cNvSpPr>
            <a:spLocks noGrp="1"/>
          </p:cNvSpPr>
          <p:nvPr>
            <p:ph idx="1"/>
          </p:nvPr>
        </p:nvSpPr>
        <p:spPr/>
        <p:txBody>
          <a:bodyPr/>
          <a:lstStyle/>
          <a:p>
            <a:r>
              <a:rPr lang="en-US" dirty="0" smtClean="0"/>
              <a:t>User list</a:t>
            </a:r>
          </a:p>
          <a:p>
            <a:endParaRPr lang="en-US" dirty="0"/>
          </a:p>
          <a:p>
            <a:endParaRPr lang="en-US" dirty="0" smtClean="0"/>
          </a:p>
          <a:p>
            <a:endParaRPr lang="en-US" dirty="0" smtClean="0"/>
          </a:p>
          <a:p>
            <a:r>
              <a:rPr lang="en-US" dirty="0" smtClean="0"/>
              <a:t>Password lists</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239" y="1700808"/>
            <a:ext cx="42672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44664" y="3284984"/>
            <a:ext cx="4599336" cy="1569660"/>
          </a:xfrm>
          <a:prstGeom prst="rect">
            <a:avLst/>
          </a:prstGeom>
          <a:solidFill>
            <a:schemeClr val="accent6">
              <a:lumMod val="40000"/>
              <a:lumOff val="60000"/>
            </a:schemeClr>
          </a:solidFill>
        </p:spPr>
        <p:txBody>
          <a:bodyPr wrap="none" rtlCol="0">
            <a:spAutoFit/>
          </a:bodyPr>
          <a:lstStyle/>
          <a:p>
            <a:r>
              <a:rPr lang="en-US" sz="1600" b="1" dirty="0" smtClean="0"/>
              <a:t>Internet</a:t>
            </a:r>
            <a:endParaRPr lang="en-US" sz="1600" b="1" dirty="0" smtClean="0">
              <a:hlinkClick r:id="rId3"/>
            </a:endParaRPr>
          </a:p>
          <a:p>
            <a:r>
              <a:rPr lang="en-US" sz="1600" dirty="0" smtClean="0">
                <a:hlinkClick r:id="rId3"/>
              </a:rPr>
              <a:t>https</a:t>
            </a:r>
            <a:r>
              <a:rPr lang="en-US" sz="1600" dirty="0">
                <a:hlinkClick r:id="rId3"/>
              </a:rPr>
              <a:t>://packetstormsecurity.com/Crackers/wordlists</a:t>
            </a:r>
            <a:r>
              <a:rPr lang="en-US" sz="1600" dirty="0" smtClean="0">
                <a:hlinkClick r:id="rId3"/>
              </a:rPr>
              <a:t>/</a:t>
            </a:r>
            <a:endParaRPr lang="en-US" sz="1600" dirty="0" smtClean="0"/>
          </a:p>
          <a:p>
            <a:r>
              <a:rPr lang="en-US" sz="1600" dirty="0">
                <a:hlinkClick r:id="rId4"/>
              </a:rPr>
              <a:t>https://www.openwall.com/wordlists</a:t>
            </a:r>
            <a:r>
              <a:rPr lang="en-US" sz="1600" dirty="0" smtClean="0">
                <a:hlinkClick r:id="rId4"/>
              </a:rPr>
              <a:t>/</a:t>
            </a:r>
            <a:r>
              <a:rPr lang="en-US" sz="1600" dirty="0" smtClean="0"/>
              <a:t> </a:t>
            </a:r>
          </a:p>
          <a:p>
            <a:endParaRPr lang="en-US" sz="1600" dirty="0"/>
          </a:p>
          <a:p>
            <a:r>
              <a:rPr lang="en-US" sz="1600" b="1" dirty="0" smtClean="0"/>
              <a:t>Kali</a:t>
            </a:r>
          </a:p>
          <a:p>
            <a:r>
              <a:rPr lang="en-US" sz="1600" dirty="0" smtClean="0">
                <a:solidFill>
                  <a:srgbClr val="7030A0"/>
                </a:solidFill>
              </a:rPr>
              <a:t>/</a:t>
            </a:r>
            <a:r>
              <a:rPr lang="en-US" sz="1600" dirty="0" err="1" smtClean="0">
                <a:solidFill>
                  <a:srgbClr val="7030A0"/>
                </a:solidFill>
              </a:rPr>
              <a:t>usr</a:t>
            </a:r>
            <a:r>
              <a:rPr lang="en-US" sz="1600" dirty="0" smtClean="0">
                <a:solidFill>
                  <a:srgbClr val="7030A0"/>
                </a:solidFill>
              </a:rPr>
              <a:t>/share/wordlists</a:t>
            </a:r>
            <a:endParaRPr lang="en-US" sz="1600" dirty="0">
              <a:solidFill>
                <a:srgbClr val="7030A0"/>
              </a:solidFill>
            </a:endParaRPr>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193" y="4005064"/>
            <a:ext cx="3914775"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0306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ceWL</a:t>
            </a:r>
            <a:r>
              <a:rPr lang="en-US" dirty="0" smtClean="0"/>
              <a:t> tool</a:t>
            </a:r>
            <a:endParaRPr lang="en-US" dirty="0"/>
          </a:p>
        </p:txBody>
      </p:sp>
      <p:sp>
        <p:nvSpPr>
          <p:cNvPr id="3" name="Content Placeholder 2"/>
          <p:cNvSpPr>
            <a:spLocks noGrp="1"/>
          </p:cNvSpPr>
          <p:nvPr>
            <p:ph idx="1"/>
          </p:nvPr>
        </p:nvSpPr>
        <p:spPr/>
        <p:txBody>
          <a:bodyPr/>
          <a:lstStyle/>
          <a:p>
            <a:r>
              <a:rPr lang="en-US" dirty="0" smtClean="0"/>
              <a:t>To make </a:t>
            </a:r>
            <a:r>
              <a:rPr lang="en-US" dirty="0"/>
              <a:t>educated guesses based on information you </a:t>
            </a:r>
            <a:r>
              <a:rPr lang="en-US" dirty="0" smtClean="0"/>
              <a:t>gather </a:t>
            </a:r>
            <a:r>
              <a:rPr lang="en-US" dirty="0"/>
              <a:t>while performing reconnaissance, a tool like the </a:t>
            </a:r>
            <a:r>
              <a:rPr lang="en-US" b="1" dirty="0" err="1">
                <a:solidFill>
                  <a:srgbClr val="C00000"/>
                </a:solidFill>
              </a:rPr>
              <a:t>ceWL</a:t>
            </a:r>
            <a:r>
              <a:rPr lang="en-US" dirty="0">
                <a:solidFill>
                  <a:srgbClr val="C00000"/>
                </a:solidFill>
              </a:rPr>
              <a:t> </a:t>
            </a:r>
            <a:r>
              <a:rPr lang="en-US" dirty="0" smtClean="0"/>
              <a:t>custom wordlist </a:t>
            </a:r>
            <a:r>
              <a:rPr lang="en-US" dirty="0"/>
              <a:t>generator will search a company website for words to add to </a:t>
            </a:r>
            <a:r>
              <a:rPr lang="en-US" dirty="0" smtClean="0"/>
              <a:t>your </a:t>
            </a:r>
            <a:r>
              <a:rPr lang="en-US" dirty="0"/>
              <a:t>wordlist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140968"/>
            <a:ext cx="5811837"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496723" y="4797152"/>
            <a:ext cx="2483768" cy="1815882"/>
          </a:xfrm>
          <a:prstGeom prst="rect">
            <a:avLst/>
          </a:prstGeom>
          <a:solidFill>
            <a:schemeClr val="accent6">
              <a:lumMod val="20000"/>
              <a:lumOff val="80000"/>
            </a:schemeClr>
          </a:solidFill>
        </p:spPr>
        <p:txBody>
          <a:bodyPr wrap="square" rtlCol="0">
            <a:spAutoFit/>
          </a:bodyPr>
          <a:lstStyle/>
          <a:p>
            <a:r>
              <a:rPr lang="en-US" sz="1600" b="1" dirty="0" smtClean="0"/>
              <a:t>(1) </a:t>
            </a:r>
            <a:r>
              <a:rPr lang="en-US" sz="1600" dirty="0" smtClean="0"/>
              <a:t>-d </a:t>
            </a:r>
            <a:r>
              <a:rPr lang="en-US" sz="1600" dirty="0"/>
              <a:t>(depth) option </a:t>
            </a:r>
            <a:r>
              <a:rPr lang="en-US" sz="1600" dirty="0" smtClean="0"/>
              <a:t> </a:t>
            </a:r>
            <a:r>
              <a:rPr lang="en-US" sz="1600" dirty="0"/>
              <a:t>to specify how many links </a:t>
            </a:r>
            <a:r>
              <a:rPr lang="en-US" sz="1600" dirty="0" err="1"/>
              <a:t>ceWL</a:t>
            </a:r>
            <a:r>
              <a:rPr lang="en-US" sz="1600" dirty="0"/>
              <a:t> should follow on the target website</a:t>
            </a:r>
            <a:r>
              <a:rPr lang="en-US" sz="1600" dirty="0" smtClean="0"/>
              <a:t>.</a:t>
            </a:r>
          </a:p>
          <a:p>
            <a:r>
              <a:rPr lang="en-US" sz="1600" b="1" dirty="0" smtClean="0"/>
              <a:t>(2) </a:t>
            </a:r>
            <a:r>
              <a:rPr lang="en-US" sz="1600" dirty="0" smtClean="0"/>
              <a:t>minimum </a:t>
            </a:r>
            <a:r>
              <a:rPr lang="en-US" sz="1600" dirty="0"/>
              <a:t>word </a:t>
            </a:r>
            <a:r>
              <a:rPr lang="en-US" sz="1600" dirty="0" smtClean="0"/>
              <a:t>length</a:t>
            </a:r>
          </a:p>
          <a:p>
            <a:r>
              <a:rPr lang="en-US" sz="1600" b="1" dirty="0" smtClean="0"/>
              <a:t>(3) </a:t>
            </a:r>
            <a:r>
              <a:rPr lang="en-US" sz="1600" dirty="0" smtClean="0"/>
              <a:t>output </a:t>
            </a:r>
            <a:r>
              <a:rPr lang="en-US" sz="1600" dirty="0" err="1"/>
              <a:t>ceWL’s</a:t>
            </a:r>
            <a:r>
              <a:rPr lang="en-US" sz="1600" dirty="0"/>
              <a:t> results to a file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18" y="6446346"/>
            <a:ext cx="616426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184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Crunch tool</a:t>
            </a:r>
            <a:endParaRPr lang="en-US" dirty="0"/>
          </a:p>
        </p:txBody>
      </p:sp>
      <p:sp>
        <p:nvSpPr>
          <p:cNvPr id="3" name="Content Placeholder 2"/>
          <p:cNvSpPr>
            <a:spLocks noGrp="1"/>
          </p:cNvSpPr>
          <p:nvPr>
            <p:ph idx="1"/>
          </p:nvPr>
        </p:nvSpPr>
        <p:spPr/>
        <p:txBody>
          <a:bodyPr/>
          <a:lstStyle/>
          <a:p>
            <a:r>
              <a:rPr lang="en-US" dirty="0"/>
              <a:t>Another method for creating wordlists is producing a list of every </a:t>
            </a:r>
            <a:r>
              <a:rPr lang="en-US" dirty="0" smtClean="0"/>
              <a:t>possible </a:t>
            </a:r>
            <a:r>
              <a:rPr lang="en-US" dirty="0"/>
              <a:t>combination of a given set of characters, or a list of every </a:t>
            </a:r>
            <a:r>
              <a:rPr lang="en-US" dirty="0" smtClean="0"/>
              <a:t>combination of </a:t>
            </a:r>
            <a:r>
              <a:rPr lang="en-US" dirty="0"/>
              <a:t>characters for a specified number of characters.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588" y="3501008"/>
            <a:ext cx="6345237"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flipH="1">
            <a:off x="3419872" y="3337485"/>
            <a:ext cx="72008" cy="3600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635896" y="3356992"/>
            <a:ext cx="72008" cy="3600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059832" y="3068960"/>
            <a:ext cx="502061" cy="338554"/>
          </a:xfrm>
          <a:prstGeom prst="rect">
            <a:avLst/>
          </a:prstGeom>
          <a:noFill/>
        </p:spPr>
        <p:txBody>
          <a:bodyPr wrap="none" rtlCol="0">
            <a:spAutoFit/>
          </a:bodyPr>
          <a:lstStyle/>
          <a:p>
            <a:r>
              <a:rPr lang="en-US" sz="1600" dirty="0" smtClean="0"/>
              <a:t>min</a:t>
            </a:r>
            <a:endParaRPr lang="en-US" sz="1600" dirty="0"/>
          </a:p>
        </p:txBody>
      </p:sp>
      <p:sp>
        <p:nvSpPr>
          <p:cNvPr id="10" name="TextBox 9"/>
          <p:cNvSpPr txBox="1"/>
          <p:nvPr/>
        </p:nvSpPr>
        <p:spPr>
          <a:xfrm>
            <a:off x="3671900" y="3068960"/>
            <a:ext cx="532197" cy="338554"/>
          </a:xfrm>
          <a:prstGeom prst="rect">
            <a:avLst/>
          </a:prstGeom>
          <a:noFill/>
        </p:spPr>
        <p:txBody>
          <a:bodyPr wrap="none" rtlCol="0">
            <a:spAutoFit/>
          </a:bodyPr>
          <a:lstStyle/>
          <a:p>
            <a:r>
              <a:rPr lang="en-US" sz="1600" dirty="0" smtClean="0"/>
              <a:t>max</a:t>
            </a:r>
            <a:endParaRPr lang="en-US" sz="1600" dirty="0"/>
          </a:p>
        </p:txBody>
      </p:sp>
    </p:spTree>
    <p:extLst>
      <p:ext uri="{BB962C8B-B14F-4D97-AF65-F5344CB8AC3E}">
        <p14:creationId xmlns:p14="http://schemas.microsoft.com/office/powerpoint/2010/main" val="122084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Hydra tool</a:t>
            </a:r>
            <a:endParaRPr lang="en-US" dirty="0"/>
          </a:p>
        </p:txBody>
      </p:sp>
      <p:sp>
        <p:nvSpPr>
          <p:cNvPr id="3" name="Content Placeholder 2"/>
          <p:cNvSpPr>
            <a:spLocks noGrp="1"/>
          </p:cNvSpPr>
          <p:nvPr>
            <p:ph idx="1"/>
          </p:nvPr>
        </p:nvSpPr>
        <p:spPr/>
        <p:txBody>
          <a:bodyPr/>
          <a:lstStyle/>
          <a:p>
            <a:r>
              <a:rPr lang="en-US" dirty="0"/>
              <a:t>If you have a set of credentials that you’d like to try against a running service </a:t>
            </a:r>
            <a:r>
              <a:rPr lang="en-US" dirty="0" smtClean="0"/>
              <a:t>that </a:t>
            </a:r>
            <a:r>
              <a:rPr lang="en-US" dirty="0"/>
              <a:t>requires a login, you can input them manually one by one or use a </a:t>
            </a:r>
            <a:r>
              <a:rPr lang="en-US" dirty="0" smtClean="0"/>
              <a:t>tool, e.g. </a:t>
            </a:r>
            <a:r>
              <a:rPr lang="en-US" b="1" dirty="0" smtClean="0">
                <a:solidFill>
                  <a:srgbClr val="C00000"/>
                </a:solidFill>
              </a:rPr>
              <a:t>Hydra</a:t>
            </a:r>
            <a:r>
              <a:rPr lang="en-US" dirty="0" smtClean="0"/>
              <a:t> to </a:t>
            </a:r>
            <a:r>
              <a:rPr lang="en-US" dirty="0"/>
              <a:t>automate the </a:t>
            </a:r>
            <a:r>
              <a:rPr lang="en-US" dirty="0" smtClean="0"/>
              <a:t>process </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284984"/>
            <a:ext cx="7383463"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644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Hydra tool</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179" y="1988840"/>
            <a:ext cx="7412037"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767" y="4581128"/>
            <a:ext cx="6021387"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5229200"/>
            <a:ext cx="6202363"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777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Offline Password Attacks</a:t>
            </a:r>
            <a:endParaRPr lang="en-US" dirty="0"/>
          </a:p>
        </p:txBody>
      </p:sp>
      <p:sp>
        <p:nvSpPr>
          <p:cNvPr id="3" name="Content Placeholder 2"/>
          <p:cNvSpPr>
            <a:spLocks noGrp="1"/>
          </p:cNvSpPr>
          <p:nvPr>
            <p:ph idx="1"/>
          </p:nvPr>
        </p:nvSpPr>
        <p:spPr/>
        <p:txBody>
          <a:bodyPr/>
          <a:lstStyle/>
          <a:p>
            <a:r>
              <a:rPr lang="en-US" dirty="0" smtClean="0"/>
              <a:t>Method: getting </a:t>
            </a:r>
            <a:r>
              <a:rPr lang="en-US" dirty="0"/>
              <a:t>a </a:t>
            </a:r>
            <a:r>
              <a:rPr lang="en-US" dirty="0" smtClean="0"/>
              <a:t>copy of </a:t>
            </a:r>
            <a:r>
              <a:rPr lang="en-US" dirty="0"/>
              <a:t>the password hashes and attempt to reverse them back to plaintext </a:t>
            </a:r>
            <a:r>
              <a:rPr lang="en-US" dirty="0" smtClean="0"/>
              <a:t>password</a:t>
            </a:r>
          </a:p>
          <a:p>
            <a:pPr lvl="2"/>
            <a:r>
              <a:rPr lang="en-US" dirty="0"/>
              <a:t> If the two hashes are the same, we’ve found the </a:t>
            </a:r>
            <a:r>
              <a:rPr lang="en-US" dirty="0" smtClean="0"/>
              <a:t>correct password.</a:t>
            </a:r>
          </a:p>
          <a:p>
            <a:r>
              <a:rPr lang="en-US" dirty="0" smtClean="0"/>
              <a:t>We </a:t>
            </a:r>
            <a:r>
              <a:rPr lang="en-US" dirty="0"/>
              <a:t>gained access to some password hashes on the Linux </a:t>
            </a:r>
            <a:r>
              <a:rPr lang="en-US" dirty="0" smtClean="0"/>
              <a:t>and </a:t>
            </a:r>
            <a:r>
              <a:rPr lang="en-US" dirty="0"/>
              <a:t>Windows XP </a:t>
            </a:r>
            <a:r>
              <a:rPr lang="en-US" dirty="0" smtClean="0"/>
              <a:t>targets</a:t>
            </a:r>
          </a:p>
          <a:p>
            <a:pPr lvl="2"/>
            <a:r>
              <a:rPr lang="en-US" dirty="0"/>
              <a:t>In Chapter 8, we can use the </a:t>
            </a:r>
            <a:r>
              <a:rPr lang="en-US" dirty="0" err="1">
                <a:solidFill>
                  <a:srgbClr val="FF0000"/>
                </a:solidFill>
              </a:rPr>
              <a:t>hashdump</a:t>
            </a:r>
            <a:r>
              <a:rPr lang="en-US" dirty="0">
                <a:solidFill>
                  <a:srgbClr val="FF0000"/>
                </a:solidFill>
              </a:rPr>
              <a:t> </a:t>
            </a:r>
            <a:r>
              <a:rPr lang="en-US" dirty="0"/>
              <a:t>Meterpreter command to print </a:t>
            </a:r>
            <a:r>
              <a:rPr lang="en-US" dirty="0" smtClean="0"/>
              <a:t> the </a:t>
            </a:r>
            <a:r>
              <a:rPr lang="en-US" dirty="0"/>
              <a:t>hashed Windows passwords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725144"/>
            <a:ext cx="7058372" cy="1623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07504" y="6310530"/>
            <a:ext cx="8856984" cy="523220"/>
          </a:xfrm>
          <a:prstGeom prst="rect">
            <a:avLst/>
          </a:prstGeom>
          <a:solidFill>
            <a:schemeClr val="accent6">
              <a:lumMod val="20000"/>
              <a:lumOff val="80000"/>
            </a:schemeClr>
          </a:solidFill>
          <a:ln>
            <a:solidFill>
              <a:schemeClr val="accent1"/>
            </a:solidFill>
          </a:ln>
        </p:spPr>
        <p:txBody>
          <a:bodyPr wrap="square" rtlCol="0">
            <a:spAutoFit/>
          </a:bodyPr>
          <a:lstStyle/>
          <a:p>
            <a:r>
              <a:rPr lang="en-US" sz="1400" dirty="0"/>
              <a:t>On the Linux target, the </a:t>
            </a:r>
            <a:r>
              <a:rPr lang="en-US" sz="1400" dirty="0" err="1"/>
              <a:t>Vsftpd</a:t>
            </a:r>
            <a:r>
              <a:rPr lang="en-US" sz="1400" dirty="0"/>
              <a:t> smiley-face backdoor gave us root privileges, and thus we can access to the file </a:t>
            </a:r>
            <a:r>
              <a:rPr lang="en-US" sz="1400" dirty="0">
                <a:solidFill>
                  <a:srgbClr val="FF0000"/>
                </a:solidFill>
              </a:rPr>
              <a:t>/</a:t>
            </a:r>
            <a:r>
              <a:rPr lang="en-US" sz="1400" dirty="0" err="1">
                <a:solidFill>
                  <a:srgbClr val="FF0000"/>
                </a:solidFill>
              </a:rPr>
              <a:t>etc</a:t>
            </a:r>
            <a:r>
              <a:rPr lang="en-US" sz="1400" dirty="0">
                <a:solidFill>
                  <a:srgbClr val="FF0000"/>
                </a:solidFill>
              </a:rPr>
              <a:t>/shadow</a:t>
            </a:r>
            <a:r>
              <a:rPr lang="en-US" sz="1400" dirty="0"/>
              <a:t>, which stores Linux password hashes.</a:t>
            </a:r>
          </a:p>
        </p:txBody>
      </p:sp>
    </p:spTree>
    <p:extLst>
      <p:ext uri="{BB962C8B-B14F-4D97-AF65-F5344CB8AC3E}">
        <p14:creationId xmlns:p14="http://schemas.microsoft.com/office/powerpoint/2010/main" val="1372989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Though we were able to use </a:t>
            </a:r>
            <a:r>
              <a:rPr lang="en-US" dirty="0" smtClean="0"/>
              <a:t>Meterpreter </a:t>
            </a:r>
            <a:r>
              <a:rPr lang="en-US" dirty="0"/>
              <a:t>to dump the password hashes from </a:t>
            </a:r>
            <a:r>
              <a:rPr lang="en-US" dirty="0" smtClean="0"/>
              <a:t>XP (as shown </a:t>
            </a:r>
            <a:r>
              <a:rPr lang="en-US" dirty="0"/>
              <a:t>previously), sometimes you’ll be able to get only the </a:t>
            </a:r>
            <a:r>
              <a:rPr lang="en-US" dirty="0">
                <a:solidFill>
                  <a:srgbClr val="FF0000"/>
                </a:solidFill>
              </a:rPr>
              <a:t>SAM file</a:t>
            </a:r>
            <a:r>
              <a:rPr lang="en-US" dirty="0" smtClean="0"/>
              <a:t>.</a:t>
            </a:r>
          </a:p>
          <a:p>
            <a:r>
              <a:rPr lang="en-US" dirty="0" smtClean="0"/>
              <a:t>… but SAM file is </a:t>
            </a:r>
            <a:r>
              <a:rPr lang="en-US" dirty="0"/>
              <a:t>obfuscated </a:t>
            </a:r>
            <a:r>
              <a:rPr lang="en-US" dirty="0" smtClean="0"/>
              <a:t>by encrypting the </a:t>
            </a:r>
            <a:r>
              <a:rPr lang="en-US" dirty="0"/>
              <a:t>password hashes inside the SAM file with 128-bit </a:t>
            </a:r>
            <a:r>
              <a:rPr lang="en-US" dirty="0" err="1"/>
              <a:t>Rivest</a:t>
            </a:r>
            <a:r>
              <a:rPr lang="en-US" dirty="0"/>
              <a:t> Cipher 4 (RC4) </a:t>
            </a:r>
            <a:endParaRPr lang="en-US" dirty="0" smtClean="0"/>
          </a:p>
          <a:p>
            <a:endParaRPr lang="en-US" dirty="0"/>
          </a:p>
          <a:p>
            <a:endParaRPr lang="en-US" dirty="0" smtClean="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4581128"/>
            <a:ext cx="5841285" cy="1712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1272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Security Accounts </a:t>
            </a:r>
            <a:r>
              <a:rPr lang="en-US" dirty="0" smtClean="0"/>
              <a:t>Manager (SAM)</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SAM </a:t>
            </a:r>
            <a:r>
              <a:rPr lang="en-US" dirty="0"/>
              <a:t>is a vital component of how Windows stores passwords locally on the computer system. Storage of user and account information in the SAM database provides system users the ability to authenticate to the local system if an account has been created for them. Passwords stored in the SAM database are stored in either LAN Manager (LM) hash or NT LAN Manager (NTLM) format depending on the policies implemented and enforced for password storage.</a:t>
            </a:r>
          </a:p>
          <a:p>
            <a:endParaRPr lang="en-US" dirty="0"/>
          </a:p>
          <a:p>
            <a:r>
              <a:rPr lang="en-US" dirty="0"/>
              <a:t>During normal operation of a Windows system, the SAM database cannot be copied due to restrictions enforced by the operating system kernel. </a:t>
            </a:r>
            <a:endParaRPr lang="en-US" dirty="0" smtClean="0"/>
          </a:p>
          <a:p>
            <a:r>
              <a:rPr lang="en-US" dirty="0" smtClean="0"/>
              <a:t>The </a:t>
            </a:r>
            <a:r>
              <a:rPr lang="en-US" dirty="0"/>
              <a:t>SAM database is stored in two places within Windows: </a:t>
            </a:r>
            <a:r>
              <a:rPr lang="en-US" dirty="0">
                <a:solidFill>
                  <a:srgbClr val="FF0000"/>
                </a:solidFill>
              </a:rPr>
              <a:t>%</a:t>
            </a:r>
            <a:r>
              <a:rPr lang="en-US" dirty="0" err="1">
                <a:solidFill>
                  <a:srgbClr val="FF0000"/>
                </a:solidFill>
              </a:rPr>
              <a:t>systemroot</a:t>
            </a:r>
            <a:r>
              <a:rPr lang="en-US" dirty="0">
                <a:solidFill>
                  <a:srgbClr val="FF0000"/>
                </a:solidFill>
              </a:rPr>
              <a:t>%\system32\</a:t>
            </a:r>
            <a:r>
              <a:rPr lang="en-US" dirty="0" err="1">
                <a:solidFill>
                  <a:srgbClr val="FF0000"/>
                </a:solidFill>
              </a:rPr>
              <a:t>config</a:t>
            </a:r>
            <a:r>
              <a:rPr lang="en-US" dirty="0">
                <a:solidFill>
                  <a:srgbClr val="FF0000"/>
                </a:solidFill>
              </a:rPr>
              <a:t>\</a:t>
            </a:r>
            <a:r>
              <a:rPr lang="en-US" dirty="0" err="1">
                <a:solidFill>
                  <a:srgbClr val="FF0000"/>
                </a:solidFill>
              </a:rPr>
              <a:t>sam</a:t>
            </a:r>
            <a:r>
              <a:rPr lang="en-US" dirty="0">
                <a:solidFill>
                  <a:srgbClr val="FF0000"/>
                </a:solidFill>
              </a:rPr>
              <a:t> </a:t>
            </a:r>
            <a:r>
              <a:rPr lang="en-US" dirty="0"/>
              <a:t>is the location of the main storage for passwords and </a:t>
            </a:r>
            <a:r>
              <a:rPr lang="en-US" dirty="0">
                <a:solidFill>
                  <a:srgbClr val="FF0000"/>
                </a:solidFill>
              </a:rPr>
              <a:t>%</a:t>
            </a:r>
            <a:r>
              <a:rPr lang="en-US" dirty="0" err="1">
                <a:solidFill>
                  <a:srgbClr val="FF0000"/>
                </a:solidFill>
              </a:rPr>
              <a:t>systemroot</a:t>
            </a:r>
            <a:r>
              <a:rPr lang="en-US" dirty="0">
                <a:solidFill>
                  <a:srgbClr val="FF0000"/>
                </a:solidFill>
              </a:rPr>
              <a:t>%\repair\</a:t>
            </a:r>
            <a:r>
              <a:rPr lang="en-US" dirty="0" err="1">
                <a:solidFill>
                  <a:srgbClr val="FF0000"/>
                </a:solidFill>
              </a:rPr>
              <a:t>sam</a:t>
            </a:r>
            <a:r>
              <a:rPr lang="en-US" dirty="0" err="1"/>
              <a:t>.</a:t>
            </a:r>
            <a:r>
              <a:rPr lang="en-US" dirty="0"/>
              <a:t>_ is a backup of the main file in the event that recovery is required for a repair process.</a:t>
            </a:r>
          </a:p>
        </p:txBody>
      </p:sp>
    </p:spTree>
    <p:extLst>
      <p:ext uri="{BB962C8B-B14F-4D97-AF65-F5344CB8AC3E}">
        <p14:creationId xmlns:p14="http://schemas.microsoft.com/office/powerpoint/2010/main" val="1064217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LM vs. NTLM Hashing Algorithms</a:t>
            </a:r>
          </a:p>
        </p:txBody>
      </p:sp>
      <p:sp>
        <p:nvSpPr>
          <p:cNvPr id="3" name="Content Placeholder 2"/>
          <p:cNvSpPr>
            <a:spLocks noGrp="1"/>
          </p:cNvSpPr>
          <p:nvPr>
            <p:ph idx="1"/>
          </p:nvPr>
        </p:nvSpPr>
        <p:spPr/>
        <p:txBody>
          <a:bodyPr>
            <a:normAutofit fontScale="85000" lnSpcReduction="10000"/>
          </a:bodyPr>
          <a:lstStyle/>
          <a:p>
            <a:r>
              <a:rPr lang="en-US" dirty="0"/>
              <a:t>The LAN Manager hash was one of the first password hashing algorithms to be used by Windows operating systems, and the only version to be supported up until the advent of NTLM used in Windows 2000, XP, Vista, and 7</a:t>
            </a:r>
            <a:r>
              <a:rPr lang="en-US" dirty="0" smtClean="0"/>
              <a:t>.</a:t>
            </a:r>
          </a:p>
          <a:p>
            <a:r>
              <a:rPr lang="en-US" dirty="0"/>
              <a:t>These newer operating systems still support the use of LM hashes for backwards compatibility purposes. However, it is disabled by default for Windows Vista and Windows </a:t>
            </a:r>
            <a:r>
              <a:rPr lang="en-US" dirty="0" smtClean="0"/>
              <a:t>7</a:t>
            </a:r>
          </a:p>
          <a:p>
            <a:r>
              <a:rPr lang="en-US" dirty="0"/>
              <a:t>In earlier versions of Windows, the LM hash is typically stored and transmitted by default. However, in Windows Vista and versions above, the LM hash is not stored by default, nor is it used by default during network authentication. Instead, the newer versions use the NTLMv2 hash as the default authentication method.</a:t>
            </a:r>
          </a:p>
        </p:txBody>
      </p:sp>
    </p:spTree>
    <p:extLst>
      <p:ext uri="{BB962C8B-B14F-4D97-AF65-F5344CB8AC3E}">
        <p14:creationId xmlns:p14="http://schemas.microsoft.com/office/powerpoint/2010/main" val="30441109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LM Hash Example</a:t>
            </a:r>
            <a:endParaRPr lang="en-US" dirty="0"/>
          </a:p>
        </p:txBody>
      </p:sp>
      <p:sp>
        <p:nvSpPr>
          <p:cNvPr id="3" name="Content Placeholder 2"/>
          <p:cNvSpPr>
            <a:spLocks noGrp="1"/>
          </p:cNvSpPr>
          <p:nvPr>
            <p:ph idx="1"/>
          </p:nvPr>
        </p:nvSpPr>
        <p:spPr/>
        <p:txBody>
          <a:bodyPr>
            <a:normAutofit/>
          </a:bodyPr>
          <a:lstStyle/>
          <a:p>
            <a:r>
              <a:rPr lang="en-US" dirty="0"/>
              <a:t>If LM hashes are enabled on your system (Win XP and lower), a hash dump will look like:</a:t>
            </a:r>
          </a:p>
          <a:p>
            <a:endParaRPr lang="en-US" dirty="0" smtClean="0"/>
          </a:p>
          <a:p>
            <a:endParaRPr lang="en-US" dirty="0"/>
          </a:p>
          <a:p>
            <a:r>
              <a:rPr lang="en-US" dirty="0" smtClean="0"/>
              <a:t>If </a:t>
            </a:r>
            <a:r>
              <a:rPr lang="en-US" dirty="0"/>
              <a:t>LM hashes are disabled on your system (Win Vista, 7, 8+), a hash dump will look like:</a:t>
            </a:r>
          </a:p>
          <a:p>
            <a:endParaRPr lang="en-US" dirty="0"/>
          </a:p>
        </p:txBody>
      </p:sp>
      <p:sp>
        <p:nvSpPr>
          <p:cNvPr id="4" name="TextBox 3"/>
          <p:cNvSpPr txBox="1"/>
          <p:nvPr/>
        </p:nvSpPr>
        <p:spPr>
          <a:xfrm>
            <a:off x="323528" y="2420888"/>
            <a:ext cx="8751691" cy="338554"/>
          </a:xfrm>
          <a:prstGeom prst="rect">
            <a:avLst/>
          </a:prstGeom>
          <a:noFill/>
          <a:ln>
            <a:solidFill>
              <a:schemeClr val="accent1"/>
            </a:solidFill>
          </a:ln>
        </p:spPr>
        <p:txBody>
          <a:bodyPr wrap="none" rtlCol="0">
            <a:spAutoFit/>
          </a:bodyPr>
          <a:lstStyle/>
          <a:p>
            <a:r>
              <a:rPr lang="en-US" sz="1600" dirty="0"/>
              <a:t>Administrator:</a:t>
            </a:r>
            <a:r>
              <a:rPr lang="en-US" sz="1600" dirty="0">
                <a:solidFill>
                  <a:srgbClr val="FF0000"/>
                </a:solidFill>
              </a:rPr>
              <a:t>500</a:t>
            </a:r>
            <a:r>
              <a:rPr lang="en-US" sz="1600" dirty="0"/>
              <a:t>:</a:t>
            </a:r>
            <a:r>
              <a:rPr lang="en-US" sz="1600" dirty="0">
                <a:solidFill>
                  <a:srgbClr val="0070C0"/>
                </a:solidFill>
              </a:rPr>
              <a:t>01FC5A6BE7BC6929AAD3B435B51404EE</a:t>
            </a:r>
            <a:r>
              <a:rPr lang="en-US" sz="1600" dirty="0"/>
              <a:t>:</a:t>
            </a:r>
            <a:r>
              <a:rPr lang="en-US" sz="1600" dirty="0">
                <a:solidFill>
                  <a:srgbClr val="92D050"/>
                </a:solidFill>
              </a:rPr>
              <a:t>0CB6948805F797BF2A82807973B89537</a:t>
            </a:r>
            <a:r>
              <a:rPr lang="en-US" sz="1600" dirty="0" smtClean="0"/>
              <a:t>:::</a:t>
            </a:r>
            <a:endParaRPr lang="en-US" sz="1600" dirty="0"/>
          </a:p>
        </p:txBody>
      </p:sp>
      <p:sp>
        <p:nvSpPr>
          <p:cNvPr id="5" name="TextBox 4"/>
          <p:cNvSpPr txBox="1"/>
          <p:nvPr/>
        </p:nvSpPr>
        <p:spPr>
          <a:xfrm>
            <a:off x="323528" y="4497828"/>
            <a:ext cx="8753935" cy="338554"/>
          </a:xfrm>
          <a:prstGeom prst="rect">
            <a:avLst/>
          </a:prstGeom>
          <a:noFill/>
          <a:ln>
            <a:solidFill>
              <a:schemeClr val="accent1"/>
            </a:solidFill>
          </a:ln>
        </p:spPr>
        <p:txBody>
          <a:bodyPr wrap="none" rtlCol="0">
            <a:spAutoFit/>
          </a:bodyPr>
          <a:lstStyle/>
          <a:p>
            <a:r>
              <a:rPr lang="en-US" sz="1600" dirty="0"/>
              <a:t>Administrator:</a:t>
            </a:r>
            <a:r>
              <a:rPr lang="en-US" sz="1600" dirty="0">
                <a:solidFill>
                  <a:srgbClr val="C00000"/>
                </a:solidFill>
              </a:rPr>
              <a:t>500</a:t>
            </a:r>
            <a:r>
              <a:rPr lang="en-US" sz="1600" dirty="0"/>
              <a:t>:</a:t>
            </a:r>
            <a:r>
              <a:rPr lang="en-US" sz="1600" dirty="0">
                <a:solidFill>
                  <a:srgbClr val="0070C0"/>
                </a:solidFill>
              </a:rPr>
              <a:t>NO PASSWORD*********************:</a:t>
            </a:r>
            <a:r>
              <a:rPr lang="en-US" sz="1600" dirty="0">
                <a:solidFill>
                  <a:srgbClr val="92D050"/>
                </a:solidFill>
              </a:rPr>
              <a:t>0CB6948805F797BF2A82807973B89537</a:t>
            </a:r>
            <a:r>
              <a:rPr lang="en-US" sz="1600" dirty="0" smtClean="0">
                <a:solidFill>
                  <a:srgbClr val="92D050"/>
                </a:solidFill>
              </a:rPr>
              <a:t>:::</a:t>
            </a:r>
            <a:endParaRPr lang="en-US" sz="1600" dirty="0">
              <a:solidFill>
                <a:srgbClr val="92D050"/>
              </a:solidFill>
            </a:endParaRPr>
          </a:p>
        </p:txBody>
      </p:sp>
      <p:sp>
        <p:nvSpPr>
          <p:cNvPr id="6" name="TextBox 5"/>
          <p:cNvSpPr txBox="1"/>
          <p:nvPr/>
        </p:nvSpPr>
        <p:spPr>
          <a:xfrm>
            <a:off x="410983" y="5301208"/>
            <a:ext cx="4714176" cy="954107"/>
          </a:xfrm>
          <a:prstGeom prst="rect">
            <a:avLst/>
          </a:prstGeom>
          <a:noFill/>
          <a:ln>
            <a:solidFill>
              <a:schemeClr val="accent1"/>
            </a:solidFill>
          </a:ln>
        </p:spPr>
        <p:txBody>
          <a:bodyPr wrap="none" rtlCol="0">
            <a:spAutoFit/>
          </a:bodyPr>
          <a:lstStyle/>
          <a:p>
            <a:r>
              <a:rPr lang="en-US" sz="1400" dirty="0" smtClean="0"/>
              <a:t>(1) First filed</a:t>
            </a:r>
            <a:r>
              <a:rPr lang="en-US" sz="1400" dirty="0" smtClean="0">
                <a:solidFill>
                  <a:srgbClr val="C00000"/>
                </a:solidFill>
              </a:rPr>
              <a:t>: </a:t>
            </a:r>
            <a:r>
              <a:rPr lang="en-US" sz="1400" dirty="0" smtClean="0"/>
              <a:t>the username</a:t>
            </a:r>
          </a:p>
          <a:p>
            <a:r>
              <a:rPr lang="en-US" sz="1400" dirty="0" smtClean="0">
                <a:solidFill>
                  <a:srgbClr val="C00000"/>
                </a:solidFill>
              </a:rPr>
              <a:t>(2) Second field</a:t>
            </a:r>
            <a:r>
              <a:rPr lang="en-US" sz="1400" dirty="0"/>
              <a:t>: </a:t>
            </a:r>
            <a:r>
              <a:rPr lang="en-US" sz="1400" dirty="0" smtClean="0"/>
              <a:t>the </a:t>
            </a:r>
            <a:r>
              <a:rPr lang="en-US" sz="1400" dirty="0"/>
              <a:t>SID (Security </a:t>
            </a:r>
            <a:r>
              <a:rPr lang="en-US" sz="1400" dirty="0" err="1"/>
              <a:t>IDentifier</a:t>
            </a:r>
            <a:r>
              <a:rPr lang="en-US" sz="1400" dirty="0"/>
              <a:t>) for that username</a:t>
            </a:r>
          </a:p>
          <a:p>
            <a:r>
              <a:rPr lang="en-US" sz="1400" dirty="0" smtClean="0">
                <a:solidFill>
                  <a:srgbClr val="0070C0"/>
                </a:solidFill>
              </a:rPr>
              <a:t>(3) Third </a:t>
            </a:r>
            <a:r>
              <a:rPr lang="en-US" sz="1400" dirty="0">
                <a:solidFill>
                  <a:srgbClr val="0070C0"/>
                </a:solidFill>
              </a:rPr>
              <a:t>field</a:t>
            </a:r>
            <a:r>
              <a:rPr lang="en-US" sz="1400" dirty="0"/>
              <a:t>: the LM hash</a:t>
            </a:r>
          </a:p>
          <a:p>
            <a:r>
              <a:rPr lang="en-US" sz="1400" dirty="0" smtClean="0">
                <a:solidFill>
                  <a:srgbClr val="92D050"/>
                </a:solidFill>
              </a:rPr>
              <a:t>(4) Forth </a:t>
            </a:r>
            <a:r>
              <a:rPr lang="en-US" sz="1400" dirty="0">
                <a:solidFill>
                  <a:srgbClr val="92D050"/>
                </a:solidFill>
              </a:rPr>
              <a:t>field</a:t>
            </a:r>
            <a:r>
              <a:rPr lang="en-US" sz="1400" dirty="0"/>
              <a:t>: the NTLM </a:t>
            </a:r>
            <a:r>
              <a:rPr lang="en-US" sz="1400" dirty="0" smtClean="0"/>
              <a:t>hash</a:t>
            </a:r>
            <a:endParaRPr lang="en-US" sz="1400" dirty="0"/>
          </a:p>
        </p:txBody>
      </p:sp>
      <p:sp>
        <p:nvSpPr>
          <p:cNvPr id="9" name="Oval 8"/>
          <p:cNvSpPr/>
          <p:nvPr/>
        </p:nvSpPr>
        <p:spPr>
          <a:xfrm>
            <a:off x="1223628" y="2179455"/>
            <a:ext cx="216024" cy="26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12" name="Oval 11"/>
          <p:cNvSpPr/>
          <p:nvPr/>
        </p:nvSpPr>
        <p:spPr>
          <a:xfrm>
            <a:off x="1691680" y="2187081"/>
            <a:ext cx="216024" cy="26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3" name="Oval 12"/>
          <p:cNvSpPr/>
          <p:nvPr/>
        </p:nvSpPr>
        <p:spPr>
          <a:xfrm>
            <a:off x="3347864" y="2215362"/>
            <a:ext cx="216024" cy="26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14" name="Oval 13"/>
          <p:cNvSpPr/>
          <p:nvPr/>
        </p:nvSpPr>
        <p:spPr>
          <a:xfrm>
            <a:off x="7020272" y="2187081"/>
            <a:ext cx="216024" cy="26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6809842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LM </a:t>
            </a:r>
            <a:r>
              <a:rPr lang="en-US" dirty="0" smtClean="0"/>
              <a:t>Hash Algorithm</a:t>
            </a:r>
            <a:endParaRPr lang="en-US" dirty="0"/>
          </a:p>
        </p:txBody>
      </p:sp>
      <p:sp>
        <p:nvSpPr>
          <p:cNvPr id="3" name="Content Placeholder 2"/>
          <p:cNvSpPr>
            <a:spLocks noGrp="1"/>
          </p:cNvSpPr>
          <p:nvPr>
            <p:ph idx="1"/>
          </p:nvPr>
        </p:nvSpPr>
        <p:spPr/>
        <p:txBody>
          <a:bodyPr>
            <a:normAutofit/>
          </a:bodyPr>
          <a:lstStyle/>
          <a:p>
            <a:r>
              <a:rPr lang="en-US" sz="2400" dirty="0"/>
              <a:t>When a user creates a new password, this password is converted to all uppercase</a:t>
            </a:r>
          </a:p>
          <a:p>
            <a:r>
              <a:rPr lang="en-US" sz="2400" dirty="0"/>
              <a:t>then it's padded out to 14 characters</a:t>
            </a:r>
          </a:p>
          <a:p>
            <a:r>
              <a:rPr lang="en-US" sz="2400" dirty="0"/>
              <a:t>The password is then split into two 7-byte chunks</a:t>
            </a:r>
          </a:p>
          <a:p>
            <a:r>
              <a:rPr lang="en-US" sz="2400" dirty="0"/>
              <a:t>The two chunks then will be used as a key in a Data Encryption Standard (DES) encryption to encrypt a fixed value</a:t>
            </a:r>
          </a:p>
          <a:p>
            <a:r>
              <a:rPr lang="en-US" sz="2400" dirty="0"/>
              <a:t>The values of the two DES operations are concatenated and the result is stored as the LM hash</a:t>
            </a:r>
          </a:p>
        </p:txBody>
      </p:sp>
      <p:sp>
        <p:nvSpPr>
          <p:cNvPr id="4" name="TextBox 3"/>
          <p:cNvSpPr txBox="1"/>
          <p:nvPr/>
        </p:nvSpPr>
        <p:spPr>
          <a:xfrm>
            <a:off x="251520" y="4869160"/>
            <a:ext cx="8712968" cy="1754326"/>
          </a:xfrm>
          <a:prstGeom prst="rect">
            <a:avLst/>
          </a:prstGeom>
          <a:solidFill>
            <a:schemeClr val="accent6">
              <a:lumMod val="20000"/>
              <a:lumOff val="80000"/>
            </a:schemeClr>
          </a:solidFill>
        </p:spPr>
        <p:txBody>
          <a:bodyPr wrap="square" rtlCol="0">
            <a:spAutoFit/>
          </a:bodyPr>
          <a:lstStyle/>
          <a:p>
            <a:r>
              <a:rPr lang="en-US" b="1" dirty="0"/>
              <a:t>LM hash weaknesses</a:t>
            </a:r>
            <a:endParaRPr lang="en-US" dirty="0"/>
          </a:p>
          <a:p>
            <a:r>
              <a:rPr lang="en-US" dirty="0"/>
              <a:t>The password length is limited to 14 characters, broken up into two independent 7-byte </a:t>
            </a:r>
            <a:r>
              <a:rPr lang="en-US" dirty="0" smtClean="0"/>
              <a:t>chunks.</a:t>
            </a:r>
          </a:p>
          <a:p>
            <a:r>
              <a:rPr lang="en-US" dirty="0" smtClean="0"/>
              <a:t>the </a:t>
            </a:r>
            <a:r>
              <a:rPr lang="en-US" dirty="0"/>
              <a:t>password is case-insensitive which decreases the key space available for the users to choose their passwords from</a:t>
            </a:r>
          </a:p>
          <a:p>
            <a:endParaRPr lang="en-US" dirty="0"/>
          </a:p>
        </p:txBody>
      </p:sp>
    </p:spTree>
    <p:extLst>
      <p:ext uri="{BB962C8B-B14F-4D97-AF65-F5344CB8AC3E}">
        <p14:creationId xmlns:p14="http://schemas.microsoft.com/office/powerpoint/2010/main" val="12264083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NTLM Hash</a:t>
            </a:r>
            <a:endParaRPr lang="en-US" dirty="0"/>
          </a:p>
        </p:txBody>
      </p:sp>
      <p:sp>
        <p:nvSpPr>
          <p:cNvPr id="3" name="Content Placeholder 2"/>
          <p:cNvSpPr>
            <a:spLocks noGrp="1"/>
          </p:cNvSpPr>
          <p:nvPr>
            <p:ph idx="1"/>
          </p:nvPr>
        </p:nvSpPr>
        <p:spPr/>
        <p:txBody>
          <a:bodyPr/>
          <a:lstStyle/>
          <a:p>
            <a:r>
              <a:rPr lang="en-US" dirty="0"/>
              <a:t>NTLM was accepted as the new authentication method of choice and implemented with Windows NT 4. </a:t>
            </a:r>
            <a:r>
              <a:rPr lang="en-US" dirty="0" smtClean="0"/>
              <a:t>It uses </a:t>
            </a:r>
            <a:r>
              <a:rPr lang="en-US" dirty="0">
                <a:solidFill>
                  <a:srgbClr val="C00000"/>
                </a:solidFill>
              </a:rPr>
              <a:t>MD4</a:t>
            </a:r>
            <a:r>
              <a:rPr lang="en-US" dirty="0"/>
              <a:t> </a:t>
            </a:r>
            <a:r>
              <a:rPr lang="en-US" dirty="0" smtClean="0"/>
              <a:t>(NTLM v1) and </a:t>
            </a:r>
            <a:r>
              <a:rPr lang="en-US" dirty="0" smtClean="0">
                <a:solidFill>
                  <a:srgbClr val="C00000"/>
                </a:solidFill>
              </a:rPr>
              <a:t>MD5</a:t>
            </a:r>
            <a:r>
              <a:rPr lang="en-US" dirty="0" smtClean="0"/>
              <a:t> (NTLM v2) hashing </a:t>
            </a:r>
            <a:r>
              <a:rPr lang="en-US" dirty="0"/>
              <a:t>algorithm to create the hash based upon a series of mathematical </a:t>
            </a:r>
            <a:r>
              <a:rPr lang="en-US" dirty="0" smtClean="0"/>
              <a:t>calculations.</a:t>
            </a:r>
          </a:p>
          <a:p>
            <a:pPr lvl="2"/>
            <a:r>
              <a:rPr lang="en-US" dirty="0" smtClean="0"/>
              <a:t>MD4/MD5 </a:t>
            </a:r>
            <a:r>
              <a:rPr lang="en-US" dirty="0"/>
              <a:t>is considered to be significantly stronger than DES</a:t>
            </a:r>
          </a:p>
        </p:txBody>
      </p:sp>
      <p:sp>
        <p:nvSpPr>
          <p:cNvPr id="4" name="TextBox 3"/>
          <p:cNvSpPr txBox="1"/>
          <p:nvPr/>
        </p:nvSpPr>
        <p:spPr>
          <a:xfrm>
            <a:off x="467544" y="4509120"/>
            <a:ext cx="8424936" cy="2031325"/>
          </a:xfrm>
          <a:prstGeom prst="rect">
            <a:avLst/>
          </a:prstGeom>
          <a:solidFill>
            <a:schemeClr val="accent6">
              <a:lumMod val="20000"/>
              <a:lumOff val="80000"/>
            </a:schemeClr>
          </a:solidFill>
        </p:spPr>
        <p:txBody>
          <a:bodyPr wrap="square" rtlCol="0">
            <a:spAutoFit/>
          </a:bodyPr>
          <a:lstStyle/>
          <a:p>
            <a:r>
              <a:rPr lang="en-US" b="1" dirty="0" smtClean="0"/>
              <a:t>NTLM Algorithm</a:t>
            </a:r>
          </a:p>
          <a:p>
            <a:endParaRPr lang="en-US" dirty="0" smtClean="0"/>
          </a:p>
          <a:p>
            <a:r>
              <a:rPr lang="en-US" dirty="0" smtClean="0"/>
              <a:t>It </a:t>
            </a:r>
            <a:r>
              <a:rPr lang="en-US" dirty="0"/>
              <a:t>takes the password, hashes it using the MD4 algorithm</a:t>
            </a:r>
          </a:p>
          <a:p>
            <a:r>
              <a:rPr lang="en-US" dirty="0"/>
              <a:t>It does not break up the password into chunks</a:t>
            </a:r>
          </a:p>
          <a:p>
            <a:r>
              <a:rPr lang="en-US" dirty="0"/>
              <a:t>the password is case-sensitive</a:t>
            </a:r>
          </a:p>
          <a:p>
            <a:r>
              <a:rPr lang="en-US" dirty="0"/>
              <a:t>can support very long passwords (127 characters)</a:t>
            </a:r>
          </a:p>
          <a:p>
            <a:endParaRPr lang="en-US" dirty="0"/>
          </a:p>
        </p:txBody>
      </p:sp>
    </p:spTree>
    <p:extLst>
      <p:ext uri="{BB962C8B-B14F-4D97-AF65-F5344CB8AC3E}">
        <p14:creationId xmlns:p14="http://schemas.microsoft.com/office/powerpoint/2010/main" val="1804806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 encryption key is called the </a:t>
            </a:r>
            <a:r>
              <a:rPr lang="en-US" dirty="0" err="1">
                <a:solidFill>
                  <a:srgbClr val="FF0000"/>
                </a:solidFill>
              </a:rPr>
              <a:t>bootkey</a:t>
            </a:r>
            <a:r>
              <a:rPr lang="en-US" dirty="0"/>
              <a:t> stored in the Windows SYSTEM file (</a:t>
            </a:r>
            <a:r>
              <a:rPr lang="en-US" i="1" dirty="0"/>
              <a:t>C:\Windows\repair </a:t>
            </a:r>
            <a:r>
              <a:rPr lang="en-US" dirty="0"/>
              <a:t>directory).</a:t>
            </a:r>
          </a:p>
          <a:p>
            <a:endParaRPr lang="en-US" dirty="0" smtClean="0"/>
          </a:p>
          <a:p>
            <a:endParaRPr lang="en-US" dirty="0"/>
          </a:p>
          <a:p>
            <a:endParaRPr lang="en-US" dirty="0" smtClean="0"/>
          </a:p>
          <a:p>
            <a:r>
              <a:rPr lang="en-US" dirty="0" smtClean="0"/>
              <a:t>Once </a:t>
            </a:r>
            <a:r>
              <a:rPr lang="en-US" dirty="0"/>
              <a:t>we have the </a:t>
            </a:r>
            <a:r>
              <a:rPr lang="en-US" dirty="0" err="1">
                <a:solidFill>
                  <a:srgbClr val="FF0000"/>
                </a:solidFill>
              </a:rPr>
              <a:t>bootkey</a:t>
            </a:r>
            <a:r>
              <a:rPr lang="en-US" dirty="0"/>
              <a:t>, we can use </a:t>
            </a:r>
            <a:r>
              <a:rPr lang="en-US" dirty="0">
                <a:solidFill>
                  <a:srgbClr val="FF0000"/>
                </a:solidFill>
              </a:rPr>
              <a:t>Samdump2</a:t>
            </a:r>
            <a:r>
              <a:rPr lang="en-US" dirty="0"/>
              <a:t> to retrieve </a:t>
            </a:r>
            <a:r>
              <a:rPr lang="en-US" dirty="0" smtClean="0"/>
              <a:t>the </a:t>
            </a:r>
            <a:r>
              <a:rPr lang="en-US" dirty="0"/>
              <a:t>password hashes from the SAM file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7649" y="2132856"/>
            <a:ext cx="3964675"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765" y="4797152"/>
            <a:ext cx="5906244" cy="1859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7340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r>
              <a:rPr lang="en-US" dirty="0" smtClean="0"/>
              <a:t>racking </a:t>
            </a:r>
            <a:r>
              <a:rPr lang="en-US" dirty="0"/>
              <a:t>passwords</a:t>
            </a:r>
          </a:p>
        </p:txBody>
      </p:sp>
      <p:sp>
        <p:nvSpPr>
          <p:cNvPr id="3" name="Content Placeholder 2"/>
          <p:cNvSpPr>
            <a:spLocks noGrp="1"/>
          </p:cNvSpPr>
          <p:nvPr>
            <p:ph idx="1"/>
          </p:nvPr>
        </p:nvSpPr>
        <p:spPr/>
        <p:txBody>
          <a:bodyPr/>
          <a:lstStyle/>
          <a:p>
            <a:r>
              <a:rPr lang="en-US" b="1" dirty="0"/>
              <a:t>John </a:t>
            </a:r>
            <a:r>
              <a:rPr lang="en-US" b="1" dirty="0" smtClean="0"/>
              <a:t>the Ripper</a:t>
            </a:r>
          </a:p>
          <a:p>
            <a:pPr lvl="2"/>
            <a:r>
              <a:rPr lang="en-US" dirty="0"/>
              <a:t>One of the more popular tools for cracking passwords is John the Ripper. </a:t>
            </a:r>
          </a:p>
          <a:p>
            <a:pPr lvl="2"/>
            <a:r>
              <a:rPr lang="en-US" dirty="0"/>
              <a:t>The default mode for John the Ripper is brute forcing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17" y="3140968"/>
            <a:ext cx="7412037"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2544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 password hashes</a:t>
            </a:r>
          </a:p>
        </p:txBody>
      </p:sp>
      <p:sp>
        <p:nvSpPr>
          <p:cNvPr id="3" name="Content Placeholder 2"/>
          <p:cNvSpPr>
            <a:spLocks noGrp="1"/>
          </p:cNvSpPr>
          <p:nvPr>
            <p:ph idx="1"/>
          </p:nvPr>
        </p:nvSpPr>
        <p:spPr/>
        <p:txBody>
          <a:bodyPr/>
          <a:lstStyle/>
          <a:p>
            <a:r>
              <a:rPr lang="en-US" dirty="0" smtClean="0"/>
              <a:t>/</a:t>
            </a:r>
            <a:r>
              <a:rPr lang="en-US" dirty="0" err="1" smtClean="0"/>
              <a:t>etc</a:t>
            </a:r>
            <a:r>
              <a:rPr lang="en-US" dirty="0" smtClean="0"/>
              <a:t>/shadow</a:t>
            </a:r>
          </a:p>
          <a:p>
            <a:pPr lvl="2"/>
            <a:r>
              <a:rPr lang="en-US" dirty="0"/>
              <a:t>contains the hashed password and the password expiry data</a:t>
            </a:r>
            <a:r>
              <a:rPr lang="en-US" dirty="0" smtClean="0"/>
              <a:t>.</a:t>
            </a:r>
          </a:p>
          <a:p>
            <a:r>
              <a:rPr lang="en-US" dirty="0" smtClean="0"/>
              <a:t>/</a:t>
            </a:r>
            <a:r>
              <a:rPr lang="en-US" dirty="0" err="1" smtClean="0"/>
              <a:t>etc</a:t>
            </a:r>
            <a:r>
              <a:rPr lang="en-US" dirty="0" smtClean="0"/>
              <a:t>/password</a:t>
            </a:r>
          </a:p>
          <a:p>
            <a:pPr lvl="2"/>
            <a:r>
              <a:rPr lang="en-US" dirty="0"/>
              <a:t>contains the users' public information (UID, full name, home directory)</a:t>
            </a:r>
          </a:p>
        </p:txBody>
      </p:sp>
    </p:spTree>
    <p:extLst>
      <p:ext uri="{BB962C8B-B14F-4D97-AF65-F5344CB8AC3E}">
        <p14:creationId xmlns:p14="http://schemas.microsoft.com/office/powerpoint/2010/main" val="1382850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Dumping Plaintext Passwords from Memory </a:t>
            </a:r>
            <a:r>
              <a:rPr lang="en-US" dirty="0" smtClean="0"/>
              <a:t>with WCE</a:t>
            </a:r>
            <a:endParaRPr lang="en-US" dirty="0"/>
          </a:p>
        </p:txBody>
      </p:sp>
      <p:sp>
        <p:nvSpPr>
          <p:cNvPr id="3" name="Content Placeholder 2"/>
          <p:cNvSpPr>
            <a:spLocks noGrp="1"/>
          </p:cNvSpPr>
          <p:nvPr>
            <p:ph idx="1"/>
          </p:nvPr>
        </p:nvSpPr>
        <p:spPr/>
        <p:txBody>
          <a:bodyPr/>
          <a:lstStyle/>
          <a:p>
            <a:r>
              <a:rPr lang="en-US" dirty="0"/>
              <a:t>If we have access to a Windows system, in some cases we can </a:t>
            </a:r>
            <a:r>
              <a:rPr lang="en-US" dirty="0" smtClean="0"/>
              <a:t>pull plaintext </a:t>
            </a:r>
            <a:r>
              <a:rPr lang="en-US" dirty="0"/>
              <a:t>passwords directly from memory</a:t>
            </a:r>
            <a:r>
              <a:rPr lang="en-US" dirty="0" smtClean="0"/>
              <a:t>.</a:t>
            </a:r>
          </a:p>
          <a:p>
            <a:pPr lvl="2"/>
            <a:r>
              <a:rPr lang="en-US" dirty="0"/>
              <a:t>One tool with this </a:t>
            </a:r>
            <a:r>
              <a:rPr lang="en-US" dirty="0" smtClean="0"/>
              <a:t>functionality is </a:t>
            </a:r>
            <a:r>
              <a:rPr lang="en-US" dirty="0"/>
              <a:t>the </a:t>
            </a:r>
            <a:r>
              <a:rPr lang="en-US" dirty="0">
                <a:solidFill>
                  <a:srgbClr val="FF0000"/>
                </a:solidFill>
              </a:rPr>
              <a:t>Windows Credential Editor</a:t>
            </a:r>
            <a:r>
              <a:rPr lang="en-US" dirty="0"/>
              <a:t> (</a:t>
            </a:r>
            <a:r>
              <a:rPr lang="en-US" dirty="0">
                <a:solidFill>
                  <a:srgbClr val="FF0000"/>
                </a:solidFill>
              </a:rPr>
              <a:t>WCE</a:t>
            </a:r>
            <a:r>
              <a:rPr lang="en-US" dirty="0"/>
              <a:t>)</a:t>
            </a:r>
          </a:p>
        </p:txBody>
      </p:sp>
    </p:spTree>
    <p:extLst>
      <p:ext uri="{BB962C8B-B14F-4D97-AF65-F5344CB8AC3E}">
        <p14:creationId xmlns:p14="http://schemas.microsoft.com/office/powerpoint/2010/main" val="1283789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29006</TotalTime>
  <Words>1187</Words>
  <Application>Microsoft Office PowerPoint</Application>
  <PresentationFormat>On-screen Show (4:3)</PresentationFormat>
  <Paragraphs>109</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Penetration Testing Password Attack</vt:lpstr>
      <vt:lpstr>PowerPoint Presentation</vt:lpstr>
      <vt:lpstr>Authentication Types</vt:lpstr>
      <vt:lpstr>Online Password Attack</vt:lpstr>
      <vt:lpstr>Wordlists</vt:lpstr>
      <vt:lpstr>ceWL tool</vt:lpstr>
      <vt:lpstr>Crunch tool</vt:lpstr>
      <vt:lpstr>Hydra tool</vt:lpstr>
      <vt:lpstr>Hydra tool</vt:lpstr>
      <vt:lpstr>Offline Password Attacks</vt:lpstr>
      <vt:lpstr>PowerPoint Presentation</vt:lpstr>
      <vt:lpstr>Security Accounts Manager (SAM)</vt:lpstr>
      <vt:lpstr>LM vs. NTLM Hashing Algorithms</vt:lpstr>
      <vt:lpstr>LM Hash Example</vt:lpstr>
      <vt:lpstr>LM Hash Algorithm</vt:lpstr>
      <vt:lpstr>NTLM Hash</vt:lpstr>
      <vt:lpstr>PowerPoint Presentation</vt:lpstr>
      <vt:lpstr>Cracking passwords</vt:lpstr>
      <vt:lpstr>Linux password hashes</vt:lpstr>
      <vt:lpstr>Dumping Plaintext Passwords from Memory with WCE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mã độc</dc:title>
  <dc:creator>TTS</dc:creator>
  <cp:lastModifiedBy>tran the son</cp:lastModifiedBy>
  <cp:revision>1436</cp:revision>
  <dcterms:created xsi:type="dcterms:W3CDTF">2017-06-08T06:53:33Z</dcterms:created>
  <dcterms:modified xsi:type="dcterms:W3CDTF">2023-09-11T16:12:00Z</dcterms:modified>
</cp:coreProperties>
</file>