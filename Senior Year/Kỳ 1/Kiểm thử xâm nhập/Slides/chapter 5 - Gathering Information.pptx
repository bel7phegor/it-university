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008" autoAdjust="0"/>
  </p:normalViewPr>
  <p:slideViewPr>
    <p:cSldViewPr>
      <p:cViewPr varScale="1">
        <p:scale>
          <a:sx n="88" d="100"/>
          <a:sy n="88" d="100"/>
        </p:scale>
        <p:origin x="-1670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9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956"/>
    </p:cViewPr>
  </p:sorterViewPr>
  <p:notesViewPr>
    <p:cSldViewPr>
      <p:cViewPr>
        <p:scale>
          <a:sx n="150" d="100"/>
          <a:sy n="150" d="100"/>
        </p:scale>
        <p:origin x="-810" y="29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B0644-BD0B-40B8-AF7A-8CD10AC08897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3A334-FE4D-4C3E-A61B-575B8EC3A5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19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1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62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23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76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09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8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86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90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8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21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/>
              <a:t>19/07/2023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4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 smtClean="0"/>
              <a:t>Penetration </a:t>
            </a:r>
            <a:r>
              <a:rPr lang="en-GB" sz="2800" dirty="0"/>
              <a:t>Testing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Gathering Information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1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Source Intelligence </a:t>
            </a:r>
            <a:r>
              <a:rPr lang="en-US" dirty="0" smtClean="0"/>
              <a:t>Gathering</a:t>
            </a:r>
          </a:p>
          <a:p>
            <a:r>
              <a:rPr lang="en-US" dirty="0"/>
              <a:t>Port Scanning</a:t>
            </a:r>
          </a:p>
        </p:txBody>
      </p:sp>
    </p:spTree>
    <p:extLst>
      <p:ext uri="{BB962C8B-B14F-4D97-AF65-F5344CB8AC3E}">
        <p14:creationId xmlns:p14="http://schemas.microsoft.com/office/powerpoint/2010/main" val="213584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Netcraft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the information that web servers and web-hosting </a:t>
            </a:r>
            <a:r>
              <a:rPr lang="en-US" dirty="0" smtClean="0"/>
              <a:t>companies gather </a:t>
            </a:r>
            <a:r>
              <a:rPr lang="en-US" dirty="0"/>
              <a:t>and make publicly available can tell you a lot about a website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http://www.netcraft.com/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284984"/>
            <a:ext cx="6328794" cy="3430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1843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Whois</a:t>
            </a:r>
            <a:r>
              <a:rPr lang="en-US" b="1" dirty="0"/>
              <a:t> Lookups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38" y="1491846"/>
            <a:ext cx="5082948" cy="2800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293096"/>
            <a:ext cx="5184576" cy="2415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1109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Reconnaissance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862" y="1154112"/>
            <a:ext cx="5697537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645024"/>
            <a:ext cx="6145213" cy="314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720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nslookup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35696" y="1052736"/>
            <a:ext cx="6139117" cy="5447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nslookup</a:t>
            </a:r>
            <a:r>
              <a:rPr lang="en-US" dirty="0"/>
              <a:t> [-opt ...] host </a:t>
            </a:r>
            <a:r>
              <a:rPr lang="en-US" dirty="0" smtClean="0"/>
              <a:t> # </a:t>
            </a:r>
            <a:r>
              <a:rPr lang="en-US" dirty="0"/>
              <a:t>just look up 'host' using default server</a:t>
            </a:r>
            <a:endParaRPr lang="en-US" dirty="0" smtClean="0"/>
          </a:p>
          <a:p>
            <a:r>
              <a:rPr lang="en-US" dirty="0" err="1" smtClean="0"/>
              <a:t>nslookup</a:t>
            </a:r>
            <a:r>
              <a:rPr lang="en-US" dirty="0" smtClean="0"/>
              <a:t> </a:t>
            </a:r>
            <a:r>
              <a:rPr lang="en-US" dirty="0"/>
              <a:t>[-opt ...] host server # just look up 'host' using </a:t>
            </a:r>
            <a:r>
              <a:rPr lang="en-US" dirty="0" smtClean="0"/>
              <a:t>'server‘</a:t>
            </a:r>
          </a:p>
          <a:p>
            <a:r>
              <a:rPr lang="en-US" sz="1200" dirty="0" smtClean="0"/>
              <a:t>set </a:t>
            </a:r>
            <a:r>
              <a:rPr lang="en-US" sz="1200" dirty="0"/>
              <a:t>OPTION      - set an option</a:t>
            </a:r>
          </a:p>
          <a:p>
            <a:r>
              <a:rPr lang="en-US" sz="1200" dirty="0"/>
              <a:t>    all                 - print options, current server and host</a:t>
            </a:r>
          </a:p>
          <a:p>
            <a:r>
              <a:rPr lang="en-US" sz="1200" dirty="0"/>
              <a:t>    [no]debug           - print debugging information</a:t>
            </a:r>
          </a:p>
          <a:p>
            <a:r>
              <a:rPr lang="en-US" sz="1200" dirty="0"/>
              <a:t>    [no]d2              - print exhaustive debugging information</a:t>
            </a:r>
          </a:p>
          <a:p>
            <a:r>
              <a:rPr lang="en-US" sz="1200" dirty="0"/>
              <a:t>    [no]</a:t>
            </a:r>
            <a:r>
              <a:rPr lang="en-US" sz="1200" dirty="0" err="1"/>
              <a:t>defname</a:t>
            </a:r>
            <a:r>
              <a:rPr lang="en-US" sz="1200" dirty="0"/>
              <a:t>         - append domain name to each query</a:t>
            </a:r>
          </a:p>
          <a:p>
            <a:r>
              <a:rPr lang="en-US" sz="1200" dirty="0"/>
              <a:t>    [no]</a:t>
            </a:r>
            <a:r>
              <a:rPr lang="en-US" sz="1200" dirty="0" err="1"/>
              <a:t>recurse</a:t>
            </a:r>
            <a:r>
              <a:rPr lang="en-US" sz="1200" dirty="0"/>
              <a:t>         - ask for recursive answer to query</a:t>
            </a:r>
          </a:p>
          <a:p>
            <a:r>
              <a:rPr lang="en-US" sz="1200" dirty="0"/>
              <a:t>    [no]search          - use domain search list</a:t>
            </a:r>
          </a:p>
          <a:p>
            <a:r>
              <a:rPr lang="en-US" sz="1200" dirty="0"/>
              <a:t>    [no]</a:t>
            </a:r>
            <a:r>
              <a:rPr lang="en-US" sz="1200" dirty="0" err="1"/>
              <a:t>vc</a:t>
            </a:r>
            <a:r>
              <a:rPr lang="en-US" sz="1200" dirty="0"/>
              <a:t>              - always use a virtual circuit</a:t>
            </a:r>
          </a:p>
          <a:p>
            <a:r>
              <a:rPr lang="en-US" sz="1200" dirty="0"/>
              <a:t>    domain=NAME         - set default domain name to NAME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srchlist</a:t>
            </a:r>
            <a:r>
              <a:rPr lang="en-US" sz="1200" dirty="0"/>
              <a:t>=N1[/N2/.../N6] - set domain to N1 and search list to N1,N2, etc.</a:t>
            </a:r>
          </a:p>
          <a:p>
            <a:r>
              <a:rPr lang="en-US" sz="1200" dirty="0"/>
              <a:t>    root=NAME           - set root server to NAME</a:t>
            </a:r>
          </a:p>
          <a:p>
            <a:r>
              <a:rPr lang="en-US" sz="1200" dirty="0"/>
              <a:t>    retry=X             - set number of retries to X</a:t>
            </a:r>
          </a:p>
          <a:p>
            <a:r>
              <a:rPr lang="en-US" sz="1200" dirty="0"/>
              <a:t>    timeout=X           - set initial time-out interval to X seconds</a:t>
            </a:r>
          </a:p>
          <a:p>
            <a:r>
              <a:rPr lang="en-US" sz="1200" dirty="0"/>
              <a:t>    type=X              - set query type (ex. A,AAAA,A+AAAA,ANY,CNAME,MX,NS,PTR,SOA,SRV)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querytype</a:t>
            </a:r>
            <a:r>
              <a:rPr lang="en-US" sz="1200" dirty="0"/>
              <a:t>=X         - same as type</a:t>
            </a:r>
          </a:p>
          <a:p>
            <a:r>
              <a:rPr lang="en-US" sz="1200" dirty="0"/>
              <a:t>    class=X             - set query class (ex. IN (Internet), ANY)</a:t>
            </a:r>
          </a:p>
          <a:p>
            <a:r>
              <a:rPr lang="en-US" sz="1200" dirty="0"/>
              <a:t>    [no]</a:t>
            </a:r>
            <a:r>
              <a:rPr lang="en-US" sz="1200" dirty="0" err="1"/>
              <a:t>msxfr</a:t>
            </a:r>
            <a:r>
              <a:rPr lang="en-US" sz="1200" dirty="0"/>
              <a:t>           - use MS fast zone transfer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ixfrver</a:t>
            </a:r>
            <a:r>
              <a:rPr lang="en-US" sz="1200" dirty="0"/>
              <a:t>=X           - current version to use in IXFR transfer request</a:t>
            </a:r>
          </a:p>
          <a:p>
            <a:r>
              <a:rPr lang="en-US" sz="1200" dirty="0"/>
              <a:t>server NAME     - set default server to NAME, using current default server</a:t>
            </a:r>
          </a:p>
          <a:p>
            <a:r>
              <a:rPr lang="en-US" sz="1200" dirty="0" err="1"/>
              <a:t>lserver</a:t>
            </a:r>
            <a:r>
              <a:rPr lang="en-US" sz="1200" dirty="0"/>
              <a:t> NAME    - set default server to NAME, using initial server</a:t>
            </a:r>
          </a:p>
          <a:p>
            <a:r>
              <a:rPr lang="en-US" sz="1200" dirty="0"/>
              <a:t>root            - set current default server to the root</a:t>
            </a:r>
          </a:p>
          <a:p>
            <a:r>
              <a:rPr lang="en-US" sz="1200" dirty="0"/>
              <a:t>ls [opt] DOMAIN [&gt; FILE] - list addresses in DOMAIN (optional: output to FILE)</a:t>
            </a:r>
          </a:p>
          <a:p>
            <a:r>
              <a:rPr lang="en-US" sz="1200" dirty="0"/>
              <a:t>    -a          -  list canonical names and aliases</a:t>
            </a:r>
          </a:p>
          <a:p>
            <a:r>
              <a:rPr lang="en-US" sz="1200" dirty="0"/>
              <a:t>    -d          -  list all records</a:t>
            </a:r>
          </a:p>
          <a:p>
            <a:r>
              <a:rPr lang="en-US" sz="1200" dirty="0"/>
              <a:t>    -t TYPE     -  list records of the given RFC record type (ex. A,CNAME,MX,NS,PTR etc.)</a:t>
            </a:r>
          </a:p>
          <a:p>
            <a:r>
              <a:rPr lang="en-US" sz="1200" dirty="0"/>
              <a:t>view FILE           - sort an 'ls' output file and view it with </a:t>
            </a:r>
            <a:r>
              <a:rPr lang="en-US" sz="1200" dirty="0" err="1" smtClean="0"/>
              <a:t>pg</a:t>
            </a: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252772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for Email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196752"/>
            <a:ext cx="4678711" cy="545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014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theHarvester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07704" y="1124744"/>
            <a:ext cx="586455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theHarvester</a:t>
            </a:r>
            <a:r>
              <a:rPr lang="en-US" dirty="0">
                <a:solidFill>
                  <a:srgbClr val="FF0000"/>
                </a:solidFill>
              </a:rPr>
              <a:t> [-h] -d DOMAIN [-l LIMIT] [-S START] [-p] [-s]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[--screenshot SCREENSHOT] [-v] [-e DNS_SERVER]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[-r] [-n] [-c] [-f FILENAME] [-b SOURCE</a:t>
            </a:r>
            <a:r>
              <a:rPr lang="en-US" dirty="0" smtClean="0">
                <a:solidFill>
                  <a:srgbClr val="FF0000"/>
                </a:solidFill>
              </a:rPr>
              <a:t>]</a:t>
            </a:r>
          </a:p>
          <a:p>
            <a:endParaRPr lang="en-US" dirty="0"/>
          </a:p>
          <a:p>
            <a:r>
              <a:rPr lang="en-US" sz="1200" dirty="0" smtClean="0"/>
              <a:t>-d DOMAIN, --domain </a:t>
            </a:r>
            <a:r>
              <a:rPr lang="en-US" sz="1200" dirty="0" err="1" smtClean="0"/>
              <a:t>DOMAIN</a:t>
            </a:r>
            <a:endParaRPr lang="en-US" sz="1200" dirty="0" smtClean="0"/>
          </a:p>
          <a:p>
            <a:r>
              <a:rPr lang="en-US" sz="1200" dirty="0" smtClean="0"/>
              <a:t>                        Company name or domain to search.</a:t>
            </a:r>
          </a:p>
          <a:p>
            <a:r>
              <a:rPr lang="en-US" sz="1200" dirty="0" smtClean="0"/>
              <a:t>  -l LIMIT, --limit </a:t>
            </a:r>
            <a:r>
              <a:rPr lang="en-US" sz="1200" dirty="0" err="1" smtClean="0"/>
              <a:t>LIMIT</a:t>
            </a:r>
            <a:endParaRPr lang="en-US" sz="1200" dirty="0" smtClean="0"/>
          </a:p>
          <a:p>
            <a:r>
              <a:rPr lang="en-US" sz="1200" dirty="0" smtClean="0"/>
              <a:t>                        Limit the number of search results,</a:t>
            </a:r>
          </a:p>
          <a:p>
            <a:r>
              <a:rPr lang="en-US" sz="1200" dirty="0" smtClean="0"/>
              <a:t>                        default=500.</a:t>
            </a:r>
          </a:p>
          <a:p>
            <a:r>
              <a:rPr lang="en-US" sz="1200" dirty="0" smtClean="0"/>
              <a:t>  -S START, --start </a:t>
            </a:r>
            <a:r>
              <a:rPr lang="en-US" sz="1200" dirty="0" err="1" smtClean="0"/>
              <a:t>START</a:t>
            </a:r>
            <a:endParaRPr lang="en-US" sz="1200" dirty="0" smtClean="0"/>
          </a:p>
          <a:p>
            <a:r>
              <a:rPr lang="en-US" sz="1200" dirty="0" smtClean="0"/>
              <a:t>                        Start with result number X, default=0.</a:t>
            </a:r>
          </a:p>
          <a:p>
            <a:r>
              <a:rPr lang="en-US" sz="1200" dirty="0" smtClean="0"/>
              <a:t>  -p, --proxies         Use proxies for requests, enter proxies in</a:t>
            </a:r>
          </a:p>
          <a:p>
            <a:r>
              <a:rPr lang="en-US" sz="1200" dirty="0" smtClean="0"/>
              <a:t>                        </a:t>
            </a:r>
            <a:r>
              <a:rPr lang="en-US" sz="1200" dirty="0" err="1" smtClean="0"/>
              <a:t>proxies.yaml</a:t>
            </a:r>
            <a:r>
              <a:rPr lang="en-US" sz="1200" dirty="0" smtClean="0"/>
              <a:t>.</a:t>
            </a:r>
          </a:p>
          <a:p>
            <a:r>
              <a:rPr lang="en-US" sz="1200" dirty="0" smtClean="0"/>
              <a:t>  -s, --</a:t>
            </a:r>
            <a:r>
              <a:rPr lang="en-US" sz="1200" dirty="0" err="1" smtClean="0"/>
              <a:t>shodan</a:t>
            </a:r>
            <a:r>
              <a:rPr lang="en-US" sz="1200" dirty="0" smtClean="0"/>
              <a:t>          Use </a:t>
            </a:r>
            <a:r>
              <a:rPr lang="en-US" sz="1200" dirty="0" err="1" smtClean="0"/>
              <a:t>Shodan</a:t>
            </a:r>
            <a:r>
              <a:rPr lang="en-US" sz="1200" dirty="0" smtClean="0"/>
              <a:t> to query discovered hosts.</a:t>
            </a:r>
          </a:p>
          <a:p>
            <a:r>
              <a:rPr lang="en-US" sz="1200" dirty="0" smtClean="0"/>
              <a:t>  --screenshot </a:t>
            </a:r>
            <a:r>
              <a:rPr lang="en-US" sz="1200" dirty="0" err="1" smtClean="0"/>
              <a:t>SCREENSHOT</a:t>
            </a:r>
            <a:endParaRPr lang="en-US" sz="1200" dirty="0" smtClean="0"/>
          </a:p>
          <a:p>
            <a:r>
              <a:rPr lang="en-US" sz="1200" dirty="0" smtClean="0"/>
              <a:t>                        Take screenshots of resolved domains</a:t>
            </a:r>
          </a:p>
          <a:p>
            <a:r>
              <a:rPr lang="en-US" sz="1200" dirty="0" smtClean="0"/>
              <a:t>                        specify output directory: --screenshot</a:t>
            </a:r>
          </a:p>
          <a:p>
            <a:r>
              <a:rPr lang="en-US" sz="1200" dirty="0" smtClean="0"/>
              <a:t>                        </a:t>
            </a:r>
            <a:r>
              <a:rPr lang="en-US" sz="1200" dirty="0" err="1" smtClean="0"/>
              <a:t>output_directory</a:t>
            </a:r>
            <a:endParaRPr lang="en-US" sz="1200" dirty="0" smtClean="0"/>
          </a:p>
          <a:p>
            <a:r>
              <a:rPr lang="en-US" sz="1200" dirty="0" smtClean="0"/>
              <a:t>  -v, --virtual-host    Verify host name via DNS resolution and</a:t>
            </a:r>
          </a:p>
          <a:p>
            <a:r>
              <a:rPr lang="en-US" sz="1200" dirty="0" smtClean="0"/>
              <a:t>                        search for virtual hosts.</a:t>
            </a:r>
          </a:p>
          <a:p>
            <a:r>
              <a:rPr lang="en-US" sz="1200" dirty="0" smtClean="0"/>
              <a:t>  -e DNS_SERVER, --</a:t>
            </a:r>
            <a:r>
              <a:rPr lang="en-US" sz="1200" dirty="0" err="1" smtClean="0"/>
              <a:t>dns</a:t>
            </a:r>
            <a:r>
              <a:rPr lang="en-US" sz="1200" dirty="0" smtClean="0"/>
              <a:t>-server DNS_SERVER</a:t>
            </a:r>
          </a:p>
          <a:p>
            <a:r>
              <a:rPr lang="en-US" sz="1200" dirty="0" smtClean="0"/>
              <a:t>                        DNS server to use for lookup.</a:t>
            </a:r>
          </a:p>
          <a:p>
            <a:r>
              <a:rPr lang="en-US" sz="1200" dirty="0" smtClean="0"/>
              <a:t>  -r, --take-over       Check for takeovers.</a:t>
            </a:r>
          </a:p>
          <a:p>
            <a:r>
              <a:rPr lang="en-US" sz="1200" dirty="0" smtClean="0"/>
              <a:t>  -n, --</a:t>
            </a:r>
            <a:r>
              <a:rPr lang="en-US" sz="1200" dirty="0" err="1" smtClean="0"/>
              <a:t>dns</a:t>
            </a:r>
            <a:r>
              <a:rPr lang="en-US" sz="1200" dirty="0" smtClean="0"/>
              <a:t>-lookup      Enable DNS server lookup, default False.</a:t>
            </a:r>
          </a:p>
          <a:p>
            <a:r>
              <a:rPr lang="en-US" sz="1200" dirty="0" smtClean="0"/>
              <a:t>  -c, --</a:t>
            </a:r>
            <a:r>
              <a:rPr lang="en-US" sz="1200" dirty="0" err="1" smtClean="0"/>
              <a:t>dns</a:t>
            </a:r>
            <a:r>
              <a:rPr lang="en-US" sz="1200" dirty="0" smtClean="0"/>
              <a:t>-brute       Perform a DNS brute force on the domain.</a:t>
            </a:r>
          </a:p>
          <a:p>
            <a:r>
              <a:rPr lang="en-US" sz="1200" dirty="0" smtClean="0"/>
              <a:t>  -f FILENAME, --filename </a:t>
            </a:r>
            <a:r>
              <a:rPr lang="en-US" sz="1200" dirty="0" err="1" smtClean="0"/>
              <a:t>FILENAME</a:t>
            </a:r>
            <a:endParaRPr lang="en-US" sz="1200" dirty="0" smtClean="0"/>
          </a:p>
          <a:p>
            <a:r>
              <a:rPr lang="en-US" sz="1200" dirty="0" smtClean="0"/>
              <a:t>                        Save the results to an XML and JSON file.</a:t>
            </a:r>
          </a:p>
          <a:p>
            <a:r>
              <a:rPr lang="en-US" sz="1200" dirty="0" smtClean="0"/>
              <a:t>  -b SOURCE, --source </a:t>
            </a:r>
            <a:r>
              <a:rPr lang="en-US" sz="1200" dirty="0" err="1" smtClean="0"/>
              <a:t>SOURCE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9038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Maltego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Paterva’s</a:t>
            </a:r>
            <a:r>
              <a:rPr lang="en-US" dirty="0"/>
              <a:t> </a:t>
            </a:r>
            <a:r>
              <a:rPr lang="en-US" dirty="0" err="1"/>
              <a:t>Maltego</a:t>
            </a:r>
            <a:r>
              <a:rPr lang="en-US" dirty="0"/>
              <a:t> is a data-mining tool designed to visualize open </a:t>
            </a:r>
            <a:r>
              <a:rPr lang="en-US" dirty="0" smtClean="0"/>
              <a:t>source intelligence gathering.</a:t>
            </a:r>
          </a:p>
          <a:p>
            <a:r>
              <a:rPr lang="en-US" dirty="0" err="1"/>
              <a:t>Maltego</a:t>
            </a:r>
            <a:r>
              <a:rPr lang="en-US" dirty="0"/>
              <a:t> has both a commercial and a free </a:t>
            </a:r>
            <a:r>
              <a:rPr lang="en-US" dirty="0" smtClean="0"/>
              <a:t>community edition</a:t>
            </a:r>
            <a:r>
              <a:rPr lang="en-US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631095"/>
            <a:ext cx="5976664" cy="4120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9272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Port Scanning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Port </a:t>
            </a:r>
            <a:r>
              <a:rPr lang="en-US" dirty="0" smtClean="0"/>
              <a:t>Scanning</a:t>
            </a:r>
          </a:p>
          <a:p>
            <a:r>
              <a:rPr lang="en-US" dirty="0"/>
              <a:t>Port Scanning with </a:t>
            </a:r>
            <a:r>
              <a:rPr lang="en-US" dirty="0" err="1"/>
              <a:t>Nmap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162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Manual Port </a:t>
            </a:r>
            <a:r>
              <a:rPr lang="en-US" dirty="0" smtClean="0"/>
              <a:t>Scanning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do this manually by connecting to ports with a tool such </a:t>
            </a:r>
            <a:r>
              <a:rPr lang="en-US" dirty="0" smtClean="0"/>
              <a:t>as telnet </a:t>
            </a:r>
            <a:r>
              <a:rPr lang="en-US" dirty="0"/>
              <a:t>or </a:t>
            </a:r>
            <a:r>
              <a:rPr lang="en-US" dirty="0" err="1"/>
              <a:t>Netcat</a:t>
            </a:r>
            <a:r>
              <a:rPr lang="en-US" dirty="0"/>
              <a:t> and recording the results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2278063"/>
            <a:ext cx="5305425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853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Scanning with </a:t>
            </a:r>
            <a:r>
              <a:rPr lang="en-US" dirty="0" err="1"/>
              <a:t>Nmap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Nmap</a:t>
            </a:r>
            <a:r>
              <a:rPr lang="en-US" dirty="0"/>
              <a:t> is an industry standard for port </a:t>
            </a:r>
            <a:r>
              <a:rPr lang="en-US" dirty="0" smtClean="0"/>
              <a:t>scanning.</a:t>
            </a:r>
          </a:p>
          <a:p>
            <a:r>
              <a:rPr lang="en-US" dirty="0"/>
              <a:t>Firewalls with intrusion-detection and prevention systems have </a:t>
            </a:r>
            <a:r>
              <a:rPr lang="en-US" dirty="0" smtClean="0"/>
              <a:t>made great </a:t>
            </a:r>
            <a:r>
              <a:rPr lang="en-US" dirty="0"/>
              <a:t>strides in detecting and blocking scan traffic, so you might run </a:t>
            </a:r>
            <a:r>
              <a:rPr lang="en-US" dirty="0" smtClean="0"/>
              <a:t>a scan </a:t>
            </a:r>
            <a:r>
              <a:rPr lang="en-US" dirty="0"/>
              <a:t>and receive no results at </a:t>
            </a:r>
            <a:r>
              <a:rPr lang="en-US" dirty="0" smtClean="0"/>
              <a:t>all</a:t>
            </a:r>
          </a:p>
          <a:p>
            <a:r>
              <a:rPr lang="en-US" dirty="0" err="1"/>
              <a:t>Nmap</a:t>
            </a:r>
            <a:r>
              <a:rPr lang="en-US" dirty="0"/>
              <a:t> finds out if </a:t>
            </a:r>
            <a:r>
              <a:rPr lang="en-US" dirty="0" smtClean="0"/>
              <a:t>a port </a:t>
            </a:r>
            <a:r>
              <a:rPr lang="en-US" dirty="0"/>
              <a:t>is open without ever fully connecting to the target </a:t>
            </a:r>
            <a:r>
              <a:rPr lang="en-US" dirty="0" smtClean="0"/>
              <a:t>machine </a:t>
            </a:r>
            <a:r>
              <a:rPr lang="en-US" dirty="0" smtClean="0">
                <a:solidFill>
                  <a:srgbClr val="FF0000"/>
                </a:solidFill>
              </a:rPr>
              <a:t>using SYN scan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153" y="4452033"/>
            <a:ext cx="6497637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02921" y="6350496"/>
            <a:ext cx="1248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 SYN Scan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4653136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syntax for </a:t>
            </a:r>
            <a:r>
              <a:rPr lang="en-US" dirty="0"/>
              <a:t>a SYN scan is the 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  <a:r>
              <a:rPr lang="en-US" dirty="0" err="1" smtClean="0">
                <a:solidFill>
                  <a:srgbClr val="FF0000"/>
                </a:solidFill>
              </a:rPr>
              <a:t>sS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flag</a:t>
            </a:r>
          </a:p>
        </p:txBody>
      </p:sp>
    </p:spTree>
    <p:extLst>
      <p:ext uri="{BB962C8B-B14F-4D97-AF65-F5344CB8AC3E}">
        <p14:creationId xmlns:p14="http://schemas.microsoft.com/office/powerpoint/2010/main" val="49744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Nmap</a:t>
            </a:r>
            <a:r>
              <a:rPr lang="en-US" dirty="0" smtClean="0"/>
              <a:t>: SYN Scan [-</a:t>
            </a:r>
            <a:r>
              <a:rPr lang="en-US" dirty="0" err="1" smtClean="0"/>
              <a:t>sS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41387"/>
            <a:ext cx="4427206" cy="571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3528" y="1340768"/>
            <a:ext cx="23762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smtClean="0"/>
              <a:t>syntax for </a:t>
            </a:r>
            <a:r>
              <a:rPr lang="en-US" dirty="0"/>
              <a:t>a SYN scan is the 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  <a:r>
              <a:rPr lang="en-US" dirty="0" err="1" smtClean="0">
                <a:solidFill>
                  <a:srgbClr val="FF0000"/>
                </a:solidFill>
              </a:rPr>
              <a:t>sS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flag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  <a:r>
              <a:rPr lang="en-US" dirty="0" err="1" smtClean="0">
                <a:solidFill>
                  <a:srgbClr val="FF0000"/>
                </a:solidFill>
              </a:rPr>
              <a:t>oA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option tells </a:t>
            </a:r>
            <a:r>
              <a:rPr lang="en-US" dirty="0" err="1"/>
              <a:t>Nmap</a:t>
            </a:r>
            <a:r>
              <a:rPr lang="en-US" dirty="0"/>
              <a:t> to log our results in all formats: .</a:t>
            </a:r>
            <a:r>
              <a:rPr lang="en-US" dirty="0" err="1"/>
              <a:t>nmap</a:t>
            </a:r>
            <a:r>
              <a:rPr lang="en-US" dirty="0"/>
              <a:t>, .</a:t>
            </a:r>
            <a:r>
              <a:rPr lang="en-US" dirty="0" err="1"/>
              <a:t>gnmap</a:t>
            </a:r>
            <a:r>
              <a:rPr lang="en-US" dirty="0"/>
              <a:t> (</a:t>
            </a:r>
            <a:r>
              <a:rPr lang="en-US" dirty="0" err="1" smtClean="0"/>
              <a:t>greppable</a:t>
            </a:r>
            <a:r>
              <a:rPr lang="en-US" dirty="0" smtClean="0"/>
              <a:t> </a:t>
            </a:r>
            <a:r>
              <a:rPr lang="en-US" dirty="0" err="1" smtClean="0"/>
              <a:t>Nmap</a:t>
            </a:r>
            <a:r>
              <a:rPr lang="en-US" dirty="0"/>
              <a:t>), and XML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560" y="4653136"/>
            <a:ext cx="1600503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A SYN Scan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401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Nmap</a:t>
            </a:r>
            <a:r>
              <a:rPr lang="en-US" dirty="0" smtClean="0"/>
              <a:t>: Version Scan [-</a:t>
            </a:r>
            <a:r>
              <a:rPr lang="en-US" dirty="0" err="1" smtClean="0"/>
              <a:t>sV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version scan, </a:t>
            </a:r>
            <a:r>
              <a:rPr lang="en-US" dirty="0" err="1"/>
              <a:t>Nmap</a:t>
            </a:r>
            <a:r>
              <a:rPr lang="en-US" dirty="0"/>
              <a:t> completes the connection </a:t>
            </a:r>
            <a:r>
              <a:rPr lang="en-US" dirty="0" smtClean="0"/>
              <a:t>and attempts </a:t>
            </a:r>
            <a:r>
              <a:rPr lang="en-US" dirty="0"/>
              <a:t>to determine what software is </a:t>
            </a:r>
            <a:r>
              <a:rPr lang="en-US" dirty="0" smtClean="0"/>
              <a:t>running, the version</a:t>
            </a:r>
            <a:r>
              <a:rPr lang="en-US" dirty="0"/>
              <a:t>, using techniques such as banner grabbing.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695084"/>
            <a:ext cx="205485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A Version Scan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6668293" cy="3828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976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Nmap</a:t>
            </a:r>
            <a:r>
              <a:rPr lang="en-US" dirty="0" smtClean="0"/>
              <a:t>: UDP Scan [-</a:t>
            </a:r>
            <a:r>
              <a:rPr lang="en-US" dirty="0" err="1" smtClean="0"/>
              <a:t>sU</a:t>
            </a:r>
            <a:r>
              <a:rPr lang="en-US" dirty="0"/>
              <a:t>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UDP scan </a:t>
            </a:r>
            <a:r>
              <a:rPr lang="en-US" dirty="0">
                <a:solidFill>
                  <a:srgbClr val="FF0000"/>
                </a:solidFill>
              </a:rPr>
              <a:t>(-</a:t>
            </a:r>
            <a:r>
              <a:rPr lang="en-US" dirty="0" err="1">
                <a:solidFill>
                  <a:srgbClr val="FF0000"/>
                </a:solidFill>
              </a:rPr>
              <a:t>sU</a:t>
            </a:r>
            <a:r>
              <a:rPr lang="en-US" dirty="0"/>
              <a:t>), </a:t>
            </a:r>
            <a:r>
              <a:rPr lang="en-US" dirty="0" err="1"/>
              <a:t>Nmap</a:t>
            </a:r>
            <a:r>
              <a:rPr lang="en-US" dirty="0"/>
              <a:t> sends a UDP packet to a port. Depending </a:t>
            </a:r>
            <a:r>
              <a:rPr lang="en-US" dirty="0" smtClean="0"/>
              <a:t>on the </a:t>
            </a:r>
            <a:r>
              <a:rPr lang="en-US" dirty="0"/>
              <a:t>port, the packet sent is protocol specific. </a:t>
            </a:r>
            <a:endParaRPr lang="en-US" dirty="0" smtClean="0"/>
          </a:p>
          <a:p>
            <a:pPr lvl="2"/>
            <a:r>
              <a:rPr lang="en-US" dirty="0" smtClean="0"/>
              <a:t>If </a:t>
            </a:r>
            <a:r>
              <a:rPr lang="en-US" dirty="0"/>
              <a:t>it receives a response, </a:t>
            </a:r>
            <a:r>
              <a:rPr lang="en-US" dirty="0" smtClean="0"/>
              <a:t>the port </a:t>
            </a:r>
            <a:r>
              <a:rPr lang="en-US" dirty="0"/>
              <a:t>is considered open. </a:t>
            </a:r>
            <a:endParaRPr lang="en-US" dirty="0" smtClean="0"/>
          </a:p>
          <a:p>
            <a:pPr lvl="2"/>
            <a:r>
              <a:rPr lang="en-US" dirty="0" smtClean="0"/>
              <a:t>If </a:t>
            </a:r>
            <a:r>
              <a:rPr lang="en-US" dirty="0"/>
              <a:t>the port is closed, </a:t>
            </a:r>
            <a:r>
              <a:rPr lang="en-US" dirty="0" err="1"/>
              <a:t>Nmap</a:t>
            </a:r>
            <a:r>
              <a:rPr lang="en-US" dirty="0"/>
              <a:t> will receive an </a:t>
            </a:r>
            <a:r>
              <a:rPr lang="en-US" dirty="0" smtClean="0"/>
              <a:t>ICMP Port </a:t>
            </a:r>
            <a:r>
              <a:rPr lang="en-US" dirty="0"/>
              <a:t>Unreachable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592" y="6381328"/>
            <a:ext cx="7752795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/>
              <a:t>Nmap</a:t>
            </a:r>
            <a:r>
              <a:rPr lang="en-US" sz="1400" dirty="0"/>
              <a:t> is not always </a:t>
            </a:r>
            <a:r>
              <a:rPr lang="en-US" sz="1400" dirty="0" smtClean="0"/>
              <a:t>able to </a:t>
            </a:r>
            <a:r>
              <a:rPr lang="en-US" sz="1400" dirty="0"/>
              <a:t>distinguish between an open UDP port and one that is filtered by a firewall.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573016"/>
            <a:ext cx="5885469" cy="2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564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Nmap</a:t>
            </a:r>
            <a:r>
              <a:rPr lang="en-US" dirty="0"/>
              <a:t>:</a:t>
            </a:r>
            <a:r>
              <a:rPr lang="en-US" dirty="0" smtClean="0"/>
              <a:t> Scanning </a:t>
            </a:r>
            <a:r>
              <a:rPr lang="en-US" dirty="0"/>
              <a:t>a Specific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default, </a:t>
            </a:r>
            <a:r>
              <a:rPr lang="en-US" dirty="0" err="1"/>
              <a:t>Nmap</a:t>
            </a:r>
            <a:r>
              <a:rPr lang="en-US" dirty="0"/>
              <a:t> scans only the 1,000 ports it considers the most “</a:t>
            </a:r>
            <a:r>
              <a:rPr lang="en-US" dirty="0" err="1"/>
              <a:t>interesting</a:t>
            </a:r>
            <a:r>
              <a:rPr lang="en-US" dirty="0" err="1" smtClean="0"/>
              <a:t>,”not</a:t>
            </a:r>
            <a:r>
              <a:rPr lang="en-US" dirty="0" smtClean="0"/>
              <a:t> </a:t>
            </a:r>
            <a:r>
              <a:rPr lang="en-US" dirty="0"/>
              <a:t>the 65,535 </a:t>
            </a:r>
            <a:r>
              <a:rPr lang="en-US" dirty="0" smtClean="0"/>
              <a:t>TCP /UDP </a:t>
            </a:r>
            <a:r>
              <a:rPr lang="en-US" dirty="0"/>
              <a:t>ports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713" y="2564904"/>
            <a:ext cx="5868987" cy="220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781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Nmap</a:t>
            </a:r>
            <a:r>
              <a:rPr lang="en-US" dirty="0"/>
              <a:t>: Scanning a Specific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try to probe the port a bit more </a:t>
            </a:r>
            <a:r>
              <a:rPr lang="en-US" dirty="0" smtClean="0"/>
              <a:t>aggressively with </a:t>
            </a:r>
            <a:r>
              <a:rPr lang="en-US" dirty="0"/>
              <a:t>a version scan (see Listing 5-10), the service listening on the </a:t>
            </a:r>
            <a:r>
              <a:rPr lang="en-US" dirty="0" smtClean="0"/>
              <a:t>port crashes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7544" y="5301208"/>
            <a:ext cx="828092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i="1" dirty="0"/>
              <a:t>A good rule of thumb is to specify ports 1 through 65535 on your </a:t>
            </a:r>
            <a:r>
              <a:rPr lang="en-US" i="1" dirty="0" err="1"/>
              <a:t>pentests</a:t>
            </a:r>
            <a:r>
              <a:rPr lang="en-US" i="1" dirty="0"/>
              <a:t>, just to</a:t>
            </a:r>
          </a:p>
          <a:p>
            <a:r>
              <a:rPr lang="en-US" i="1" dirty="0"/>
              <a:t>make sure there’s nothing listening on those other “uninteresting” ports.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586175"/>
            <a:ext cx="6264698" cy="249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098597"/>
            <a:ext cx="2927774" cy="207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827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29531</TotalTime>
  <Words>1010</Words>
  <Application>Microsoft Office PowerPoint</Application>
  <PresentationFormat>On-screen Show (4:3)</PresentationFormat>
  <Paragraphs>102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Penetration Testing Gathering Information</vt:lpstr>
      <vt:lpstr>PowerPoint Presentation</vt:lpstr>
      <vt:lpstr>Netcraft</vt:lpstr>
      <vt:lpstr>Whois Lookups</vt:lpstr>
      <vt:lpstr>DNS Reconnaissance</vt:lpstr>
      <vt:lpstr>nslookup</vt:lpstr>
      <vt:lpstr>Searching for Email Addresses</vt:lpstr>
      <vt:lpstr>theHarvester</vt:lpstr>
      <vt:lpstr>Maltego</vt:lpstr>
      <vt:lpstr>Port Scanning</vt:lpstr>
      <vt:lpstr>Manual Port Scanning</vt:lpstr>
      <vt:lpstr>Port Scanning with Nmap</vt:lpstr>
      <vt:lpstr>Nmap: SYN Scan [-sS]</vt:lpstr>
      <vt:lpstr>Nmap: Version Scan [-sV]</vt:lpstr>
      <vt:lpstr>Nmap: UDP Scan [-sU]</vt:lpstr>
      <vt:lpstr>Nmap: Scanning a Specific Port</vt:lpstr>
      <vt:lpstr>Nmap: Scanning a Specific Port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mã độc</dc:title>
  <dc:creator>TTS</dc:creator>
  <cp:lastModifiedBy>tran the son</cp:lastModifiedBy>
  <cp:revision>1449</cp:revision>
  <dcterms:created xsi:type="dcterms:W3CDTF">2017-06-08T06:53:33Z</dcterms:created>
  <dcterms:modified xsi:type="dcterms:W3CDTF">2023-07-19T15:53:49Z</dcterms:modified>
</cp:coreProperties>
</file>