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3" r:id="rId4"/>
    <p:sldId id="274" r:id="rId5"/>
    <p:sldId id="275" r:id="rId6"/>
    <p:sldId id="278" r:id="rId7"/>
    <p:sldId id="276" r:id="rId8"/>
    <p:sldId id="277" r:id="rId9"/>
    <p:sldId id="258" r:id="rId10"/>
    <p:sldId id="259" r:id="rId11"/>
    <p:sldId id="260" r:id="rId12"/>
    <p:sldId id="261" r:id="rId13"/>
    <p:sldId id="262" r:id="rId14"/>
    <p:sldId id="263" r:id="rId15"/>
    <p:sldId id="279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008" autoAdjust="0"/>
  </p:normalViewPr>
  <p:slideViewPr>
    <p:cSldViewPr>
      <p:cViewPr varScale="1">
        <p:scale>
          <a:sx n="88" d="100"/>
          <a:sy n="88" d="100"/>
        </p:scale>
        <p:origin x="-833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59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956"/>
    </p:cViewPr>
  </p:sorterViewPr>
  <p:notesViewPr>
    <p:cSldViewPr>
      <p:cViewPr>
        <p:scale>
          <a:sx n="150" d="100"/>
          <a:sy n="150" d="100"/>
        </p:scale>
        <p:origin x="-810" y="290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B0644-BD0B-40B8-AF7A-8CD10AC08897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03A334-FE4D-4C3E-A61B-575B8EC3A5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197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03A334-FE4D-4C3E-A61B-575B8EC3A56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2845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01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2474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96752"/>
            <a:ext cx="8784976" cy="511256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62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6233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4769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090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28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7862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02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7908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80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721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1600200"/>
            <a:ext cx="892899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04B57-344B-4127-95E0-C4D70C1DB92C}" type="datetimeFigureOut">
              <a:rPr lang="en-GB" smtClean="0"/>
              <a:t>13/09/2023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9032E-7B51-4E15-9222-EB0F43ABC8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438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ve.or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nvd.nist.gov/vuln-metrics/cvs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ve.org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2800" dirty="0" smtClean="0"/>
              <a:t>Penetration </a:t>
            </a:r>
            <a:r>
              <a:rPr lang="en-GB" sz="2800" dirty="0"/>
              <a:t>Testing</a:t>
            </a: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Finding Vulnerabilities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 smtClean="0">
                <a:latin typeface="Arial Narrow" panose="020B0606020202030204" pitchFamily="34" charset="0"/>
              </a:rPr>
              <a:t>Dr.</a:t>
            </a:r>
            <a:r>
              <a:rPr lang="en-GB" dirty="0" smtClean="0">
                <a:latin typeface="Arial Narrow" panose="020B0606020202030204" pitchFamily="34" charset="0"/>
              </a:rPr>
              <a:t> Tran The Son</a:t>
            </a:r>
          </a:p>
          <a:p>
            <a:r>
              <a:rPr lang="en-GB" sz="2000" dirty="0" smtClean="0">
                <a:latin typeface="Arial Narrow" panose="020B0606020202030204" pitchFamily="34" charset="0"/>
              </a:rPr>
              <a:t>Vietnam – Korea University</a:t>
            </a:r>
            <a:endParaRPr lang="en-GB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371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Vulnerability vs </a:t>
            </a:r>
            <a:r>
              <a:rPr lang="en-US" dirty="0" smtClean="0"/>
              <a:t>Ex</a:t>
            </a:r>
            <a:r>
              <a:rPr lang="en-US" dirty="0" smtClean="0"/>
              <a:t>posure</a:t>
            </a:r>
          </a:p>
          <a:p>
            <a:r>
              <a:rPr lang="en-US" dirty="0" smtClean="0"/>
              <a:t>Automated </a:t>
            </a:r>
            <a:r>
              <a:rPr lang="en-US" dirty="0" smtClean="0"/>
              <a:t>scanning</a:t>
            </a:r>
          </a:p>
          <a:p>
            <a:pPr lvl="1"/>
            <a:r>
              <a:rPr lang="en-US" dirty="0"/>
              <a:t>Nessus</a:t>
            </a:r>
            <a:endParaRPr lang="en-US" dirty="0" smtClean="0"/>
          </a:p>
          <a:p>
            <a:r>
              <a:rPr lang="en-US" dirty="0"/>
              <a:t>T</a:t>
            </a:r>
            <a:r>
              <a:rPr lang="en-US" dirty="0" smtClean="0"/>
              <a:t>argeted analysis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Nmap</a:t>
            </a:r>
            <a:r>
              <a:rPr lang="en-US" dirty="0"/>
              <a:t> Scripting Engine</a:t>
            </a:r>
          </a:p>
          <a:p>
            <a:pPr lvl="1"/>
            <a:r>
              <a:rPr lang="en-US" dirty="0" err="1"/>
              <a:t>Metasploit</a:t>
            </a:r>
            <a:r>
              <a:rPr lang="en-US" dirty="0"/>
              <a:t> Scanner Modules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Manual </a:t>
            </a:r>
            <a:r>
              <a:rPr lang="en-US" dirty="0"/>
              <a:t>research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40262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Vulnerability vs Exposure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Vulnerabilities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flaws</a:t>
            </a:r>
            <a:r>
              <a:rPr lang="en-US" dirty="0"/>
              <a:t> in computer software, firmware, hardware, and service components that can be exploited by a threat actor to gain unauthorized access and carry out a </a:t>
            </a:r>
            <a:r>
              <a:rPr lang="en-US" dirty="0" smtClean="0"/>
              <a:t>cyber-attack. </a:t>
            </a:r>
          </a:p>
          <a:p>
            <a:r>
              <a:rPr lang="en-US" dirty="0">
                <a:solidFill>
                  <a:srgbClr val="FF0000"/>
                </a:solidFill>
              </a:rPr>
              <a:t>Exposures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errors</a:t>
            </a:r>
            <a:r>
              <a:rPr lang="en-US" dirty="0"/>
              <a:t> not inherent to the software, firmware, hardware, or service component that put it at risk of being exploited, such as misconfigurations, open ports, and weak credentials</a:t>
            </a:r>
            <a:r>
              <a:rPr lang="en-US" dirty="0" smtClean="0"/>
              <a:t>.</a:t>
            </a:r>
          </a:p>
          <a:p>
            <a:r>
              <a:rPr lang="en-US" dirty="0">
                <a:solidFill>
                  <a:srgbClr val="FF0000"/>
                </a:solidFill>
              </a:rPr>
              <a:t>CVE</a:t>
            </a:r>
            <a:r>
              <a:rPr lang="en-US" dirty="0"/>
              <a:t>, short for </a:t>
            </a:r>
            <a:r>
              <a:rPr lang="en-US" dirty="0">
                <a:solidFill>
                  <a:srgbClr val="FF0000"/>
                </a:solidFill>
              </a:rPr>
              <a:t>common vulnerability and exposure</a:t>
            </a:r>
            <a:r>
              <a:rPr lang="en-US" dirty="0"/>
              <a:t>, is a database of publicly disclosed IT security vulnerabilities and exposures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 assigned a unique CVE identifier (CVE ID) and added to the database (CVE List)</a:t>
            </a:r>
          </a:p>
        </p:txBody>
      </p:sp>
    </p:spTree>
    <p:extLst>
      <p:ext uri="{BB962C8B-B14F-4D97-AF65-F5344CB8AC3E}">
        <p14:creationId xmlns:p14="http://schemas.microsoft.com/office/powerpoint/2010/main" val="82161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CVE 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CVE ID is a vulnerability’s unique identifier.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standard format of a CVE ID is "</a:t>
            </a:r>
            <a:r>
              <a:rPr lang="en-US" dirty="0">
                <a:solidFill>
                  <a:srgbClr val="FF0000"/>
                </a:solidFill>
              </a:rPr>
              <a:t>CVE-YYYY-NNNN</a:t>
            </a:r>
            <a:r>
              <a:rPr lang="en-US" dirty="0"/>
              <a:t>", </a:t>
            </a:r>
            <a:endParaRPr lang="en-US" dirty="0" smtClean="0"/>
          </a:p>
          <a:p>
            <a:pPr lvl="1"/>
            <a:r>
              <a:rPr lang="en-US" dirty="0" smtClean="0"/>
              <a:t>CVE </a:t>
            </a:r>
            <a:r>
              <a:rPr lang="en-US" dirty="0"/>
              <a:t>is a fixed prefix, </a:t>
            </a:r>
            <a:endParaRPr lang="en-US" dirty="0" smtClean="0"/>
          </a:p>
          <a:p>
            <a:pPr lvl="1"/>
            <a:r>
              <a:rPr lang="en-US" dirty="0" smtClean="0"/>
              <a:t>YYYY </a:t>
            </a:r>
            <a:r>
              <a:rPr lang="en-US" dirty="0"/>
              <a:t>is the year in which the CVE ID was assigned (not necessary the same as when the CVE Record was published</a:t>
            </a:r>
            <a:r>
              <a:rPr lang="en-US" dirty="0" smtClean="0"/>
              <a:t>),</a:t>
            </a:r>
          </a:p>
          <a:p>
            <a:pPr lvl="1"/>
            <a:r>
              <a:rPr lang="en-US" dirty="0" smtClean="0"/>
              <a:t>NNNN </a:t>
            </a:r>
            <a:r>
              <a:rPr lang="en-US" dirty="0"/>
              <a:t>is a random number with at least four digits. </a:t>
            </a:r>
            <a:endParaRPr lang="en-US" dirty="0" smtClean="0"/>
          </a:p>
          <a:p>
            <a:r>
              <a:rPr lang="en-US" dirty="0" smtClean="0"/>
              <a:t>E.g. </a:t>
            </a:r>
          </a:p>
          <a:p>
            <a:pPr lvl="1"/>
            <a:r>
              <a:rPr lang="en-US" dirty="0"/>
              <a:t>e.g., </a:t>
            </a:r>
            <a:r>
              <a:rPr lang="en-US" dirty="0">
                <a:solidFill>
                  <a:srgbClr val="FF0000"/>
                </a:solidFill>
              </a:rPr>
              <a:t>CVE-2021-12345, </a:t>
            </a:r>
            <a:r>
              <a:rPr lang="en-US" dirty="0" smtClean="0">
                <a:solidFill>
                  <a:srgbClr val="FF0000"/>
                </a:solidFill>
              </a:rPr>
              <a:t>CVE-2008-4250 (MS-08-067)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5576" y="5445224"/>
            <a:ext cx="2622128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Register a new CVE</a:t>
            </a:r>
            <a:endParaRPr lang="en-US" sz="2400" b="1" dirty="0" smtClean="0"/>
          </a:p>
          <a:p>
            <a:r>
              <a:rPr lang="en-US" sz="2000" dirty="0" smtClean="0">
                <a:hlinkClick r:id="rId2"/>
              </a:rPr>
              <a:t>https</a:t>
            </a:r>
            <a:r>
              <a:rPr lang="en-US" sz="2000" dirty="0">
                <a:hlinkClick r:id="rId2"/>
              </a:rPr>
              <a:t>://www.cve.org</a:t>
            </a:r>
            <a:r>
              <a:rPr lang="en-US" sz="2000" dirty="0" smtClean="0">
                <a:hlinkClick r:id="rId2"/>
              </a:rPr>
              <a:t>/</a:t>
            </a:r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9061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Vulnerability Scoring </a:t>
            </a:r>
            <a:r>
              <a:rPr lang="en-US" dirty="0" smtClean="0"/>
              <a:t>System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severity of a vulnerability is measured using the Common Vulnerability Scoring System (</a:t>
            </a:r>
            <a:r>
              <a:rPr lang="en-US" dirty="0">
                <a:solidFill>
                  <a:srgbClr val="FF0000"/>
                </a:solidFill>
              </a:rPr>
              <a:t>CVSS</a:t>
            </a:r>
            <a:r>
              <a:rPr lang="en-US" dirty="0"/>
              <a:t>). The current version of CVSS is v3.1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CVSS consists of three metric groups: </a:t>
            </a:r>
            <a:r>
              <a:rPr lang="en-US" dirty="0">
                <a:solidFill>
                  <a:srgbClr val="FF0000"/>
                </a:solidFill>
              </a:rPr>
              <a:t>Base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Temporal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Environmental</a:t>
            </a:r>
            <a:r>
              <a:rPr lang="en-US" dirty="0"/>
              <a:t>.</a:t>
            </a:r>
            <a:endParaRPr lang="en-US" dirty="0" smtClean="0"/>
          </a:p>
          <a:p>
            <a:pPr lvl="1"/>
            <a:r>
              <a:rPr lang="en-US" dirty="0"/>
              <a:t>The CVSS Base Score ranges from 0 to 10, with 10 the most severe and 0 posing no risk.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778" y="3647617"/>
            <a:ext cx="5438775" cy="272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07504" y="3717031"/>
            <a:ext cx="3219086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u="sng" dirty="0" smtClean="0"/>
              <a:t>Factor to </a:t>
            </a:r>
            <a:r>
              <a:rPr lang="en-US" u="sng" dirty="0"/>
              <a:t>generate a CVSS </a:t>
            </a:r>
            <a:r>
              <a:rPr lang="en-US" u="sng" dirty="0" smtClean="0"/>
              <a:t>score</a:t>
            </a:r>
            <a:r>
              <a:rPr lang="en-US" dirty="0" smtClean="0"/>
              <a:t>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Attack vector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Attack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Required privileges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User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Confidentiality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</a:rPr>
              <a:t>Integrity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</a:rPr>
              <a:t>Availability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955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Examine the CVSS v2 Equation</a:t>
            </a:r>
          </a:p>
          <a:p>
            <a:pPr lvl="1"/>
            <a:r>
              <a:rPr lang="en-US" dirty="0" smtClean="0"/>
              <a:t>Check link</a:t>
            </a:r>
            <a:r>
              <a:rPr lang="en-US" dirty="0"/>
              <a:t>: 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nvd.nist.gov/vuln-metrics/cvss</a:t>
            </a:r>
            <a:r>
              <a:rPr lang="en-US" dirty="0" smtClean="0"/>
              <a:t> </a:t>
            </a:r>
          </a:p>
          <a:p>
            <a:r>
              <a:rPr lang="en-US" dirty="0" smtClean="0"/>
              <a:t>Examine Base, Overall scores</a:t>
            </a:r>
          </a:p>
          <a:p>
            <a:pPr lvl="1"/>
            <a:r>
              <a:rPr lang="en-US" dirty="0" smtClean="0"/>
              <a:t>Different Access Vectors</a:t>
            </a:r>
          </a:p>
          <a:p>
            <a:pPr lvl="1"/>
            <a:r>
              <a:rPr lang="en-US" dirty="0" smtClean="0"/>
              <a:t>Different C-I-A</a:t>
            </a:r>
          </a:p>
          <a:p>
            <a:r>
              <a:rPr lang="en-US" dirty="0" smtClean="0"/>
              <a:t>Examine Temporal, Overall scores</a:t>
            </a:r>
          </a:p>
          <a:p>
            <a:pPr lvl="1"/>
            <a:r>
              <a:rPr lang="en-US" dirty="0" smtClean="0"/>
              <a:t>Different Exploitability, Remediation Levels</a:t>
            </a:r>
          </a:p>
          <a:p>
            <a:r>
              <a:rPr lang="en-US" dirty="0" smtClean="0"/>
              <a:t>Examine Environmental, Overall scores</a:t>
            </a:r>
          </a:p>
          <a:p>
            <a:pPr lvl="1"/>
            <a:r>
              <a:rPr lang="en-US" dirty="0"/>
              <a:t>Collateral Damage </a:t>
            </a:r>
            <a:r>
              <a:rPr lang="en-US" dirty="0" smtClean="0"/>
              <a:t>Potential</a:t>
            </a:r>
          </a:p>
          <a:p>
            <a:pPr lvl="1"/>
            <a:r>
              <a:rPr lang="en-US" dirty="0" smtClean="0"/>
              <a:t>Target distribution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6125486"/>
            <a:ext cx="381457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nvd.nist.gov/vuln-metrics/cvss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29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Exploit Prediction Scoring System (EPSS)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CVSS </a:t>
            </a:r>
            <a:r>
              <a:rPr lang="en-US" dirty="0"/>
              <a:t>is the most frequently cited rating system to assess the severity of security </a:t>
            </a:r>
            <a:r>
              <a:rPr lang="en-US" dirty="0" smtClean="0"/>
              <a:t>vulnerabilities. It has been criticized, however</a:t>
            </a:r>
            <a:r>
              <a:rPr lang="en-US" dirty="0"/>
              <a:t>, as </a:t>
            </a:r>
            <a:r>
              <a:rPr lang="en-US" i="1" dirty="0">
                <a:solidFill>
                  <a:srgbClr val="FF0000"/>
                </a:solidFill>
              </a:rPr>
              <a:t>not being appropriate to assess and prioritize risk</a:t>
            </a:r>
            <a:r>
              <a:rPr lang="en-US" dirty="0"/>
              <a:t> from those vulnerabilities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For this reason, </a:t>
            </a:r>
            <a:r>
              <a:rPr lang="en-US" dirty="0" smtClean="0"/>
              <a:t>some have called for using the EPSS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511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Zero-day </a:t>
            </a:r>
            <a:r>
              <a:rPr lang="en-US" dirty="0"/>
              <a:t>vulnerabilities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zero-day (also known as a 0-day) is a vulnerability in a computer system that was previously unknown to its developers or anyone capable of mitigating it.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zero-day vulnerability is a vulnerability in a system or device that has been </a:t>
            </a:r>
            <a:r>
              <a:rPr lang="en-US" dirty="0">
                <a:solidFill>
                  <a:srgbClr val="FF0000"/>
                </a:solidFill>
              </a:rPr>
              <a:t>disclosed</a:t>
            </a:r>
            <a:r>
              <a:rPr lang="en-US" dirty="0"/>
              <a:t> but is </a:t>
            </a:r>
            <a:r>
              <a:rPr lang="en-US" dirty="0">
                <a:solidFill>
                  <a:srgbClr val="FF0000"/>
                </a:solidFill>
              </a:rPr>
              <a:t>not yet patched</a:t>
            </a:r>
            <a:r>
              <a:rPr lang="en-US" dirty="0"/>
              <a:t>. An exploit that attacks a zero-day vulnerability is called a </a:t>
            </a:r>
            <a:r>
              <a:rPr lang="en-US" dirty="0">
                <a:solidFill>
                  <a:srgbClr val="FF0000"/>
                </a:solidFill>
              </a:rPr>
              <a:t>zero-day exploit</a:t>
            </a:r>
          </a:p>
        </p:txBody>
      </p:sp>
    </p:spTree>
    <p:extLst>
      <p:ext uri="{BB962C8B-B14F-4D97-AF65-F5344CB8AC3E}">
        <p14:creationId xmlns:p14="http://schemas.microsoft.com/office/powerpoint/2010/main" val="507996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Nessus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Nessus Policies</a:t>
            </a:r>
            <a:r>
              <a:rPr lang="en-US" dirty="0"/>
              <a:t>: </a:t>
            </a:r>
            <a:r>
              <a:rPr lang="en-US" dirty="0" smtClean="0"/>
              <a:t>configuration files </a:t>
            </a:r>
            <a:r>
              <a:rPr lang="en-US" dirty="0"/>
              <a:t>that tell Nessus which vulnerability checks, port scanners, </a:t>
            </a:r>
            <a:r>
              <a:rPr lang="en-US" dirty="0" smtClean="0"/>
              <a:t>and so </a:t>
            </a:r>
            <a:r>
              <a:rPr lang="en-US" dirty="0"/>
              <a:t>on to run in the vulnerability scan.</a:t>
            </a:r>
            <a:endParaRPr lang="en-US" dirty="0" smtClean="0"/>
          </a:p>
          <a:p>
            <a:pPr lvl="1"/>
            <a:r>
              <a:rPr lang="en-US" dirty="0" smtClean="0"/>
              <a:t>New Policy </a:t>
            </a:r>
            <a:r>
              <a:rPr lang="en-US" dirty="0" smtClean="0">
                <a:sym typeface="Wingdings" panose="05000000000000000000" pitchFamily="2" charset="2"/>
              </a:rPr>
              <a:t> Basic Network Scan</a:t>
            </a:r>
          </a:p>
          <a:p>
            <a:r>
              <a:rPr lang="en-US" b="1" dirty="0"/>
              <a:t>Scanning with </a:t>
            </a:r>
            <a:r>
              <a:rPr lang="en-US" b="1" dirty="0" smtClean="0"/>
              <a:t>Nessus</a:t>
            </a:r>
          </a:p>
          <a:p>
            <a:pPr lvl="1"/>
            <a:r>
              <a:rPr lang="en-US" dirty="0"/>
              <a:t>Click </a:t>
            </a:r>
            <a:r>
              <a:rPr lang="en-US" dirty="0" smtClean="0"/>
              <a:t>Scans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New </a:t>
            </a:r>
            <a:r>
              <a:rPr lang="en-US" dirty="0"/>
              <a:t>Scan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4653136"/>
            <a:ext cx="5912718" cy="1868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6686" y="3143346"/>
            <a:ext cx="4281547" cy="244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545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106" y="1124744"/>
            <a:ext cx="7115894" cy="2807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276872"/>
            <a:ext cx="7086339" cy="2888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83568" y="5441434"/>
            <a:ext cx="219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Scanning Result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436096" y="5661248"/>
            <a:ext cx="3635675" cy="1046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Researching </a:t>
            </a:r>
            <a:r>
              <a:rPr lang="en-US" sz="2400" b="1" dirty="0" smtClean="0"/>
              <a:t>Vulnerabilities</a:t>
            </a:r>
          </a:p>
          <a:p>
            <a:endParaRPr lang="en-US" dirty="0" smtClean="0"/>
          </a:p>
          <a:p>
            <a:r>
              <a:rPr lang="en-US" sz="2000" dirty="0" smtClean="0">
                <a:hlinkClick r:id="rId4"/>
              </a:rPr>
              <a:t>https</a:t>
            </a:r>
            <a:r>
              <a:rPr lang="en-US" sz="2000" dirty="0">
                <a:hlinkClick r:id="rId4"/>
              </a:rPr>
              <a:t>://www.cve.org</a:t>
            </a:r>
            <a:r>
              <a:rPr lang="en-US" sz="2000" dirty="0" smtClean="0">
                <a:hlinkClick r:id="rId4"/>
              </a:rPr>
              <a:t>/</a:t>
            </a:r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5501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Nmap</a:t>
            </a:r>
            <a:r>
              <a:rPr lang="en-US" dirty="0"/>
              <a:t> Scripting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Nmap</a:t>
            </a:r>
            <a:r>
              <a:rPr lang="en-US" dirty="0"/>
              <a:t> has similarly </a:t>
            </a:r>
            <a:r>
              <a:rPr lang="en-US" dirty="0" smtClean="0"/>
              <a:t>evolved its </a:t>
            </a:r>
            <a:r>
              <a:rPr lang="en-US" dirty="0"/>
              <a:t>original goal of port scanning. The </a:t>
            </a:r>
            <a:r>
              <a:rPr lang="en-US" dirty="0" err="1"/>
              <a:t>Nmap</a:t>
            </a:r>
            <a:r>
              <a:rPr lang="en-US" dirty="0"/>
              <a:t> Scripting Engine (NSE) </a:t>
            </a:r>
            <a:r>
              <a:rPr lang="en-US" dirty="0" smtClean="0"/>
              <a:t>lets you </a:t>
            </a:r>
            <a:r>
              <a:rPr lang="en-US" dirty="0"/>
              <a:t>run publicly available scripts and write your own</a:t>
            </a:r>
            <a:r>
              <a:rPr lang="en-US" dirty="0" smtClean="0"/>
              <a:t>.</a:t>
            </a:r>
          </a:p>
          <a:p>
            <a:r>
              <a:rPr lang="en-US" dirty="0"/>
              <a:t>in </a:t>
            </a:r>
            <a:r>
              <a:rPr lang="en-US" dirty="0" smtClean="0"/>
              <a:t>Kali: </a:t>
            </a:r>
            <a:r>
              <a:rPr lang="en-US" i="1" dirty="0"/>
              <a:t>/</a:t>
            </a:r>
            <a:r>
              <a:rPr lang="en-US" i="1" dirty="0" err="1" smtClean="0"/>
              <a:t>usr</a:t>
            </a:r>
            <a:r>
              <a:rPr lang="en-US" i="1" dirty="0" smtClean="0"/>
              <a:t>/share/</a:t>
            </a:r>
            <a:r>
              <a:rPr lang="en-US" i="1" dirty="0" err="1" smtClean="0"/>
              <a:t>nmap</a:t>
            </a:r>
            <a:r>
              <a:rPr lang="en-US" i="1" dirty="0" smtClean="0"/>
              <a:t>/scripts</a:t>
            </a:r>
            <a:r>
              <a:rPr lang="en-US" dirty="0"/>
              <a:t>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766888" y="3343523"/>
            <a:ext cx="5610225" cy="1525637"/>
            <a:chOff x="1766888" y="2911475"/>
            <a:chExt cx="5610225" cy="1525637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6888" y="2911475"/>
              <a:ext cx="5610225" cy="1038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3907" y="3598912"/>
              <a:ext cx="4886325" cy="838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7583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Nmap</a:t>
            </a:r>
            <a:r>
              <a:rPr lang="en-US" dirty="0"/>
              <a:t> Scripting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nmap</a:t>
            </a:r>
            <a:r>
              <a:rPr lang="en-US" dirty="0"/>
              <a:t> --script-help default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1844824"/>
            <a:ext cx="5667375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11560" y="5634245"/>
            <a:ext cx="8064896" cy="9541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i="1" dirty="0"/>
              <a:t>Some NSE scripts may crash services or harm the target system, and an entire </a:t>
            </a:r>
            <a:r>
              <a:rPr lang="en-US" sz="1400" i="1" dirty="0" smtClean="0"/>
              <a:t>category is </a:t>
            </a:r>
            <a:r>
              <a:rPr lang="en-US" sz="1400" i="1" dirty="0"/>
              <a:t>dedicated to denial of service. For example, the script </a:t>
            </a:r>
            <a:r>
              <a:rPr lang="en-US" sz="1400" dirty="0" err="1"/>
              <a:t>smb</a:t>
            </a:r>
            <a:r>
              <a:rPr lang="en-US" sz="1400" dirty="0"/>
              <a:t>-check-</a:t>
            </a:r>
            <a:r>
              <a:rPr lang="en-US" sz="1400" dirty="0" err="1"/>
              <a:t>vulns</a:t>
            </a:r>
            <a:r>
              <a:rPr lang="en-US" sz="1400" dirty="0"/>
              <a:t> </a:t>
            </a:r>
            <a:r>
              <a:rPr lang="en-US" sz="1400" i="1" dirty="0"/>
              <a:t>will </a:t>
            </a:r>
            <a:r>
              <a:rPr lang="en-US" sz="1400" i="1" dirty="0" smtClean="0"/>
              <a:t>check for </a:t>
            </a:r>
            <a:r>
              <a:rPr lang="en-US" sz="1400" i="1" dirty="0"/>
              <a:t>the MS08-067 vulnerability and other SMB vulnerabilities. Its help </a:t>
            </a:r>
            <a:r>
              <a:rPr lang="en-US" sz="1400" i="1" dirty="0" smtClean="0"/>
              <a:t>information notes </a:t>
            </a:r>
            <a:r>
              <a:rPr lang="en-US" sz="1400" i="1" dirty="0"/>
              <a:t>that this script is likely dangerous and shouldn’t be run on production </a:t>
            </a:r>
            <a:r>
              <a:rPr lang="en-US" sz="1400" i="1" dirty="0" smtClean="0"/>
              <a:t>systems unless </a:t>
            </a:r>
            <a:r>
              <a:rPr lang="en-US" sz="1400" i="1" dirty="0"/>
              <a:t>you are prepared for the server to go down.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677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Nmap</a:t>
            </a:r>
            <a:r>
              <a:rPr lang="en-US" dirty="0"/>
              <a:t> Scripting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tell </a:t>
            </a:r>
            <a:r>
              <a:rPr lang="en-US" dirty="0" err="1" smtClean="0"/>
              <a:t>Nmap</a:t>
            </a:r>
            <a:r>
              <a:rPr lang="en-US" dirty="0" smtClean="0"/>
              <a:t> </a:t>
            </a:r>
            <a:r>
              <a:rPr lang="en-US" dirty="0"/>
              <a:t>to run a script scan in addition </a:t>
            </a:r>
            <a:r>
              <a:rPr lang="en-US" dirty="0" smtClean="0"/>
              <a:t>to port scanning</a:t>
            </a:r>
          </a:p>
          <a:p>
            <a:pPr lvl="2"/>
            <a:r>
              <a:rPr lang="en-US" dirty="0">
                <a:solidFill>
                  <a:srgbClr val="FF0000"/>
                </a:solidFill>
              </a:rPr>
              <a:t>use the -</a:t>
            </a:r>
            <a:r>
              <a:rPr lang="en-US" dirty="0" err="1">
                <a:solidFill>
                  <a:srgbClr val="FF0000"/>
                </a:solidFill>
              </a:rPr>
              <a:t>sC</a:t>
            </a:r>
            <a:r>
              <a:rPr lang="en-US" dirty="0">
                <a:solidFill>
                  <a:srgbClr val="FF0000"/>
                </a:solidFill>
              </a:rPr>
              <a:t> flag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564904"/>
            <a:ext cx="6754813" cy="383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739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Nmap</a:t>
            </a:r>
            <a:r>
              <a:rPr lang="en-US" dirty="0"/>
              <a:t> Scripting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268760"/>
            <a:ext cx="5334000" cy="513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2" y="2780928"/>
            <a:ext cx="14563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Running a Single NSE Script</a:t>
            </a:r>
            <a:endParaRPr lang="en-US" sz="2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1664" y="5661248"/>
            <a:ext cx="2266688" cy="1069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6012160" y="6093296"/>
            <a:ext cx="720080" cy="1029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9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Access to Win XP machine </a:t>
            </a:r>
          </a:p>
          <a:p>
            <a:pPr lvl="1"/>
            <a:r>
              <a:rPr lang="en-US" dirty="0" smtClean="0"/>
              <a:t>Get file via FTP port</a:t>
            </a:r>
          </a:p>
          <a:p>
            <a:pPr lvl="1"/>
            <a:r>
              <a:rPr lang="en-US" dirty="0" smtClean="0"/>
              <a:t>Send mail via SMPT 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761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Metasploit</a:t>
            </a:r>
            <a:r>
              <a:rPr lang="en-US" b="1" dirty="0"/>
              <a:t> Scanner Modules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</a:t>
            </a:r>
            <a:r>
              <a:rPr lang="en-US" dirty="0" smtClean="0"/>
              <a:t>modules will </a:t>
            </a:r>
            <a:r>
              <a:rPr lang="en-US" dirty="0"/>
              <a:t>not give us control of the target machine, but they will help us </a:t>
            </a:r>
            <a:r>
              <a:rPr lang="en-US" dirty="0" smtClean="0"/>
              <a:t>identify vulnerabilities </a:t>
            </a:r>
            <a:r>
              <a:rPr lang="en-US" dirty="0"/>
              <a:t>for later exploitation</a:t>
            </a:r>
            <a:r>
              <a:rPr lang="en-US" dirty="0" smtClean="0"/>
              <a:t>.</a:t>
            </a:r>
          </a:p>
          <a:p>
            <a:r>
              <a:rPr lang="en-US" dirty="0"/>
              <a:t>To choose a particular module, we </a:t>
            </a:r>
            <a:r>
              <a:rPr lang="en-US" i="1" dirty="0">
                <a:solidFill>
                  <a:srgbClr val="FF0000"/>
                </a:solidFill>
              </a:rPr>
              <a:t>use</a:t>
            </a:r>
            <a:r>
              <a:rPr lang="en-US" dirty="0"/>
              <a:t> the module, then we </a:t>
            </a:r>
            <a:r>
              <a:rPr lang="en-US" dirty="0" smtClean="0"/>
              <a:t>define our </a:t>
            </a:r>
            <a:r>
              <a:rPr lang="en-US" dirty="0"/>
              <a:t>targets with </a:t>
            </a:r>
            <a:r>
              <a:rPr lang="en-US" i="1" dirty="0">
                <a:solidFill>
                  <a:srgbClr val="FF0000"/>
                </a:solidFill>
              </a:rPr>
              <a:t>set</a:t>
            </a:r>
            <a:r>
              <a:rPr lang="en-US" dirty="0"/>
              <a:t>, and then scan with the </a:t>
            </a:r>
            <a:r>
              <a:rPr lang="en-US" i="1" dirty="0">
                <a:solidFill>
                  <a:srgbClr val="FF0000"/>
                </a:solidFill>
              </a:rPr>
              <a:t>exploit</a:t>
            </a:r>
            <a:r>
              <a:rPr lang="en-US" dirty="0"/>
              <a:t> command,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43608" y="4293096"/>
            <a:ext cx="6912768" cy="2320677"/>
            <a:chOff x="1043608" y="3861048"/>
            <a:chExt cx="7344816" cy="2752725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3861048"/>
              <a:ext cx="7278687" cy="2257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9261" y="6118473"/>
              <a:ext cx="7269163" cy="495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77132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Metasploit</a:t>
            </a:r>
            <a:r>
              <a:rPr lang="en-US" dirty="0"/>
              <a:t> Exploit Check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</a:t>
            </a:r>
            <a:r>
              <a:rPr lang="en-US" dirty="0" err="1"/>
              <a:t>Metasploit</a:t>
            </a:r>
            <a:r>
              <a:rPr lang="en-US" dirty="0"/>
              <a:t> exploits include a check function that connects to a </a:t>
            </a:r>
            <a:r>
              <a:rPr lang="en-US" dirty="0" smtClean="0"/>
              <a:t>target to </a:t>
            </a:r>
            <a:r>
              <a:rPr lang="en-US" dirty="0"/>
              <a:t>see if it is vulnerable, rather than attempting to exploit a vulnerability.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708920"/>
            <a:ext cx="5467350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666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Application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application issues are particularly interesting on many </a:t>
            </a:r>
            <a:r>
              <a:rPr lang="en-US" dirty="0" smtClean="0"/>
              <a:t>external penetration </a:t>
            </a:r>
            <a:r>
              <a:rPr lang="en-US" dirty="0"/>
              <a:t>tests where your attack surface may be limited to little </a:t>
            </a:r>
            <a:r>
              <a:rPr lang="en-US" dirty="0" smtClean="0"/>
              <a:t>more than </a:t>
            </a:r>
            <a:r>
              <a:rPr lang="en-US" dirty="0"/>
              <a:t>web </a:t>
            </a:r>
            <a:r>
              <a:rPr lang="en-US" dirty="0" smtClean="0"/>
              <a:t>servers</a:t>
            </a:r>
          </a:p>
          <a:p>
            <a:pPr lvl="1"/>
            <a:r>
              <a:rPr lang="en-US" dirty="0" err="1" smtClean="0"/>
              <a:t>Nikto</a:t>
            </a:r>
            <a:endParaRPr lang="en-US" dirty="0" smtClean="0"/>
          </a:p>
          <a:p>
            <a:pPr lvl="1"/>
            <a:r>
              <a:rPr lang="en-US" dirty="0"/>
              <a:t>Attacking </a:t>
            </a:r>
            <a:r>
              <a:rPr lang="en-US" dirty="0" smtClean="0"/>
              <a:t>XAMPP</a:t>
            </a:r>
          </a:p>
          <a:p>
            <a:pPr lvl="1"/>
            <a:r>
              <a:rPr lang="en-US" dirty="0"/>
              <a:t>Default Credentials</a:t>
            </a:r>
          </a:p>
        </p:txBody>
      </p:sp>
    </p:spTree>
    <p:extLst>
      <p:ext uri="{BB962C8B-B14F-4D97-AF65-F5344CB8AC3E}">
        <p14:creationId xmlns:p14="http://schemas.microsoft.com/office/powerpoint/2010/main" val="912654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Nikto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Nikto</a:t>
            </a:r>
            <a:r>
              <a:rPr lang="en-US" dirty="0"/>
              <a:t> is a web application vulnerability scanner built into Kali that’s </a:t>
            </a:r>
            <a:r>
              <a:rPr lang="en-US" dirty="0" smtClean="0"/>
              <a:t>like Nessus </a:t>
            </a:r>
            <a:r>
              <a:rPr lang="en-US" dirty="0"/>
              <a:t>for web </a:t>
            </a:r>
            <a:r>
              <a:rPr lang="en-US" dirty="0" smtClean="0"/>
              <a:t>apps.</a:t>
            </a:r>
          </a:p>
          <a:p>
            <a:r>
              <a:rPr lang="en-US" dirty="0"/>
              <a:t>To run </a:t>
            </a:r>
            <a:r>
              <a:rPr lang="en-US" dirty="0" err="1"/>
              <a:t>Nikto</a:t>
            </a:r>
            <a:r>
              <a:rPr lang="en-US" dirty="0"/>
              <a:t> against our Linux </a:t>
            </a:r>
            <a:r>
              <a:rPr lang="en-US" dirty="0" smtClean="0"/>
              <a:t>target, we </a:t>
            </a:r>
            <a:r>
              <a:rPr lang="en-US" dirty="0"/>
              <a:t>tell it which host to scan with the -h flag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068960"/>
            <a:ext cx="7335837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0726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Attacking XAMPP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XAMPP </a:t>
            </a:r>
            <a:r>
              <a:rPr lang="en-US" dirty="0" smtClean="0"/>
              <a:t>1.7.2</a:t>
            </a:r>
          </a:p>
          <a:p>
            <a:pPr lvl="2"/>
            <a:r>
              <a:rPr lang="en-US" dirty="0"/>
              <a:t>the </a:t>
            </a:r>
            <a:r>
              <a:rPr lang="en-US" dirty="0" err="1"/>
              <a:t>phpMyAdmin</a:t>
            </a:r>
            <a:r>
              <a:rPr lang="en-US" dirty="0"/>
              <a:t> install at http://</a:t>
            </a:r>
            <a:r>
              <a:rPr lang="en-US" dirty="0" smtClean="0"/>
              <a:t>192.168.20.10/phpmyadmin</a:t>
            </a:r>
            <a:r>
              <a:rPr lang="en-US" dirty="0"/>
              <a:t>/ is available and open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704443"/>
            <a:ext cx="6856089" cy="3605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9810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XAMPP 1.7.3 and earlier come with Web Distributed Authoring </a:t>
            </a:r>
            <a:r>
              <a:rPr lang="en-US" sz="2800" dirty="0" smtClean="0"/>
              <a:t>and Versioning </a:t>
            </a:r>
            <a:r>
              <a:rPr lang="en-US" sz="2800" dirty="0"/>
              <a:t>(WebDAV) software, which is used to manage files on a </a:t>
            </a:r>
            <a:r>
              <a:rPr lang="en-US" sz="2800" dirty="0" smtClean="0"/>
              <a:t>web server </a:t>
            </a:r>
            <a:r>
              <a:rPr lang="en-US" sz="2800" dirty="0"/>
              <a:t>over HTTP. XAMPP’s WebDAV installation comes with the </a:t>
            </a:r>
            <a:r>
              <a:rPr lang="en-US" sz="2800" dirty="0" smtClean="0"/>
              <a:t>default username </a:t>
            </a:r>
            <a:r>
              <a:rPr lang="en-US" sz="2800" dirty="0"/>
              <a:t>and password </a:t>
            </a:r>
            <a:r>
              <a:rPr lang="en-US" sz="2800" i="1" dirty="0" err="1" smtClean="0"/>
              <a:t>wampp</a:t>
            </a:r>
            <a:r>
              <a:rPr lang="en-US" sz="2800" dirty="0" err="1" smtClean="0"/>
              <a:t>:</a:t>
            </a:r>
            <a:r>
              <a:rPr lang="en-US" sz="2800" i="1" dirty="0" err="1" smtClean="0"/>
              <a:t>xampp</a:t>
            </a:r>
            <a:endParaRPr lang="en-US" sz="2800" i="1" dirty="0" smtClean="0"/>
          </a:p>
          <a:p>
            <a:endParaRPr lang="en-US" i="1" dirty="0"/>
          </a:p>
          <a:p>
            <a:endParaRPr lang="en-US" i="1" dirty="0" smtClean="0"/>
          </a:p>
          <a:p>
            <a:endParaRPr lang="en-US" sz="2800" dirty="0" smtClean="0"/>
          </a:p>
          <a:p>
            <a:r>
              <a:rPr lang="en-US" sz="2800" dirty="0" smtClean="0"/>
              <a:t>We </a:t>
            </a:r>
            <a:r>
              <a:rPr lang="en-US" sz="2800" dirty="0"/>
              <a:t>can use </a:t>
            </a:r>
            <a:r>
              <a:rPr lang="en-US" sz="2800" dirty="0" smtClean="0"/>
              <a:t>Cadaver </a:t>
            </a:r>
            <a:r>
              <a:rPr lang="en-US" sz="2800" dirty="0"/>
              <a:t>to interact with WebDAV servers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553" y="3356992"/>
            <a:ext cx="7335837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345" y="5422014"/>
            <a:ext cx="6792913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52010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Exploring a Strange </a:t>
            </a:r>
            <a:r>
              <a:rPr lang="en-US" dirty="0" smtClean="0"/>
              <a:t>Port</a:t>
            </a:r>
          </a:p>
          <a:p>
            <a:r>
              <a:rPr lang="en-US" dirty="0"/>
              <a:t>Finding Valid Usernames</a:t>
            </a:r>
          </a:p>
        </p:txBody>
      </p:sp>
    </p:spTree>
    <p:extLst>
      <p:ext uri="{BB962C8B-B14F-4D97-AF65-F5344CB8AC3E}">
        <p14:creationId xmlns:p14="http://schemas.microsoft.com/office/powerpoint/2010/main" val="568225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Exploring a Strange </a:t>
            </a:r>
            <a:r>
              <a:rPr lang="en-US" dirty="0" smtClean="0"/>
              <a:t>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port that has failed to come up in our automated scans is 3232 </a:t>
            </a:r>
            <a:r>
              <a:rPr lang="en-US" dirty="0" smtClean="0"/>
              <a:t>(or any) on our Windows target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can enter </a:t>
            </a:r>
            <a:r>
              <a:rPr lang="en-US" dirty="0">
                <a:solidFill>
                  <a:srgbClr val="FF0000"/>
                </a:solidFill>
              </a:rPr>
              <a:t>GET / HTTP/1.1 </a:t>
            </a:r>
            <a:r>
              <a:rPr lang="en-US" dirty="0"/>
              <a:t>to ask the web server for the default page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625" y="2132857"/>
            <a:ext cx="7354887" cy="1368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72578" y="2996952"/>
            <a:ext cx="118898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Index.html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221088"/>
            <a:ext cx="2952328" cy="262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38383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Valid Usernames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drastically increase our chances of a successful </a:t>
            </a:r>
            <a:r>
              <a:rPr lang="en-US" dirty="0" smtClean="0"/>
              <a:t>password </a:t>
            </a:r>
            <a:r>
              <a:rPr lang="en-US" dirty="0"/>
              <a:t>attack </a:t>
            </a:r>
            <a:r>
              <a:rPr lang="en-US" dirty="0" smtClean="0"/>
              <a:t>if we </a:t>
            </a:r>
            <a:r>
              <a:rPr lang="en-US" dirty="0"/>
              <a:t>know valid usernames for services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</a:t>
            </a:r>
            <a:r>
              <a:rPr lang="en-US" dirty="0"/>
              <a:t>find valid usernames for mail servers is to use </a:t>
            </a:r>
            <a:r>
              <a:rPr lang="en-US" dirty="0" smtClean="0"/>
              <a:t>the VRFY </a:t>
            </a:r>
            <a:r>
              <a:rPr lang="en-US" dirty="0"/>
              <a:t>SMTP command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37" y="4128983"/>
            <a:ext cx="6300240" cy="16184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6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28754</TotalTime>
  <Words>989</Words>
  <Application>Microsoft Office PowerPoint</Application>
  <PresentationFormat>On-screen Show (4:3)</PresentationFormat>
  <Paragraphs>135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Penetration Testing Finding Vulnerabilities</vt:lpstr>
      <vt:lpstr>Content</vt:lpstr>
      <vt:lpstr>Computer Vulnerability vs Exposure</vt:lpstr>
      <vt:lpstr>CVE ID</vt:lpstr>
      <vt:lpstr>Common Vulnerability Scoring System</vt:lpstr>
      <vt:lpstr>Exercise</vt:lpstr>
      <vt:lpstr>Exploit Prediction Scoring System (EPSS)</vt:lpstr>
      <vt:lpstr>Zero-day vulnerabilities</vt:lpstr>
      <vt:lpstr>Nessus</vt:lpstr>
      <vt:lpstr>Nessus</vt:lpstr>
      <vt:lpstr>The Nmap Scripting Engine</vt:lpstr>
      <vt:lpstr>The Nmap Scripting Engine</vt:lpstr>
      <vt:lpstr>The Nmap Scripting Engine</vt:lpstr>
      <vt:lpstr>The Nmap Scripting Engine</vt:lpstr>
      <vt:lpstr>Exercise</vt:lpstr>
      <vt:lpstr>Metasploit Scanner Modules</vt:lpstr>
      <vt:lpstr>Metasploit Exploit Check Functions</vt:lpstr>
      <vt:lpstr>Web Application Scanning</vt:lpstr>
      <vt:lpstr>Nikto</vt:lpstr>
      <vt:lpstr>Attacking XAMPP</vt:lpstr>
      <vt:lpstr>Default Credentials</vt:lpstr>
      <vt:lpstr>Manual Analysis</vt:lpstr>
      <vt:lpstr>Exploring a Strange Port</vt:lpstr>
      <vt:lpstr>Finding Valid Usernames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mã độc</dc:title>
  <dc:creator>TTS</dc:creator>
  <cp:lastModifiedBy>tran the son</cp:lastModifiedBy>
  <cp:revision>1436</cp:revision>
  <dcterms:created xsi:type="dcterms:W3CDTF">2017-06-08T06:53:33Z</dcterms:created>
  <dcterms:modified xsi:type="dcterms:W3CDTF">2023-09-13T04:39:02Z</dcterms:modified>
</cp:coreProperties>
</file>